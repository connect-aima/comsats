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6.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3.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35.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s/slide58.xml" ContentType="application/vnd.openxmlformats-officedocument.presentationml.slide+xml"/>
  <Override PartName="/ppt/slides/slide53.xml" ContentType="application/vnd.openxmlformats-officedocument.presentationml.slide+xml"/>
  <Override PartName="/ppt/slides/slide59.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36.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3.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55.xml" ContentType="application/vnd.openxmlformats-officedocument.presentationml.notesSlide+xml"/>
  <Override PartName="/ppt/notesSlides/notesSlide38.xml" ContentType="application/vnd.openxmlformats-officedocument.presentationml.notesSlide+xml"/>
  <Override PartName="/ppt/notesSlides/notesSlide57.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56.xml" ContentType="application/vnd.openxmlformats-officedocument.presentationml.notesSlide+xml"/>
  <Override PartName="/ppt/notesSlides/notesSlide40.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6"/>
  </p:notesMasterIdLst>
  <p:sldIdLst>
    <p:sldId id="256" r:id="rId2"/>
    <p:sldId id="330" r:id="rId3"/>
    <p:sldId id="329" r:id="rId4"/>
    <p:sldId id="331" r:id="rId5"/>
    <p:sldId id="332" r:id="rId6"/>
    <p:sldId id="257" r:id="rId7"/>
    <p:sldId id="258" r:id="rId8"/>
    <p:sldId id="259"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272" r:id="rId22"/>
    <p:sldId id="273"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285" r:id="rId37"/>
    <p:sldId id="286" r:id="rId38"/>
    <p:sldId id="333"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287" r:id="rId53"/>
    <p:sldId id="288" r:id="rId54"/>
    <p:sldId id="289" r:id="rId55"/>
    <p:sldId id="336" r:id="rId56"/>
    <p:sldId id="337" r:id="rId57"/>
    <p:sldId id="338" r:id="rId58"/>
    <p:sldId id="339" r:id="rId59"/>
    <p:sldId id="261" r:id="rId60"/>
    <p:sldId id="284" r:id="rId61"/>
    <p:sldId id="340" r:id="rId62"/>
    <p:sldId id="264" r:id="rId63"/>
    <p:sldId id="266" r:id="rId64"/>
    <p:sldId id="290" r:id="rId6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9" roundtripDataSignature="AMtx7mjeTDueIL+t+fQ1UTOb6ulVfvl2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67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425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058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6546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16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615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064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337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4564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9082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694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5242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0017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1107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963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4016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1412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46571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330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8779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9841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000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122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337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1586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21062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78" name="Google Shape;47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818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5891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4462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17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74012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08665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08859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55662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5896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329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079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37741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04617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
        <p:nvSpPr>
          <p:cNvPr id="499" name="Google Shape;49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0" name="Google Shape;500;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miter lim="800000"/>
            <a:headEnd/>
            <a:tailEnd/>
          </a:ln>
        </p:spPr>
        <p:txBody>
          <a:bodyPr/>
          <a:lstStyle/>
          <a:p>
            <a:fld id="{23CF24A3-978D-4B2C-8B32-716BC3DF1D6B}" type="slidenum">
              <a:rPr lang="en-US"/>
              <a:pPr/>
              <a:t>56</a:t>
            </a:fld>
            <a:endParaRPr lang="en-US"/>
          </a:p>
        </p:txBody>
      </p:sp>
      <p:sp>
        <p:nvSpPr>
          <p:cNvPr id="30723" name="Rectangle 2"/>
          <p:cNvSpPr>
            <a:spLocks noGrp="1" noRot="1" noChangeAspect="1" noChangeArrowheads="1" noTextEdit="1"/>
          </p:cNvSpPr>
          <p:nvPr>
            <p:ph type="sldImg"/>
          </p:nvPr>
        </p:nvSpPr>
        <p:spPr>
          <a:xfrm>
            <a:off x="1143000" y="685800"/>
            <a:ext cx="4572000" cy="3429000"/>
          </a:xfrm>
          <a:ln/>
        </p:spPr>
      </p:sp>
      <p:sp>
        <p:nvSpPr>
          <p:cNvPr id="30724" name="Rectangle 3"/>
          <p:cNvSpPr>
            <a:spLocks noGrp="1" noChangeArrowheads="1"/>
          </p:cNvSpPr>
          <p:nvPr>
            <p:ph type="body" idx="1"/>
          </p:nvPr>
        </p:nvSpPr>
        <p:spPr>
          <a:xfrm>
            <a:off x="914400" y="4343400"/>
            <a:ext cx="5029200" cy="4114800"/>
          </a:xfrm>
          <a:noFill/>
        </p:spPr>
        <p:txBody>
          <a:bodyPr/>
          <a:lstStyle/>
          <a:p>
            <a:pPr eaLnBrk="1" hangingPunct="1"/>
            <a:endParaRPr lang="en-US" dirty="0">
              <a:latin typeface="Arial" charset="0"/>
              <a:cs typeface="Arial"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miter lim="800000"/>
            <a:headEnd/>
            <a:tailEnd/>
          </a:ln>
        </p:spPr>
        <p:txBody>
          <a:bodyPr/>
          <a:lstStyle/>
          <a:p>
            <a:fld id="{CE01F5BA-C206-4A56-AB5D-7F2E2805F066}" type="slidenum">
              <a:rPr lang="en-US"/>
              <a:pPr/>
              <a:t>57</a:t>
            </a:fld>
            <a:endParaRPr lang="en-US"/>
          </a:p>
        </p:txBody>
      </p:sp>
      <p:sp>
        <p:nvSpPr>
          <p:cNvPr id="31747" name="Rectangle 2"/>
          <p:cNvSpPr>
            <a:spLocks noGrp="1" noRot="1" noChangeAspect="1" noChangeArrowheads="1" noTextEdit="1"/>
          </p:cNvSpPr>
          <p:nvPr>
            <p:ph type="sldImg"/>
          </p:nvPr>
        </p:nvSpPr>
        <p:spPr>
          <a:xfrm>
            <a:off x="1143000" y="685800"/>
            <a:ext cx="4572000" cy="3429000"/>
          </a:xfrm>
          <a:ln/>
        </p:spPr>
      </p:sp>
      <p:sp>
        <p:nvSpPr>
          <p:cNvPr id="31748" name="Rectangle 3"/>
          <p:cNvSpPr>
            <a:spLocks noGrp="1" noChangeArrowheads="1"/>
          </p:cNvSpPr>
          <p:nvPr>
            <p:ph type="body" idx="1"/>
          </p:nvPr>
        </p:nvSpPr>
        <p:spPr>
          <a:xfrm>
            <a:off x="914400" y="4343400"/>
            <a:ext cx="5029200" cy="4114800"/>
          </a:xfrm>
          <a:noFill/>
        </p:spPr>
        <p:txBody>
          <a:bodyPr/>
          <a:lstStyle/>
          <a:p>
            <a:pPr eaLnBrk="1" hangingPunct="1"/>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miter lim="800000"/>
            <a:headEnd/>
            <a:tailEnd/>
          </a:ln>
        </p:spPr>
        <p:txBody>
          <a:bodyPr/>
          <a:lstStyle/>
          <a:p>
            <a:fld id="{8F05DA0F-52F0-4327-93EB-4EFA44509226}" type="slidenum">
              <a:rPr lang="en-US"/>
              <a:pPr/>
              <a:t>58</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miter lim="800000"/>
            <a:headEnd/>
            <a:tailEnd/>
          </a:ln>
        </p:spPr>
        <p:txBody>
          <a:bodyPr/>
          <a:lstStyle/>
          <a:p>
            <a:fld id="{73100F61-8DA3-4AD0-AFC6-6BBAD491DED5}" type="slidenum">
              <a:rPr lang="en-US"/>
              <a:pPr/>
              <a:t>59</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AC5912-E7D1-4A49-9B6B-2F4A86D9B21F}" type="slidenum">
              <a:rPr lang="en-US"/>
              <a:pPr/>
              <a:t>61</a:t>
            </a:fld>
            <a:endParaRPr lang="en-US"/>
          </a:p>
        </p:txBody>
      </p:sp>
      <p:sp>
        <p:nvSpPr>
          <p:cNvPr id="563202" name="Rectangle 2"/>
          <p:cNvSpPr>
            <a:spLocks noGrp="1" noRot="1" noChangeAspect="1" noChangeArrowheads="1" noTextEdit="1"/>
          </p:cNvSpPr>
          <p:nvPr>
            <p:ph type="sldImg"/>
          </p:nvPr>
        </p:nvSpPr>
        <p:spPr>
          <a:ln/>
        </p:spPr>
      </p:sp>
      <p:sp>
        <p:nvSpPr>
          <p:cNvPr id="56320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2683500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miter lim="800000"/>
            <a:headEnd/>
            <a:tailEnd/>
          </a:ln>
        </p:spPr>
        <p:txBody>
          <a:bodyPr/>
          <a:lstStyle/>
          <a:p>
            <a:fld id="{EE854A1B-7F5E-4F88-8BC6-D07FB6EFAE7C}" type="slidenum">
              <a:rPr lang="en-US"/>
              <a:pPr/>
              <a:t>62</a:t>
            </a:fld>
            <a:endParaRPr lang="en-US"/>
          </a:p>
        </p:txBody>
      </p:sp>
      <p:sp>
        <p:nvSpPr>
          <p:cNvPr id="37891" name="Rectangle 2"/>
          <p:cNvSpPr>
            <a:spLocks noGrp="1" noRot="1" noChangeAspect="1" noChangeArrowheads="1" noTextEdit="1"/>
          </p:cNvSpPr>
          <p:nvPr>
            <p:ph type="sldImg"/>
          </p:nvPr>
        </p:nvSpPr>
        <p:spPr>
          <a:xfrm>
            <a:off x="1143000" y="685800"/>
            <a:ext cx="4572000" cy="3429000"/>
          </a:xfrm>
          <a:ln/>
        </p:spPr>
      </p:sp>
      <p:sp>
        <p:nvSpPr>
          <p:cNvPr id="37892" name="Rectangle 3"/>
          <p:cNvSpPr>
            <a:spLocks noGrp="1" noChangeArrowheads="1"/>
          </p:cNvSpPr>
          <p:nvPr>
            <p:ph type="body" idx="1"/>
          </p:nvPr>
        </p:nvSpPr>
        <p:spPr>
          <a:xfrm>
            <a:off x="914400" y="4343400"/>
            <a:ext cx="5029200" cy="4114800"/>
          </a:xfrm>
          <a:noFill/>
        </p:spPr>
        <p:txBody>
          <a:bodyPr/>
          <a:lstStyle/>
          <a:p>
            <a:pPr eaLnBrk="1" hangingPunct="1"/>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miter lim="800000"/>
            <a:headEnd/>
            <a:tailEnd/>
          </a:ln>
        </p:spPr>
        <p:txBody>
          <a:bodyPr/>
          <a:lstStyle/>
          <a:p>
            <a:fld id="{39BDCDE8-1E04-43D7-B251-9D3CC55B723D}" type="slidenum">
              <a:rPr lang="en-US"/>
              <a:pPr/>
              <a:t>63</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0" name="Google Shape;30;p3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1" name="Google Shape;3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5"/>
          <p:cNvSpPr>
            <a:spLocks noGrp="1"/>
          </p:cNvSpPr>
          <p:nvPr>
            <p:ph type="pic" idx="2"/>
          </p:nvPr>
        </p:nvSpPr>
        <p:spPr>
          <a:xfrm>
            <a:off x="1792288" y="612775"/>
            <a:ext cx="5486400" cy="4114800"/>
          </a:xfrm>
          <a:prstGeom prst="rect">
            <a:avLst/>
          </a:prstGeom>
          <a:noFill/>
          <a:ln>
            <a:noFill/>
          </a:ln>
        </p:spPr>
      </p:sp>
      <p:sp>
        <p:nvSpPr>
          <p:cNvPr id="68" name="Google Shape;68;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84"/>
        <p:cNvGrpSpPr/>
        <p:nvPr/>
      </p:nvGrpSpPr>
      <p:grpSpPr>
        <a:xfrm>
          <a:off x="0" y="0"/>
          <a:ext cx="0" cy="0"/>
          <a:chOff x="0" y="0"/>
          <a:chExt cx="0" cy="0"/>
        </a:xfrm>
      </p:grpSpPr>
      <p:sp>
        <p:nvSpPr>
          <p:cNvPr id="85" name="Google Shape;85;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a:ea typeface="Calibri"/>
                <a:cs typeface="Calibri"/>
                <a:sym typeface="Calibri"/>
              </a:defRPr>
            </a:lvl1pPr>
            <a:lvl2pPr marL="0" marR="0" lvl="1" indent="0" algn="r">
              <a:spcBef>
                <a:spcPts val="0"/>
              </a:spcBef>
              <a:buNone/>
              <a:defRPr sz="1200">
                <a:solidFill>
                  <a:srgbClr val="888888"/>
                </a:solidFill>
                <a:latin typeface="Calibri"/>
                <a:ea typeface="Calibri"/>
                <a:cs typeface="Calibri"/>
                <a:sym typeface="Calibri"/>
              </a:defRPr>
            </a:lvl2pPr>
            <a:lvl3pPr marL="0" marR="0" lvl="2" indent="0" algn="r">
              <a:spcBef>
                <a:spcPts val="0"/>
              </a:spcBef>
              <a:buNone/>
              <a:defRPr sz="1200">
                <a:solidFill>
                  <a:srgbClr val="888888"/>
                </a:solidFill>
                <a:latin typeface="Calibri"/>
                <a:ea typeface="Calibri"/>
                <a:cs typeface="Calibri"/>
                <a:sym typeface="Calibri"/>
              </a:defRPr>
            </a:lvl3pPr>
            <a:lvl4pPr marL="0" marR="0" lvl="3" indent="0" algn="r">
              <a:spcBef>
                <a:spcPts val="0"/>
              </a:spcBef>
              <a:buNone/>
              <a:defRPr sz="1200">
                <a:solidFill>
                  <a:srgbClr val="888888"/>
                </a:solidFill>
                <a:latin typeface="Calibri"/>
                <a:ea typeface="Calibri"/>
                <a:cs typeface="Calibri"/>
                <a:sym typeface="Calibri"/>
              </a:defRPr>
            </a:lvl4pPr>
            <a:lvl5pPr marL="0" marR="0" lvl="4" indent="0" algn="r">
              <a:spcBef>
                <a:spcPts val="0"/>
              </a:spcBef>
              <a:buNone/>
              <a:defRPr sz="1200">
                <a:solidFill>
                  <a:srgbClr val="888888"/>
                </a:solidFill>
                <a:latin typeface="Calibri"/>
                <a:ea typeface="Calibri"/>
                <a:cs typeface="Calibri"/>
                <a:sym typeface="Calibri"/>
              </a:defRPr>
            </a:lvl5pPr>
            <a:lvl6pPr marL="0" marR="0" lvl="5" indent="0" algn="r">
              <a:spcBef>
                <a:spcPts val="0"/>
              </a:spcBef>
              <a:buNone/>
              <a:defRPr sz="1200">
                <a:solidFill>
                  <a:srgbClr val="888888"/>
                </a:solidFill>
                <a:latin typeface="Calibri"/>
                <a:ea typeface="Calibri"/>
                <a:cs typeface="Calibri"/>
                <a:sym typeface="Calibri"/>
              </a:defRPr>
            </a:lvl6pPr>
            <a:lvl7pPr marL="0" marR="0" lvl="6" indent="0" algn="r">
              <a:spcBef>
                <a:spcPts val="0"/>
              </a:spcBef>
              <a:buNone/>
              <a:defRPr sz="1200">
                <a:solidFill>
                  <a:srgbClr val="888888"/>
                </a:solidFill>
                <a:latin typeface="Calibri"/>
                <a:ea typeface="Calibri"/>
                <a:cs typeface="Calibri"/>
                <a:sym typeface="Calibri"/>
              </a:defRPr>
            </a:lvl7pPr>
            <a:lvl8pPr marL="0" marR="0" lvl="7" indent="0" algn="r">
              <a:spcBef>
                <a:spcPts val="0"/>
              </a:spcBef>
              <a:buNone/>
              <a:defRPr sz="1200">
                <a:solidFill>
                  <a:srgbClr val="888888"/>
                </a:solidFill>
                <a:latin typeface="Calibri"/>
                <a:ea typeface="Calibri"/>
                <a:cs typeface="Calibri"/>
                <a:sym typeface="Calibri"/>
              </a:defRPr>
            </a:lvl8pPr>
            <a:lvl9pPr marL="0" marR="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Expert Systems</a:t>
            </a:r>
            <a:br>
              <a:rPr lang="en-US" dirty="0"/>
            </a:br>
            <a:endParaRPr dirty="0"/>
          </a:p>
        </p:txBody>
      </p:sp>
      <p:sp>
        <p:nvSpPr>
          <p:cNvPr id="94" name="Google Shape;9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US" dirty="0"/>
              <a:t>Inference Strategies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lstStyle/>
          <a:p>
            <a:r>
              <a:rPr lang="en-AU"/>
              <a:t>Expert System</a:t>
            </a:r>
          </a:p>
        </p:txBody>
      </p:sp>
      <p:sp>
        <p:nvSpPr>
          <p:cNvPr id="6147" name="Rectangle 3"/>
          <p:cNvSpPr>
            <a:spLocks noGrp="1" noChangeArrowheads="1"/>
          </p:cNvSpPr>
          <p:nvPr>
            <p:ph type="body" idx="1"/>
          </p:nvPr>
        </p:nvSpPr>
        <p:spPr>
          <a:xfrm>
            <a:off x="457200" y="1600200"/>
            <a:ext cx="8229600" cy="4800599"/>
          </a:xfrm>
          <a:noFill/>
          <a:ln/>
        </p:spPr>
        <p:txBody>
          <a:bodyPr>
            <a:normAutofit fontScale="70000" lnSpcReduction="20000"/>
          </a:bodyPr>
          <a:lstStyle/>
          <a:p>
            <a:r>
              <a:rPr lang="en-AU" dirty="0">
                <a:solidFill>
                  <a:srgbClr val="FF0000"/>
                </a:solidFill>
              </a:rPr>
              <a:t>An expert system is a system that utilizes  human knowledge captured in a computer to solve problems that ordinarily require human expertise</a:t>
            </a:r>
            <a:r>
              <a:rPr lang="en-AU" dirty="0"/>
              <a:t>.</a:t>
            </a:r>
          </a:p>
          <a:p>
            <a:endParaRPr lang="en-AU" dirty="0"/>
          </a:p>
          <a:p>
            <a:r>
              <a:rPr lang="en-US" dirty="0"/>
              <a:t>It is a computer program designed not just to process data, but to mimic the reasoning and problem-solving skills of one or more human experts in a specific, narrow field (e.g., medical diagnosis, financial planning, equipment repair).</a:t>
            </a:r>
          </a:p>
          <a:p>
            <a:endParaRPr lang="en-US" dirty="0"/>
          </a:p>
          <a:p>
            <a:r>
              <a:rPr lang="en-US" dirty="0"/>
              <a:t>It solves complex problems by using reasoning methods applied to a body of formalized knowledge, rather than using traditional procedural programming.</a:t>
            </a:r>
            <a:endParaRPr lang="en-AU" dirty="0"/>
          </a:p>
          <a:p>
            <a:endParaRPr lang="en-AU" dirty="0"/>
          </a:p>
          <a:p>
            <a:r>
              <a:rPr lang="en-AU" dirty="0"/>
              <a:t>A computer program that emulates the behaviour of human experts who are solving real-world problems associated with a particular domain of knowledge. </a:t>
            </a:r>
          </a:p>
        </p:txBody>
      </p:sp>
    </p:spTree>
    <p:extLst>
      <p:ext uri="{BB962C8B-B14F-4D97-AF65-F5344CB8AC3E}">
        <p14:creationId xmlns:p14="http://schemas.microsoft.com/office/powerpoint/2010/main" val="3311500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p:spPr>
        <p:txBody>
          <a:bodyPr/>
          <a:lstStyle/>
          <a:p>
            <a:r>
              <a:rPr lang="en-AU" dirty="0"/>
              <a:t>Expert System</a:t>
            </a:r>
          </a:p>
        </p:txBody>
      </p:sp>
      <p:sp>
        <p:nvSpPr>
          <p:cNvPr id="45059" name="Rectangle 3"/>
          <p:cNvSpPr>
            <a:spLocks noGrp="1" noChangeArrowheads="1"/>
          </p:cNvSpPr>
          <p:nvPr>
            <p:ph type="body" idx="1"/>
          </p:nvPr>
        </p:nvSpPr>
        <p:spPr>
          <a:xfrm>
            <a:off x="762000" y="1447800"/>
            <a:ext cx="7962900" cy="4114800"/>
          </a:xfrm>
          <a:noFill/>
          <a:ln/>
        </p:spPr>
        <p:txBody>
          <a:bodyPr>
            <a:normAutofit lnSpcReduction="10000"/>
          </a:bodyPr>
          <a:lstStyle/>
          <a:p>
            <a:r>
              <a:rPr lang="en-AU" dirty="0"/>
              <a:t>Computer software that:</a:t>
            </a:r>
          </a:p>
          <a:p>
            <a:pPr lvl="1"/>
            <a:r>
              <a:rPr lang="en-AU" dirty="0"/>
              <a:t>Emulates human expert.</a:t>
            </a:r>
          </a:p>
          <a:p>
            <a:pPr lvl="1"/>
            <a:r>
              <a:rPr lang="en-AU" dirty="0"/>
              <a:t>Deals with small, well defined domains of expertise.</a:t>
            </a:r>
          </a:p>
          <a:p>
            <a:pPr lvl="1"/>
            <a:r>
              <a:rPr lang="en-AU" dirty="0"/>
              <a:t>Is able to solve real-world problems.</a:t>
            </a:r>
          </a:p>
          <a:p>
            <a:pPr lvl="1"/>
            <a:r>
              <a:rPr lang="en-AU" dirty="0"/>
              <a:t>Is able to act as a cost-effective consultant.</a:t>
            </a:r>
          </a:p>
          <a:p>
            <a:pPr lvl="1"/>
            <a:r>
              <a:rPr lang="en-AU" dirty="0"/>
              <a:t>Can explains reasoning behind any solutions it finds.</a:t>
            </a:r>
          </a:p>
          <a:p>
            <a:pPr lvl="1"/>
            <a:r>
              <a:rPr lang="en-AU" dirty="0"/>
              <a:t>Should be able to learn from experience.</a:t>
            </a:r>
          </a:p>
        </p:txBody>
      </p:sp>
    </p:spTree>
    <p:extLst>
      <p:ext uri="{BB962C8B-B14F-4D97-AF65-F5344CB8AC3E}">
        <p14:creationId xmlns:p14="http://schemas.microsoft.com/office/powerpoint/2010/main" val="615374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1728788" y="365125"/>
            <a:ext cx="5662612" cy="701675"/>
          </a:xfrm>
          <a:prstGeom prst="rect">
            <a:avLst/>
          </a:prstGeom>
          <a:noFill/>
          <a:ln w="12700" cap="sq">
            <a:noFill/>
            <a:miter lim="800000"/>
            <a:headEnd type="none" w="sm" len="sm"/>
            <a:tailEnd type="none" w="sm" len="sm"/>
          </a:ln>
          <a:effectLst/>
        </p:spPr>
        <p:txBody>
          <a:bodyPr wrap="none">
            <a:spAutoFit/>
          </a:bodyPr>
          <a:lstStyle/>
          <a:p>
            <a:r>
              <a:rPr lang="en-US" sz="4000"/>
              <a:t>Production system model</a:t>
            </a:r>
          </a:p>
        </p:txBody>
      </p:sp>
      <p:pic>
        <p:nvPicPr>
          <p:cNvPr id="26628" name="Picture 4" descr="G:\books\Pe_uk\Powerpoint\Negnevitsky\final\ppt\ch02\WMF\Slide02-16.wmf"/>
          <p:cNvPicPr>
            <a:picLocks noChangeAspect="1" noChangeArrowheads="1"/>
          </p:cNvPicPr>
          <p:nvPr/>
        </p:nvPicPr>
        <p:blipFill>
          <a:blip r:embed="rId2" cstate="print"/>
          <a:srcRect/>
          <a:stretch>
            <a:fillRect/>
          </a:stretch>
        </p:blipFill>
        <p:spPr bwMode="auto">
          <a:xfrm>
            <a:off x="365125" y="1338263"/>
            <a:ext cx="8553450" cy="4348162"/>
          </a:xfrm>
          <a:prstGeom prst="rect">
            <a:avLst/>
          </a:prstGeom>
          <a:noFill/>
        </p:spPr>
      </p:pic>
    </p:spTree>
    <p:extLst>
      <p:ext uri="{BB962C8B-B14F-4D97-AF65-F5344CB8AC3E}">
        <p14:creationId xmlns:p14="http://schemas.microsoft.com/office/powerpoint/2010/main" val="3933810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33375" y="152400"/>
            <a:ext cx="8108053" cy="615553"/>
          </a:xfrm>
          <a:prstGeom prst="rect">
            <a:avLst/>
          </a:prstGeom>
          <a:noFill/>
          <a:ln w="12700" cap="sq">
            <a:noFill/>
            <a:miter lim="800000"/>
            <a:headEnd type="none" w="sm" len="sm"/>
            <a:tailEnd type="none" w="sm" len="sm"/>
          </a:ln>
          <a:effectLst/>
        </p:spPr>
        <p:txBody>
          <a:bodyPr wrap="none">
            <a:spAutoFit/>
          </a:bodyPr>
          <a:lstStyle/>
          <a:p>
            <a:r>
              <a:rPr lang="en-US" sz="3400"/>
              <a:t>Basic structure of a rule-based expert system</a:t>
            </a:r>
          </a:p>
        </p:txBody>
      </p:sp>
      <p:pic>
        <p:nvPicPr>
          <p:cNvPr id="27651" name="Picture 3" descr="G:\books\Pe_uk\Powerpoint\Negnevitsky\final\ppt\ch02\WMF\Slide02-17.wmf"/>
          <p:cNvPicPr>
            <a:picLocks noChangeAspect="1" noChangeArrowheads="1"/>
          </p:cNvPicPr>
          <p:nvPr/>
        </p:nvPicPr>
        <p:blipFill>
          <a:blip r:embed="rId2" cstate="print"/>
          <a:srcRect/>
          <a:stretch>
            <a:fillRect/>
          </a:stretch>
        </p:blipFill>
        <p:spPr bwMode="auto">
          <a:xfrm>
            <a:off x="1157288" y="914400"/>
            <a:ext cx="6829425" cy="5419725"/>
          </a:xfrm>
          <a:prstGeom prst="rect">
            <a:avLst/>
          </a:prstGeom>
          <a:noFill/>
        </p:spPr>
      </p:pic>
    </p:spTree>
    <p:extLst>
      <p:ext uri="{BB962C8B-B14F-4D97-AF65-F5344CB8AC3E}">
        <p14:creationId xmlns:p14="http://schemas.microsoft.com/office/powerpoint/2010/main" val="209269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457200" y="274638"/>
            <a:ext cx="8229600" cy="79802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dirty="0"/>
              <a:t>Inference Engine</a:t>
            </a:r>
            <a:endParaRPr dirty="0"/>
          </a:p>
        </p:txBody>
      </p:sp>
      <p:sp>
        <p:nvSpPr>
          <p:cNvPr id="101" name="Google Shape;101;p2"/>
          <p:cNvSpPr txBox="1">
            <a:spLocks noGrp="1"/>
          </p:cNvSpPr>
          <p:nvPr>
            <p:ph type="body" idx="1"/>
          </p:nvPr>
        </p:nvSpPr>
        <p:spPr>
          <a:xfrm>
            <a:off x="457200" y="1310054"/>
            <a:ext cx="8229600" cy="4816109"/>
          </a:xfrm>
          <a:prstGeom prst="rect">
            <a:avLst/>
          </a:prstGeom>
          <a:noFill/>
          <a:ln>
            <a:noFill/>
          </a:ln>
        </p:spPr>
        <p:txBody>
          <a:bodyPr spcFirstLastPara="1" wrap="square" lIns="91425" tIns="45700" rIns="91425" bIns="45700" anchor="t" anchorCtr="0">
            <a:normAutofit fontScale="92500" lnSpcReduction="10000"/>
          </a:bodyPr>
          <a:lstStyle/>
          <a:p>
            <a:pPr marL="342900" lvl="0">
              <a:spcBef>
                <a:spcPts val="0"/>
              </a:spcBef>
              <a:buSzPts val="2200"/>
            </a:pPr>
            <a:r>
              <a:rPr lang="en-US" sz="2200" dirty="0">
                <a:solidFill>
                  <a:srgbClr val="FF0000"/>
                </a:solidFill>
              </a:rPr>
              <a:t>Inference engine is the "brain" of the expert system. </a:t>
            </a:r>
          </a:p>
          <a:p>
            <a:pPr marL="342900" lvl="0">
              <a:spcBef>
                <a:spcPts val="0"/>
              </a:spcBef>
              <a:buSzPts val="2200"/>
            </a:pPr>
            <a:r>
              <a:rPr lang="en-US" sz="2200" dirty="0"/>
              <a:t>It is a set of procedures that uses the information (Facts) from the Database and the rules (IF-THEN) from the Knowledge Base to perform the reasoning. </a:t>
            </a:r>
          </a:p>
          <a:p>
            <a:pPr marL="342900" lvl="0">
              <a:spcBef>
                <a:spcPts val="0"/>
              </a:spcBef>
              <a:buSzPts val="2200"/>
            </a:pPr>
            <a:r>
              <a:rPr lang="en-US" sz="2200" dirty="0"/>
              <a:t>It applies the rules to the facts to draw conclusions and arrive at a solution.</a:t>
            </a:r>
          </a:p>
          <a:p>
            <a:pPr marL="342900" lvl="0">
              <a:spcBef>
                <a:spcPts val="0"/>
              </a:spcBef>
              <a:buSzPts val="2200"/>
            </a:pPr>
            <a:endParaRPr lang="en-US" sz="2200" dirty="0"/>
          </a:p>
          <a:p>
            <a:pPr marL="342900" lvl="0">
              <a:spcBef>
                <a:spcPts val="0"/>
              </a:spcBef>
              <a:buSzPts val="2200"/>
            </a:pPr>
            <a:r>
              <a:rPr lang="en-US" sz="2200" dirty="0"/>
              <a:t>The two primary methods used by the Inference Engine are Forward Chaining (data-driven reasoning) and Backward Chaining (goal-driven reasoning).</a:t>
            </a:r>
          </a:p>
          <a:p>
            <a:pPr marL="342900" lvl="0">
              <a:spcBef>
                <a:spcPts val="0"/>
              </a:spcBef>
              <a:buSzPts val="2200"/>
            </a:pPr>
            <a:endParaRPr lang="en-US" sz="2200" dirty="0"/>
          </a:p>
          <a:p>
            <a:pPr marL="342900" lvl="0" indent="-342900" algn="l" rtl="0">
              <a:spcBef>
                <a:spcPts val="0"/>
              </a:spcBef>
              <a:spcAft>
                <a:spcPts val="0"/>
              </a:spcAft>
              <a:buClr>
                <a:schemeClr val="dk1"/>
              </a:buClr>
              <a:buSzPts val="2200"/>
              <a:buChar char="•"/>
            </a:pPr>
            <a:r>
              <a:rPr lang="en-US" sz="2200" dirty="0">
                <a:solidFill>
                  <a:srgbClr val="FF0000"/>
                </a:solidFill>
              </a:rPr>
              <a:t>These two approaches are dictated by whether the inference engine is being driven by the antecedent (left hand side) or the consequent (right hand side) of the rule.</a:t>
            </a:r>
            <a:endParaRPr dirty="0">
              <a:solidFill>
                <a:srgbClr val="FF0000"/>
              </a:solidFill>
            </a:endParaRPr>
          </a:p>
          <a:p>
            <a:pPr marL="742950" lvl="1" indent="-285750" algn="l" rtl="0">
              <a:spcBef>
                <a:spcPts val="360"/>
              </a:spcBef>
              <a:spcAft>
                <a:spcPts val="0"/>
              </a:spcAft>
              <a:buClr>
                <a:schemeClr val="dk1"/>
              </a:buClr>
              <a:buSzPts val="1800"/>
              <a:buChar char="–"/>
            </a:pPr>
            <a:r>
              <a:rPr lang="en-US" sz="1800" dirty="0"/>
              <a:t>Forward Chaining </a:t>
            </a:r>
            <a:endParaRPr dirty="0"/>
          </a:p>
          <a:p>
            <a:pPr marL="742950" lvl="1" indent="-285750" algn="l" rtl="0">
              <a:spcBef>
                <a:spcPts val="360"/>
              </a:spcBef>
              <a:spcAft>
                <a:spcPts val="0"/>
              </a:spcAft>
              <a:buClr>
                <a:schemeClr val="dk1"/>
              </a:buClr>
              <a:buSzPts val="1800"/>
              <a:buChar char="–"/>
            </a:pPr>
            <a:r>
              <a:rPr lang="en-US" sz="1800" dirty="0"/>
              <a:t>Backward Chaining</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457200" y="274638"/>
            <a:ext cx="8231188" cy="1144587"/>
          </a:xfrm>
          <a:prstGeom prst="rect">
            <a:avLst/>
          </a:prstGeom>
          <a:noFill/>
          <a:ln>
            <a:noFill/>
          </a:ln>
        </p:spPr>
        <p:txBody>
          <a:bodyPr spcFirstLastPara="1" wrap="square" lIns="90000" tIns="46800" rIns="90000" bIns="46800" anchor="ctr" anchorCtr="0">
            <a:normAutofit/>
          </a:bodyPr>
          <a:lstStyle/>
          <a:p>
            <a:pPr marL="0" lvl="0" indent="0" algn="ctr" rtl="0">
              <a:lnSpc>
                <a:spcPct val="95000"/>
              </a:lnSpc>
              <a:spcBef>
                <a:spcPts val="0"/>
              </a:spcBef>
              <a:spcAft>
                <a:spcPts val="0"/>
              </a:spcAft>
              <a:buClr>
                <a:schemeClr val="dk1"/>
              </a:buClr>
              <a:buSzPts val="4000"/>
              <a:buFont typeface="Calibri"/>
              <a:buNone/>
            </a:pPr>
            <a:r>
              <a:rPr lang="en-US" sz="4000"/>
              <a:t>Forward Chaining</a:t>
            </a:r>
            <a:endParaRPr/>
          </a:p>
        </p:txBody>
      </p:sp>
      <p:sp>
        <p:nvSpPr>
          <p:cNvPr id="108" name="Google Shape;108;p3"/>
          <p:cNvSpPr txBox="1">
            <a:spLocks noGrp="1"/>
          </p:cNvSpPr>
          <p:nvPr>
            <p:ph type="body" idx="1"/>
          </p:nvPr>
        </p:nvSpPr>
        <p:spPr>
          <a:xfrm>
            <a:off x="457200" y="1295400"/>
            <a:ext cx="8231188" cy="4527550"/>
          </a:xfrm>
          <a:prstGeom prst="rect">
            <a:avLst/>
          </a:prstGeom>
          <a:noFill/>
          <a:ln>
            <a:noFill/>
          </a:ln>
        </p:spPr>
        <p:txBody>
          <a:bodyPr spcFirstLastPara="1" wrap="square" lIns="90000" tIns="46800" rIns="90000" bIns="46800" anchor="t" anchorCtr="0">
            <a:normAutofit/>
          </a:bodyPr>
          <a:lstStyle/>
          <a:p>
            <a:pPr marL="341313" lvl="0" indent="-341313">
              <a:lnSpc>
                <a:spcPct val="90000"/>
              </a:lnSpc>
              <a:spcBef>
                <a:spcPts val="0"/>
              </a:spcBef>
              <a:buSzPts val="2200"/>
            </a:pPr>
            <a:r>
              <a:rPr lang="en-US" sz="2200" dirty="0"/>
              <a:t>Forward Chaining is a reasoning method used by the Inference Engine in knowledge-based systems, such as Expert Systems and Production Systems. </a:t>
            </a:r>
          </a:p>
          <a:p>
            <a:pPr marL="341313" lvl="0" indent="-341313">
              <a:lnSpc>
                <a:spcPct val="90000"/>
              </a:lnSpc>
              <a:spcBef>
                <a:spcPts val="0"/>
              </a:spcBef>
              <a:buSzPts val="2200"/>
            </a:pPr>
            <a:endParaRPr lang="en-US" sz="2400" dirty="0"/>
          </a:p>
          <a:p>
            <a:pPr marL="341313" lvl="0" indent="-341313">
              <a:lnSpc>
                <a:spcPct val="90000"/>
              </a:lnSpc>
              <a:spcBef>
                <a:spcPts val="0"/>
              </a:spcBef>
              <a:buSzPts val="2200"/>
            </a:pPr>
            <a:r>
              <a:rPr lang="en-US" sz="2200" dirty="0"/>
              <a:t>The reasoning starts with a set of known facts, derives new facts using rules whose premises match the known facts, and continues this process until a goal state is reached or until no further rules have premises that match the known or derived facts. </a:t>
            </a:r>
          </a:p>
          <a:p>
            <a:pPr marL="341313" lvl="0" indent="-341313" algn="l" rtl="0">
              <a:lnSpc>
                <a:spcPct val="90000"/>
              </a:lnSpc>
              <a:spcBef>
                <a:spcPts val="0"/>
              </a:spcBef>
              <a:spcAft>
                <a:spcPts val="0"/>
              </a:spcAft>
              <a:buClr>
                <a:schemeClr val="dk1"/>
              </a:buClr>
              <a:buSzPts val="2200"/>
              <a:buChar char="•"/>
            </a:pPr>
            <a:endParaRPr lang="en-US" sz="2200" dirty="0"/>
          </a:p>
          <a:p>
            <a:pPr marL="341313" lvl="0" indent="-341313" algn="l" rtl="0">
              <a:lnSpc>
                <a:spcPct val="90000"/>
              </a:lnSpc>
              <a:spcBef>
                <a:spcPts val="600"/>
              </a:spcBef>
              <a:spcAft>
                <a:spcPts val="0"/>
              </a:spcAft>
              <a:buClr>
                <a:schemeClr val="dk1"/>
              </a:buClr>
              <a:buSzPts val="2200"/>
              <a:buChar char="•"/>
            </a:pPr>
            <a:r>
              <a:rPr lang="en-US" sz="2200" dirty="0"/>
              <a:t>How does a doctor go about diagnosing a patient. </a:t>
            </a:r>
            <a:endParaRPr dirty="0"/>
          </a:p>
          <a:p>
            <a:pPr marL="741363" lvl="1" indent="-284163" algn="l" rtl="0">
              <a:lnSpc>
                <a:spcPct val="90000"/>
              </a:lnSpc>
              <a:spcBef>
                <a:spcPts val="500"/>
              </a:spcBef>
              <a:spcAft>
                <a:spcPts val="0"/>
              </a:spcAft>
              <a:buClr>
                <a:schemeClr val="dk1"/>
              </a:buClr>
              <a:buSzPts val="2200"/>
              <a:buChar char="–"/>
            </a:pPr>
            <a:r>
              <a:rPr lang="en-US" sz="2200" dirty="0"/>
              <a:t>Asks for symptoms.</a:t>
            </a:r>
            <a:endParaRPr dirty="0"/>
          </a:p>
          <a:p>
            <a:pPr marL="741363" lvl="1" indent="-284163" algn="l" rtl="0">
              <a:lnSpc>
                <a:spcPct val="90000"/>
              </a:lnSpc>
              <a:spcBef>
                <a:spcPts val="500"/>
              </a:spcBef>
              <a:spcAft>
                <a:spcPts val="0"/>
              </a:spcAft>
              <a:buClr>
                <a:schemeClr val="dk1"/>
              </a:buClr>
              <a:buSzPts val="2200"/>
              <a:buChar char="–"/>
            </a:pPr>
            <a:r>
              <a:rPr lang="en-US" sz="2200" dirty="0"/>
              <a:t>Infers diagnosis from symptoms.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Forward Chaining Approach</a:t>
            </a:r>
            <a:endParaRPr/>
          </a:p>
        </p:txBody>
      </p:sp>
      <p:sp>
        <p:nvSpPr>
          <p:cNvPr id="114" name="Google Shape;114;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lvl="0" indent="-457200">
              <a:spcBef>
                <a:spcPts val="0"/>
              </a:spcBef>
              <a:buSzPts val="2200"/>
              <a:buAutoNum type="arabicPeriod"/>
            </a:pPr>
            <a:r>
              <a:rPr lang="en-US" sz="2200" dirty="0"/>
              <a:t>The process begins with a set of initial facts loaded into the Working Memory (Short-Term Memory). </a:t>
            </a:r>
          </a:p>
          <a:p>
            <a:pPr lvl="0" indent="-457200">
              <a:spcBef>
                <a:spcPts val="0"/>
              </a:spcBef>
              <a:buSzPts val="2200"/>
              <a:buAutoNum type="arabicPeriod"/>
            </a:pPr>
            <a:r>
              <a:rPr lang="en-US" sz="2200" dirty="0"/>
              <a:t>The Inference Engine scans the entire Knowledge Base (Long-Term Memory) to find every Production Rule whose condition (IF-part) is satisfied (matched) by the facts currently in the Working Memory. </a:t>
            </a:r>
          </a:p>
          <a:p>
            <a:pPr lvl="0" indent="-457200">
              <a:spcBef>
                <a:spcPts val="0"/>
              </a:spcBef>
              <a:buSzPts val="2200"/>
              <a:buAutoNum type="arabicPeriod"/>
            </a:pPr>
            <a:r>
              <a:rPr lang="en-US" sz="2200" dirty="0"/>
              <a:t>When matches found for all premises of a rule, place the conclusion of the rule in Working Memory. </a:t>
            </a:r>
            <a:endParaRPr lang="en-US" dirty="0"/>
          </a:p>
          <a:p>
            <a:pPr lvl="0" indent="-457200">
              <a:spcBef>
                <a:spcPts val="0"/>
              </a:spcBef>
              <a:buSzPts val="2200"/>
              <a:buAutoNum type="arabicPeriod"/>
            </a:pPr>
            <a:r>
              <a:rPr lang="en-US" sz="2200" dirty="0"/>
              <a:t>Repeat this process until no more  facts can be added or goal is reached.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155" name="Google Shape;155;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156" name="Google Shape;156;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dirty="0"/>
              <a:t>Knowledge Base:</a:t>
            </a:r>
            <a:endParaRPr dirty="0"/>
          </a:p>
          <a:p>
            <a:pPr marL="742950" lvl="1" indent="-285750" algn="l" rtl="0">
              <a:spcBef>
                <a:spcPts val="560"/>
              </a:spcBef>
              <a:spcAft>
                <a:spcPts val="0"/>
              </a:spcAft>
              <a:buClr>
                <a:schemeClr val="dk1"/>
              </a:buClr>
              <a:buSzPts val="2800"/>
              <a:buChar char="–"/>
            </a:pPr>
            <a:r>
              <a:rPr lang="en-US" dirty="0"/>
              <a:t>If </a:t>
            </a:r>
            <a:r>
              <a:rPr lang="en-US" dirty="0">
                <a:solidFill>
                  <a:srgbClr val="0000FF"/>
                </a:solidFill>
              </a:rPr>
              <a:t>[X croaks and eats flies]</a:t>
            </a:r>
            <a:r>
              <a:rPr lang="en-US" dirty="0"/>
              <a:t> Then </a:t>
            </a:r>
            <a:r>
              <a:rPr lang="en-US" dirty="0">
                <a:solidFill>
                  <a:srgbClr val="0000FF"/>
                </a:solidFill>
              </a:rPr>
              <a:t>[X is a frog]</a:t>
            </a:r>
            <a:endParaRPr dirty="0"/>
          </a:p>
          <a:p>
            <a:pPr marL="742950" lvl="1" indent="-285750" algn="l" rtl="0">
              <a:spcBef>
                <a:spcPts val="560"/>
              </a:spcBef>
              <a:spcAft>
                <a:spcPts val="0"/>
              </a:spcAft>
              <a:buClr>
                <a:schemeClr val="dk1"/>
              </a:buClr>
              <a:buSzPts val="2800"/>
              <a:buChar char="–"/>
            </a:pPr>
            <a:r>
              <a:rPr lang="en-US" dirty="0"/>
              <a:t>If </a:t>
            </a:r>
            <a:r>
              <a:rPr lang="en-US" dirty="0">
                <a:solidFill>
                  <a:srgbClr val="0000FF"/>
                </a:solidFill>
              </a:rPr>
              <a:t>[X chirps and sings]</a:t>
            </a:r>
            <a:r>
              <a:rPr lang="en-US" dirty="0"/>
              <a:t> Then </a:t>
            </a:r>
            <a:r>
              <a:rPr lang="en-US" dirty="0">
                <a:solidFill>
                  <a:srgbClr val="0000FF"/>
                </a:solidFill>
              </a:rPr>
              <a:t>[X is a canary]</a:t>
            </a:r>
            <a:endParaRPr dirty="0"/>
          </a:p>
          <a:p>
            <a:pPr marL="742950" lvl="1" indent="-285750" algn="l" rtl="0">
              <a:spcBef>
                <a:spcPts val="560"/>
              </a:spcBef>
              <a:spcAft>
                <a:spcPts val="0"/>
              </a:spcAft>
              <a:buClr>
                <a:schemeClr val="dk1"/>
              </a:buClr>
              <a:buSzPts val="2800"/>
              <a:buChar char="–"/>
            </a:pPr>
            <a:r>
              <a:rPr lang="en-US" dirty="0"/>
              <a:t>If </a:t>
            </a:r>
            <a:r>
              <a:rPr lang="en-US" dirty="0">
                <a:solidFill>
                  <a:srgbClr val="0000FF"/>
                </a:solidFill>
              </a:rPr>
              <a:t>[X is a frog]</a:t>
            </a:r>
            <a:r>
              <a:rPr lang="en-US" dirty="0"/>
              <a:t> Then </a:t>
            </a:r>
            <a:r>
              <a:rPr lang="en-US" dirty="0">
                <a:solidFill>
                  <a:srgbClr val="0000FF"/>
                </a:solidFill>
              </a:rPr>
              <a:t>[X is colored green]</a:t>
            </a:r>
            <a:endParaRPr dirty="0"/>
          </a:p>
          <a:p>
            <a:pPr marL="742950" lvl="1" indent="-285750" algn="l" rtl="0">
              <a:spcBef>
                <a:spcPts val="560"/>
              </a:spcBef>
              <a:spcAft>
                <a:spcPts val="0"/>
              </a:spcAft>
              <a:buClr>
                <a:schemeClr val="dk1"/>
              </a:buClr>
              <a:buSzPts val="2800"/>
              <a:buChar char="–"/>
            </a:pPr>
            <a:r>
              <a:rPr lang="en-US" dirty="0"/>
              <a:t>If </a:t>
            </a:r>
            <a:r>
              <a:rPr lang="en-US" dirty="0">
                <a:solidFill>
                  <a:srgbClr val="0000FF"/>
                </a:solidFill>
              </a:rPr>
              <a:t>[X is a canary]</a:t>
            </a:r>
            <a:r>
              <a:rPr lang="en-US" dirty="0"/>
              <a:t> Then </a:t>
            </a:r>
            <a:r>
              <a:rPr lang="en-US" dirty="0">
                <a:solidFill>
                  <a:srgbClr val="0000FF"/>
                </a:solidFill>
              </a:rPr>
              <a:t>[X is colored yellow]</a:t>
            </a:r>
          </a:p>
          <a:p>
            <a:pPr marL="342900">
              <a:lnSpc>
                <a:spcPct val="110000"/>
              </a:lnSpc>
              <a:spcBef>
                <a:spcPts val="0"/>
              </a:spcBef>
              <a:buSzPts val="3200"/>
            </a:pPr>
            <a:r>
              <a:rPr lang="en-US" dirty="0"/>
              <a:t>Database (Working Memory)</a:t>
            </a:r>
            <a:endParaRPr dirty="0"/>
          </a:p>
          <a:p>
            <a:pPr marL="742950" lvl="1" indent="-285750" algn="l" rtl="0">
              <a:spcBef>
                <a:spcPts val="560"/>
              </a:spcBef>
              <a:spcAft>
                <a:spcPts val="0"/>
              </a:spcAft>
              <a:buClr>
                <a:srgbClr val="0000FF"/>
              </a:buClr>
              <a:buSzPts val="2800"/>
              <a:buChar char="–"/>
            </a:pPr>
            <a:r>
              <a:rPr lang="en-US" dirty="0">
                <a:solidFill>
                  <a:srgbClr val="0000FF"/>
                </a:solidFill>
              </a:rPr>
              <a:t>[Fritz croaks and eats flies]</a:t>
            </a:r>
            <a:endParaRPr dirty="0"/>
          </a:p>
          <a:p>
            <a:pPr marL="342900" lvl="0" indent="-342900" algn="l" rtl="0">
              <a:spcBef>
                <a:spcPts val="640"/>
              </a:spcBef>
              <a:spcAft>
                <a:spcPts val="0"/>
              </a:spcAft>
              <a:buClr>
                <a:schemeClr val="dk1"/>
              </a:buClr>
              <a:buSzPts val="3200"/>
              <a:buChar char="•"/>
            </a:pPr>
            <a:r>
              <a:rPr lang="en-US" dirty="0"/>
              <a:t>Goal:</a:t>
            </a:r>
            <a:endParaRPr dirty="0"/>
          </a:p>
          <a:p>
            <a:pPr marL="742950" lvl="1" indent="-285750" algn="l" rtl="0">
              <a:spcBef>
                <a:spcPts val="560"/>
              </a:spcBef>
              <a:spcAft>
                <a:spcPts val="0"/>
              </a:spcAft>
              <a:buClr>
                <a:srgbClr val="0000FF"/>
              </a:buClr>
              <a:buSzPts val="2800"/>
              <a:buChar char="–"/>
            </a:pPr>
            <a:r>
              <a:rPr lang="en-US" dirty="0">
                <a:solidFill>
                  <a:srgbClr val="0000FF"/>
                </a:solidFill>
              </a:rPr>
              <a:t>[Fritz is colored Y]</a:t>
            </a:r>
            <a:r>
              <a:rPr lang="en-US" dirty="0"/>
              <a:t>?</a:t>
            </a:r>
            <a:endParaRPr dirty="0"/>
          </a:p>
        </p:txBody>
      </p:sp>
    </p:spTree>
    <p:extLst>
      <p:ext uri="{BB962C8B-B14F-4D97-AF65-F5344CB8AC3E}">
        <p14:creationId xmlns:p14="http://schemas.microsoft.com/office/powerpoint/2010/main" val="3310984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162" name="Google Shape;16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163" name="Google Shape;163;p13"/>
          <p:cNvSpPr txBox="1"/>
          <p:nvPr/>
        </p:nvSpPr>
        <p:spPr>
          <a:xfrm>
            <a:off x="6934200" y="1752600"/>
            <a:ext cx="2057400" cy="44601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Knowledge Base</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croaks and eats flies]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frog]</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chirps and sings]</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canary]</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frog]</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green]</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canary]</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yellow]</a:t>
            </a:r>
            <a:endParaRPr dirty="0"/>
          </a:p>
          <a:p>
            <a:pPr marL="0" marR="0" lvl="0" indent="0" algn="l" rtl="0">
              <a:spcBef>
                <a:spcPts val="0"/>
              </a:spcBef>
              <a:spcAft>
                <a:spcPts val="0"/>
              </a:spcAft>
              <a:buNone/>
            </a:pPr>
            <a:endParaRPr lang="en-US" sz="1200" dirty="0">
              <a:solidFill>
                <a:srgbClr val="0000FF"/>
              </a:solidFill>
              <a:latin typeface="Calibri"/>
              <a:ea typeface="Calibri"/>
              <a:cs typeface="Calibri"/>
              <a:sym typeface="Calibri"/>
            </a:endParaRPr>
          </a:p>
          <a:p>
            <a:r>
              <a:rPr lang="en-US" sz="1200" b="1" dirty="0">
                <a:solidFill>
                  <a:schemeClr val="tx1"/>
                </a:solidFill>
                <a:latin typeface="Calibri"/>
                <a:ea typeface="Calibri"/>
                <a:cs typeface="Calibri"/>
                <a:sym typeface="Calibri"/>
              </a:rPr>
              <a:t> Working Memory</a:t>
            </a:r>
            <a:endParaRPr lang="en-US" sz="1200" b="1" dirty="0">
              <a:solidFill>
                <a:schemeClr val="tx1"/>
              </a:solidFill>
            </a:endParaRPr>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croaks and eats flies]</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 </a:t>
            </a:r>
            <a:endParaRPr dirty="0"/>
          </a:p>
          <a:p>
            <a:pPr marL="457200" marR="0" lvl="1" indent="0" algn="l" rtl="0">
              <a:spcBef>
                <a:spcPts val="0"/>
              </a:spcBef>
              <a:spcAft>
                <a:spcPts val="0"/>
              </a:spcAft>
              <a:buNone/>
            </a:pPr>
            <a:endParaRPr sz="1200" b="0" i="0" u="none" strike="noStrike" cap="none"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Goal</a:t>
            </a:r>
            <a:endParaRPr dirty="0"/>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is colored Y]</a:t>
            </a:r>
            <a:r>
              <a:rPr lang="en-US" sz="1200" dirty="0">
                <a:solidFill>
                  <a:schemeClr val="dk1"/>
                </a:solidFill>
                <a:latin typeface="Calibri"/>
                <a:ea typeface="Calibri"/>
                <a:cs typeface="Calibri"/>
                <a:sym typeface="Calibri"/>
              </a:rPr>
              <a:t>?</a:t>
            </a:r>
            <a:endParaRPr dirty="0"/>
          </a:p>
          <a:p>
            <a:pPr marL="0" marR="0" lvl="0" indent="0" algn="l" rtl="0">
              <a:spcBef>
                <a:spcPts val="700"/>
              </a:spcBef>
              <a:spcAft>
                <a:spcPts val="0"/>
              </a:spcAft>
              <a:buNone/>
            </a:pPr>
            <a:endParaRPr sz="1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351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169" name="Google Shape;169;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170" name="Google Shape;170;p14"/>
          <p:cNvSpPr/>
          <p:nvPr/>
        </p:nvSpPr>
        <p:spPr>
          <a:xfrm>
            <a:off x="6934200" y="1981200"/>
            <a:ext cx="1905000" cy="3810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14"/>
          <p:cNvSpPr/>
          <p:nvPr/>
        </p:nvSpPr>
        <p:spPr>
          <a:xfrm>
            <a:off x="6934200" y="4114800"/>
            <a:ext cx="19812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14"/>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Knowledge Base</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croaks and eats flies]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frog]</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chirps and sings]</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canary]</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frog]</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green]</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canary]</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yellow]</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croaks and eats flies]</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457200" marR="0" lvl="1" indent="0" algn="l" rtl="0">
              <a:spcBef>
                <a:spcPts val="0"/>
              </a:spcBef>
              <a:spcAft>
                <a:spcPts val="0"/>
              </a:spcAft>
              <a:buNone/>
            </a:pPr>
            <a:endParaRPr sz="1200" b="0" i="0" u="none" strike="noStrike" cap="none" dirty="0">
              <a:solidFill>
                <a:srgbClr val="FF0000"/>
              </a:solidFill>
              <a:latin typeface="Calibri"/>
              <a:ea typeface="Calibri"/>
              <a:cs typeface="Calibri"/>
              <a:sym typeface="Calibri"/>
            </a:endParaRPr>
          </a:p>
          <a:p>
            <a:pPr marL="457200" marR="0" lvl="1" indent="0" algn="l" rtl="0">
              <a:spcBef>
                <a:spcPts val="0"/>
              </a:spcBef>
              <a:spcAft>
                <a:spcPts val="0"/>
              </a:spcAft>
              <a:buNone/>
            </a:pPr>
            <a:endParaRPr sz="1200" b="0" i="0" u="none" strike="noStrike" cap="none"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Goal</a:t>
            </a:r>
            <a:endParaRPr dirty="0"/>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is colored Y]</a:t>
            </a:r>
            <a:r>
              <a:rPr lang="en-US" sz="1200" dirty="0">
                <a:solidFill>
                  <a:schemeClr val="dk1"/>
                </a:solidFill>
                <a:latin typeface="Calibri"/>
                <a:ea typeface="Calibri"/>
                <a:cs typeface="Calibri"/>
                <a:sym typeface="Calibri"/>
              </a:rPr>
              <a:t>?</a:t>
            </a:r>
            <a:endParaRPr dirty="0"/>
          </a:p>
          <a:p>
            <a:pPr marL="0" marR="0" lvl="0" indent="0" algn="l" rtl="0">
              <a:spcBef>
                <a:spcPts val="700"/>
              </a:spcBef>
              <a:spcAft>
                <a:spcPts val="0"/>
              </a:spcAft>
              <a:buNone/>
            </a:pPr>
            <a:endParaRPr sz="1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43444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178" name="Google Shape;178;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179" name="Google Shape;179;p15"/>
          <p:cNvSpPr/>
          <p:nvPr/>
        </p:nvSpPr>
        <p:spPr>
          <a:xfrm>
            <a:off x="6934200" y="1981200"/>
            <a:ext cx="1905000" cy="3810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15"/>
          <p:cNvSpPr/>
          <p:nvPr/>
        </p:nvSpPr>
        <p:spPr>
          <a:xfrm>
            <a:off x="6934200" y="4114800"/>
            <a:ext cx="19812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15"/>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182" name="Google Shape;182;p15"/>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183" name="Google Shape;183;p15"/>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184" name="Google Shape;184;p15"/>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185" name="Google Shape;185;p15"/>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186" name="Google Shape;186;p15"/>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187" name="Google Shape;187;p15"/>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0005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194" name="Google Shape;194;p16"/>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195" name="Google Shape;195;p16"/>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196" name="Google Shape;196;p16"/>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197" name="Google Shape;197;p16"/>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198" name="Google Shape;198;p16"/>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199" name="Google Shape;199;p16"/>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cxnSp>
        <p:nvCxnSpPr>
          <p:cNvPr id="200" name="Google Shape;200;p16"/>
          <p:cNvCxnSpPr/>
          <p:nvPr/>
        </p:nvCxnSpPr>
        <p:spPr>
          <a:xfrm>
            <a:off x="2133600" y="3352800"/>
            <a:ext cx="4800600" cy="1219200"/>
          </a:xfrm>
          <a:prstGeom prst="straightConnector1">
            <a:avLst/>
          </a:prstGeom>
          <a:noFill/>
          <a:ln w="12700" cap="flat" cmpd="sng">
            <a:solidFill>
              <a:srgbClr val="FF0000"/>
            </a:solidFill>
            <a:prstDash val="lgDash"/>
            <a:round/>
            <a:headEnd type="none" w="sm" len="sm"/>
            <a:tailEnd type="triangle" w="med" len="med"/>
          </a:ln>
        </p:spPr>
      </p:cxnSp>
      <p:sp>
        <p:nvSpPr>
          <p:cNvPr id="201" name="Google Shape;201;p16"/>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3649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7" name="Google Shape;20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08" name="Google Shape;208;p17"/>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09" name="Google Shape;209;p17"/>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10" name="Google Shape;210;p17"/>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211" name="Google Shape;211;p17"/>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212" name="Google Shape;212;p17"/>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213" name="Google Shape;213;p17"/>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214" name="Google Shape;214;p17"/>
          <p:cNvSpPr/>
          <p:nvPr/>
        </p:nvSpPr>
        <p:spPr>
          <a:xfrm>
            <a:off x="6934200" y="5410200"/>
            <a:ext cx="1524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17"/>
          <p:cNvSpPr txBox="1"/>
          <p:nvPr/>
        </p:nvSpPr>
        <p:spPr>
          <a:xfrm>
            <a:off x="6553200" y="5334000"/>
            <a:ext cx="3698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8000"/>
                </a:solidFill>
                <a:latin typeface="Calibri"/>
                <a:ea typeface="Calibri"/>
                <a:cs typeface="Calibri"/>
                <a:sym typeface="Calibri"/>
              </a:rPr>
              <a:t>?</a:t>
            </a:r>
            <a:endParaRPr/>
          </a:p>
        </p:txBody>
      </p:sp>
      <p:sp>
        <p:nvSpPr>
          <p:cNvPr id="216" name="Google Shape;216;p17"/>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Knowledge Base</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croaks and eats flies]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frog]</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chirps and sings]</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canary]</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frog]</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green]</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canary]</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yellow]</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croaks and eats flies]</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[Fritz is a frog]</a:t>
            </a:r>
            <a:endParaRPr dirty="0"/>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 </a:t>
            </a:r>
            <a:endParaRPr dirty="0"/>
          </a:p>
          <a:p>
            <a:pPr marL="457200" marR="0" lvl="1" indent="0" algn="l" rtl="0">
              <a:spcBef>
                <a:spcPts val="0"/>
              </a:spcBef>
              <a:spcAft>
                <a:spcPts val="0"/>
              </a:spcAft>
              <a:buNone/>
            </a:pPr>
            <a:endParaRPr sz="1200" b="0" i="0" u="none" strike="noStrike" cap="none"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Goal</a:t>
            </a:r>
            <a:endParaRPr dirty="0"/>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is colored Y]</a:t>
            </a:r>
            <a:r>
              <a:rPr lang="en-US" sz="1200" dirty="0">
                <a:solidFill>
                  <a:schemeClr val="dk1"/>
                </a:solidFill>
                <a:latin typeface="Calibri"/>
                <a:ea typeface="Calibri"/>
                <a:cs typeface="Calibri"/>
                <a:sym typeface="Calibri"/>
              </a:rPr>
              <a:t>?</a:t>
            </a:r>
            <a:endParaRPr dirty="0"/>
          </a:p>
          <a:p>
            <a:pPr marL="0" marR="0" lvl="0" indent="0" algn="l" rtl="0">
              <a:spcBef>
                <a:spcPts val="700"/>
              </a:spcBef>
              <a:spcAft>
                <a:spcPts val="0"/>
              </a:spcAft>
              <a:buNone/>
            </a:pPr>
            <a:endParaRPr sz="1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6458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222" name="Google Shape;2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23" name="Google Shape;223;p18"/>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24" name="Google Shape;224;p18"/>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25" name="Google Shape;225;p18"/>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226" name="Google Shape;226;p18"/>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227" name="Google Shape;227;p18"/>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228" name="Google Shape;228;p18"/>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229" name="Google Shape;229;p18"/>
          <p:cNvSpPr/>
          <p:nvPr/>
        </p:nvSpPr>
        <p:spPr>
          <a:xfrm>
            <a:off x="6934200" y="4470400"/>
            <a:ext cx="1143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0" name="Google Shape;230;p18"/>
          <p:cNvSpPr/>
          <p:nvPr/>
        </p:nvSpPr>
        <p:spPr>
          <a:xfrm>
            <a:off x="6934200" y="30480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1" name="Google Shape;231;p18"/>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2815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237" name="Google Shape;237;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38" name="Google Shape;238;p19"/>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39" name="Google Shape;239;p19"/>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40" name="Google Shape;240;p19"/>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241" name="Google Shape;241;p19"/>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242" name="Google Shape;242;p19"/>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243" name="Google Shape;243;p19"/>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244" name="Google Shape;244;p19"/>
          <p:cNvSpPr/>
          <p:nvPr/>
        </p:nvSpPr>
        <p:spPr>
          <a:xfrm>
            <a:off x="6934200" y="4470400"/>
            <a:ext cx="1143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19"/>
          <p:cNvSpPr/>
          <p:nvPr/>
        </p:nvSpPr>
        <p:spPr>
          <a:xfrm>
            <a:off x="6934200" y="30480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19"/>
          <p:cNvSpPr txBox="1"/>
          <p:nvPr/>
        </p:nvSpPr>
        <p:spPr>
          <a:xfrm>
            <a:off x="3879850" y="3009900"/>
            <a:ext cx="2749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247" name="Google Shape;247;p19"/>
          <p:cNvSpPr txBox="1"/>
          <p:nvPr/>
        </p:nvSpPr>
        <p:spPr>
          <a:xfrm>
            <a:off x="457200" y="4344988"/>
            <a:ext cx="2457450" cy="379412"/>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green]</a:t>
            </a:r>
            <a:endParaRPr/>
          </a:p>
        </p:txBody>
      </p:sp>
      <p:cxnSp>
        <p:nvCxnSpPr>
          <p:cNvPr id="248" name="Google Shape;248;p19"/>
          <p:cNvCxnSpPr/>
          <p:nvPr/>
        </p:nvCxnSpPr>
        <p:spPr>
          <a:xfrm>
            <a:off x="1219200" y="3568700"/>
            <a:ext cx="0" cy="762000"/>
          </a:xfrm>
          <a:prstGeom prst="straightConnector1">
            <a:avLst/>
          </a:prstGeom>
          <a:noFill/>
          <a:ln w="12700" cap="sq" cmpd="sng">
            <a:solidFill>
              <a:schemeClr val="dk1"/>
            </a:solidFill>
            <a:prstDash val="solid"/>
            <a:round/>
            <a:headEnd type="none" w="sm" len="sm"/>
            <a:tailEnd type="triangle" w="med" len="med"/>
          </a:ln>
        </p:spPr>
      </p:cxnSp>
      <p:cxnSp>
        <p:nvCxnSpPr>
          <p:cNvPr id="249" name="Google Shape;249;p19"/>
          <p:cNvCxnSpPr/>
          <p:nvPr/>
        </p:nvCxnSpPr>
        <p:spPr>
          <a:xfrm>
            <a:off x="1219200" y="4038600"/>
            <a:ext cx="4114800" cy="0"/>
          </a:xfrm>
          <a:prstGeom prst="straightConnector1">
            <a:avLst/>
          </a:prstGeom>
          <a:noFill/>
          <a:ln w="12700" cap="sq" cmpd="sng">
            <a:solidFill>
              <a:schemeClr val="dk1"/>
            </a:solidFill>
            <a:prstDash val="solid"/>
            <a:round/>
            <a:headEnd type="none" w="sm" len="sm"/>
            <a:tailEnd type="none" w="sm" len="sm"/>
          </a:ln>
        </p:spPr>
      </p:cxnSp>
      <p:cxnSp>
        <p:nvCxnSpPr>
          <p:cNvPr id="250" name="Google Shape;250;p19"/>
          <p:cNvCxnSpPr/>
          <p:nvPr/>
        </p:nvCxnSpPr>
        <p:spPr>
          <a:xfrm rot="10800000">
            <a:off x="5334000" y="3657600"/>
            <a:ext cx="0" cy="381000"/>
          </a:xfrm>
          <a:prstGeom prst="straightConnector1">
            <a:avLst/>
          </a:prstGeom>
          <a:noFill/>
          <a:ln w="12700" cap="sq" cmpd="sng">
            <a:solidFill>
              <a:schemeClr val="dk1"/>
            </a:solidFill>
            <a:prstDash val="solid"/>
            <a:round/>
            <a:headEnd type="none" w="sm" len="sm"/>
            <a:tailEnd type="none" w="sm" len="sm"/>
          </a:ln>
        </p:spPr>
      </p:cxnSp>
      <p:sp>
        <p:nvSpPr>
          <p:cNvPr id="251" name="Google Shape;251;p19"/>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7168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257" name="Google Shape;257;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58" name="Google Shape;258;p20"/>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59" name="Google Shape;259;p20"/>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60" name="Google Shape;260;p20"/>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261" name="Google Shape;261;p20"/>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262" name="Google Shape;262;p20"/>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263" name="Google Shape;263;p20"/>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264" name="Google Shape;264;p20"/>
          <p:cNvSpPr txBox="1"/>
          <p:nvPr/>
        </p:nvSpPr>
        <p:spPr>
          <a:xfrm>
            <a:off x="3879850" y="3009900"/>
            <a:ext cx="2749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265" name="Google Shape;265;p20"/>
          <p:cNvSpPr txBox="1"/>
          <p:nvPr/>
        </p:nvSpPr>
        <p:spPr>
          <a:xfrm>
            <a:off x="457200" y="4344988"/>
            <a:ext cx="2457450" cy="379412"/>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green]</a:t>
            </a:r>
            <a:endParaRPr/>
          </a:p>
        </p:txBody>
      </p:sp>
      <p:cxnSp>
        <p:nvCxnSpPr>
          <p:cNvPr id="266" name="Google Shape;266;p20"/>
          <p:cNvCxnSpPr/>
          <p:nvPr/>
        </p:nvCxnSpPr>
        <p:spPr>
          <a:xfrm>
            <a:off x="1219200" y="3568700"/>
            <a:ext cx="0" cy="762000"/>
          </a:xfrm>
          <a:prstGeom prst="straightConnector1">
            <a:avLst/>
          </a:prstGeom>
          <a:noFill/>
          <a:ln w="12700" cap="sq" cmpd="sng">
            <a:solidFill>
              <a:schemeClr val="dk1"/>
            </a:solidFill>
            <a:prstDash val="solid"/>
            <a:round/>
            <a:headEnd type="none" w="sm" len="sm"/>
            <a:tailEnd type="triangle" w="med" len="med"/>
          </a:ln>
        </p:spPr>
      </p:cxnSp>
      <p:cxnSp>
        <p:nvCxnSpPr>
          <p:cNvPr id="267" name="Google Shape;267;p20"/>
          <p:cNvCxnSpPr/>
          <p:nvPr/>
        </p:nvCxnSpPr>
        <p:spPr>
          <a:xfrm>
            <a:off x="1219200" y="4038600"/>
            <a:ext cx="4114800" cy="0"/>
          </a:xfrm>
          <a:prstGeom prst="straightConnector1">
            <a:avLst/>
          </a:prstGeom>
          <a:noFill/>
          <a:ln w="12700" cap="sq" cmpd="sng">
            <a:solidFill>
              <a:schemeClr val="dk1"/>
            </a:solidFill>
            <a:prstDash val="solid"/>
            <a:round/>
            <a:headEnd type="none" w="sm" len="sm"/>
            <a:tailEnd type="none" w="sm" len="sm"/>
          </a:ln>
        </p:spPr>
      </p:cxnSp>
      <p:cxnSp>
        <p:nvCxnSpPr>
          <p:cNvPr id="268" name="Google Shape;268;p20"/>
          <p:cNvCxnSpPr/>
          <p:nvPr/>
        </p:nvCxnSpPr>
        <p:spPr>
          <a:xfrm rot="10800000">
            <a:off x="5334000" y="3657600"/>
            <a:ext cx="0" cy="381000"/>
          </a:xfrm>
          <a:prstGeom prst="straightConnector1">
            <a:avLst/>
          </a:prstGeom>
          <a:noFill/>
          <a:ln w="12700" cap="sq" cmpd="sng">
            <a:solidFill>
              <a:schemeClr val="dk1"/>
            </a:solidFill>
            <a:prstDash val="solid"/>
            <a:round/>
            <a:headEnd type="none" w="sm" len="sm"/>
            <a:tailEnd type="none" w="sm" len="sm"/>
          </a:ln>
        </p:spPr>
      </p:cxnSp>
      <p:cxnSp>
        <p:nvCxnSpPr>
          <p:cNvPr id="269" name="Google Shape;269;p20"/>
          <p:cNvCxnSpPr/>
          <p:nvPr/>
        </p:nvCxnSpPr>
        <p:spPr>
          <a:xfrm>
            <a:off x="2971800" y="4495800"/>
            <a:ext cx="3962400" cy="457200"/>
          </a:xfrm>
          <a:prstGeom prst="straightConnector1">
            <a:avLst/>
          </a:prstGeom>
          <a:noFill/>
          <a:ln w="12700" cap="flat" cmpd="sng">
            <a:solidFill>
              <a:srgbClr val="FF0000"/>
            </a:solidFill>
            <a:prstDash val="lgDash"/>
            <a:round/>
            <a:headEnd type="none" w="sm" len="sm"/>
            <a:tailEnd type="triangle" w="med" len="med"/>
          </a:ln>
        </p:spPr>
      </p:cxnSp>
      <p:sp>
        <p:nvSpPr>
          <p:cNvPr id="270" name="Google Shape;270;p20"/>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colored green]</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6324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276" name="Google Shape;276;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77" name="Google Shape;277;p21"/>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78" name="Google Shape;278;p21"/>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79" name="Google Shape;279;p21"/>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280" name="Google Shape;280;p21"/>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281" name="Google Shape;281;p21"/>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282" name="Google Shape;282;p21"/>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283" name="Google Shape;283;p21"/>
          <p:cNvSpPr txBox="1"/>
          <p:nvPr/>
        </p:nvSpPr>
        <p:spPr>
          <a:xfrm>
            <a:off x="3879850" y="3009900"/>
            <a:ext cx="2749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284" name="Google Shape;284;p21"/>
          <p:cNvSpPr txBox="1"/>
          <p:nvPr/>
        </p:nvSpPr>
        <p:spPr>
          <a:xfrm>
            <a:off x="457200" y="4344988"/>
            <a:ext cx="2457450" cy="379412"/>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green]</a:t>
            </a:r>
            <a:endParaRPr/>
          </a:p>
        </p:txBody>
      </p:sp>
      <p:cxnSp>
        <p:nvCxnSpPr>
          <p:cNvPr id="285" name="Google Shape;285;p21"/>
          <p:cNvCxnSpPr/>
          <p:nvPr/>
        </p:nvCxnSpPr>
        <p:spPr>
          <a:xfrm>
            <a:off x="1219200" y="3568700"/>
            <a:ext cx="0" cy="762000"/>
          </a:xfrm>
          <a:prstGeom prst="straightConnector1">
            <a:avLst/>
          </a:prstGeom>
          <a:noFill/>
          <a:ln w="12700" cap="sq" cmpd="sng">
            <a:solidFill>
              <a:schemeClr val="dk1"/>
            </a:solidFill>
            <a:prstDash val="solid"/>
            <a:round/>
            <a:headEnd type="none" w="sm" len="sm"/>
            <a:tailEnd type="triangle" w="med" len="med"/>
          </a:ln>
        </p:spPr>
      </p:cxnSp>
      <p:cxnSp>
        <p:nvCxnSpPr>
          <p:cNvPr id="286" name="Google Shape;286;p21"/>
          <p:cNvCxnSpPr/>
          <p:nvPr/>
        </p:nvCxnSpPr>
        <p:spPr>
          <a:xfrm>
            <a:off x="1219200" y="4038600"/>
            <a:ext cx="4114800" cy="0"/>
          </a:xfrm>
          <a:prstGeom prst="straightConnector1">
            <a:avLst/>
          </a:prstGeom>
          <a:noFill/>
          <a:ln w="12700" cap="sq" cmpd="sng">
            <a:solidFill>
              <a:schemeClr val="dk1"/>
            </a:solidFill>
            <a:prstDash val="solid"/>
            <a:round/>
            <a:headEnd type="none" w="sm" len="sm"/>
            <a:tailEnd type="none" w="sm" len="sm"/>
          </a:ln>
        </p:spPr>
      </p:cxnSp>
      <p:cxnSp>
        <p:nvCxnSpPr>
          <p:cNvPr id="287" name="Google Shape;287;p21"/>
          <p:cNvCxnSpPr/>
          <p:nvPr/>
        </p:nvCxnSpPr>
        <p:spPr>
          <a:xfrm rot="10800000">
            <a:off x="5334000" y="3657600"/>
            <a:ext cx="0" cy="381000"/>
          </a:xfrm>
          <a:prstGeom prst="straightConnector1">
            <a:avLst/>
          </a:prstGeom>
          <a:noFill/>
          <a:ln w="12700" cap="sq" cmpd="sng">
            <a:solidFill>
              <a:schemeClr val="dk1"/>
            </a:solidFill>
            <a:prstDash val="solid"/>
            <a:round/>
            <a:headEnd type="none" w="sm" len="sm"/>
            <a:tailEnd type="none" w="sm" len="sm"/>
          </a:ln>
        </p:spPr>
      </p:cxnSp>
      <p:sp>
        <p:nvSpPr>
          <p:cNvPr id="288" name="Google Shape;288;p21"/>
          <p:cNvSpPr/>
          <p:nvPr/>
        </p:nvSpPr>
        <p:spPr>
          <a:xfrm>
            <a:off x="6934200" y="5410200"/>
            <a:ext cx="1524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21"/>
          <p:cNvSpPr txBox="1"/>
          <p:nvPr/>
        </p:nvSpPr>
        <p:spPr>
          <a:xfrm>
            <a:off x="6553200" y="5334000"/>
            <a:ext cx="3698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8000"/>
                </a:solidFill>
                <a:latin typeface="Calibri"/>
                <a:ea typeface="Calibri"/>
                <a:cs typeface="Calibri"/>
                <a:sym typeface="Calibri"/>
              </a:rPr>
              <a:t>?</a:t>
            </a:r>
            <a:endParaRPr/>
          </a:p>
        </p:txBody>
      </p:sp>
      <p:sp>
        <p:nvSpPr>
          <p:cNvPr id="290" name="Google Shape;290;p21"/>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colored green]</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5590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296" name="Google Shape;29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297" name="Google Shape;297;p22"/>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298" name="Google Shape;298;p22"/>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299" name="Google Shape;299;p22"/>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300" name="Google Shape;300;p22"/>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301" name="Google Shape;301;p22"/>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302" name="Google Shape;302;p22"/>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303" name="Google Shape;303;p22"/>
          <p:cNvSpPr txBox="1"/>
          <p:nvPr/>
        </p:nvSpPr>
        <p:spPr>
          <a:xfrm>
            <a:off x="3879850" y="3009900"/>
            <a:ext cx="2749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304" name="Google Shape;304;p22"/>
          <p:cNvSpPr txBox="1"/>
          <p:nvPr/>
        </p:nvSpPr>
        <p:spPr>
          <a:xfrm>
            <a:off x="457200" y="4344988"/>
            <a:ext cx="2457450" cy="379412"/>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green]</a:t>
            </a:r>
            <a:endParaRPr/>
          </a:p>
        </p:txBody>
      </p:sp>
      <p:cxnSp>
        <p:nvCxnSpPr>
          <p:cNvPr id="305" name="Google Shape;305;p22"/>
          <p:cNvCxnSpPr/>
          <p:nvPr/>
        </p:nvCxnSpPr>
        <p:spPr>
          <a:xfrm>
            <a:off x="1219200" y="3568700"/>
            <a:ext cx="0" cy="762000"/>
          </a:xfrm>
          <a:prstGeom prst="straightConnector1">
            <a:avLst/>
          </a:prstGeom>
          <a:noFill/>
          <a:ln w="12700" cap="sq" cmpd="sng">
            <a:solidFill>
              <a:schemeClr val="dk1"/>
            </a:solidFill>
            <a:prstDash val="solid"/>
            <a:round/>
            <a:headEnd type="none" w="sm" len="sm"/>
            <a:tailEnd type="triangle" w="med" len="med"/>
          </a:ln>
        </p:spPr>
      </p:cxnSp>
      <p:cxnSp>
        <p:nvCxnSpPr>
          <p:cNvPr id="306" name="Google Shape;306;p22"/>
          <p:cNvCxnSpPr/>
          <p:nvPr/>
        </p:nvCxnSpPr>
        <p:spPr>
          <a:xfrm>
            <a:off x="1219200" y="4038600"/>
            <a:ext cx="4114800" cy="0"/>
          </a:xfrm>
          <a:prstGeom prst="straightConnector1">
            <a:avLst/>
          </a:prstGeom>
          <a:noFill/>
          <a:ln w="12700" cap="sq" cmpd="sng">
            <a:solidFill>
              <a:schemeClr val="dk1"/>
            </a:solidFill>
            <a:prstDash val="solid"/>
            <a:round/>
            <a:headEnd type="none" w="sm" len="sm"/>
            <a:tailEnd type="none" w="sm" len="sm"/>
          </a:ln>
        </p:spPr>
      </p:cxnSp>
      <p:cxnSp>
        <p:nvCxnSpPr>
          <p:cNvPr id="307" name="Google Shape;307;p22"/>
          <p:cNvCxnSpPr/>
          <p:nvPr/>
        </p:nvCxnSpPr>
        <p:spPr>
          <a:xfrm rot="10800000">
            <a:off x="5334000" y="3657600"/>
            <a:ext cx="0" cy="381000"/>
          </a:xfrm>
          <a:prstGeom prst="straightConnector1">
            <a:avLst/>
          </a:prstGeom>
          <a:noFill/>
          <a:ln w="12700" cap="sq" cmpd="sng">
            <a:solidFill>
              <a:schemeClr val="dk1"/>
            </a:solidFill>
            <a:prstDash val="solid"/>
            <a:round/>
            <a:headEnd type="none" w="sm" len="sm"/>
            <a:tailEnd type="none" w="sm" len="sm"/>
          </a:ln>
        </p:spPr>
      </p:cxnSp>
      <p:sp>
        <p:nvSpPr>
          <p:cNvPr id="308" name="Google Shape;308;p22"/>
          <p:cNvSpPr/>
          <p:nvPr/>
        </p:nvSpPr>
        <p:spPr>
          <a:xfrm>
            <a:off x="6934200" y="4851400"/>
            <a:ext cx="17526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22"/>
          <p:cNvSpPr/>
          <p:nvPr/>
        </p:nvSpPr>
        <p:spPr>
          <a:xfrm>
            <a:off x="6934200" y="5410200"/>
            <a:ext cx="1524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22"/>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colored green]</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4865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316" name="Google Shape;31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 Example</a:t>
            </a:r>
            <a:endParaRPr/>
          </a:p>
        </p:txBody>
      </p:sp>
      <p:sp>
        <p:nvSpPr>
          <p:cNvPr id="317" name="Google Shape;317;p23"/>
          <p:cNvSpPr txBox="1"/>
          <p:nvPr/>
        </p:nvSpPr>
        <p:spPr>
          <a:xfrm>
            <a:off x="457200" y="1752600"/>
            <a:ext cx="2876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318" name="Google Shape;318;p23"/>
          <p:cNvSpPr txBox="1"/>
          <p:nvPr/>
        </p:nvSpPr>
        <p:spPr>
          <a:xfrm>
            <a:off x="3879850" y="1905000"/>
            <a:ext cx="291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319" name="Google Shape;319;p23"/>
          <p:cNvSpPr txBox="1"/>
          <p:nvPr/>
        </p:nvSpPr>
        <p:spPr>
          <a:xfrm>
            <a:off x="457200" y="3168650"/>
            <a:ext cx="16446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a frog]</a:t>
            </a:r>
            <a:endParaRPr/>
          </a:p>
        </p:txBody>
      </p:sp>
      <p:cxnSp>
        <p:nvCxnSpPr>
          <p:cNvPr id="320" name="Google Shape;320;p23"/>
          <p:cNvCxnSpPr/>
          <p:nvPr/>
        </p:nvCxnSpPr>
        <p:spPr>
          <a:xfrm>
            <a:off x="1219200" y="2438400"/>
            <a:ext cx="0" cy="723900"/>
          </a:xfrm>
          <a:prstGeom prst="straightConnector1">
            <a:avLst/>
          </a:prstGeom>
          <a:noFill/>
          <a:ln w="12700" cap="sq" cmpd="sng">
            <a:solidFill>
              <a:schemeClr val="dk1"/>
            </a:solidFill>
            <a:prstDash val="solid"/>
            <a:round/>
            <a:headEnd type="none" w="sm" len="sm"/>
            <a:tailEnd type="triangle" w="med" len="med"/>
          </a:ln>
        </p:spPr>
      </p:cxnSp>
      <p:sp>
        <p:nvSpPr>
          <p:cNvPr id="321" name="Google Shape;321;p23"/>
          <p:cNvSpPr txBox="1"/>
          <p:nvPr/>
        </p:nvSpPr>
        <p:spPr>
          <a:xfrm>
            <a:off x="3879850" y="3009900"/>
            <a:ext cx="2749550" cy="6540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322" name="Google Shape;322;p23"/>
          <p:cNvSpPr txBox="1"/>
          <p:nvPr/>
        </p:nvSpPr>
        <p:spPr>
          <a:xfrm>
            <a:off x="457200" y="4344988"/>
            <a:ext cx="2457450" cy="379412"/>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green]</a:t>
            </a:r>
            <a:endParaRPr/>
          </a:p>
        </p:txBody>
      </p:sp>
      <p:sp>
        <p:nvSpPr>
          <p:cNvPr id="323" name="Google Shape;323;p23"/>
          <p:cNvSpPr txBox="1"/>
          <p:nvPr/>
        </p:nvSpPr>
        <p:spPr>
          <a:xfrm>
            <a:off x="3886200" y="4343400"/>
            <a:ext cx="221615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r>
              <a:rPr lang="en-US" sz="1800">
                <a:solidFill>
                  <a:schemeClr val="dk1"/>
                </a:solidFill>
                <a:latin typeface="Calibri"/>
                <a:ea typeface="Calibri"/>
                <a:cs typeface="Calibri"/>
                <a:sym typeface="Calibri"/>
              </a:rPr>
              <a:t> ?</a:t>
            </a:r>
            <a:endParaRPr/>
          </a:p>
        </p:txBody>
      </p:sp>
      <p:sp>
        <p:nvSpPr>
          <p:cNvPr id="324" name="Google Shape;324;p23"/>
          <p:cNvSpPr txBox="1"/>
          <p:nvPr/>
        </p:nvSpPr>
        <p:spPr>
          <a:xfrm>
            <a:off x="6934200" y="1752600"/>
            <a:ext cx="2057400" cy="4244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[Fritz is colored green]</a:t>
            </a:r>
            <a:endParaRPr/>
          </a:p>
          <a:p>
            <a:pPr marL="457200" marR="0" lvl="1" indent="0" algn="l" rtl="0">
              <a:spcBef>
                <a:spcPts val="0"/>
              </a:spcBef>
              <a:spcAft>
                <a:spcPts val="0"/>
              </a:spcAft>
              <a:buNone/>
            </a:pPr>
            <a:endParaRPr sz="1200" b="0" i="0" u="none" strike="noStrike" cap="none">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700"/>
              </a:spcBef>
              <a:spcAft>
                <a:spcPts val="0"/>
              </a:spcAft>
              <a:buNone/>
            </a:pPr>
            <a:endParaRPr sz="1400">
              <a:solidFill>
                <a:schemeClr val="dk1"/>
              </a:solidFill>
              <a:latin typeface="Calibri"/>
              <a:ea typeface="Calibri"/>
              <a:cs typeface="Calibri"/>
              <a:sym typeface="Calibri"/>
            </a:endParaRPr>
          </a:p>
        </p:txBody>
      </p:sp>
      <p:cxnSp>
        <p:nvCxnSpPr>
          <p:cNvPr id="325" name="Google Shape;325;p23"/>
          <p:cNvCxnSpPr/>
          <p:nvPr/>
        </p:nvCxnSpPr>
        <p:spPr>
          <a:xfrm>
            <a:off x="1219200" y="2743200"/>
            <a:ext cx="4114800" cy="0"/>
          </a:xfrm>
          <a:prstGeom prst="straightConnector1">
            <a:avLst/>
          </a:prstGeom>
          <a:noFill/>
          <a:ln w="12700" cap="sq" cmpd="sng">
            <a:solidFill>
              <a:schemeClr val="dk1"/>
            </a:solidFill>
            <a:prstDash val="solid"/>
            <a:round/>
            <a:headEnd type="none" w="sm" len="sm"/>
            <a:tailEnd type="none" w="sm" len="sm"/>
          </a:ln>
        </p:spPr>
      </p:cxnSp>
      <p:cxnSp>
        <p:nvCxnSpPr>
          <p:cNvPr id="326" name="Google Shape;326;p23"/>
          <p:cNvCxnSpPr/>
          <p:nvPr/>
        </p:nvCxnSpPr>
        <p:spPr>
          <a:xfrm rot="10800000">
            <a:off x="5334000" y="2286000"/>
            <a:ext cx="0" cy="457200"/>
          </a:xfrm>
          <a:prstGeom prst="straightConnector1">
            <a:avLst/>
          </a:prstGeom>
          <a:noFill/>
          <a:ln w="12700" cap="sq" cmpd="sng">
            <a:solidFill>
              <a:schemeClr val="dk1"/>
            </a:solidFill>
            <a:prstDash val="solid"/>
            <a:round/>
            <a:headEnd type="none" w="sm" len="sm"/>
            <a:tailEnd type="none" w="sm" len="sm"/>
          </a:ln>
        </p:spPr>
      </p:cxnSp>
      <p:cxnSp>
        <p:nvCxnSpPr>
          <p:cNvPr id="327" name="Google Shape;327;p23"/>
          <p:cNvCxnSpPr/>
          <p:nvPr/>
        </p:nvCxnSpPr>
        <p:spPr>
          <a:xfrm>
            <a:off x="1219200" y="3568700"/>
            <a:ext cx="0" cy="762000"/>
          </a:xfrm>
          <a:prstGeom prst="straightConnector1">
            <a:avLst/>
          </a:prstGeom>
          <a:noFill/>
          <a:ln w="12700" cap="sq" cmpd="sng">
            <a:solidFill>
              <a:schemeClr val="dk1"/>
            </a:solidFill>
            <a:prstDash val="solid"/>
            <a:round/>
            <a:headEnd type="none" w="sm" len="sm"/>
            <a:tailEnd type="triangle" w="med" len="med"/>
          </a:ln>
        </p:spPr>
      </p:cxnSp>
      <p:cxnSp>
        <p:nvCxnSpPr>
          <p:cNvPr id="328" name="Google Shape;328;p23"/>
          <p:cNvCxnSpPr/>
          <p:nvPr/>
        </p:nvCxnSpPr>
        <p:spPr>
          <a:xfrm>
            <a:off x="1219200" y="4038600"/>
            <a:ext cx="4114800" cy="0"/>
          </a:xfrm>
          <a:prstGeom prst="straightConnector1">
            <a:avLst/>
          </a:prstGeom>
          <a:noFill/>
          <a:ln w="12700" cap="sq" cmpd="sng">
            <a:solidFill>
              <a:schemeClr val="dk1"/>
            </a:solidFill>
            <a:prstDash val="solid"/>
            <a:round/>
            <a:headEnd type="none" w="sm" len="sm"/>
            <a:tailEnd type="none" w="sm" len="sm"/>
          </a:ln>
        </p:spPr>
      </p:cxnSp>
      <p:cxnSp>
        <p:nvCxnSpPr>
          <p:cNvPr id="329" name="Google Shape;329;p23"/>
          <p:cNvCxnSpPr/>
          <p:nvPr/>
        </p:nvCxnSpPr>
        <p:spPr>
          <a:xfrm rot="10800000">
            <a:off x="5334000" y="3657600"/>
            <a:ext cx="0" cy="381000"/>
          </a:xfrm>
          <a:prstGeom prst="straightConnector1">
            <a:avLst/>
          </a:prstGeom>
          <a:noFill/>
          <a:ln w="12700" cap="sq" cmpd="sng">
            <a:solidFill>
              <a:schemeClr val="dk1"/>
            </a:solidFill>
            <a:prstDash val="solid"/>
            <a:round/>
            <a:headEnd type="none" w="sm" len="sm"/>
            <a:tailEnd type="none" w="sm" len="sm"/>
          </a:ln>
        </p:spPr>
      </p:cxnSp>
      <p:sp>
        <p:nvSpPr>
          <p:cNvPr id="330" name="Google Shape;330;p23"/>
          <p:cNvSpPr txBox="1"/>
          <p:nvPr/>
        </p:nvSpPr>
        <p:spPr>
          <a:xfrm>
            <a:off x="635000" y="5334000"/>
            <a:ext cx="1193800" cy="379413"/>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8000"/>
                </a:solidFill>
                <a:latin typeface="Calibri"/>
                <a:ea typeface="Calibri"/>
                <a:cs typeface="Calibri"/>
                <a:sym typeface="Calibri"/>
              </a:rPr>
              <a:t>Y = green</a:t>
            </a:r>
            <a:endParaRPr/>
          </a:p>
        </p:txBody>
      </p:sp>
      <p:cxnSp>
        <p:nvCxnSpPr>
          <p:cNvPr id="331" name="Google Shape;331;p23"/>
          <p:cNvCxnSpPr/>
          <p:nvPr/>
        </p:nvCxnSpPr>
        <p:spPr>
          <a:xfrm>
            <a:off x="1219200" y="4724400"/>
            <a:ext cx="0" cy="609600"/>
          </a:xfrm>
          <a:prstGeom prst="straightConnector1">
            <a:avLst/>
          </a:prstGeom>
          <a:noFill/>
          <a:ln w="12700" cap="flat" cmpd="sng">
            <a:solidFill>
              <a:schemeClr val="dk1"/>
            </a:solidFill>
            <a:prstDash val="lgDash"/>
            <a:round/>
            <a:headEnd type="none" w="sm" len="sm"/>
            <a:tailEnd type="triangle" w="med" len="med"/>
          </a:ln>
        </p:spPr>
      </p:cxnSp>
      <p:cxnSp>
        <p:nvCxnSpPr>
          <p:cNvPr id="332" name="Google Shape;332;p23"/>
          <p:cNvCxnSpPr/>
          <p:nvPr/>
        </p:nvCxnSpPr>
        <p:spPr>
          <a:xfrm>
            <a:off x="1219200" y="5029200"/>
            <a:ext cx="4114800" cy="0"/>
          </a:xfrm>
          <a:prstGeom prst="straightConnector1">
            <a:avLst/>
          </a:prstGeom>
          <a:noFill/>
          <a:ln w="12700" cap="flat" cmpd="sng">
            <a:solidFill>
              <a:schemeClr val="dk1"/>
            </a:solidFill>
            <a:prstDash val="lgDash"/>
            <a:round/>
            <a:headEnd type="none" w="sm" len="sm"/>
            <a:tailEnd type="none" w="sm" len="sm"/>
          </a:ln>
        </p:spPr>
      </p:cxnSp>
      <p:cxnSp>
        <p:nvCxnSpPr>
          <p:cNvPr id="333" name="Google Shape;333;p23"/>
          <p:cNvCxnSpPr/>
          <p:nvPr/>
        </p:nvCxnSpPr>
        <p:spPr>
          <a:xfrm rot="10800000">
            <a:off x="5334000" y="4724400"/>
            <a:ext cx="0" cy="304800"/>
          </a:xfrm>
          <a:prstGeom prst="straightConnector1">
            <a:avLst/>
          </a:prstGeom>
          <a:noFill/>
          <a:ln w="12700" cap="flat" cmpd="sng">
            <a:solidFill>
              <a:schemeClr val="dk1"/>
            </a:solidFill>
            <a:prstDash val="lgDash"/>
            <a:round/>
            <a:headEnd type="none" w="sm" len="sm"/>
            <a:tailEnd type="none" w="sm" len="sm"/>
          </a:ln>
        </p:spPr>
      </p:cxnSp>
      <p:sp>
        <p:nvSpPr>
          <p:cNvPr id="334" name="Google Shape;334;p23"/>
          <p:cNvSpPr/>
          <p:nvPr/>
        </p:nvSpPr>
        <p:spPr>
          <a:xfrm>
            <a:off x="6934200" y="4851400"/>
            <a:ext cx="17526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23"/>
          <p:cNvSpPr/>
          <p:nvPr/>
        </p:nvSpPr>
        <p:spPr>
          <a:xfrm>
            <a:off x="6934200" y="5410200"/>
            <a:ext cx="15240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51086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Backward Chaining</a:t>
            </a:r>
            <a:endParaRPr/>
          </a:p>
        </p:txBody>
      </p:sp>
      <p:sp>
        <p:nvSpPr>
          <p:cNvPr id="295" name="Google Shape;295;p17"/>
          <p:cNvSpPr txBox="1">
            <a:spLocks noGrp="1"/>
          </p:cNvSpPr>
          <p:nvPr>
            <p:ph type="body" idx="1"/>
          </p:nvPr>
        </p:nvSpPr>
        <p:spPr>
          <a:xfrm>
            <a:off x="457200" y="1600200"/>
            <a:ext cx="8229600" cy="46423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dirty="0">
                <a:solidFill>
                  <a:srgbClr val="FF0000"/>
                </a:solidFill>
              </a:rPr>
              <a:t>Backward  chaining is goal-driven reasoning</a:t>
            </a:r>
            <a:r>
              <a:rPr lang="en-US" sz="2200" dirty="0"/>
              <a:t>. It starts from the goal (a hypothetical solution) and works backward from a hypothesis to prove it. </a:t>
            </a:r>
          </a:p>
          <a:p>
            <a:pPr marL="342900">
              <a:spcBef>
                <a:spcPts val="0"/>
              </a:spcBef>
              <a:buSzPts val="2200"/>
            </a:pPr>
            <a:r>
              <a:rPr lang="en-US" sz="2200" dirty="0"/>
              <a:t>It starts with a potential conclusion (the goal) and works backward, trying to find the facts and sub-goals that must be true in order to prove that conclusion</a:t>
            </a:r>
            <a:endParaRPr sz="2200" dirty="0"/>
          </a:p>
          <a:p>
            <a:pPr marL="342900" lvl="0" indent="-342900" algn="l" rtl="0">
              <a:spcBef>
                <a:spcPts val="440"/>
              </a:spcBef>
              <a:spcAft>
                <a:spcPts val="0"/>
              </a:spcAft>
              <a:buClr>
                <a:schemeClr val="dk1"/>
              </a:buClr>
              <a:buSzPts val="2200"/>
              <a:buChar char="•"/>
            </a:pPr>
            <a:r>
              <a:rPr lang="en-US" sz="2200" dirty="0"/>
              <a:t>First, the knowledge base is searched to find rules that might have the desired solution. Such rules must have the goal in their THEN part.</a:t>
            </a:r>
            <a:endParaRPr dirty="0"/>
          </a:p>
          <a:p>
            <a:pPr marL="342900" lvl="0" indent="-342900" algn="l" rtl="0">
              <a:spcBef>
                <a:spcPts val="440"/>
              </a:spcBef>
              <a:spcAft>
                <a:spcPts val="0"/>
              </a:spcAft>
              <a:buClr>
                <a:schemeClr val="dk1"/>
              </a:buClr>
              <a:buSzPts val="2200"/>
              <a:buChar char="•"/>
            </a:pPr>
            <a:r>
              <a:rPr lang="en-US" sz="2200" dirty="0"/>
              <a:t>If such a rule is found and its IF part matches the facts, then rule is fired and the goal is proved.</a:t>
            </a:r>
            <a:endParaRPr dirty="0"/>
          </a:p>
          <a:p>
            <a:pPr marL="342900" lvl="0" indent="-342900" algn="l" rtl="0">
              <a:spcBef>
                <a:spcPts val="440"/>
              </a:spcBef>
              <a:spcAft>
                <a:spcPts val="0"/>
              </a:spcAft>
              <a:buClr>
                <a:schemeClr val="dk1"/>
              </a:buClr>
              <a:buSzPts val="2200"/>
              <a:buChar char="•"/>
            </a:pPr>
            <a:r>
              <a:rPr lang="en-US" sz="2200" dirty="0"/>
              <a:t>For example, a doctor may suspect some disease and proceed by  inspection of symptoms.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18"/>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Approach</a:t>
            </a:r>
            <a:endParaRPr/>
          </a:p>
        </p:txBody>
      </p:sp>
      <p:sp>
        <p:nvSpPr>
          <p:cNvPr id="301" name="Google Shape;301;p18"/>
          <p:cNvSpPr txBox="1">
            <a:spLocks noGrp="1"/>
          </p:cNvSpPr>
          <p:nvPr>
            <p:ph type="body" idx="1"/>
          </p:nvPr>
        </p:nvSpPr>
        <p:spPr>
          <a:xfrm>
            <a:off x="457200" y="1257300"/>
            <a:ext cx="8229600" cy="43815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None/>
            </a:pPr>
            <a:r>
              <a:rPr lang="en-US" sz="2200" dirty="0"/>
              <a:t>1.  Start with the goal. </a:t>
            </a:r>
            <a:endParaRPr dirty="0"/>
          </a:p>
          <a:p>
            <a:pPr marL="342900" lvl="0" indent="-342900" algn="l" rtl="0">
              <a:spcBef>
                <a:spcPts val="440"/>
              </a:spcBef>
              <a:spcAft>
                <a:spcPts val="0"/>
              </a:spcAft>
              <a:buClr>
                <a:schemeClr val="dk1"/>
              </a:buClr>
              <a:buSzPts val="2200"/>
              <a:buNone/>
            </a:pPr>
            <a:r>
              <a:rPr lang="en-US" sz="2200" dirty="0"/>
              <a:t>2.  Search for the  goal  in the THEN part of the rules (match conclusions, rather than premises). </a:t>
            </a:r>
            <a:endParaRPr dirty="0"/>
          </a:p>
          <a:p>
            <a:pPr marL="342900" lvl="0" indent="-342900" algn="l" rtl="0">
              <a:spcBef>
                <a:spcPts val="440"/>
              </a:spcBef>
              <a:spcAft>
                <a:spcPts val="0"/>
              </a:spcAft>
              <a:buClr>
                <a:schemeClr val="dk1"/>
              </a:buClr>
              <a:buSzPts val="2200"/>
              <a:buNone/>
            </a:pPr>
            <a:r>
              <a:rPr lang="en-US" sz="2200" dirty="0"/>
              <a:t>3.  Check to see if the goal rule’s premises are listed in the working memory. </a:t>
            </a:r>
            <a:endParaRPr dirty="0"/>
          </a:p>
          <a:p>
            <a:pPr marL="342900" lvl="0" indent="-342900" algn="l" rtl="0">
              <a:spcBef>
                <a:spcPts val="440"/>
              </a:spcBef>
              <a:spcAft>
                <a:spcPts val="0"/>
              </a:spcAft>
              <a:buClr>
                <a:schemeClr val="dk1"/>
              </a:buClr>
              <a:buSzPts val="2200"/>
              <a:buNone/>
            </a:pPr>
            <a:r>
              <a:rPr lang="en-US" sz="2200" dirty="0"/>
              <a:t>4.  Premises not listed become sub-goals to prove. </a:t>
            </a:r>
            <a:endParaRPr dirty="0"/>
          </a:p>
          <a:p>
            <a:pPr marL="342900" lvl="0" indent="-342900" algn="l" rtl="0">
              <a:spcBef>
                <a:spcPts val="440"/>
              </a:spcBef>
              <a:spcAft>
                <a:spcPts val="0"/>
              </a:spcAft>
              <a:buClr>
                <a:schemeClr val="dk1"/>
              </a:buClr>
              <a:buSzPts val="2200"/>
              <a:buNone/>
            </a:pPr>
            <a:r>
              <a:rPr lang="en-US" sz="2200" dirty="0"/>
              <a:t>5.  Process continues in a recursive  fashion until a premise is found  that matches the facts in the WM.</a:t>
            </a:r>
            <a:endParaRPr dirty="0"/>
          </a:p>
          <a:p>
            <a:pPr marL="342900" lvl="0" indent="-342900" algn="l" rtl="0">
              <a:spcBef>
                <a:spcPts val="440"/>
              </a:spcBef>
              <a:spcAft>
                <a:spcPts val="0"/>
              </a:spcAft>
              <a:buClr>
                <a:schemeClr val="dk1"/>
              </a:buClr>
              <a:buSzPts val="2200"/>
              <a:buNone/>
            </a:pPr>
            <a:r>
              <a:rPr lang="en-US" sz="2200" dirty="0"/>
              <a:t>6.  Backtrack and use this information to prove sub-goals and subsequently the goal.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379" name="Google Shape;379;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380" name="Google Shape;380;p30"/>
          <p:cNvSpPr txBox="1"/>
          <p:nvPr/>
        </p:nvSpPr>
        <p:spPr>
          <a:xfrm>
            <a:off x="6934200" y="1752600"/>
            <a:ext cx="2057400" cy="48602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Knowledge Base</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croaks and eats flies]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frog]</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chirps and sings]</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a canary]</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frog]</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green]</a:t>
            </a:r>
            <a:endParaRPr dirty="0"/>
          </a:p>
          <a:p>
            <a:pPr marL="0" marR="0" lvl="0" indent="0" algn="l" rtl="0">
              <a:spcBef>
                <a:spcPts val="0"/>
              </a:spcBef>
              <a:spcAft>
                <a:spcPts val="0"/>
              </a:spcAft>
              <a:buNone/>
            </a:pPr>
            <a:endParaRPr sz="1200" dirty="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If </a:t>
            </a:r>
            <a:r>
              <a:rPr lang="en-US" sz="1200" dirty="0">
                <a:solidFill>
                  <a:srgbClr val="0000FF"/>
                </a:solidFill>
                <a:latin typeface="Calibri"/>
                <a:ea typeface="Calibri"/>
                <a:cs typeface="Calibri"/>
                <a:sym typeface="Calibri"/>
              </a:rPr>
              <a:t>[X is a canary]</a:t>
            </a:r>
            <a:r>
              <a:rPr lang="en-US" sz="12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Then </a:t>
            </a:r>
            <a:r>
              <a:rPr lang="en-US" sz="1200" dirty="0">
                <a:solidFill>
                  <a:srgbClr val="0000FF"/>
                </a:solidFill>
                <a:latin typeface="Calibri"/>
                <a:ea typeface="Calibri"/>
                <a:cs typeface="Calibri"/>
                <a:sym typeface="Calibri"/>
              </a:rPr>
              <a:t>[X is colored yellow]</a:t>
            </a:r>
          </a:p>
          <a:p>
            <a:pPr marL="0" marR="0" lvl="0" indent="0" algn="l" rtl="0">
              <a:spcBef>
                <a:spcPts val="0"/>
              </a:spcBef>
              <a:spcAft>
                <a:spcPts val="0"/>
              </a:spcAft>
              <a:buNone/>
            </a:pPr>
            <a:endParaRPr dirty="0"/>
          </a:p>
          <a:p>
            <a:r>
              <a:rPr lang="en-US" sz="1200" b="1" dirty="0">
                <a:solidFill>
                  <a:schemeClr val="dk1"/>
                </a:solidFill>
                <a:latin typeface="Calibri"/>
                <a:ea typeface="Calibri"/>
                <a:cs typeface="Calibri"/>
                <a:sym typeface="Calibri"/>
              </a:rPr>
              <a:t>Working Memory</a:t>
            </a:r>
            <a:endParaRPr sz="12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croaks and eats flies]</a:t>
            </a:r>
            <a:endParaRPr dirty="0"/>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Goals</a:t>
            </a:r>
            <a:endParaRPr dirty="0"/>
          </a:p>
          <a:p>
            <a:pPr marL="0" marR="0" lvl="0" indent="0" algn="l" rtl="0">
              <a:spcBef>
                <a:spcPts val="0"/>
              </a:spcBef>
              <a:spcAft>
                <a:spcPts val="0"/>
              </a:spcAft>
              <a:buNone/>
            </a:pPr>
            <a:r>
              <a:rPr lang="en-US" sz="1200" dirty="0">
                <a:solidFill>
                  <a:srgbClr val="0000FF"/>
                </a:solidFill>
                <a:latin typeface="Calibri"/>
                <a:ea typeface="Calibri"/>
                <a:cs typeface="Calibri"/>
                <a:sym typeface="Calibri"/>
              </a:rPr>
              <a:t>[Fritz is colored Y]</a:t>
            </a:r>
            <a:r>
              <a:rPr lang="en-US" sz="12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 </a:t>
            </a:r>
            <a:endParaRPr dirty="0"/>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 </a:t>
            </a:r>
            <a:endParaRPr dirty="0"/>
          </a:p>
          <a:p>
            <a:pPr marL="0" marR="0" lvl="0" indent="0" algn="l" rtl="0">
              <a:spcBef>
                <a:spcPts val="0"/>
              </a:spcBef>
              <a:spcAft>
                <a:spcPts val="0"/>
              </a:spcAft>
              <a:buNone/>
            </a:pPr>
            <a:endParaRPr sz="1200" dirty="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dirty="0">
                <a:solidFill>
                  <a:srgbClr val="FF0000"/>
                </a:solidFill>
                <a:latin typeface="Calibri"/>
                <a:ea typeface="Calibri"/>
                <a:cs typeface="Calibri"/>
                <a:sym typeface="Calibri"/>
              </a:rPr>
              <a:t> </a:t>
            </a:r>
            <a:endParaRPr dirty="0"/>
          </a:p>
          <a:p>
            <a:pPr marL="0" marR="0" lvl="0" indent="0" algn="l" rtl="0">
              <a:spcBef>
                <a:spcPts val="700"/>
              </a:spcBef>
              <a:spcAft>
                <a:spcPts val="0"/>
              </a:spcAft>
              <a:buNone/>
            </a:pPr>
            <a:endParaRPr sz="1400"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1466747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386" name="Google Shape;386;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387" name="Google Shape;387;p31"/>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388" name="Google Shape;388;p31"/>
          <p:cNvSpPr/>
          <p:nvPr/>
        </p:nvSpPr>
        <p:spPr>
          <a:xfrm>
            <a:off x="6934200" y="4710113"/>
            <a:ext cx="1524000" cy="2286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31"/>
          <p:cNvSpPr/>
          <p:nvPr/>
        </p:nvSpPr>
        <p:spPr>
          <a:xfrm>
            <a:off x="6934200" y="30480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61112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395" name="Google Shape;39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396" name="Google Shape;396;p32"/>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397" name="Google Shape;397;p32"/>
          <p:cNvSpPr/>
          <p:nvPr/>
        </p:nvSpPr>
        <p:spPr>
          <a:xfrm>
            <a:off x="6934200" y="4710113"/>
            <a:ext cx="1524000" cy="2286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32"/>
          <p:cNvSpPr/>
          <p:nvPr/>
        </p:nvSpPr>
        <p:spPr>
          <a:xfrm>
            <a:off x="6934200" y="30480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32"/>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00" name="Google Shape;400;p32"/>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01" name="Google Shape;401;p32"/>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02" name="Google Shape;402;p32"/>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03" name="Google Shape;403;p32"/>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04" name="Google Shape;404;p32"/>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Tree>
    <p:extLst>
      <p:ext uri="{BB962C8B-B14F-4D97-AF65-F5344CB8AC3E}">
        <p14:creationId xmlns:p14="http://schemas.microsoft.com/office/powerpoint/2010/main" val="154593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10" name="Google Shape;41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11" name="Google Shape;411;p33"/>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412" name="Google Shape;412;p33"/>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13" name="Google Shape;413;p33"/>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14" name="Google Shape;414;p33"/>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15" name="Google Shape;415;p33"/>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16" name="Google Shape;416;p33"/>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17" name="Google Shape;417;p33"/>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cxnSp>
        <p:nvCxnSpPr>
          <p:cNvPr id="418" name="Google Shape;418;p33"/>
          <p:cNvCxnSpPr/>
          <p:nvPr/>
        </p:nvCxnSpPr>
        <p:spPr>
          <a:xfrm>
            <a:off x="2362200" y="3733800"/>
            <a:ext cx="4572000" cy="1371600"/>
          </a:xfrm>
          <a:prstGeom prst="straightConnector1">
            <a:avLst/>
          </a:prstGeom>
          <a:noFill/>
          <a:ln w="12700" cap="flat" cmpd="sng">
            <a:solidFill>
              <a:srgbClr val="FF0000"/>
            </a:solidFill>
            <a:prstDash val="lgDash"/>
            <a:round/>
            <a:headEnd type="none" w="sm" len="sm"/>
            <a:tailEnd type="triangle" w="med" len="med"/>
          </a:ln>
        </p:spPr>
      </p:cxnSp>
    </p:spTree>
    <p:extLst>
      <p:ext uri="{BB962C8B-B14F-4D97-AF65-F5344CB8AC3E}">
        <p14:creationId xmlns:p14="http://schemas.microsoft.com/office/powerpoint/2010/main" val="3596288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24" name="Google Shape;42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25" name="Google Shape;425;p34"/>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426" name="Google Shape;426;p34"/>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27" name="Google Shape;427;p34"/>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28" name="Google Shape;428;p34"/>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29" name="Google Shape;429;p34"/>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30" name="Google Shape;430;p34"/>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31" name="Google Shape;431;p34"/>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432" name="Google Shape;432;p34"/>
          <p:cNvSpPr/>
          <p:nvPr/>
        </p:nvSpPr>
        <p:spPr>
          <a:xfrm>
            <a:off x="6934200" y="4710113"/>
            <a:ext cx="1524000" cy="2286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34"/>
          <p:cNvSpPr/>
          <p:nvPr/>
        </p:nvSpPr>
        <p:spPr>
          <a:xfrm>
            <a:off x="6934200" y="35814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0846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39" name="Google Shape;439;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40" name="Google Shape;440;p35"/>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441" name="Google Shape;441;p35"/>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42" name="Google Shape;442;p35"/>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43" name="Google Shape;443;p35"/>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44" name="Google Shape;444;p35"/>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45" name="Google Shape;445;p35"/>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46" name="Google Shape;446;p35"/>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447" name="Google Shape;447;p35"/>
          <p:cNvSpPr/>
          <p:nvPr/>
        </p:nvSpPr>
        <p:spPr>
          <a:xfrm>
            <a:off x="6934200" y="4710113"/>
            <a:ext cx="1524000" cy="2286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35"/>
          <p:cNvSpPr/>
          <p:nvPr/>
        </p:nvSpPr>
        <p:spPr>
          <a:xfrm>
            <a:off x="6934200" y="3581400"/>
            <a:ext cx="1905000" cy="4572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35"/>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450" name="Google Shape;450;p35"/>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451" name="Google Shape;451;p35"/>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52" name="Google Shape;452;p35"/>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453" name="Google Shape;453;p35"/>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Tree>
    <p:extLst>
      <p:ext uri="{BB962C8B-B14F-4D97-AF65-F5344CB8AC3E}">
        <p14:creationId xmlns:p14="http://schemas.microsoft.com/office/powerpoint/2010/main" val="95632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59" name="Google Shape;459;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60" name="Google Shape;460;p36"/>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461" name="Google Shape;461;p36"/>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62" name="Google Shape;462;p36"/>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63" name="Google Shape;463;p36"/>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64" name="Google Shape;464;p36"/>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65" name="Google Shape;465;p36"/>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66" name="Google Shape;466;p36"/>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467" name="Google Shape;467;p36"/>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468" name="Google Shape;468;p36"/>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469" name="Google Shape;469;p36"/>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70" name="Google Shape;470;p36"/>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471" name="Google Shape;471;p36"/>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72" name="Google Shape;472;p36"/>
          <p:cNvCxnSpPr/>
          <p:nvPr/>
        </p:nvCxnSpPr>
        <p:spPr>
          <a:xfrm>
            <a:off x="5133975" y="3914775"/>
            <a:ext cx="1828800" cy="1600200"/>
          </a:xfrm>
          <a:prstGeom prst="straightConnector1">
            <a:avLst/>
          </a:prstGeom>
          <a:noFill/>
          <a:ln w="12700" cap="flat" cmpd="sng">
            <a:solidFill>
              <a:srgbClr val="FF0000"/>
            </a:solidFill>
            <a:prstDash val="lgDash"/>
            <a:round/>
            <a:headEnd type="none" w="sm" len="sm"/>
            <a:tailEnd type="triangle" w="med" len="med"/>
          </a:ln>
        </p:spPr>
      </p:cxnSp>
    </p:spTree>
    <p:extLst>
      <p:ext uri="{BB962C8B-B14F-4D97-AF65-F5344CB8AC3E}">
        <p14:creationId xmlns:p14="http://schemas.microsoft.com/office/powerpoint/2010/main" val="1670208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78" name="Google Shape;478;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79" name="Google Shape;479;p37"/>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480" name="Google Shape;480;p37"/>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481" name="Google Shape;481;p37"/>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482" name="Google Shape;482;p37"/>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483" name="Google Shape;483;p37"/>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84" name="Google Shape;484;p37"/>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485" name="Google Shape;485;p37"/>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486" name="Google Shape;486;p37"/>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487" name="Google Shape;487;p37"/>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488" name="Google Shape;488;p37"/>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489" name="Google Shape;489;p37"/>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490" name="Google Shape;490;p37"/>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491" name="Google Shape;491;p37"/>
          <p:cNvSpPr/>
          <p:nvPr/>
        </p:nvSpPr>
        <p:spPr>
          <a:xfrm>
            <a:off x="6934200" y="5062538"/>
            <a:ext cx="990600" cy="257175"/>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37"/>
          <p:cNvSpPr/>
          <p:nvPr/>
        </p:nvSpPr>
        <p:spPr>
          <a:xfrm>
            <a:off x="6934200" y="1981200"/>
            <a:ext cx="1981200" cy="3810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7648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498" name="Google Shape;498;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499" name="Google Shape;499;p38"/>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 </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500" name="Google Shape;500;p38"/>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501" name="Google Shape;501;p38"/>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502" name="Google Shape;502;p38"/>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503" name="Google Shape;503;p38"/>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04" name="Google Shape;504;p38"/>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505" name="Google Shape;505;p38"/>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506" name="Google Shape;506;p38"/>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507" name="Google Shape;507;p38"/>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508" name="Google Shape;508;p38"/>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09" name="Google Shape;509;p38"/>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510" name="Google Shape;510;p38"/>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511" name="Google Shape;511;p38"/>
          <p:cNvSpPr/>
          <p:nvPr/>
        </p:nvSpPr>
        <p:spPr>
          <a:xfrm>
            <a:off x="6934200" y="5062538"/>
            <a:ext cx="990600" cy="257175"/>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2" name="Google Shape;512;p38"/>
          <p:cNvSpPr/>
          <p:nvPr/>
        </p:nvSpPr>
        <p:spPr>
          <a:xfrm>
            <a:off x="6934200" y="1981200"/>
            <a:ext cx="1981200" cy="3810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38"/>
          <p:cNvSpPr txBox="1"/>
          <p:nvPr/>
        </p:nvSpPr>
        <p:spPr>
          <a:xfrm>
            <a:off x="3733800" y="4191000"/>
            <a:ext cx="2527300"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514" name="Google Shape;514;p38"/>
          <p:cNvSpPr txBox="1"/>
          <p:nvPr/>
        </p:nvSpPr>
        <p:spPr>
          <a:xfrm>
            <a:off x="438150" y="4941888"/>
            <a:ext cx="23558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croaks and eats flies]</a:t>
            </a:r>
            <a:endParaRPr/>
          </a:p>
        </p:txBody>
      </p:sp>
      <p:cxnSp>
        <p:nvCxnSpPr>
          <p:cNvPr id="515" name="Google Shape;515;p38"/>
          <p:cNvCxnSpPr/>
          <p:nvPr/>
        </p:nvCxnSpPr>
        <p:spPr>
          <a:xfrm>
            <a:off x="1752600" y="3900488"/>
            <a:ext cx="0" cy="990600"/>
          </a:xfrm>
          <a:prstGeom prst="straightConnector1">
            <a:avLst/>
          </a:prstGeom>
          <a:noFill/>
          <a:ln w="12700" cap="sq" cmpd="sng">
            <a:solidFill>
              <a:schemeClr val="dk1"/>
            </a:solidFill>
            <a:prstDash val="solid"/>
            <a:round/>
            <a:headEnd type="none" w="sm" len="sm"/>
            <a:tailEnd type="triangle" w="med" len="med"/>
          </a:ln>
        </p:spPr>
      </p:cxnSp>
      <p:cxnSp>
        <p:nvCxnSpPr>
          <p:cNvPr id="516" name="Google Shape;516;p38"/>
          <p:cNvCxnSpPr/>
          <p:nvPr/>
        </p:nvCxnSpPr>
        <p:spPr>
          <a:xfrm rot="10800000">
            <a:off x="1752600" y="4495800"/>
            <a:ext cx="1981200" cy="0"/>
          </a:xfrm>
          <a:prstGeom prst="straightConnector1">
            <a:avLst/>
          </a:prstGeom>
          <a:noFill/>
          <a:ln w="12700" cap="sq" cmpd="sng">
            <a:solidFill>
              <a:schemeClr val="dk1"/>
            </a:solidFill>
            <a:prstDash val="solid"/>
            <a:round/>
            <a:headEnd type="none" w="sm" len="sm"/>
            <a:tailEnd type="none" w="sm" len="sm"/>
          </a:ln>
        </p:spPr>
      </p:cxnSp>
    </p:spTree>
    <p:extLst>
      <p:ext uri="{BB962C8B-B14F-4D97-AF65-F5344CB8AC3E}">
        <p14:creationId xmlns:p14="http://schemas.microsoft.com/office/powerpoint/2010/main" val="3006419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522" name="Google Shape;5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523" name="Google Shape;523;p39"/>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croaks and eats flies]</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524" name="Google Shape;524;p39"/>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525" name="Google Shape;525;p39"/>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526" name="Google Shape;526;p39"/>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527" name="Google Shape;527;p39"/>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28" name="Google Shape;528;p39"/>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529" name="Google Shape;529;p39"/>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530" name="Google Shape;530;p39"/>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531" name="Google Shape;531;p39"/>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532" name="Google Shape;532;p39"/>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33" name="Google Shape;533;p39"/>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534" name="Google Shape;534;p39"/>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535" name="Google Shape;535;p39"/>
          <p:cNvSpPr txBox="1"/>
          <p:nvPr/>
        </p:nvSpPr>
        <p:spPr>
          <a:xfrm>
            <a:off x="3733800" y="4191000"/>
            <a:ext cx="2527300"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536" name="Google Shape;536;p39"/>
          <p:cNvSpPr txBox="1"/>
          <p:nvPr/>
        </p:nvSpPr>
        <p:spPr>
          <a:xfrm>
            <a:off x="438150" y="4941888"/>
            <a:ext cx="23558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croaks and eats flies]</a:t>
            </a:r>
            <a:endParaRPr/>
          </a:p>
        </p:txBody>
      </p:sp>
      <p:cxnSp>
        <p:nvCxnSpPr>
          <p:cNvPr id="537" name="Google Shape;537;p39"/>
          <p:cNvCxnSpPr/>
          <p:nvPr/>
        </p:nvCxnSpPr>
        <p:spPr>
          <a:xfrm>
            <a:off x="1752600" y="3900488"/>
            <a:ext cx="0" cy="990600"/>
          </a:xfrm>
          <a:prstGeom prst="straightConnector1">
            <a:avLst/>
          </a:prstGeom>
          <a:noFill/>
          <a:ln w="12700" cap="sq" cmpd="sng">
            <a:solidFill>
              <a:schemeClr val="dk1"/>
            </a:solidFill>
            <a:prstDash val="solid"/>
            <a:round/>
            <a:headEnd type="none" w="sm" len="sm"/>
            <a:tailEnd type="triangle" w="med" len="med"/>
          </a:ln>
        </p:spPr>
      </p:cxnSp>
      <p:cxnSp>
        <p:nvCxnSpPr>
          <p:cNvPr id="538" name="Google Shape;538;p39"/>
          <p:cNvCxnSpPr/>
          <p:nvPr/>
        </p:nvCxnSpPr>
        <p:spPr>
          <a:xfrm rot="10800000">
            <a:off x="1752600" y="4495800"/>
            <a:ext cx="1981200" cy="0"/>
          </a:xfrm>
          <a:prstGeom prst="straightConnector1">
            <a:avLst/>
          </a:prstGeom>
          <a:noFill/>
          <a:ln w="12700" cap="sq" cmpd="sng">
            <a:solidFill>
              <a:schemeClr val="dk1"/>
            </a:solidFill>
            <a:prstDash val="solid"/>
            <a:round/>
            <a:headEnd type="none" w="sm" len="sm"/>
            <a:tailEnd type="none" w="sm" len="sm"/>
          </a:ln>
        </p:spPr>
      </p:cxnSp>
      <p:cxnSp>
        <p:nvCxnSpPr>
          <p:cNvPr id="539" name="Google Shape;539;p39"/>
          <p:cNvCxnSpPr/>
          <p:nvPr/>
        </p:nvCxnSpPr>
        <p:spPr>
          <a:xfrm>
            <a:off x="2819400" y="5105400"/>
            <a:ext cx="4114800" cy="762000"/>
          </a:xfrm>
          <a:prstGeom prst="straightConnector1">
            <a:avLst/>
          </a:prstGeom>
          <a:noFill/>
          <a:ln w="12700" cap="flat" cmpd="sng">
            <a:solidFill>
              <a:srgbClr val="FF0000"/>
            </a:solidFill>
            <a:prstDash val="lgDash"/>
            <a:round/>
            <a:headEnd type="none" w="sm" len="sm"/>
            <a:tailEnd type="triangle" w="med" len="med"/>
          </a:ln>
        </p:spPr>
      </p:cxnSp>
    </p:spTree>
    <p:extLst>
      <p:ext uri="{BB962C8B-B14F-4D97-AF65-F5344CB8AC3E}">
        <p14:creationId xmlns:p14="http://schemas.microsoft.com/office/powerpoint/2010/main" val="3464348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545" name="Google Shape;545;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546" name="Google Shape;546;p40"/>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croaks and eats flies]</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547" name="Google Shape;547;p40"/>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548" name="Google Shape;548;p40"/>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549" name="Google Shape;549;p40"/>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550" name="Google Shape;550;p40"/>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51" name="Google Shape;551;p40"/>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552" name="Google Shape;552;p40"/>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553" name="Google Shape;553;p40"/>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554" name="Google Shape;554;p40"/>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555" name="Google Shape;555;p40"/>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56" name="Google Shape;556;p40"/>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557" name="Google Shape;557;p40"/>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558" name="Google Shape;558;p40"/>
          <p:cNvSpPr txBox="1"/>
          <p:nvPr/>
        </p:nvSpPr>
        <p:spPr>
          <a:xfrm>
            <a:off x="3733800" y="4191000"/>
            <a:ext cx="2527300"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559" name="Google Shape;559;p40"/>
          <p:cNvSpPr txBox="1"/>
          <p:nvPr/>
        </p:nvSpPr>
        <p:spPr>
          <a:xfrm>
            <a:off x="438150" y="4941888"/>
            <a:ext cx="23558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croaks and eats flies]</a:t>
            </a:r>
            <a:endParaRPr/>
          </a:p>
        </p:txBody>
      </p:sp>
      <p:cxnSp>
        <p:nvCxnSpPr>
          <p:cNvPr id="560" name="Google Shape;560;p40"/>
          <p:cNvCxnSpPr/>
          <p:nvPr/>
        </p:nvCxnSpPr>
        <p:spPr>
          <a:xfrm>
            <a:off x="1752600" y="3900488"/>
            <a:ext cx="0" cy="990600"/>
          </a:xfrm>
          <a:prstGeom prst="straightConnector1">
            <a:avLst/>
          </a:prstGeom>
          <a:noFill/>
          <a:ln w="12700" cap="sq" cmpd="sng">
            <a:solidFill>
              <a:schemeClr val="dk1"/>
            </a:solidFill>
            <a:prstDash val="solid"/>
            <a:round/>
            <a:headEnd type="none" w="sm" len="sm"/>
            <a:tailEnd type="triangle" w="med" len="med"/>
          </a:ln>
        </p:spPr>
      </p:cxnSp>
      <p:cxnSp>
        <p:nvCxnSpPr>
          <p:cNvPr id="561" name="Google Shape;561;p40"/>
          <p:cNvCxnSpPr/>
          <p:nvPr/>
        </p:nvCxnSpPr>
        <p:spPr>
          <a:xfrm rot="10800000">
            <a:off x="1752600" y="4495800"/>
            <a:ext cx="1981200" cy="0"/>
          </a:xfrm>
          <a:prstGeom prst="straightConnector1">
            <a:avLst/>
          </a:prstGeom>
          <a:noFill/>
          <a:ln w="12700" cap="sq" cmpd="sng">
            <a:solidFill>
              <a:schemeClr val="dk1"/>
            </a:solidFill>
            <a:prstDash val="solid"/>
            <a:round/>
            <a:headEnd type="none" w="sm" len="sm"/>
            <a:tailEnd type="none" w="sm" len="sm"/>
          </a:ln>
        </p:spPr>
      </p:cxnSp>
      <p:sp>
        <p:nvSpPr>
          <p:cNvPr id="562" name="Google Shape;562;p40"/>
          <p:cNvSpPr/>
          <p:nvPr/>
        </p:nvSpPr>
        <p:spPr>
          <a:xfrm>
            <a:off x="6934200" y="5762625"/>
            <a:ext cx="18288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40"/>
          <p:cNvSpPr/>
          <p:nvPr/>
        </p:nvSpPr>
        <p:spPr>
          <a:xfrm>
            <a:off x="6934200" y="4129088"/>
            <a:ext cx="1981200" cy="290512"/>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967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569" name="Google Shape;569;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570" name="Google Shape;570;p41"/>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croaks and eats flies]</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571" name="Google Shape;571;p41"/>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572" name="Google Shape;572;p41"/>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573" name="Google Shape;573;p41"/>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cxnSp>
        <p:nvCxnSpPr>
          <p:cNvPr id="574" name="Google Shape;574;p41"/>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75" name="Google Shape;575;p41"/>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576" name="Google Shape;576;p41"/>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sp>
        <p:nvSpPr>
          <p:cNvPr id="577" name="Google Shape;577;p41"/>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578" name="Google Shape;578;p41"/>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cxnSp>
        <p:nvCxnSpPr>
          <p:cNvPr id="579" name="Google Shape;579;p41"/>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580" name="Google Shape;580;p41"/>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581" name="Google Shape;581;p41"/>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582" name="Google Shape;582;p41"/>
          <p:cNvSpPr txBox="1"/>
          <p:nvPr/>
        </p:nvSpPr>
        <p:spPr>
          <a:xfrm>
            <a:off x="3733800" y="4191000"/>
            <a:ext cx="2527300"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sp>
        <p:nvSpPr>
          <p:cNvPr id="583" name="Google Shape;583;p41"/>
          <p:cNvSpPr txBox="1"/>
          <p:nvPr/>
        </p:nvSpPr>
        <p:spPr>
          <a:xfrm>
            <a:off x="438150" y="4941888"/>
            <a:ext cx="23558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croaks and eats flies]</a:t>
            </a:r>
            <a:endParaRPr/>
          </a:p>
        </p:txBody>
      </p:sp>
      <p:cxnSp>
        <p:nvCxnSpPr>
          <p:cNvPr id="584" name="Google Shape;584;p41"/>
          <p:cNvCxnSpPr/>
          <p:nvPr/>
        </p:nvCxnSpPr>
        <p:spPr>
          <a:xfrm>
            <a:off x="1752600" y="3900488"/>
            <a:ext cx="0" cy="990600"/>
          </a:xfrm>
          <a:prstGeom prst="straightConnector1">
            <a:avLst/>
          </a:prstGeom>
          <a:noFill/>
          <a:ln w="12700" cap="sq" cmpd="sng">
            <a:solidFill>
              <a:schemeClr val="dk1"/>
            </a:solidFill>
            <a:prstDash val="solid"/>
            <a:round/>
            <a:headEnd type="none" w="sm" len="sm"/>
            <a:tailEnd type="triangle" w="med" len="med"/>
          </a:ln>
        </p:spPr>
      </p:cxnSp>
      <p:cxnSp>
        <p:nvCxnSpPr>
          <p:cNvPr id="585" name="Google Shape;585;p41"/>
          <p:cNvCxnSpPr/>
          <p:nvPr/>
        </p:nvCxnSpPr>
        <p:spPr>
          <a:xfrm rot="10800000">
            <a:off x="1752600" y="4495800"/>
            <a:ext cx="1981200" cy="0"/>
          </a:xfrm>
          <a:prstGeom prst="straightConnector1">
            <a:avLst/>
          </a:prstGeom>
          <a:noFill/>
          <a:ln w="12700" cap="sq" cmpd="sng">
            <a:solidFill>
              <a:schemeClr val="dk1"/>
            </a:solidFill>
            <a:prstDash val="solid"/>
            <a:round/>
            <a:headEnd type="none" w="sm" len="sm"/>
            <a:tailEnd type="none" w="sm" len="sm"/>
          </a:ln>
        </p:spPr>
      </p:cxnSp>
      <p:sp>
        <p:nvSpPr>
          <p:cNvPr id="586" name="Google Shape;586;p41"/>
          <p:cNvSpPr/>
          <p:nvPr/>
        </p:nvSpPr>
        <p:spPr>
          <a:xfrm>
            <a:off x="6934200" y="5762625"/>
            <a:ext cx="1828800" cy="304800"/>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7" name="Google Shape;587;p41"/>
          <p:cNvSpPr/>
          <p:nvPr/>
        </p:nvSpPr>
        <p:spPr>
          <a:xfrm>
            <a:off x="6934200" y="4129088"/>
            <a:ext cx="1981200" cy="290512"/>
          </a:xfrm>
          <a:prstGeom prst="rect">
            <a:avLst/>
          </a:prstGeom>
          <a:noFill/>
          <a:ln w="25400" cap="sq"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8" name="Google Shape;588;p41"/>
          <p:cNvSpPr txBox="1"/>
          <p:nvPr/>
        </p:nvSpPr>
        <p:spPr>
          <a:xfrm>
            <a:off x="3694113" y="4937125"/>
            <a:ext cx="26162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589" name="Google Shape;589;p41"/>
          <p:cNvSpPr txBox="1"/>
          <p:nvPr/>
        </p:nvSpPr>
        <p:spPr>
          <a:xfrm>
            <a:off x="2414588" y="5670550"/>
            <a:ext cx="19621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8000"/>
                </a:solidFill>
                <a:latin typeface="Calibri"/>
                <a:ea typeface="Calibri"/>
                <a:cs typeface="Calibri"/>
                <a:sym typeface="Calibri"/>
              </a:rPr>
              <a:t>X = Fritz, Y = green</a:t>
            </a:r>
            <a:endParaRPr/>
          </a:p>
        </p:txBody>
      </p:sp>
      <p:cxnSp>
        <p:nvCxnSpPr>
          <p:cNvPr id="590" name="Google Shape;590;p41"/>
          <p:cNvCxnSpPr/>
          <p:nvPr/>
        </p:nvCxnSpPr>
        <p:spPr>
          <a:xfrm>
            <a:off x="1752600" y="5486400"/>
            <a:ext cx="3352800" cy="0"/>
          </a:xfrm>
          <a:prstGeom prst="straightConnector1">
            <a:avLst/>
          </a:prstGeom>
          <a:noFill/>
          <a:ln w="12700" cap="flat" cmpd="sng">
            <a:solidFill>
              <a:schemeClr val="dk1"/>
            </a:solidFill>
            <a:prstDash val="lgDash"/>
            <a:round/>
            <a:headEnd type="none" w="sm" len="sm"/>
            <a:tailEnd type="none" w="sm" len="sm"/>
          </a:ln>
        </p:spPr>
      </p:cxnSp>
      <p:cxnSp>
        <p:nvCxnSpPr>
          <p:cNvPr id="591" name="Google Shape;591;p41"/>
          <p:cNvCxnSpPr/>
          <p:nvPr/>
        </p:nvCxnSpPr>
        <p:spPr>
          <a:xfrm rot="10800000">
            <a:off x="5105400" y="5334000"/>
            <a:ext cx="0" cy="152400"/>
          </a:xfrm>
          <a:prstGeom prst="straightConnector1">
            <a:avLst/>
          </a:prstGeom>
          <a:noFill/>
          <a:ln w="12700" cap="flat" cmpd="sng">
            <a:solidFill>
              <a:schemeClr val="dk1"/>
            </a:solidFill>
            <a:prstDash val="lgDash"/>
            <a:round/>
            <a:headEnd type="none" w="sm" len="sm"/>
            <a:tailEnd type="none" w="sm" len="sm"/>
          </a:ln>
        </p:spPr>
      </p:cxnSp>
      <p:cxnSp>
        <p:nvCxnSpPr>
          <p:cNvPr id="592" name="Google Shape;592;p41"/>
          <p:cNvCxnSpPr/>
          <p:nvPr/>
        </p:nvCxnSpPr>
        <p:spPr>
          <a:xfrm rot="10800000">
            <a:off x="1752600" y="5334000"/>
            <a:ext cx="0" cy="152400"/>
          </a:xfrm>
          <a:prstGeom prst="straightConnector1">
            <a:avLst/>
          </a:prstGeom>
          <a:noFill/>
          <a:ln w="12700" cap="flat" cmpd="sng">
            <a:solidFill>
              <a:schemeClr val="dk1"/>
            </a:solidFill>
            <a:prstDash val="lgDash"/>
            <a:round/>
            <a:headEnd type="none" w="sm" len="sm"/>
            <a:tailEnd type="none" w="sm" len="sm"/>
          </a:ln>
        </p:spPr>
      </p:cxnSp>
      <p:cxnSp>
        <p:nvCxnSpPr>
          <p:cNvPr id="593" name="Google Shape;593;p41"/>
          <p:cNvCxnSpPr/>
          <p:nvPr/>
        </p:nvCxnSpPr>
        <p:spPr>
          <a:xfrm>
            <a:off x="3352800" y="5486400"/>
            <a:ext cx="0" cy="152400"/>
          </a:xfrm>
          <a:prstGeom prst="straightConnector1">
            <a:avLst/>
          </a:prstGeom>
          <a:noFill/>
          <a:ln w="12700" cap="flat" cmpd="sng">
            <a:solidFill>
              <a:schemeClr val="dk1"/>
            </a:solidFill>
            <a:prstDash val="lgDash"/>
            <a:round/>
            <a:headEnd type="none" w="sm" len="sm"/>
            <a:tailEnd type="triangle" w="med" len="med"/>
          </a:ln>
        </p:spPr>
      </p:cxnSp>
    </p:spTree>
    <p:extLst>
      <p:ext uri="{BB962C8B-B14F-4D97-AF65-F5344CB8AC3E}">
        <p14:creationId xmlns:p14="http://schemas.microsoft.com/office/powerpoint/2010/main" val="3126056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CPSC 433 Artificial Intelligence</a:t>
            </a:r>
            <a:endParaRPr/>
          </a:p>
        </p:txBody>
      </p:sp>
      <p:sp>
        <p:nvSpPr>
          <p:cNvPr id="599" name="Google Shape;599;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Backward Chaining Example</a:t>
            </a:r>
            <a:endParaRPr/>
          </a:p>
        </p:txBody>
      </p:sp>
      <p:sp>
        <p:nvSpPr>
          <p:cNvPr id="600" name="Google Shape;600;p42"/>
          <p:cNvSpPr txBox="1"/>
          <p:nvPr/>
        </p:nvSpPr>
        <p:spPr>
          <a:xfrm>
            <a:off x="6934200" y="1752600"/>
            <a:ext cx="2057400" cy="4610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Knowledge Base</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croaks and eats flies]</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chirps and sings]</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frog]</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green]</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If </a:t>
            </a:r>
            <a:r>
              <a:rPr lang="en-US" sz="1200">
                <a:solidFill>
                  <a:srgbClr val="0000FF"/>
                </a:solidFill>
                <a:latin typeface="Calibri"/>
                <a:ea typeface="Calibri"/>
                <a:cs typeface="Calibri"/>
                <a:sym typeface="Calibri"/>
              </a:rPr>
              <a:t>[X is a canary]</a:t>
            </a:r>
            <a:r>
              <a:rPr lang="en-US" sz="12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Then </a:t>
            </a:r>
            <a:r>
              <a:rPr lang="en-US" sz="1200">
                <a:solidFill>
                  <a:srgbClr val="0000FF"/>
                </a:solidFill>
                <a:latin typeface="Calibri"/>
                <a:ea typeface="Calibri"/>
                <a:cs typeface="Calibri"/>
                <a:sym typeface="Calibri"/>
              </a:rPr>
              <a:t>[X is colored yellow]</a:t>
            </a:r>
            <a:endParaRPr/>
          </a:p>
          <a:p>
            <a:pPr marL="0" marR="0" lvl="0" indent="0" algn="l" rtl="0">
              <a:spcBef>
                <a:spcPts val="0"/>
              </a:spcBef>
              <a:spcAft>
                <a:spcPts val="0"/>
              </a:spcAft>
              <a:buNone/>
            </a:pPr>
            <a:endParaRPr sz="1200">
              <a:solidFill>
                <a:srgbClr val="0000FF"/>
              </a:solidFill>
              <a:latin typeface="Calibri"/>
              <a:ea typeface="Calibri"/>
              <a:cs typeface="Calibri"/>
              <a:sym typeface="Calibri"/>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croaks and eats flies]</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b="1">
                <a:solidFill>
                  <a:schemeClr val="dk1"/>
                </a:solidFill>
                <a:latin typeface="Calibri"/>
                <a:ea typeface="Calibri"/>
                <a:cs typeface="Calibri"/>
                <a:sym typeface="Calibri"/>
              </a:rPr>
              <a:t>Goals</a:t>
            </a:r>
            <a:endParaRPr/>
          </a:p>
          <a:p>
            <a:pPr marL="0" marR="0" lvl="0" indent="0" algn="l" rtl="0">
              <a:spcBef>
                <a:spcPts val="0"/>
              </a:spcBef>
              <a:spcAft>
                <a:spcPts val="0"/>
              </a:spcAft>
              <a:buNone/>
            </a:pPr>
            <a:r>
              <a:rPr lang="en-US" sz="1200">
                <a:solidFill>
                  <a:srgbClr val="0000FF"/>
                </a:solidFill>
                <a:latin typeface="Calibri"/>
                <a:ea typeface="Calibri"/>
                <a:cs typeface="Calibri"/>
                <a:sym typeface="Calibri"/>
              </a:rPr>
              <a:t>[Fritz is colored Y]</a:t>
            </a:r>
            <a:r>
              <a:rPr lang="en-US" sz="12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frog]</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is a canary]</a:t>
            </a:r>
            <a:endParaRPr/>
          </a:p>
          <a:p>
            <a:pPr marL="0" marR="0" lvl="0" indent="0" algn="l" rtl="0">
              <a:spcBef>
                <a:spcPts val="0"/>
              </a:spcBef>
              <a:spcAft>
                <a:spcPts val="0"/>
              </a:spcAft>
              <a:buNone/>
            </a:pPr>
            <a:endParaRPr sz="1200">
              <a:solidFill>
                <a:srgbClr val="FF0000"/>
              </a:solidFill>
              <a:latin typeface="Calibri"/>
              <a:ea typeface="Calibri"/>
              <a:cs typeface="Calibri"/>
              <a:sym typeface="Calibri"/>
            </a:endParaRPr>
          </a:p>
          <a:p>
            <a:pPr marL="0" marR="0" lvl="0" indent="0" algn="l" rtl="0">
              <a:spcBef>
                <a:spcPts val="0"/>
              </a:spcBef>
              <a:spcAft>
                <a:spcPts val="0"/>
              </a:spcAft>
              <a:buNone/>
            </a:pPr>
            <a:r>
              <a:rPr lang="en-US" sz="1200">
                <a:solidFill>
                  <a:srgbClr val="FF0000"/>
                </a:solidFill>
                <a:latin typeface="Calibri"/>
                <a:ea typeface="Calibri"/>
                <a:cs typeface="Calibri"/>
                <a:sym typeface="Calibri"/>
              </a:rPr>
              <a:t>[X croaks and eats flies]</a:t>
            </a:r>
            <a:endParaRPr/>
          </a:p>
          <a:p>
            <a:pPr marL="0" marR="0" lvl="0" indent="0" algn="l" rtl="0">
              <a:spcBef>
                <a:spcPts val="700"/>
              </a:spcBef>
              <a:spcAft>
                <a:spcPts val="0"/>
              </a:spcAft>
              <a:buNone/>
            </a:pPr>
            <a:endParaRPr sz="1400">
              <a:solidFill>
                <a:srgbClr val="FF0000"/>
              </a:solidFill>
              <a:latin typeface="Calibri"/>
              <a:ea typeface="Calibri"/>
              <a:cs typeface="Calibri"/>
              <a:sym typeface="Calibri"/>
            </a:endParaRPr>
          </a:p>
        </p:txBody>
      </p:sp>
      <p:sp>
        <p:nvSpPr>
          <p:cNvPr id="601" name="Google Shape;601;p42"/>
          <p:cNvSpPr txBox="1"/>
          <p:nvPr/>
        </p:nvSpPr>
        <p:spPr>
          <a:xfrm>
            <a:off x="2462213" y="1676400"/>
            <a:ext cx="18240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is colored Y]</a:t>
            </a:r>
            <a:endParaRPr/>
          </a:p>
        </p:txBody>
      </p:sp>
      <p:sp>
        <p:nvSpPr>
          <p:cNvPr id="602" name="Google Shape;602;p42"/>
          <p:cNvSpPr txBox="1"/>
          <p:nvPr/>
        </p:nvSpPr>
        <p:spPr>
          <a:xfrm>
            <a:off x="311150" y="2362200"/>
            <a:ext cx="2466975"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frog]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green]</a:t>
            </a:r>
            <a:endParaRPr/>
          </a:p>
        </p:txBody>
      </p:sp>
      <p:sp>
        <p:nvSpPr>
          <p:cNvPr id="603" name="Google Shape;603;p42"/>
          <p:cNvSpPr txBox="1"/>
          <p:nvPr/>
        </p:nvSpPr>
        <p:spPr>
          <a:xfrm>
            <a:off x="3733800" y="2362200"/>
            <a:ext cx="2509838"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is a canary]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colored yellow]</a:t>
            </a:r>
            <a:endParaRPr/>
          </a:p>
        </p:txBody>
      </p:sp>
      <p:sp>
        <p:nvSpPr>
          <p:cNvPr id="604" name="Google Shape;604;p42"/>
          <p:cNvSpPr txBox="1"/>
          <p:nvPr/>
        </p:nvSpPr>
        <p:spPr>
          <a:xfrm>
            <a:off x="1128713" y="3552825"/>
            <a:ext cx="1227137"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frog]</a:t>
            </a:r>
            <a:endParaRPr/>
          </a:p>
        </p:txBody>
      </p:sp>
      <p:sp>
        <p:nvSpPr>
          <p:cNvPr id="605" name="Google Shape;605;p42"/>
          <p:cNvSpPr txBox="1"/>
          <p:nvPr/>
        </p:nvSpPr>
        <p:spPr>
          <a:xfrm>
            <a:off x="4422775" y="3552825"/>
            <a:ext cx="14859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is a canary]</a:t>
            </a:r>
            <a:endParaRPr/>
          </a:p>
        </p:txBody>
      </p:sp>
      <p:sp>
        <p:nvSpPr>
          <p:cNvPr id="606" name="Google Shape;606;p42"/>
          <p:cNvSpPr txBox="1"/>
          <p:nvPr/>
        </p:nvSpPr>
        <p:spPr>
          <a:xfrm>
            <a:off x="3733800" y="4191000"/>
            <a:ext cx="2527300" cy="593725"/>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a:t>
            </a:r>
            <a:r>
              <a:rPr lang="en-US" sz="1800">
                <a:solidFill>
                  <a:srgbClr val="0000FF"/>
                </a:solidFill>
                <a:latin typeface="Calibri"/>
                <a:ea typeface="Calibri"/>
                <a:cs typeface="Calibri"/>
                <a:sym typeface="Calibri"/>
              </a:rPr>
              <a:t>[X croaks and eats flies]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a:t>
            </a:r>
            <a:r>
              <a:rPr lang="en-US" sz="1800">
                <a:solidFill>
                  <a:srgbClr val="0000FF"/>
                </a:solidFill>
                <a:latin typeface="Calibri"/>
                <a:ea typeface="Calibri"/>
                <a:cs typeface="Calibri"/>
                <a:sym typeface="Calibri"/>
              </a:rPr>
              <a:t>[X is a frog]</a:t>
            </a:r>
            <a:endParaRPr/>
          </a:p>
        </p:txBody>
      </p:sp>
      <p:cxnSp>
        <p:nvCxnSpPr>
          <p:cNvPr id="607" name="Google Shape;607;p42"/>
          <p:cNvCxnSpPr/>
          <p:nvPr/>
        </p:nvCxnSpPr>
        <p:spPr>
          <a:xfrm>
            <a:off x="17526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608" name="Google Shape;608;p42"/>
          <p:cNvCxnSpPr/>
          <p:nvPr/>
        </p:nvCxnSpPr>
        <p:spPr>
          <a:xfrm>
            <a:off x="5105400" y="2957513"/>
            <a:ext cx="0" cy="533400"/>
          </a:xfrm>
          <a:prstGeom prst="straightConnector1">
            <a:avLst/>
          </a:prstGeom>
          <a:noFill/>
          <a:ln w="12700" cap="sq" cmpd="sng">
            <a:solidFill>
              <a:schemeClr val="dk1"/>
            </a:solidFill>
            <a:prstDash val="solid"/>
            <a:round/>
            <a:headEnd type="none" w="sm" len="sm"/>
            <a:tailEnd type="triangle" w="med" len="med"/>
          </a:ln>
        </p:spPr>
      </p:cxnSp>
      <p:cxnSp>
        <p:nvCxnSpPr>
          <p:cNvPr id="609" name="Google Shape;609;p42"/>
          <p:cNvCxnSpPr/>
          <p:nvPr/>
        </p:nvCxnSpPr>
        <p:spPr>
          <a:xfrm>
            <a:off x="3200400" y="2057400"/>
            <a:ext cx="0" cy="1143000"/>
          </a:xfrm>
          <a:prstGeom prst="straightConnector1">
            <a:avLst/>
          </a:prstGeom>
          <a:noFill/>
          <a:ln w="12700" cap="sq" cmpd="sng">
            <a:solidFill>
              <a:schemeClr val="dk1"/>
            </a:solidFill>
            <a:prstDash val="solid"/>
            <a:round/>
            <a:headEnd type="none" w="sm" len="sm"/>
            <a:tailEnd type="none" w="sm" len="sm"/>
          </a:ln>
        </p:spPr>
      </p:cxnSp>
      <p:cxnSp>
        <p:nvCxnSpPr>
          <p:cNvPr id="610" name="Google Shape;610;p42"/>
          <p:cNvCxnSpPr/>
          <p:nvPr/>
        </p:nvCxnSpPr>
        <p:spPr>
          <a:xfrm rot="10800000">
            <a:off x="1752600" y="3200400"/>
            <a:ext cx="1447800" cy="0"/>
          </a:xfrm>
          <a:prstGeom prst="straightConnector1">
            <a:avLst/>
          </a:prstGeom>
          <a:noFill/>
          <a:ln w="12700" cap="sq" cmpd="sng">
            <a:solidFill>
              <a:schemeClr val="dk1"/>
            </a:solidFill>
            <a:prstDash val="solid"/>
            <a:round/>
            <a:headEnd type="none" w="sm" len="sm"/>
            <a:tailEnd type="none" w="sm" len="sm"/>
          </a:ln>
        </p:spPr>
      </p:cxnSp>
      <p:cxnSp>
        <p:nvCxnSpPr>
          <p:cNvPr id="611" name="Google Shape;611;p42"/>
          <p:cNvCxnSpPr/>
          <p:nvPr/>
        </p:nvCxnSpPr>
        <p:spPr>
          <a:xfrm rot="10800000">
            <a:off x="3505200" y="3200400"/>
            <a:ext cx="1600200" cy="0"/>
          </a:xfrm>
          <a:prstGeom prst="straightConnector1">
            <a:avLst/>
          </a:prstGeom>
          <a:noFill/>
          <a:ln w="12700" cap="sq" cmpd="sng">
            <a:solidFill>
              <a:schemeClr val="dk1"/>
            </a:solidFill>
            <a:prstDash val="solid"/>
            <a:round/>
            <a:headEnd type="none" w="sm" len="sm"/>
            <a:tailEnd type="none" w="sm" len="sm"/>
          </a:ln>
        </p:spPr>
      </p:cxnSp>
      <p:cxnSp>
        <p:nvCxnSpPr>
          <p:cNvPr id="612" name="Google Shape;612;p42"/>
          <p:cNvCxnSpPr/>
          <p:nvPr/>
        </p:nvCxnSpPr>
        <p:spPr>
          <a:xfrm rot="10800000">
            <a:off x="3505200" y="2057400"/>
            <a:ext cx="0" cy="1143000"/>
          </a:xfrm>
          <a:prstGeom prst="straightConnector1">
            <a:avLst/>
          </a:prstGeom>
          <a:noFill/>
          <a:ln w="12700" cap="sq" cmpd="sng">
            <a:solidFill>
              <a:schemeClr val="dk1"/>
            </a:solidFill>
            <a:prstDash val="solid"/>
            <a:round/>
            <a:headEnd type="none" w="sm" len="sm"/>
            <a:tailEnd type="none" w="sm" len="sm"/>
          </a:ln>
        </p:spPr>
      </p:cxnSp>
      <p:sp>
        <p:nvSpPr>
          <p:cNvPr id="613" name="Google Shape;613;p42"/>
          <p:cNvSpPr txBox="1"/>
          <p:nvPr/>
        </p:nvSpPr>
        <p:spPr>
          <a:xfrm>
            <a:off x="438150" y="4941888"/>
            <a:ext cx="23558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[X croaks and eats flies]</a:t>
            </a:r>
            <a:endParaRPr/>
          </a:p>
        </p:txBody>
      </p:sp>
      <p:cxnSp>
        <p:nvCxnSpPr>
          <p:cNvPr id="614" name="Google Shape;614;p42"/>
          <p:cNvCxnSpPr/>
          <p:nvPr/>
        </p:nvCxnSpPr>
        <p:spPr>
          <a:xfrm>
            <a:off x="1752600" y="3900488"/>
            <a:ext cx="0" cy="990600"/>
          </a:xfrm>
          <a:prstGeom prst="straightConnector1">
            <a:avLst/>
          </a:prstGeom>
          <a:noFill/>
          <a:ln w="12700" cap="sq" cmpd="sng">
            <a:solidFill>
              <a:schemeClr val="dk1"/>
            </a:solidFill>
            <a:prstDash val="solid"/>
            <a:round/>
            <a:headEnd type="none" w="sm" len="sm"/>
            <a:tailEnd type="triangle" w="med" len="med"/>
          </a:ln>
        </p:spPr>
      </p:cxnSp>
      <p:cxnSp>
        <p:nvCxnSpPr>
          <p:cNvPr id="615" name="Google Shape;615;p42"/>
          <p:cNvCxnSpPr/>
          <p:nvPr/>
        </p:nvCxnSpPr>
        <p:spPr>
          <a:xfrm rot="10800000">
            <a:off x="1752600" y="4495800"/>
            <a:ext cx="1981200" cy="0"/>
          </a:xfrm>
          <a:prstGeom prst="straightConnector1">
            <a:avLst/>
          </a:prstGeom>
          <a:noFill/>
          <a:ln w="12700" cap="sq" cmpd="sng">
            <a:solidFill>
              <a:schemeClr val="dk1"/>
            </a:solidFill>
            <a:prstDash val="solid"/>
            <a:round/>
            <a:headEnd type="none" w="sm" len="sm"/>
            <a:tailEnd type="none" w="sm" len="sm"/>
          </a:ln>
        </p:spPr>
      </p:cxnSp>
      <p:sp>
        <p:nvSpPr>
          <p:cNvPr id="616" name="Google Shape;616;p42"/>
          <p:cNvSpPr txBox="1"/>
          <p:nvPr/>
        </p:nvSpPr>
        <p:spPr>
          <a:xfrm>
            <a:off x="3694113" y="4937125"/>
            <a:ext cx="261620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[Fritz croaks and eats flies]</a:t>
            </a:r>
            <a:endParaRPr/>
          </a:p>
        </p:txBody>
      </p:sp>
      <p:sp>
        <p:nvSpPr>
          <p:cNvPr id="617" name="Google Shape;617;p42"/>
          <p:cNvSpPr txBox="1"/>
          <p:nvPr/>
        </p:nvSpPr>
        <p:spPr>
          <a:xfrm>
            <a:off x="2414588" y="5670550"/>
            <a:ext cx="1962150" cy="349250"/>
          </a:xfrm>
          <a:prstGeom prst="rect">
            <a:avLst/>
          </a:prstGeom>
          <a:noFill/>
          <a:ln w="12700" cap="sq"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8000"/>
                </a:solidFill>
                <a:latin typeface="Calibri"/>
                <a:ea typeface="Calibri"/>
                <a:cs typeface="Calibri"/>
                <a:sym typeface="Calibri"/>
              </a:rPr>
              <a:t>X = Fritz, Y = green</a:t>
            </a:r>
            <a:endParaRPr/>
          </a:p>
        </p:txBody>
      </p:sp>
      <p:cxnSp>
        <p:nvCxnSpPr>
          <p:cNvPr id="618" name="Google Shape;618;p42"/>
          <p:cNvCxnSpPr/>
          <p:nvPr/>
        </p:nvCxnSpPr>
        <p:spPr>
          <a:xfrm>
            <a:off x="1752600" y="5486400"/>
            <a:ext cx="3352800" cy="0"/>
          </a:xfrm>
          <a:prstGeom prst="straightConnector1">
            <a:avLst/>
          </a:prstGeom>
          <a:noFill/>
          <a:ln w="12700" cap="flat" cmpd="sng">
            <a:solidFill>
              <a:schemeClr val="dk1"/>
            </a:solidFill>
            <a:prstDash val="lgDash"/>
            <a:round/>
            <a:headEnd type="none" w="sm" len="sm"/>
            <a:tailEnd type="none" w="sm" len="sm"/>
          </a:ln>
        </p:spPr>
      </p:cxnSp>
      <p:cxnSp>
        <p:nvCxnSpPr>
          <p:cNvPr id="619" name="Google Shape;619;p42"/>
          <p:cNvCxnSpPr/>
          <p:nvPr/>
        </p:nvCxnSpPr>
        <p:spPr>
          <a:xfrm rot="10800000">
            <a:off x="5105400" y="5334000"/>
            <a:ext cx="0" cy="152400"/>
          </a:xfrm>
          <a:prstGeom prst="straightConnector1">
            <a:avLst/>
          </a:prstGeom>
          <a:noFill/>
          <a:ln w="12700" cap="flat" cmpd="sng">
            <a:solidFill>
              <a:schemeClr val="dk1"/>
            </a:solidFill>
            <a:prstDash val="lgDash"/>
            <a:round/>
            <a:headEnd type="none" w="sm" len="sm"/>
            <a:tailEnd type="none" w="sm" len="sm"/>
          </a:ln>
        </p:spPr>
      </p:cxnSp>
      <p:cxnSp>
        <p:nvCxnSpPr>
          <p:cNvPr id="620" name="Google Shape;620;p42"/>
          <p:cNvCxnSpPr/>
          <p:nvPr/>
        </p:nvCxnSpPr>
        <p:spPr>
          <a:xfrm rot="10800000">
            <a:off x="1752600" y="5334000"/>
            <a:ext cx="0" cy="152400"/>
          </a:xfrm>
          <a:prstGeom prst="straightConnector1">
            <a:avLst/>
          </a:prstGeom>
          <a:noFill/>
          <a:ln w="12700" cap="flat" cmpd="sng">
            <a:solidFill>
              <a:schemeClr val="dk1"/>
            </a:solidFill>
            <a:prstDash val="lgDash"/>
            <a:round/>
            <a:headEnd type="none" w="sm" len="sm"/>
            <a:tailEnd type="none" w="sm" len="sm"/>
          </a:ln>
        </p:spPr>
      </p:cxnSp>
      <p:cxnSp>
        <p:nvCxnSpPr>
          <p:cNvPr id="621" name="Google Shape;621;p42"/>
          <p:cNvCxnSpPr/>
          <p:nvPr/>
        </p:nvCxnSpPr>
        <p:spPr>
          <a:xfrm>
            <a:off x="3352800" y="5486400"/>
            <a:ext cx="0" cy="152400"/>
          </a:xfrm>
          <a:prstGeom prst="straightConnector1">
            <a:avLst/>
          </a:prstGeom>
          <a:noFill/>
          <a:ln w="12700" cap="flat" cmpd="sng">
            <a:solidFill>
              <a:schemeClr val="dk1"/>
            </a:solidFill>
            <a:prstDash val="lgDash"/>
            <a:round/>
            <a:headEnd type="none" w="sm" len="sm"/>
            <a:tailEnd type="triangle" w="med" len="med"/>
          </a:ln>
        </p:spPr>
      </p:cxnSp>
    </p:spTree>
    <p:extLst>
      <p:ext uri="{BB962C8B-B14F-4D97-AF65-F5344CB8AC3E}">
        <p14:creationId xmlns:p14="http://schemas.microsoft.com/office/powerpoint/2010/main" val="339049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Forward Chaining</a:t>
            </a:r>
            <a:endParaRPr/>
          </a:p>
        </p:txBody>
      </p:sp>
      <p:sp>
        <p:nvSpPr>
          <p:cNvPr id="473" name="Google Shape;473;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Prove Z</a:t>
            </a:r>
            <a:endParaRPr/>
          </a:p>
        </p:txBody>
      </p:sp>
      <p:pic>
        <p:nvPicPr>
          <p:cNvPr id="474" name="Google Shape;474;p30"/>
          <p:cNvPicPr preferRelativeResize="0"/>
          <p:nvPr/>
        </p:nvPicPr>
        <p:blipFill rotWithShape="1">
          <a:blip r:embed="rId3">
            <a:alphaModFix/>
          </a:blip>
          <a:srcRect l="14350" t="16440" r="15114" b="17211"/>
          <a:stretch/>
        </p:blipFill>
        <p:spPr>
          <a:xfrm>
            <a:off x="436323" y="2209800"/>
            <a:ext cx="8146473" cy="4343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1"/>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a:t>
            </a:r>
            <a:endParaRPr/>
          </a:p>
        </p:txBody>
      </p:sp>
      <p:sp>
        <p:nvSpPr>
          <p:cNvPr id="481" name="Google Shape;481;p31"/>
          <p:cNvSpPr txBox="1">
            <a:spLocks noGrp="1"/>
          </p:cNvSpPr>
          <p:nvPr>
            <p:ph type="body" idx="1"/>
          </p:nvPr>
        </p:nvSpPr>
        <p:spPr>
          <a:xfrm>
            <a:off x="457200" y="9906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Prove Z</a:t>
            </a:r>
            <a:endParaRPr/>
          </a:p>
        </p:txBody>
      </p:sp>
      <p:pic>
        <p:nvPicPr>
          <p:cNvPr id="482" name="Google Shape;482;p31"/>
          <p:cNvPicPr preferRelativeResize="0"/>
          <p:nvPr/>
        </p:nvPicPr>
        <p:blipFill rotWithShape="1">
          <a:blip r:embed="rId3">
            <a:alphaModFix/>
          </a:blip>
          <a:srcRect l="30000" t="20141" r="33334" b="12592"/>
          <a:stretch/>
        </p:blipFill>
        <p:spPr>
          <a:xfrm>
            <a:off x="2895600" y="886691"/>
            <a:ext cx="5638800" cy="581890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Forward Chaining in FOL</a:t>
            </a:r>
            <a:br>
              <a:rPr lang="en-US" dirty="0"/>
            </a:br>
            <a:r>
              <a:rPr lang="en-US" dirty="0"/>
              <a:t>Backward Chaining in FOL</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0195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Example knowledge base</a:t>
            </a:r>
            <a:endParaRPr/>
          </a:p>
        </p:txBody>
      </p:sp>
      <p:sp>
        <p:nvSpPr>
          <p:cNvPr id="122" name="Google Shape;122;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dirty="0"/>
              <a:t>The law says </a:t>
            </a:r>
            <a:r>
              <a:rPr lang="en-US" sz="2400" dirty="0">
                <a:solidFill>
                  <a:srgbClr val="FF0000"/>
                </a:solidFill>
              </a:rPr>
              <a:t>that it is a crime for Americans to sell weapons to hostile nations</a:t>
            </a:r>
            <a:r>
              <a:rPr lang="en-US" sz="2400" dirty="0"/>
              <a:t>.  </a:t>
            </a:r>
            <a:r>
              <a:rPr lang="en-US" sz="2400" dirty="0">
                <a:solidFill>
                  <a:srgbClr val="FF0000"/>
                </a:solidFill>
              </a:rPr>
              <a:t>The country </a:t>
            </a:r>
            <a:r>
              <a:rPr lang="en-US" sz="2400" dirty="0" err="1">
                <a:solidFill>
                  <a:srgbClr val="FF0000"/>
                </a:solidFill>
              </a:rPr>
              <a:t>Nono</a:t>
            </a:r>
            <a:r>
              <a:rPr lang="en-US" sz="2400" dirty="0">
                <a:solidFill>
                  <a:srgbClr val="FF0000"/>
                </a:solidFill>
              </a:rPr>
              <a:t>, an enemy of America, has some missiles</a:t>
            </a:r>
            <a:r>
              <a:rPr lang="en-US" sz="2400" dirty="0"/>
              <a:t>, and all of its missiles were sold to it by Colonel West, who is American.</a:t>
            </a:r>
            <a:endParaRPr dirty="0"/>
          </a:p>
          <a:p>
            <a:pPr marL="2057400" lvl="4" indent="-127000" algn="l" rtl="0">
              <a:spcBef>
                <a:spcPts val="320"/>
              </a:spcBef>
              <a:spcAft>
                <a:spcPts val="0"/>
              </a:spcAft>
              <a:buClr>
                <a:schemeClr val="dk1"/>
              </a:buClr>
              <a:buSzPts val="1600"/>
              <a:buNone/>
            </a:pPr>
            <a:endParaRPr sz="1600" dirty="0"/>
          </a:p>
          <a:p>
            <a:pPr marL="342900" lvl="0" indent="-342900" algn="l" rtl="0">
              <a:spcBef>
                <a:spcPts val="480"/>
              </a:spcBef>
              <a:spcAft>
                <a:spcPts val="0"/>
              </a:spcAft>
              <a:buClr>
                <a:schemeClr val="dk1"/>
              </a:buClr>
              <a:buSzPts val="2400"/>
              <a:buChar char="•"/>
            </a:pPr>
            <a:r>
              <a:rPr lang="en-US" sz="2400" dirty="0"/>
              <a:t>Prove that Colonel. West is a criminal</a:t>
            </a:r>
            <a:endParaRPr dirty="0"/>
          </a:p>
        </p:txBody>
      </p:sp>
    </p:spTree>
    <p:extLst>
      <p:ext uri="{BB962C8B-B14F-4D97-AF65-F5344CB8AC3E}">
        <p14:creationId xmlns:p14="http://schemas.microsoft.com/office/powerpoint/2010/main" val="1884265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Example knowledge base contd.</a:t>
            </a:r>
            <a:endParaRPr/>
          </a:p>
        </p:txBody>
      </p:sp>
      <p:sp>
        <p:nvSpPr>
          <p:cNvPr id="128" name="Google Shape;128;p7"/>
          <p:cNvSpPr txBox="1">
            <a:spLocks noGrp="1"/>
          </p:cNvSpPr>
          <p:nvPr>
            <p:ph type="body" idx="1"/>
          </p:nvPr>
        </p:nvSpPr>
        <p:spPr>
          <a:xfrm>
            <a:off x="457200" y="1417638"/>
            <a:ext cx="8229600" cy="4525962"/>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80000"/>
              </a:lnSpc>
              <a:spcBef>
                <a:spcPts val="0"/>
              </a:spcBef>
              <a:spcAft>
                <a:spcPts val="0"/>
              </a:spcAft>
              <a:buClr>
                <a:schemeClr val="dk1"/>
              </a:buClr>
              <a:buSzPct val="100000"/>
              <a:buFont typeface="Calibri"/>
              <a:buNone/>
            </a:pPr>
            <a:r>
              <a:rPr lang="en-US" sz="2000" dirty="0"/>
              <a:t>... it is a crime for Americans to sell weapons to hostile nations:</a:t>
            </a:r>
            <a:endParaRPr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American(x) ∧ Weapon(y) ∧ Sells(</a:t>
            </a:r>
            <a:r>
              <a:rPr lang="en-US" sz="1800" i="1" dirty="0" err="1">
                <a:solidFill>
                  <a:srgbClr val="CC0099"/>
                </a:solidFill>
              </a:rPr>
              <a:t>x,y,z</a:t>
            </a:r>
            <a:r>
              <a:rPr lang="en-US" sz="1800" i="1" dirty="0">
                <a:solidFill>
                  <a:srgbClr val="CC0099"/>
                </a:solidFill>
              </a:rPr>
              <a:t>) ∧ Hostile(z) ⇒ Criminal(x)</a:t>
            </a:r>
            <a:endParaRPr dirty="0"/>
          </a:p>
          <a:p>
            <a:pPr marL="342900" lvl="0" indent="-342900" algn="l" rtl="0">
              <a:lnSpc>
                <a:spcPct val="80000"/>
              </a:lnSpc>
              <a:spcBef>
                <a:spcPts val="370"/>
              </a:spcBef>
              <a:spcAft>
                <a:spcPts val="0"/>
              </a:spcAft>
              <a:buClr>
                <a:schemeClr val="dk1"/>
              </a:buClr>
              <a:buSzPct val="100000"/>
              <a:buFont typeface="Calibri"/>
              <a:buNone/>
            </a:pPr>
            <a:endParaRPr sz="2000" dirty="0"/>
          </a:p>
          <a:p>
            <a:pPr marL="342900" lvl="0" indent="-342900" algn="l" rtl="0">
              <a:lnSpc>
                <a:spcPct val="80000"/>
              </a:lnSpc>
              <a:spcBef>
                <a:spcPts val="370"/>
              </a:spcBef>
              <a:spcAft>
                <a:spcPts val="0"/>
              </a:spcAft>
              <a:buClr>
                <a:schemeClr val="dk1"/>
              </a:buClr>
              <a:buSzPct val="100000"/>
              <a:buFont typeface="Calibri"/>
              <a:buNone/>
            </a:pPr>
            <a:r>
              <a:rPr lang="en-US" sz="2000" dirty="0" err="1"/>
              <a:t>Nono</a:t>
            </a:r>
            <a:r>
              <a:rPr lang="en-US" sz="2000" dirty="0"/>
              <a:t> … has some missiles, i.e., ∃x Owns(</a:t>
            </a:r>
            <a:r>
              <a:rPr lang="en-US" sz="2000" dirty="0" err="1"/>
              <a:t>Nono,x</a:t>
            </a:r>
            <a:r>
              <a:rPr lang="en-US" sz="2000" dirty="0"/>
              <a:t>) ∧ Missile(x):</a:t>
            </a:r>
            <a:endParaRPr dirty="0"/>
          </a:p>
          <a:p>
            <a:pPr marL="742950" lvl="1" indent="-285750">
              <a:lnSpc>
                <a:spcPct val="80000"/>
              </a:lnSpc>
              <a:spcBef>
                <a:spcPts val="333"/>
              </a:spcBef>
              <a:buClr>
                <a:srgbClr val="CC0099"/>
              </a:buClr>
              <a:buSzPct val="100000"/>
              <a:buNone/>
            </a:pPr>
            <a:r>
              <a:rPr lang="en-US" sz="1800" i="1" dirty="0">
                <a:solidFill>
                  <a:srgbClr val="CC0099"/>
                </a:solidFill>
              </a:rPr>
              <a:t>Owns(Nono,M</a:t>
            </a:r>
            <a:r>
              <a:rPr lang="en-US" sz="1800" i="1" baseline="-25000" dirty="0">
                <a:solidFill>
                  <a:srgbClr val="CC0099"/>
                </a:solidFill>
              </a:rPr>
              <a:t>1</a:t>
            </a:r>
            <a:r>
              <a:rPr lang="en-US" sz="1800" i="1" dirty="0">
                <a:solidFill>
                  <a:srgbClr val="CC0099"/>
                </a:solidFill>
              </a:rPr>
              <a:t>) ∧ Missile(M</a:t>
            </a:r>
            <a:r>
              <a:rPr lang="en-US" sz="1800" i="1" baseline="-25000" dirty="0">
                <a:solidFill>
                  <a:srgbClr val="CC0099"/>
                </a:solidFill>
              </a:rPr>
              <a:t>1</a:t>
            </a:r>
            <a:r>
              <a:rPr lang="en-US" sz="1800" i="1" dirty="0">
                <a:solidFill>
                  <a:srgbClr val="CC0099"/>
                </a:solidFill>
              </a:rPr>
              <a:t>)</a:t>
            </a:r>
            <a:endParaRPr dirty="0"/>
          </a:p>
          <a:p>
            <a:pPr marL="342900" lvl="0" indent="-342900" algn="l" rtl="0">
              <a:lnSpc>
                <a:spcPct val="80000"/>
              </a:lnSpc>
              <a:spcBef>
                <a:spcPts val="370"/>
              </a:spcBef>
              <a:spcAft>
                <a:spcPts val="0"/>
              </a:spcAft>
              <a:buClr>
                <a:schemeClr val="dk1"/>
              </a:buClr>
              <a:buSzPct val="100000"/>
              <a:buFont typeface="Calibri"/>
              <a:buNone/>
            </a:pPr>
            <a:endParaRPr sz="2000" dirty="0"/>
          </a:p>
          <a:p>
            <a:pPr marL="342900" lvl="0" indent="-342900" algn="l" rtl="0">
              <a:lnSpc>
                <a:spcPct val="80000"/>
              </a:lnSpc>
              <a:spcBef>
                <a:spcPts val="370"/>
              </a:spcBef>
              <a:spcAft>
                <a:spcPts val="0"/>
              </a:spcAft>
              <a:buClr>
                <a:schemeClr val="dk1"/>
              </a:buClr>
              <a:buSzPct val="100000"/>
              <a:buFont typeface="Calibri"/>
              <a:buNone/>
            </a:pPr>
            <a:r>
              <a:rPr lang="en-US" sz="2000" dirty="0"/>
              <a:t>… all of its missiles were sold to it by Colonel West</a:t>
            </a:r>
            <a:endParaRPr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Missile(x) ∧ Owns(</a:t>
            </a:r>
            <a:r>
              <a:rPr lang="en-US" sz="1800" i="1" dirty="0" err="1">
                <a:solidFill>
                  <a:srgbClr val="CC0099"/>
                </a:solidFill>
              </a:rPr>
              <a:t>Nono,x</a:t>
            </a:r>
            <a:r>
              <a:rPr lang="en-US" sz="1800" i="1" dirty="0">
                <a:solidFill>
                  <a:srgbClr val="CC0099"/>
                </a:solidFill>
              </a:rPr>
              <a:t>) ⇒ Sells(</a:t>
            </a:r>
            <a:r>
              <a:rPr lang="en-US" sz="1800" i="1" dirty="0" err="1">
                <a:solidFill>
                  <a:srgbClr val="CC0099"/>
                </a:solidFill>
              </a:rPr>
              <a:t>West,x,Nono</a:t>
            </a:r>
            <a:r>
              <a:rPr lang="en-US" sz="1800" i="1" dirty="0">
                <a:solidFill>
                  <a:srgbClr val="CC0099"/>
                </a:solidFill>
              </a:rPr>
              <a:t>)</a:t>
            </a:r>
            <a:endParaRPr dirty="0"/>
          </a:p>
          <a:p>
            <a:pPr marL="342900" lvl="0" indent="-342900" algn="l" rtl="0">
              <a:lnSpc>
                <a:spcPct val="80000"/>
              </a:lnSpc>
              <a:spcBef>
                <a:spcPts val="370"/>
              </a:spcBef>
              <a:spcAft>
                <a:spcPts val="0"/>
              </a:spcAft>
              <a:buClr>
                <a:schemeClr val="dk1"/>
              </a:buClr>
              <a:buSzPct val="100000"/>
              <a:buFont typeface="Calibri"/>
              <a:buNone/>
            </a:pPr>
            <a:endParaRPr sz="2000" dirty="0"/>
          </a:p>
          <a:p>
            <a:pPr marL="342900" lvl="0" indent="-342900" algn="l" rtl="0">
              <a:lnSpc>
                <a:spcPct val="80000"/>
              </a:lnSpc>
              <a:spcBef>
                <a:spcPts val="370"/>
              </a:spcBef>
              <a:spcAft>
                <a:spcPts val="0"/>
              </a:spcAft>
              <a:buClr>
                <a:schemeClr val="dk1"/>
              </a:buClr>
              <a:buSzPct val="100000"/>
              <a:buFont typeface="Calibri"/>
              <a:buNone/>
            </a:pPr>
            <a:r>
              <a:rPr lang="en-US" sz="2000" dirty="0"/>
              <a:t>Missiles are weapons:</a:t>
            </a:r>
            <a:endParaRPr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Missile(x) ⇒ Weapon(x)</a:t>
            </a:r>
            <a:endParaRPr dirty="0"/>
          </a:p>
          <a:p>
            <a:pPr marL="342900" lvl="0" indent="-342900" algn="l" rtl="0">
              <a:lnSpc>
                <a:spcPct val="80000"/>
              </a:lnSpc>
              <a:spcBef>
                <a:spcPts val="370"/>
              </a:spcBef>
              <a:spcAft>
                <a:spcPts val="0"/>
              </a:spcAft>
              <a:buClr>
                <a:schemeClr val="dk1"/>
              </a:buClr>
              <a:buSzPct val="100000"/>
              <a:buFont typeface="Calibri"/>
              <a:buNone/>
            </a:pPr>
            <a:endParaRPr sz="2000" dirty="0"/>
          </a:p>
          <a:p>
            <a:pPr marL="342900" lvl="0" indent="-342900" algn="l" rtl="0">
              <a:lnSpc>
                <a:spcPct val="80000"/>
              </a:lnSpc>
              <a:spcBef>
                <a:spcPts val="370"/>
              </a:spcBef>
              <a:spcAft>
                <a:spcPts val="0"/>
              </a:spcAft>
              <a:buClr>
                <a:schemeClr val="dk1"/>
              </a:buClr>
              <a:buSzPct val="100000"/>
              <a:buFont typeface="Calibri"/>
              <a:buNone/>
            </a:pPr>
            <a:r>
              <a:rPr lang="en-US" sz="2000" dirty="0"/>
              <a:t>An enemy of America counts as "hostile“:</a:t>
            </a:r>
            <a:endParaRPr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Enemy(</a:t>
            </a:r>
            <a:r>
              <a:rPr lang="en-US" sz="1800" i="1" dirty="0" err="1">
                <a:solidFill>
                  <a:srgbClr val="CC0099"/>
                </a:solidFill>
              </a:rPr>
              <a:t>x,America</a:t>
            </a:r>
            <a:r>
              <a:rPr lang="en-US" sz="1800" i="1" dirty="0">
                <a:solidFill>
                  <a:srgbClr val="CC0099"/>
                </a:solidFill>
              </a:rPr>
              <a:t>) ⇒ Hostile(x)</a:t>
            </a:r>
            <a:endParaRPr dirty="0"/>
          </a:p>
          <a:p>
            <a:pPr marL="342900" lvl="0" indent="-342900" algn="l" rtl="0">
              <a:lnSpc>
                <a:spcPct val="80000"/>
              </a:lnSpc>
              <a:spcBef>
                <a:spcPts val="370"/>
              </a:spcBef>
              <a:spcAft>
                <a:spcPts val="0"/>
              </a:spcAft>
              <a:buClr>
                <a:schemeClr val="dk1"/>
              </a:buClr>
              <a:buSzPct val="100000"/>
              <a:buFont typeface="Calibri"/>
              <a:buNone/>
            </a:pPr>
            <a:r>
              <a:rPr lang="en-US" sz="2000" dirty="0"/>
              <a:t>West, who is American …</a:t>
            </a:r>
            <a:endParaRPr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American(West)</a:t>
            </a:r>
            <a:endParaRPr dirty="0"/>
          </a:p>
          <a:p>
            <a:pPr marL="342900" lvl="0" indent="-342900" algn="l" rtl="0">
              <a:lnSpc>
                <a:spcPct val="80000"/>
              </a:lnSpc>
              <a:spcBef>
                <a:spcPts val="370"/>
              </a:spcBef>
              <a:spcAft>
                <a:spcPts val="0"/>
              </a:spcAft>
              <a:buClr>
                <a:schemeClr val="dk1"/>
              </a:buClr>
              <a:buSzPct val="100000"/>
              <a:buFont typeface="Calibri"/>
              <a:buNone/>
            </a:pPr>
            <a:r>
              <a:rPr lang="en-US" sz="2000" dirty="0"/>
              <a:t>The country </a:t>
            </a:r>
            <a:r>
              <a:rPr lang="en-US" sz="2000" dirty="0" err="1"/>
              <a:t>Nono</a:t>
            </a:r>
            <a:r>
              <a:rPr lang="en-US" sz="2000" dirty="0"/>
              <a:t>, an enemy of America …</a:t>
            </a:r>
            <a:endParaRPr sz="2000" i="1" dirty="0"/>
          </a:p>
          <a:p>
            <a:pPr marL="742950" lvl="1" indent="-285750" algn="l" rtl="0">
              <a:lnSpc>
                <a:spcPct val="80000"/>
              </a:lnSpc>
              <a:spcBef>
                <a:spcPts val="333"/>
              </a:spcBef>
              <a:spcAft>
                <a:spcPts val="0"/>
              </a:spcAft>
              <a:buClr>
                <a:srgbClr val="CC0099"/>
              </a:buClr>
              <a:buSzPct val="100000"/>
              <a:buFont typeface="Calibri"/>
              <a:buNone/>
            </a:pPr>
            <a:r>
              <a:rPr lang="en-US" sz="1800" i="1" dirty="0">
                <a:solidFill>
                  <a:srgbClr val="CC0099"/>
                </a:solidFill>
              </a:rPr>
              <a:t>Enemy(</a:t>
            </a:r>
            <a:r>
              <a:rPr lang="en-US" sz="1800" i="1" dirty="0" err="1">
                <a:solidFill>
                  <a:srgbClr val="CC0099"/>
                </a:solidFill>
              </a:rPr>
              <a:t>Nono,America</a:t>
            </a:r>
            <a:r>
              <a:rPr lang="en-US" sz="1800" i="1" dirty="0">
                <a:solidFill>
                  <a:srgbClr val="CC0099"/>
                </a:solidFill>
              </a:rPr>
              <a:t>)</a:t>
            </a:r>
            <a:r>
              <a:rPr lang="en-US" sz="1800" dirty="0">
                <a:solidFill>
                  <a:srgbClr val="CC0099"/>
                </a:solidFill>
              </a:rPr>
              <a:t/>
            </a:r>
            <a:br>
              <a:rPr lang="en-US" sz="1800" dirty="0">
                <a:solidFill>
                  <a:srgbClr val="CC0099"/>
                </a:solidFill>
              </a:rPr>
            </a:br>
            <a:endParaRPr dirty="0"/>
          </a:p>
        </p:txBody>
      </p:sp>
    </p:spTree>
    <p:extLst>
      <p:ext uri="{BB962C8B-B14F-4D97-AF65-F5344CB8AC3E}">
        <p14:creationId xmlns:p14="http://schemas.microsoft.com/office/powerpoint/2010/main" val="2551529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Forward chaining proof</a:t>
            </a:r>
            <a:endParaRPr/>
          </a:p>
        </p:txBody>
      </p:sp>
      <p:pic>
        <p:nvPicPr>
          <p:cNvPr id="134" name="Google Shape;134;p8" descr="crime-fc1c"/>
          <p:cNvPicPr preferRelativeResize="0"/>
          <p:nvPr/>
        </p:nvPicPr>
        <p:blipFill rotWithShape="1">
          <a:blip r:embed="rId3">
            <a:alphaModFix/>
          </a:blip>
          <a:srcRect/>
          <a:stretch/>
        </p:blipFill>
        <p:spPr>
          <a:xfrm>
            <a:off x="533400" y="2667000"/>
            <a:ext cx="7467600" cy="3114675"/>
          </a:xfrm>
          <a:prstGeom prst="rect">
            <a:avLst/>
          </a:prstGeom>
          <a:noFill/>
          <a:ln>
            <a:noFill/>
          </a:ln>
        </p:spPr>
      </p:pic>
      <p:pic>
        <p:nvPicPr>
          <p:cNvPr id="135" name="Google Shape;135;p8"/>
          <p:cNvPicPr preferRelativeResize="0"/>
          <p:nvPr/>
        </p:nvPicPr>
        <p:blipFill rotWithShape="1">
          <a:blip r:embed="rId4">
            <a:alphaModFix/>
          </a:blip>
          <a:srcRect/>
          <a:stretch/>
        </p:blipFill>
        <p:spPr>
          <a:xfrm>
            <a:off x="3985429" y="457200"/>
            <a:ext cx="5158571" cy="2010413"/>
          </a:xfrm>
          <a:prstGeom prst="rect">
            <a:avLst/>
          </a:prstGeom>
          <a:noFill/>
          <a:ln>
            <a:noFill/>
          </a:ln>
        </p:spPr>
      </p:pic>
    </p:spTree>
    <p:extLst>
      <p:ext uri="{BB962C8B-B14F-4D97-AF65-F5344CB8AC3E}">
        <p14:creationId xmlns:p14="http://schemas.microsoft.com/office/powerpoint/2010/main" val="4001245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9" descr="crime-fc2c"/>
          <p:cNvPicPr preferRelativeResize="0"/>
          <p:nvPr/>
        </p:nvPicPr>
        <p:blipFill rotWithShape="1">
          <a:blip r:embed="rId3">
            <a:alphaModFix/>
          </a:blip>
          <a:srcRect/>
          <a:stretch/>
        </p:blipFill>
        <p:spPr>
          <a:xfrm>
            <a:off x="304800" y="2895600"/>
            <a:ext cx="7467600" cy="3114675"/>
          </a:xfrm>
          <a:prstGeom prst="rect">
            <a:avLst/>
          </a:prstGeom>
          <a:noFill/>
          <a:ln>
            <a:noFill/>
          </a:ln>
        </p:spPr>
      </p:pic>
      <p:sp>
        <p:nvSpPr>
          <p:cNvPr id="141" name="Google Shape;141;p9"/>
          <p:cNvSpPr txBox="1"/>
          <p:nvPr/>
        </p:nvSpPr>
        <p:spPr>
          <a:xfrm>
            <a:off x="76200" y="76200"/>
            <a:ext cx="4343400" cy="1143000"/>
          </a:xfrm>
          <a:prstGeom prst="rect">
            <a:avLst/>
          </a:prstGeom>
          <a:noFill/>
          <a:ln>
            <a:noFill/>
          </a:ln>
        </p:spPr>
        <p:txBody>
          <a:bodyPr spcFirstLastPara="1" wrap="square" lIns="91425" tIns="45700" rIns="91425" bIns="45700" anchor="ctr" anchorCtr="0">
            <a:normAutofit fontScale="90000" lnSpcReduction="10000"/>
          </a:bodyPr>
          <a:lstStyle/>
          <a:p>
            <a:pPr marL="0" marR="0" lvl="0" indent="0" algn="ctr" rtl="0">
              <a:spcBef>
                <a:spcPts val="0"/>
              </a:spcBef>
              <a:spcAft>
                <a:spcPts val="0"/>
              </a:spcAft>
              <a:buClr>
                <a:schemeClr val="dk1"/>
              </a:buClr>
              <a:buSzPct val="100000"/>
              <a:buFont typeface="Calibri"/>
              <a:buNone/>
            </a:pPr>
            <a:r>
              <a:rPr lang="en-US" sz="4000" b="0" i="0" u="none" strike="noStrike" cap="none">
                <a:solidFill>
                  <a:schemeClr val="dk1"/>
                </a:solidFill>
                <a:latin typeface="Calibri"/>
                <a:ea typeface="Calibri"/>
                <a:cs typeface="Calibri"/>
                <a:sym typeface="Calibri"/>
              </a:rPr>
              <a:t>Forward chaining proof</a:t>
            </a:r>
            <a:endParaRPr sz="4000" b="0" i="0" u="none" strike="noStrike" cap="none">
              <a:solidFill>
                <a:schemeClr val="dk1"/>
              </a:solidFill>
              <a:latin typeface="Calibri"/>
              <a:ea typeface="Calibri"/>
              <a:cs typeface="Calibri"/>
              <a:sym typeface="Calibri"/>
            </a:endParaRPr>
          </a:p>
        </p:txBody>
      </p:sp>
      <p:pic>
        <p:nvPicPr>
          <p:cNvPr id="142" name="Google Shape;142;p9"/>
          <p:cNvPicPr preferRelativeResize="0"/>
          <p:nvPr/>
        </p:nvPicPr>
        <p:blipFill rotWithShape="1">
          <a:blip r:embed="rId4">
            <a:alphaModFix/>
          </a:blip>
          <a:srcRect/>
          <a:stretch/>
        </p:blipFill>
        <p:spPr>
          <a:xfrm>
            <a:off x="3909229" y="457200"/>
            <a:ext cx="5158571" cy="2010413"/>
          </a:xfrm>
          <a:prstGeom prst="rect">
            <a:avLst/>
          </a:prstGeom>
          <a:noFill/>
          <a:ln>
            <a:noFill/>
          </a:ln>
        </p:spPr>
      </p:pic>
    </p:spTree>
    <p:extLst>
      <p:ext uri="{BB962C8B-B14F-4D97-AF65-F5344CB8AC3E}">
        <p14:creationId xmlns:p14="http://schemas.microsoft.com/office/powerpoint/2010/main" val="479862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0" descr="crime-fc3c"/>
          <p:cNvPicPr preferRelativeResize="0"/>
          <p:nvPr/>
        </p:nvPicPr>
        <p:blipFill rotWithShape="1">
          <a:blip r:embed="rId3">
            <a:alphaModFix/>
          </a:blip>
          <a:srcRect/>
          <a:stretch/>
        </p:blipFill>
        <p:spPr>
          <a:xfrm>
            <a:off x="457200" y="2743200"/>
            <a:ext cx="7467600" cy="3114675"/>
          </a:xfrm>
          <a:prstGeom prst="rect">
            <a:avLst/>
          </a:prstGeom>
          <a:noFill/>
          <a:ln>
            <a:noFill/>
          </a:ln>
        </p:spPr>
      </p:pic>
      <p:sp>
        <p:nvSpPr>
          <p:cNvPr id="148" name="Google Shape;148;p10"/>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Forward chaining proof</a:t>
            </a:r>
            <a:endParaRPr/>
          </a:p>
        </p:txBody>
      </p:sp>
      <p:pic>
        <p:nvPicPr>
          <p:cNvPr id="149" name="Google Shape;149;p10"/>
          <p:cNvPicPr preferRelativeResize="0"/>
          <p:nvPr/>
        </p:nvPicPr>
        <p:blipFill rotWithShape="1">
          <a:blip r:embed="rId4">
            <a:alphaModFix/>
          </a:blip>
          <a:srcRect/>
          <a:stretch/>
        </p:blipFill>
        <p:spPr>
          <a:xfrm>
            <a:off x="3952950" y="304800"/>
            <a:ext cx="5158571" cy="2010413"/>
          </a:xfrm>
          <a:prstGeom prst="rect">
            <a:avLst/>
          </a:prstGeom>
          <a:noFill/>
          <a:ln>
            <a:noFill/>
          </a:ln>
        </p:spPr>
      </p:pic>
    </p:spTree>
    <p:extLst>
      <p:ext uri="{BB962C8B-B14F-4D97-AF65-F5344CB8AC3E}">
        <p14:creationId xmlns:p14="http://schemas.microsoft.com/office/powerpoint/2010/main" val="400787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11" descr="crime-bc01c"/>
          <p:cNvPicPr preferRelativeResize="0"/>
          <p:nvPr/>
        </p:nvPicPr>
        <p:blipFill rotWithShape="1">
          <a:blip r:embed="rId3">
            <a:alphaModFix/>
          </a:blip>
          <a:srcRect/>
          <a:stretch/>
        </p:blipFill>
        <p:spPr>
          <a:xfrm>
            <a:off x="914400" y="2514600"/>
            <a:ext cx="6781800" cy="3084513"/>
          </a:xfrm>
          <a:prstGeom prst="rect">
            <a:avLst/>
          </a:prstGeom>
          <a:noFill/>
          <a:ln>
            <a:noFill/>
          </a:ln>
        </p:spPr>
      </p:pic>
      <p:sp>
        <p:nvSpPr>
          <p:cNvPr id="155" name="Google Shape;155;p11"/>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56" name="Google Shape;156;p11"/>
          <p:cNvPicPr preferRelativeResize="0"/>
          <p:nvPr/>
        </p:nvPicPr>
        <p:blipFill rotWithShape="1">
          <a:blip r:embed="rId4">
            <a:alphaModFix/>
          </a:blip>
          <a:srcRect/>
          <a:stretch/>
        </p:blipFill>
        <p:spPr>
          <a:xfrm>
            <a:off x="3985429" y="152400"/>
            <a:ext cx="5158571" cy="2010413"/>
          </a:xfrm>
          <a:prstGeom prst="rect">
            <a:avLst/>
          </a:prstGeom>
          <a:noFill/>
          <a:ln>
            <a:noFill/>
          </a:ln>
        </p:spPr>
      </p:pic>
    </p:spTree>
    <p:extLst>
      <p:ext uri="{BB962C8B-B14F-4D97-AF65-F5344CB8AC3E}">
        <p14:creationId xmlns:p14="http://schemas.microsoft.com/office/powerpoint/2010/main" val="29656042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2" descr="crime-bc02c"/>
          <p:cNvPicPr preferRelativeResize="0"/>
          <p:nvPr/>
        </p:nvPicPr>
        <p:blipFill rotWithShape="1">
          <a:blip r:embed="rId3">
            <a:alphaModFix/>
          </a:blip>
          <a:srcRect/>
          <a:stretch/>
        </p:blipFill>
        <p:spPr>
          <a:xfrm>
            <a:off x="533944" y="2520950"/>
            <a:ext cx="6858000" cy="3117850"/>
          </a:xfrm>
          <a:prstGeom prst="rect">
            <a:avLst/>
          </a:prstGeom>
          <a:noFill/>
          <a:ln>
            <a:noFill/>
          </a:ln>
        </p:spPr>
      </p:pic>
      <p:sp>
        <p:nvSpPr>
          <p:cNvPr id="162" name="Google Shape;162;p12"/>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63" name="Google Shape;163;p12"/>
          <p:cNvPicPr preferRelativeResize="0"/>
          <p:nvPr/>
        </p:nvPicPr>
        <p:blipFill rotWithShape="1">
          <a:blip r:embed="rId4">
            <a:alphaModFix/>
          </a:blip>
          <a:srcRect/>
          <a:stretch/>
        </p:blipFill>
        <p:spPr>
          <a:xfrm>
            <a:off x="3962944" y="196889"/>
            <a:ext cx="5158571" cy="2010413"/>
          </a:xfrm>
          <a:prstGeom prst="rect">
            <a:avLst/>
          </a:prstGeom>
          <a:noFill/>
          <a:ln>
            <a:noFill/>
          </a:ln>
        </p:spPr>
      </p:pic>
    </p:spTree>
    <p:extLst>
      <p:ext uri="{BB962C8B-B14F-4D97-AF65-F5344CB8AC3E}">
        <p14:creationId xmlns:p14="http://schemas.microsoft.com/office/powerpoint/2010/main" val="3893032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13" descr="crime-bc03c"/>
          <p:cNvPicPr preferRelativeResize="0"/>
          <p:nvPr/>
        </p:nvPicPr>
        <p:blipFill rotWithShape="1">
          <a:blip r:embed="rId3">
            <a:alphaModFix/>
          </a:blip>
          <a:srcRect/>
          <a:stretch/>
        </p:blipFill>
        <p:spPr>
          <a:xfrm>
            <a:off x="304800" y="2438400"/>
            <a:ext cx="6858000" cy="3117850"/>
          </a:xfrm>
          <a:prstGeom prst="rect">
            <a:avLst/>
          </a:prstGeom>
          <a:noFill/>
          <a:ln>
            <a:noFill/>
          </a:ln>
        </p:spPr>
      </p:pic>
      <p:sp>
        <p:nvSpPr>
          <p:cNvPr id="169" name="Google Shape;169;p13"/>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70" name="Google Shape;170;p13"/>
          <p:cNvPicPr preferRelativeResize="0"/>
          <p:nvPr/>
        </p:nvPicPr>
        <p:blipFill rotWithShape="1">
          <a:blip r:embed="rId4">
            <a:alphaModFix/>
          </a:blip>
          <a:srcRect/>
          <a:stretch/>
        </p:blipFill>
        <p:spPr>
          <a:xfrm>
            <a:off x="4005416" y="152400"/>
            <a:ext cx="5158571" cy="2010413"/>
          </a:xfrm>
          <a:prstGeom prst="rect">
            <a:avLst/>
          </a:prstGeom>
          <a:noFill/>
          <a:ln>
            <a:noFill/>
          </a:ln>
        </p:spPr>
      </p:pic>
    </p:spTree>
    <p:extLst>
      <p:ext uri="{BB962C8B-B14F-4D97-AF65-F5344CB8AC3E}">
        <p14:creationId xmlns:p14="http://schemas.microsoft.com/office/powerpoint/2010/main" val="3589245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14" descr="crime-bc04c"/>
          <p:cNvPicPr preferRelativeResize="0"/>
          <p:nvPr/>
        </p:nvPicPr>
        <p:blipFill rotWithShape="1">
          <a:blip r:embed="rId3">
            <a:alphaModFix/>
          </a:blip>
          <a:srcRect/>
          <a:stretch/>
        </p:blipFill>
        <p:spPr>
          <a:xfrm>
            <a:off x="381000" y="2438400"/>
            <a:ext cx="6858000" cy="3117850"/>
          </a:xfrm>
          <a:prstGeom prst="rect">
            <a:avLst/>
          </a:prstGeom>
          <a:noFill/>
          <a:ln>
            <a:noFill/>
          </a:ln>
        </p:spPr>
      </p:pic>
      <p:sp>
        <p:nvSpPr>
          <p:cNvPr id="176" name="Google Shape;176;p14"/>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77" name="Google Shape;177;p14"/>
          <p:cNvPicPr preferRelativeResize="0"/>
          <p:nvPr/>
        </p:nvPicPr>
        <p:blipFill rotWithShape="1">
          <a:blip r:embed="rId4">
            <a:alphaModFix/>
          </a:blip>
          <a:srcRect/>
          <a:stretch/>
        </p:blipFill>
        <p:spPr>
          <a:xfrm>
            <a:off x="3985429" y="123187"/>
            <a:ext cx="5158571" cy="2010413"/>
          </a:xfrm>
          <a:prstGeom prst="rect">
            <a:avLst/>
          </a:prstGeom>
          <a:noFill/>
          <a:ln>
            <a:noFill/>
          </a:ln>
        </p:spPr>
      </p:pic>
    </p:spTree>
    <p:extLst>
      <p:ext uri="{BB962C8B-B14F-4D97-AF65-F5344CB8AC3E}">
        <p14:creationId xmlns:p14="http://schemas.microsoft.com/office/powerpoint/2010/main" val="761279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15" descr="crime-bc05c"/>
          <p:cNvPicPr preferRelativeResize="0"/>
          <p:nvPr/>
        </p:nvPicPr>
        <p:blipFill rotWithShape="1">
          <a:blip r:embed="rId3">
            <a:alphaModFix/>
          </a:blip>
          <a:srcRect/>
          <a:stretch/>
        </p:blipFill>
        <p:spPr>
          <a:xfrm>
            <a:off x="228600" y="3171669"/>
            <a:ext cx="6858000" cy="3117850"/>
          </a:xfrm>
          <a:prstGeom prst="rect">
            <a:avLst/>
          </a:prstGeom>
          <a:noFill/>
          <a:ln>
            <a:noFill/>
          </a:ln>
        </p:spPr>
      </p:pic>
      <p:sp>
        <p:nvSpPr>
          <p:cNvPr id="183" name="Google Shape;183;p15"/>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84" name="Google Shape;184;p15"/>
          <p:cNvPicPr preferRelativeResize="0"/>
          <p:nvPr/>
        </p:nvPicPr>
        <p:blipFill rotWithShape="1">
          <a:blip r:embed="rId4">
            <a:alphaModFix/>
          </a:blip>
          <a:srcRect/>
          <a:stretch/>
        </p:blipFill>
        <p:spPr>
          <a:xfrm>
            <a:off x="3909229" y="304800"/>
            <a:ext cx="5158571" cy="2010413"/>
          </a:xfrm>
          <a:prstGeom prst="rect">
            <a:avLst/>
          </a:prstGeom>
          <a:noFill/>
          <a:ln>
            <a:noFill/>
          </a:ln>
        </p:spPr>
      </p:pic>
    </p:spTree>
    <p:extLst>
      <p:ext uri="{BB962C8B-B14F-4D97-AF65-F5344CB8AC3E}">
        <p14:creationId xmlns:p14="http://schemas.microsoft.com/office/powerpoint/2010/main" val="11007527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6" descr="crime-bc06c"/>
          <p:cNvPicPr preferRelativeResize="0"/>
          <p:nvPr/>
        </p:nvPicPr>
        <p:blipFill rotWithShape="1">
          <a:blip r:embed="rId3">
            <a:alphaModFix/>
          </a:blip>
          <a:srcRect/>
          <a:stretch/>
        </p:blipFill>
        <p:spPr>
          <a:xfrm>
            <a:off x="304800" y="2819400"/>
            <a:ext cx="6858000" cy="3117850"/>
          </a:xfrm>
          <a:prstGeom prst="rect">
            <a:avLst/>
          </a:prstGeom>
          <a:noFill/>
          <a:ln>
            <a:noFill/>
          </a:ln>
        </p:spPr>
      </p:pic>
      <p:sp>
        <p:nvSpPr>
          <p:cNvPr id="190" name="Google Shape;190;p16"/>
          <p:cNvSpPr txBox="1"/>
          <p:nvPr/>
        </p:nvSpPr>
        <p:spPr>
          <a:xfrm>
            <a:off x="76200" y="76200"/>
            <a:ext cx="4343400" cy="1143000"/>
          </a:xfrm>
          <a:prstGeom prst="rect">
            <a:avLst/>
          </a:prstGeom>
          <a:noFill/>
          <a:ln>
            <a:noFill/>
          </a:ln>
        </p:spPr>
        <p:txBody>
          <a:bodyPr spcFirstLastPara="1" wrap="square" lIns="91425" tIns="45700" rIns="91425" bIns="45700" anchor="ctr" anchorCtr="0">
            <a:normAutofit fontScale="90000" lnSpcReduction="10000"/>
          </a:bodyPr>
          <a:lstStyle/>
          <a:p>
            <a:pPr marL="0" marR="0" lvl="0" indent="0" algn="ctr" rtl="0">
              <a:spcBef>
                <a:spcPts val="0"/>
              </a:spcBef>
              <a:spcAft>
                <a:spcPts val="0"/>
              </a:spcAft>
              <a:buClr>
                <a:schemeClr val="dk1"/>
              </a:buClr>
              <a:buSzPct val="100000"/>
              <a:buFont typeface="Calibri"/>
              <a:buNone/>
            </a:pPr>
            <a:r>
              <a:rPr lang="en-US" sz="4000" b="0" i="0" u="none" strike="noStrike" cap="none">
                <a:solidFill>
                  <a:schemeClr val="dk1"/>
                </a:solidFill>
                <a:latin typeface="Calibri"/>
                <a:ea typeface="Calibri"/>
                <a:cs typeface="Calibri"/>
                <a:sym typeface="Calibri"/>
              </a:rPr>
              <a:t>Backward chaining proof</a:t>
            </a:r>
            <a:endParaRPr/>
          </a:p>
        </p:txBody>
      </p:sp>
      <p:pic>
        <p:nvPicPr>
          <p:cNvPr id="191" name="Google Shape;191;p16"/>
          <p:cNvPicPr preferRelativeResize="0"/>
          <p:nvPr/>
        </p:nvPicPr>
        <p:blipFill rotWithShape="1">
          <a:blip r:embed="rId4">
            <a:alphaModFix/>
          </a:blip>
          <a:srcRect/>
          <a:stretch/>
        </p:blipFill>
        <p:spPr>
          <a:xfrm>
            <a:off x="3985429" y="381000"/>
            <a:ext cx="5158571" cy="2010413"/>
          </a:xfrm>
          <a:prstGeom prst="rect">
            <a:avLst/>
          </a:prstGeom>
          <a:noFill/>
          <a:ln>
            <a:noFill/>
          </a:ln>
        </p:spPr>
      </p:pic>
    </p:spTree>
    <p:extLst>
      <p:ext uri="{BB962C8B-B14F-4D97-AF65-F5344CB8AC3E}">
        <p14:creationId xmlns:p14="http://schemas.microsoft.com/office/powerpoint/2010/main" val="10271465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17" descr="crime-bc07c"/>
          <p:cNvPicPr preferRelativeResize="0"/>
          <p:nvPr/>
        </p:nvPicPr>
        <p:blipFill rotWithShape="1">
          <a:blip r:embed="rId3">
            <a:alphaModFix/>
          </a:blip>
          <a:srcRect/>
          <a:stretch/>
        </p:blipFill>
        <p:spPr>
          <a:xfrm>
            <a:off x="609600" y="2819400"/>
            <a:ext cx="6858000" cy="3117850"/>
          </a:xfrm>
          <a:prstGeom prst="rect">
            <a:avLst/>
          </a:prstGeom>
          <a:noFill/>
          <a:ln>
            <a:noFill/>
          </a:ln>
        </p:spPr>
      </p:pic>
      <p:sp>
        <p:nvSpPr>
          <p:cNvPr id="197" name="Google Shape;197;p17"/>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198" name="Google Shape;198;p17"/>
          <p:cNvPicPr preferRelativeResize="0"/>
          <p:nvPr/>
        </p:nvPicPr>
        <p:blipFill rotWithShape="1">
          <a:blip r:embed="rId4">
            <a:alphaModFix/>
          </a:blip>
          <a:srcRect/>
          <a:stretch/>
        </p:blipFill>
        <p:spPr>
          <a:xfrm>
            <a:off x="3909229" y="533400"/>
            <a:ext cx="5158571" cy="2010413"/>
          </a:xfrm>
          <a:prstGeom prst="rect">
            <a:avLst/>
          </a:prstGeom>
          <a:noFill/>
          <a:ln>
            <a:noFill/>
          </a:ln>
        </p:spPr>
      </p:pic>
    </p:spTree>
    <p:extLst>
      <p:ext uri="{BB962C8B-B14F-4D97-AF65-F5344CB8AC3E}">
        <p14:creationId xmlns:p14="http://schemas.microsoft.com/office/powerpoint/2010/main" val="996307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18" descr="crime-bc07c"/>
          <p:cNvPicPr preferRelativeResize="0"/>
          <p:nvPr/>
        </p:nvPicPr>
        <p:blipFill rotWithShape="1">
          <a:blip r:embed="rId3">
            <a:alphaModFix/>
          </a:blip>
          <a:srcRect/>
          <a:stretch/>
        </p:blipFill>
        <p:spPr>
          <a:xfrm>
            <a:off x="381000" y="2976029"/>
            <a:ext cx="6858000" cy="3117850"/>
          </a:xfrm>
          <a:prstGeom prst="rect">
            <a:avLst/>
          </a:prstGeom>
          <a:noFill/>
          <a:ln>
            <a:noFill/>
          </a:ln>
        </p:spPr>
      </p:pic>
      <p:sp>
        <p:nvSpPr>
          <p:cNvPr id="204" name="Google Shape;204;p18"/>
          <p:cNvSpPr txBox="1">
            <a:spLocks noGrp="1"/>
          </p:cNvSpPr>
          <p:nvPr>
            <p:ph type="title"/>
          </p:nvPr>
        </p:nvSpPr>
        <p:spPr>
          <a:xfrm>
            <a:off x="76200" y="76200"/>
            <a:ext cx="4343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4000"/>
              <a:t>Backward chaining proof</a:t>
            </a:r>
            <a:endParaRPr/>
          </a:p>
        </p:txBody>
      </p:sp>
      <p:pic>
        <p:nvPicPr>
          <p:cNvPr id="205" name="Google Shape;205;p18"/>
          <p:cNvPicPr preferRelativeResize="0"/>
          <p:nvPr/>
        </p:nvPicPr>
        <p:blipFill rotWithShape="1">
          <a:blip r:embed="rId4">
            <a:alphaModFix/>
          </a:blip>
          <a:srcRect/>
          <a:stretch/>
        </p:blipFill>
        <p:spPr>
          <a:xfrm>
            <a:off x="3946704" y="533400"/>
            <a:ext cx="5158571" cy="2010413"/>
          </a:xfrm>
          <a:prstGeom prst="rect">
            <a:avLst/>
          </a:prstGeom>
          <a:noFill/>
          <a:ln>
            <a:noFill/>
          </a:ln>
        </p:spPr>
      </p:pic>
    </p:spTree>
    <p:extLst>
      <p:ext uri="{BB962C8B-B14F-4D97-AF65-F5344CB8AC3E}">
        <p14:creationId xmlns:p14="http://schemas.microsoft.com/office/powerpoint/2010/main" val="3470863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alibri"/>
              <a:buNone/>
            </a:pPr>
            <a:r>
              <a:rPr lang="en-US" sz="3200"/>
              <a:t>Forward Chaining vs Backward Chaining</a:t>
            </a:r>
            <a:endParaRPr/>
          </a:p>
        </p:txBody>
      </p:sp>
      <p:sp>
        <p:nvSpPr>
          <p:cNvPr id="488" name="Google Shape;488;p32"/>
          <p:cNvSpPr txBox="1">
            <a:spLocks noGrp="1"/>
          </p:cNvSpPr>
          <p:nvPr>
            <p:ph type="body" idx="1"/>
          </p:nvPr>
        </p:nvSpPr>
        <p:spPr>
          <a:xfrm>
            <a:off x="457200" y="1600200"/>
            <a:ext cx="8229600" cy="4791808"/>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ts val="2200"/>
              <a:buChar char="•"/>
            </a:pPr>
            <a:r>
              <a:rPr lang="en-US" sz="2200" dirty="0"/>
              <a:t>The exploration of knowledge has different mechanisms in forward and backward chaining.  </a:t>
            </a:r>
            <a:endParaRPr dirty="0"/>
          </a:p>
          <a:p>
            <a:pPr marL="342900" lvl="0" indent="-342900" algn="l" rtl="0">
              <a:spcBef>
                <a:spcPts val="440"/>
              </a:spcBef>
              <a:spcAft>
                <a:spcPts val="0"/>
              </a:spcAft>
              <a:buClr>
                <a:schemeClr val="dk1"/>
              </a:buClr>
              <a:buSzPts val="2200"/>
              <a:buChar char="•"/>
            </a:pPr>
            <a:r>
              <a:rPr lang="en-US" sz="2200" dirty="0"/>
              <a:t>Backward  chaining is more focused and tries to avoid exploring unnecessary paths of reasoning. </a:t>
            </a:r>
          </a:p>
          <a:p>
            <a:pPr marL="342900" lvl="0">
              <a:spcBef>
                <a:spcPts val="440"/>
              </a:spcBef>
              <a:buSzPts val="2200"/>
            </a:pPr>
            <a:r>
              <a:rPr lang="en-US" sz="2200" dirty="0"/>
              <a:t>It only collects the facts it needs to know to satisfy the goal. If there are 100 facts in the system but only 3 are needed for the diagnosis, it will only trace the path to those 3 facts.</a:t>
            </a:r>
          </a:p>
          <a:p>
            <a:pPr marL="342900" lvl="0">
              <a:spcBef>
                <a:spcPts val="440"/>
              </a:spcBef>
              <a:buSzPts val="2200"/>
            </a:pPr>
            <a:r>
              <a:rPr lang="en-US" sz="2200" dirty="0"/>
              <a:t>For example, If a doctor wants to know if a patient has the flu, they don't test for every disease; they test only for symptoms required by the flu rules.</a:t>
            </a:r>
            <a:endParaRPr sz="2200" dirty="0"/>
          </a:p>
          <a:p>
            <a:pPr marL="342900" lvl="0">
              <a:spcBef>
                <a:spcPts val="440"/>
              </a:spcBef>
              <a:buSzPts val="2200"/>
            </a:pPr>
            <a:r>
              <a:rPr lang="en-US" sz="2200" dirty="0"/>
              <a:t>Forward chaining, on the other hand is like an exhaustive search. It explores the knowledge base broadly, finding all logical implications of the starting data.</a:t>
            </a:r>
          </a:p>
          <a:p>
            <a:pPr marL="342900">
              <a:spcBef>
                <a:spcPts val="440"/>
              </a:spcBef>
              <a:buSzPts val="2200"/>
            </a:pPr>
            <a:r>
              <a:rPr lang="en-US" sz="2200" dirty="0"/>
              <a:t>For example, If a doctor wants to know about all the symptoms of the patient first before deciding about any particular disease. </a:t>
            </a:r>
          </a:p>
          <a:p>
            <a:pPr marL="342900" lvl="0">
              <a:spcBef>
                <a:spcPts val="440"/>
              </a:spcBef>
              <a:buSzPts val="2200"/>
            </a:pPr>
            <a:endParaRPr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a:t>Farward Chaining vs. Backward Chaining</a:t>
            </a:r>
            <a:endParaRPr/>
          </a:p>
        </p:txBody>
      </p:sp>
      <p:sp>
        <p:nvSpPr>
          <p:cNvPr id="494" name="Google Shape;494;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In  the  figures, each node  represents a statement.</a:t>
            </a:r>
            <a:endParaRPr/>
          </a:p>
          <a:p>
            <a:pPr marL="342900" lvl="0" indent="-342900" algn="l" rtl="0">
              <a:spcBef>
                <a:spcPts val="392"/>
              </a:spcBef>
              <a:spcAft>
                <a:spcPts val="0"/>
              </a:spcAft>
              <a:buClr>
                <a:schemeClr val="dk1"/>
              </a:buClr>
              <a:buSzPct val="100000"/>
              <a:buChar char="•"/>
            </a:pPr>
            <a:r>
              <a:rPr lang="en-US"/>
              <a:t>Forward chaining starts with several facts in the working memory. </a:t>
            </a:r>
            <a:endParaRPr/>
          </a:p>
          <a:p>
            <a:pPr marL="742950" lvl="1" indent="-285750" algn="l" rtl="0">
              <a:spcBef>
                <a:spcPts val="336"/>
              </a:spcBef>
              <a:spcAft>
                <a:spcPts val="0"/>
              </a:spcAft>
              <a:buClr>
                <a:schemeClr val="dk1"/>
              </a:buClr>
              <a:buSzPct val="100000"/>
              <a:buChar char="–"/>
            </a:pPr>
            <a:r>
              <a:rPr lang="en-US"/>
              <a:t>It uses rules to generate more facts. </a:t>
            </a:r>
            <a:endParaRPr/>
          </a:p>
          <a:p>
            <a:pPr marL="742950" lvl="1" indent="-285750" algn="l" rtl="0">
              <a:spcBef>
                <a:spcPts val="336"/>
              </a:spcBef>
              <a:spcAft>
                <a:spcPts val="0"/>
              </a:spcAft>
              <a:buClr>
                <a:schemeClr val="dk1"/>
              </a:buClr>
              <a:buSzPct val="100000"/>
              <a:buChar char="–"/>
            </a:pPr>
            <a:r>
              <a:rPr lang="en-US"/>
              <a:t>In the  end,  several  facts  have  been  added,  amongst which  one or more may  be relevant.</a:t>
            </a:r>
            <a:endParaRPr/>
          </a:p>
          <a:p>
            <a:pPr marL="342900" lvl="0" indent="-342900" algn="l" rtl="0">
              <a:spcBef>
                <a:spcPts val="392"/>
              </a:spcBef>
              <a:spcAft>
                <a:spcPts val="0"/>
              </a:spcAft>
              <a:buClr>
                <a:schemeClr val="dk1"/>
              </a:buClr>
              <a:buSzPct val="100000"/>
              <a:buChar char="•"/>
            </a:pPr>
            <a:r>
              <a:rPr lang="en-US"/>
              <a:t>Backward chaining however, starts with the goal state and tries to reach down to all primitive nodes (marked by ‘?’), where information is sought either from the working memory or subgoals within the inference process.</a:t>
            </a:r>
            <a:endParaRPr/>
          </a:p>
          <a:p>
            <a:pPr marL="342900" lvl="0" indent="-218440" algn="l" rtl="0">
              <a:spcBef>
                <a:spcPts val="392"/>
              </a:spcBef>
              <a:spcAft>
                <a:spcPts val="0"/>
              </a:spcAft>
              <a:buClr>
                <a:schemeClr val="dk1"/>
              </a:buClr>
              <a:buSzPct val="100000"/>
              <a:buNone/>
            </a:pPr>
            <a:endParaRPr/>
          </a:p>
        </p:txBody>
      </p:sp>
      <p:pic>
        <p:nvPicPr>
          <p:cNvPr id="495" name="Google Shape;495;p33"/>
          <p:cNvPicPr preferRelativeResize="0">
            <a:picLocks noGrp="1"/>
          </p:cNvPicPr>
          <p:nvPr>
            <p:ph type="body" idx="2"/>
          </p:nvPr>
        </p:nvPicPr>
        <p:blipFill rotWithShape="1">
          <a:blip r:embed="rId3">
            <a:alphaModFix/>
          </a:blip>
          <a:srcRect/>
          <a:stretch/>
        </p:blipFill>
        <p:spPr>
          <a:xfrm>
            <a:off x="4343400" y="1524000"/>
            <a:ext cx="2590800" cy="3220995"/>
          </a:xfrm>
          <a:prstGeom prst="rect">
            <a:avLst/>
          </a:prstGeom>
          <a:noFill/>
          <a:ln>
            <a:noFill/>
          </a:ln>
        </p:spPr>
      </p:pic>
      <p:pic>
        <p:nvPicPr>
          <p:cNvPr id="496" name="Google Shape;496;p33"/>
          <p:cNvPicPr preferRelativeResize="0"/>
          <p:nvPr/>
        </p:nvPicPr>
        <p:blipFill rotWithShape="1">
          <a:blip r:embed="rId4">
            <a:alphaModFix/>
          </a:blip>
          <a:srcRect l="17712" t="7038"/>
          <a:stretch/>
        </p:blipFill>
        <p:spPr>
          <a:xfrm>
            <a:off x="6858000" y="2971801"/>
            <a:ext cx="1929759" cy="27432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34"/>
          <p:cNvSpPr txBox="1">
            <a:spLocks noGrp="1"/>
          </p:cNvSpPr>
          <p:nvPr>
            <p:ph type="title"/>
          </p:nvPr>
        </p:nvSpPr>
        <p:spPr>
          <a:xfrm>
            <a:off x="457200" y="274639"/>
            <a:ext cx="8231188" cy="639762"/>
          </a:xfrm>
          <a:prstGeom prst="rect">
            <a:avLst/>
          </a:prstGeom>
          <a:noFill/>
          <a:ln>
            <a:noFill/>
          </a:ln>
        </p:spPr>
        <p:txBody>
          <a:bodyPr spcFirstLastPara="1" wrap="square" lIns="90000" tIns="46800" rIns="90000" bIns="46800" anchor="ctr" anchorCtr="0">
            <a:normAutofit fontScale="90000"/>
          </a:bodyPr>
          <a:lstStyle/>
          <a:p>
            <a:pPr marL="0" lvl="0" indent="0" algn="ctr" rtl="0">
              <a:lnSpc>
                <a:spcPct val="95000"/>
              </a:lnSpc>
              <a:spcBef>
                <a:spcPts val="0"/>
              </a:spcBef>
              <a:spcAft>
                <a:spcPts val="0"/>
              </a:spcAft>
              <a:buClr>
                <a:schemeClr val="dk1"/>
              </a:buClr>
              <a:buSzPct val="100000"/>
              <a:buFont typeface="Calibri"/>
              <a:buNone/>
            </a:pPr>
            <a:r>
              <a:rPr lang="en-US" sz="4000"/>
              <a:t>Doctor Example </a:t>
            </a:r>
            <a:endParaRPr/>
          </a:p>
        </p:txBody>
      </p:sp>
      <p:sp>
        <p:nvSpPr>
          <p:cNvPr id="503" name="Google Shape;503;p34"/>
          <p:cNvSpPr txBox="1">
            <a:spLocks noGrp="1"/>
          </p:cNvSpPr>
          <p:nvPr>
            <p:ph type="body" idx="1"/>
          </p:nvPr>
        </p:nvSpPr>
        <p:spPr>
          <a:xfrm>
            <a:off x="685800" y="838200"/>
            <a:ext cx="7772400" cy="5530850"/>
          </a:xfrm>
          <a:prstGeom prst="rect">
            <a:avLst/>
          </a:prstGeom>
          <a:noFill/>
          <a:ln>
            <a:noFill/>
          </a:ln>
        </p:spPr>
        <p:txBody>
          <a:bodyPr spcFirstLastPara="1" wrap="square" lIns="90000" tIns="46800" rIns="90000" bIns="46800" anchor="t" anchorCtr="0">
            <a:normAutofit fontScale="92500" lnSpcReduction="10000"/>
          </a:bodyPr>
          <a:lstStyle/>
          <a:p>
            <a:pPr marL="341313" lvl="0" indent="-341344" algn="l" rtl="0">
              <a:lnSpc>
                <a:spcPct val="90000"/>
              </a:lnSpc>
              <a:spcBef>
                <a:spcPts val="0"/>
              </a:spcBef>
              <a:spcAft>
                <a:spcPts val="0"/>
              </a:spcAft>
              <a:buClr>
                <a:srgbClr val="000000"/>
              </a:buClr>
              <a:buSzPct val="100000"/>
              <a:buChar char="•"/>
            </a:pPr>
            <a:r>
              <a:rPr lang="en-US" sz="2500" u="sng"/>
              <a:t>Working Memory (Facts)</a:t>
            </a:r>
            <a:endParaRPr/>
          </a:p>
          <a:p>
            <a:pPr marL="741363" lvl="1" indent="-341313" algn="l" rtl="0">
              <a:lnSpc>
                <a:spcPct val="90000"/>
              </a:lnSpc>
              <a:spcBef>
                <a:spcPts val="600"/>
              </a:spcBef>
              <a:spcAft>
                <a:spcPts val="0"/>
              </a:spcAft>
              <a:buClr>
                <a:srgbClr val="000000"/>
              </a:buClr>
              <a:buSzPct val="100000"/>
              <a:buChar char="–"/>
            </a:pPr>
            <a:r>
              <a:rPr lang="en-US" sz="2000">
                <a:latin typeface="Times New Roman"/>
                <a:ea typeface="Times New Roman"/>
                <a:cs typeface="Times New Roman"/>
                <a:sym typeface="Times New Roman"/>
              </a:rPr>
              <a:t>D</a:t>
            </a:r>
            <a:endParaRPr/>
          </a:p>
          <a:p>
            <a:pPr marL="741363" lvl="1" indent="-341313" algn="l" rtl="0">
              <a:lnSpc>
                <a:spcPct val="90000"/>
              </a:lnSpc>
              <a:spcBef>
                <a:spcPts val="600"/>
              </a:spcBef>
              <a:spcAft>
                <a:spcPts val="0"/>
              </a:spcAft>
              <a:buClr>
                <a:srgbClr val="000000"/>
              </a:buClr>
              <a:buSzPct val="100000"/>
              <a:buChar char="–"/>
            </a:pPr>
            <a:r>
              <a:rPr lang="en-US" sz="2000">
                <a:latin typeface="Times New Roman"/>
                <a:ea typeface="Times New Roman"/>
                <a:cs typeface="Times New Roman"/>
                <a:sym typeface="Times New Roman"/>
              </a:rPr>
              <a:t>F</a:t>
            </a:r>
            <a:endParaRPr/>
          </a:p>
          <a:p>
            <a:pPr marL="741363" lvl="1" indent="-341313" algn="l" rtl="0">
              <a:lnSpc>
                <a:spcPct val="90000"/>
              </a:lnSpc>
              <a:spcBef>
                <a:spcPts val="600"/>
              </a:spcBef>
              <a:spcAft>
                <a:spcPts val="0"/>
              </a:spcAft>
              <a:buClr>
                <a:srgbClr val="000000"/>
              </a:buClr>
              <a:buSzPct val="100000"/>
              <a:buChar char="–"/>
            </a:pPr>
            <a:r>
              <a:rPr lang="en-US" sz="2000">
                <a:latin typeface="Times New Roman"/>
                <a:ea typeface="Times New Roman"/>
                <a:cs typeface="Times New Roman"/>
                <a:sym typeface="Times New Roman"/>
              </a:rPr>
              <a:t>A</a:t>
            </a:r>
            <a:endParaRPr sz="2400"/>
          </a:p>
          <a:p>
            <a:pPr marL="341313" lvl="0" indent="-341313" algn="l" rtl="0">
              <a:lnSpc>
                <a:spcPct val="90000"/>
              </a:lnSpc>
              <a:spcBef>
                <a:spcPts val="600"/>
              </a:spcBef>
              <a:spcAft>
                <a:spcPts val="0"/>
              </a:spcAft>
              <a:buClr>
                <a:schemeClr val="dk1"/>
              </a:buClr>
              <a:buSzPct val="100000"/>
              <a:buChar char="•"/>
            </a:pPr>
            <a:r>
              <a:rPr lang="en-US" sz="2400" u="sng"/>
              <a:t>Knowledge Base (Rules)</a:t>
            </a:r>
            <a:endParaRPr/>
          </a:p>
          <a:p>
            <a:pPr marL="741363" lvl="1" indent="-284163" algn="l" rtl="0">
              <a:lnSpc>
                <a:spcPct val="90000"/>
              </a:lnSpc>
              <a:spcBef>
                <a:spcPts val="500"/>
              </a:spcBef>
              <a:spcAft>
                <a:spcPts val="0"/>
              </a:spcAft>
              <a:buClr>
                <a:schemeClr val="dk1"/>
              </a:buClr>
              <a:buSzPct val="100000"/>
              <a:buChar char="–"/>
            </a:pPr>
            <a:r>
              <a:rPr lang="en-US" sz="2000" b="1"/>
              <a:t>Rule 1</a:t>
            </a:r>
            <a:endParaRPr/>
          </a:p>
          <a:p>
            <a:pPr marL="741363" lvl="1" indent="-284163" algn="l" rtl="0">
              <a:lnSpc>
                <a:spcPct val="90000"/>
              </a:lnSpc>
              <a:spcBef>
                <a:spcPts val="500"/>
              </a:spcBef>
              <a:spcAft>
                <a:spcPts val="0"/>
              </a:spcAft>
              <a:buClr>
                <a:schemeClr val="dk1"/>
              </a:buClr>
              <a:buSzPct val="100000"/>
              <a:buFont typeface="Calibri"/>
              <a:buNone/>
            </a:pPr>
            <a:r>
              <a:rPr lang="en-US" sz="2000"/>
              <a:t>IF			A</a:t>
            </a:r>
            <a:endParaRPr/>
          </a:p>
          <a:p>
            <a:pPr marL="741363" lvl="1" indent="-284163" algn="l" rtl="0">
              <a:lnSpc>
                <a:spcPct val="90000"/>
              </a:lnSpc>
              <a:spcBef>
                <a:spcPts val="500"/>
              </a:spcBef>
              <a:spcAft>
                <a:spcPts val="0"/>
              </a:spcAft>
              <a:buClr>
                <a:schemeClr val="dk1"/>
              </a:buClr>
              <a:buSzPct val="100000"/>
              <a:buFont typeface="Calibri"/>
              <a:buNone/>
            </a:pPr>
            <a:r>
              <a:rPr lang="en-US" sz="2000"/>
              <a:t>AND 	B</a:t>
            </a:r>
            <a:endParaRPr/>
          </a:p>
          <a:p>
            <a:pPr marL="741363" lvl="1" indent="-284163" algn="l" rtl="0">
              <a:lnSpc>
                <a:spcPct val="90000"/>
              </a:lnSpc>
              <a:spcBef>
                <a:spcPts val="500"/>
              </a:spcBef>
              <a:spcAft>
                <a:spcPts val="0"/>
              </a:spcAft>
              <a:buClr>
                <a:schemeClr val="dk1"/>
              </a:buClr>
              <a:buSzPct val="100000"/>
              <a:buFont typeface="Calibri"/>
              <a:buNone/>
            </a:pPr>
            <a:r>
              <a:rPr lang="en-US" sz="2000"/>
              <a:t>THEN	C</a:t>
            </a:r>
            <a:endParaRPr/>
          </a:p>
          <a:p>
            <a:pPr marL="741363" lvl="1" indent="-284163" algn="l" rtl="0">
              <a:lnSpc>
                <a:spcPct val="90000"/>
              </a:lnSpc>
              <a:spcBef>
                <a:spcPts val="500"/>
              </a:spcBef>
              <a:spcAft>
                <a:spcPts val="0"/>
              </a:spcAft>
              <a:buClr>
                <a:schemeClr val="dk1"/>
              </a:buClr>
              <a:buSzPct val="100000"/>
              <a:buChar char="–"/>
            </a:pPr>
            <a:r>
              <a:rPr lang="en-US" sz="2000" b="1"/>
              <a:t>Rule 2</a:t>
            </a:r>
            <a:endParaRPr/>
          </a:p>
          <a:p>
            <a:pPr marL="741363" lvl="1" indent="-284163" algn="l" rtl="0">
              <a:lnSpc>
                <a:spcPct val="90000"/>
              </a:lnSpc>
              <a:spcBef>
                <a:spcPts val="500"/>
              </a:spcBef>
              <a:spcAft>
                <a:spcPts val="0"/>
              </a:spcAft>
              <a:buClr>
                <a:schemeClr val="dk1"/>
              </a:buClr>
              <a:buSzPct val="100000"/>
              <a:buFont typeface="Calibri"/>
              <a:buNone/>
            </a:pPr>
            <a:r>
              <a:rPr lang="en-US" sz="2000"/>
              <a:t>IF			D</a:t>
            </a:r>
            <a:endParaRPr/>
          </a:p>
          <a:p>
            <a:pPr marL="741363" lvl="1" indent="-284163" algn="l" rtl="0">
              <a:lnSpc>
                <a:spcPct val="90000"/>
              </a:lnSpc>
              <a:spcBef>
                <a:spcPts val="500"/>
              </a:spcBef>
              <a:spcAft>
                <a:spcPts val="0"/>
              </a:spcAft>
              <a:buClr>
                <a:schemeClr val="dk1"/>
              </a:buClr>
              <a:buSzPct val="100000"/>
              <a:buFont typeface="Calibri"/>
              <a:buNone/>
            </a:pPr>
            <a:r>
              <a:rPr lang="en-US" sz="2000"/>
              <a:t>THEN 	E</a:t>
            </a:r>
            <a:endParaRPr/>
          </a:p>
          <a:p>
            <a:pPr marL="741363" lvl="1" indent="-284163" algn="l" rtl="0">
              <a:lnSpc>
                <a:spcPct val="90000"/>
              </a:lnSpc>
              <a:spcBef>
                <a:spcPts val="500"/>
              </a:spcBef>
              <a:spcAft>
                <a:spcPts val="0"/>
              </a:spcAft>
              <a:buClr>
                <a:schemeClr val="dk1"/>
              </a:buClr>
              <a:buSzPct val="100000"/>
              <a:buChar char="–"/>
            </a:pPr>
            <a:r>
              <a:rPr lang="en-US" sz="2000" b="1"/>
              <a:t>Rule 3</a:t>
            </a:r>
            <a:endParaRPr/>
          </a:p>
          <a:p>
            <a:pPr marL="741363" lvl="1" indent="-284163" algn="l" rtl="0">
              <a:lnSpc>
                <a:spcPct val="90000"/>
              </a:lnSpc>
              <a:spcBef>
                <a:spcPts val="500"/>
              </a:spcBef>
              <a:spcAft>
                <a:spcPts val="0"/>
              </a:spcAft>
              <a:buClr>
                <a:schemeClr val="dk1"/>
              </a:buClr>
              <a:buSzPct val="100000"/>
              <a:buFont typeface="Calibri"/>
              <a:buNone/>
            </a:pPr>
            <a:r>
              <a:rPr lang="en-US" sz="2000"/>
              <a:t>IF 			F</a:t>
            </a:r>
            <a:endParaRPr/>
          </a:p>
          <a:p>
            <a:pPr marL="741363" lvl="1" indent="-284163" algn="l" rtl="0">
              <a:lnSpc>
                <a:spcPct val="90000"/>
              </a:lnSpc>
              <a:spcBef>
                <a:spcPts val="500"/>
              </a:spcBef>
              <a:spcAft>
                <a:spcPts val="0"/>
              </a:spcAft>
              <a:buClr>
                <a:schemeClr val="dk1"/>
              </a:buClr>
              <a:buSzPct val="100000"/>
              <a:buFont typeface="Calibri"/>
              <a:buNone/>
            </a:pPr>
            <a:r>
              <a:rPr lang="en-US" sz="2000"/>
              <a:t>AND 	E</a:t>
            </a:r>
            <a:endParaRPr/>
          </a:p>
          <a:p>
            <a:pPr marL="741363" lvl="1" indent="-284163" algn="l" rtl="0">
              <a:lnSpc>
                <a:spcPct val="90000"/>
              </a:lnSpc>
              <a:spcBef>
                <a:spcPts val="500"/>
              </a:spcBef>
              <a:spcAft>
                <a:spcPts val="0"/>
              </a:spcAft>
              <a:buClr>
                <a:schemeClr val="dk1"/>
              </a:buClr>
              <a:buSzPct val="100000"/>
              <a:buFont typeface="Calibri"/>
              <a:buNone/>
            </a:pPr>
            <a:r>
              <a:rPr lang="en-US" sz="2000"/>
              <a:t>THEN	B</a:t>
            </a:r>
            <a:endParaRPr/>
          </a:p>
          <a:p>
            <a:pPr marL="741363" lvl="1" indent="-284163" algn="l" rtl="0">
              <a:lnSpc>
                <a:spcPct val="90000"/>
              </a:lnSpc>
              <a:spcBef>
                <a:spcPts val="500"/>
              </a:spcBef>
              <a:spcAft>
                <a:spcPts val="0"/>
              </a:spcAft>
              <a:buClr>
                <a:schemeClr val="dk1"/>
              </a:buClr>
              <a:buSzPct val="100000"/>
              <a:buFont typeface="Calibri"/>
              <a:buNone/>
            </a:pPr>
            <a:endParaRPr sz="2000"/>
          </a:p>
          <a:p>
            <a:pPr marL="341313" lvl="1" indent="-341313" algn="l" rtl="0">
              <a:lnSpc>
                <a:spcPct val="90000"/>
              </a:lnSpc>
              <a:spcBef>
                <a:spcPts val="600"/>
              </a:spcBef>
              <a:spcAft>
                <a:spcPts val="0"/>
              </a:spcAft>
              <a:buClr>
                <a:schemeClr val="dk1"/>
              </a:buClr>
              <a:buSzPct val="100000"/>
              <a:buFont typeface="Arial"/>
              <a:buChar char="•"/>
            </a:pPr>
            <a:r>
              <a:rPr lang="en-US" sz="2400" u="sng"/>
              <a:t>Prove C using forward and backward chaining.</a:t>
            </a:r>
            <a:endParaRPr/>
          </a:p>
          <a:p>
            <a:pPr marL="741363" lvl="1" indent="-284163" algn="l" rtl="0">
              <a:lnSpc>
                <a:spcPct val="90000"/>
              </a:lnSpc>
              <a:spcBef>
                <a:spcPts val="500"/>
              </a:spcBef>
              <a:spcAft>
                <a:spcPts val="0"/>
              </a:spcAft>
              <a:buClr>
                <a:schemeClr val="dk1"/>
              </a:buClr>
              <a:buSzPct val="100000"/>
              <a:buFont typeface="Calibri"/>
              <a:buNone/>
            </a:pPr>
            <a:endParaRPr sz="2000"/>
          </a:p>
          <a:p>
            <a:pPr marL="741363" lvl="1" indent="-284163" algn="l" rtl="0">
              <a:lnSpc>
                <a:spcPct val="90000"/>
              </a:lnSpc>
              <a:spcBef>
                <a:spcPts val="500"/>
              </a:spcBef>
              <a:spcAft>
                <a:spcPts val="0"/>
              </a:spcAft>
              <a:buClr>
                <a:schemeClr val="dk1"/>
              </a:buClr>
              <a:buSzPct val="100000"/>
              <a:buFont typeface="Calibri"/>
              <a:buNone/>
            </a:pPr>
            <a:endParaRPr sz="2000"/>
          </a:p>
          <a:p>
            <a:pPr marL="741363" lvl="1" indent="-284163" algn="l" rtl="0">
              <a:lnSpc>
                <a:spcPct val="90000"/>
              </a:lnSpc>
              <a:spcBef>
                <a:spcPts val="500"/>
              </a:spcBef>
              <a:spcAft>
                <a:spcPts val="0"/>
              </a:spcAft>
              <a:buClr>
                <a:schemeClr val="dk1"/>
              </a:buClr>
              <a:buSzPct val="100000"/>
              <a:buFont typeface="Calibri"/>
              <a:buNone/>
            </a:pPr>
            <a:endParaRPr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BD16C1-BFCA-B422-1AF4-194C7A8CCA57}"/>
              </a:ext>
            </a:extLst>
          </p:cNvPr>
          <p:cNvSpPr>
            <a:spLocks noGrp="1"/>
          </p:cNvSpPr>
          <p:nvPr>
            <p:ph type="ctrTitle"/>
          </p:nvPr>
        </p:nvSpPr>
        <p:spPr/>
        <p:txBody>
          <a:bodyPr/>
          <a:lstStyle/>
          <a:p>
            <a:r>
              <a:rPr lang="en-US" dirty="0"/>
              <a:t>Fuzzy Logic</a:t>
            </a:r>
          </a:p>
        </p:txBody>
      </p:sp>
      <p:sp>
        <p:nvSpPr>
          <p:cNvPr id="5" name="Subtitle 4">
            <a:extLst>
              <a:ext uri="{FF2B5EF4-FFF2-40B4-BE49-F238E27FC236}">
                <a16:creationId xmlns:a16="http://schemas.microsoft.com/office/drawing/2014/main" id="{B6184767-E0EC-9470-3840-30E3F4DAF41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27961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US" sz="4000" dirty="0"/>
              <a:t>Classical/Crisp Sets</a:t>
            </a:r>
          </a:p>
        </p:txBody>
      </p:sp>
      <p:sp>
        <p:nvSpPr>
          <p:cNvPr id="6147" name="Rectangle 3"/>
          <p:cNvSpPr>
            <a:spLocks noGrp="1" noChangeArrowheads="1"/>
          </p:cNvSpPr>
          <p:nvPr>
            <p:ph type="body" idx="1"/>
          </p:nvPr>
        </p:nvSpPr>
        <p:spPr>
          <a:xfrm>
            <a:off x="457200" y="1600200"/>
            <a:ext cx="8229600" cy="2819400"/>
          </a:xfrm>
        </p:spPr>
        <p:txBody>
          <a:bodyPr>
            <a:normAutofit fontScale="70000" lnSpcReduction="20000"/>
          </a:bodyPr>
          <a:lstStyle/>
          <a:p>
            <a:pPr>
              <a:lnSpc>
                <a:spcPct val="120000"/>
              </a:lnSpc>
            </a:pPr>
            <a:r>
              <a:rPr lang="en-US" dirty="0"/>
              <a:t>A classical set is a container that wholly includes or wholly excludes any given element. </a:t>
            </a:r>
          </a:p>
          <a:p>
            <a:pPr>
              <a:lnSpc>
                <a:spcPct val="120000"/>
              </a:lnSpc>
            </a:pPr>
            <a:r>
              <a:rPr lang="en-US" dirty="0"/>
              <a:t>For example, the set of days of the week unquestionably includes Monday, Thursday, and Saturday. </a:t>
            </a:r>
          </a:p>
          <a:p>
            <a:pPr>
              <a:lnSpc>
                <a:spcPct val="120000"/>
              </a:lnSpc>
            </a:pPr>
            <a:r>
              <a:rPr lang="en-US" dirty="0"/>
              <a:t>It just as unquestionably excludes butter, liberty </a:t>
            </a:r>
            <a:r>
              <a:rPr lang="en-US" dirty="0" err="1"/>
              <a:t>etc</a:t>
            </a:r>
            <a:r>
              <a:rPr lang="en-US" dirty="0"/>
              <a:t>, and so on.</a:t>
            </a:r>
            <a:r>
              <a:rPr lang="en-US" sz="2400" dirty="0"/>
              <a:t/>
            </a:r>
            <a:br>
              <a:rPr lang="en-US" sz="2400" dirty="0"/>
            </a:br>
            <a:endParaRPr lang="en-US" dirty="0"/>
          </a:p>
        </p:txBody>
      </p:sp>
      <p:pic>
        <p:nvPicPr>
          <p:cNvPr id="2050" name="Picture 2" descr="https://edoras.sdsu.edu/doc/matlab/toolbox/fuzzy/days_of_.gif">
            <a:extLst>
              <a:ext uri="{FF2B5EF4-FFF2-40B4-BE49-F238E27FC236}">
                <a16:creationId xmlns:a16="http://schemas.microsoft.com/office/drawing/2014/main" id="{C5995D20-043E-4154-8AC5-9A918DB2A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124325"/>
            <a:ext cx="5715000" cy="159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eaLnBrk="1" hangingPunct="1"/>
            <a:r>
              <a:rPr lang="en-US" sz="4000" dirty="0"/>
              <a:t>Fuzzy Sets</a:t>
            </a:r>
          </a:p>
        </p:txBody>
      </p:sp>
      <p:sp>
        <p:nvSpPr>
          <p:cNvPr id="7171" name="Rectangle 3"/>
          <p:cNvSpPr>
            <a:spLocks noGrp="1" noChangeArrowheads="1"/>
          </p:cNvSpPr>
          <p:nvPr>
            <p:ph type="body" idx="1"/>
          </p:nvPr>
        </p:nvSpPr>
        <p:spPr>
          <a:xfrm>
            <a:off x="457200" y="1600200"/>
            <a:ext cx="8229600" cy="2286000"/>
          </a:xfrm>
        </p:spPr>
        <p:txBody>
          <a:bodyPr>
            <a:normAutofit fontScale="62500" lnSpcReduction="20000"/>
          </a:bodyPr>
          <a:lstStyle/>
          <a:p>
            <a:r>
              <a:rPr lang="en-US" dirty="0"/>
              <a:t>The diagram below is one attempt at classifying the weekend days.</a:t>
            </a:r>
          </a:p>
          <a:p>
            <a:r>
              <a:rPr lang="en-US" dirty="0"/>
              <a:t>Most would agree that Saturday and Sunday belong, but what about Friday? </a:t>
            </a:r>
          </a:p>
          <a:p>
            <a:r>
              <a:rPr lang="en-US" dirty="0"/>
              <a:t>It "feels" like a part of the weekend, but somehow it seems like it should be technically excluded. So in the diagram above Friday tries its best to sit on the fence. </a:t>
            </a:r>
            <a:r>
              <a:rPr lang="en-US" sz="2400" dirty="0"/>
              <a:t/>
            </a:r>
            <a:br>
              <a:rPr lang="en-US" sz="2400" dirty="0"/>
            </a:br>
            <a:endParaRPr lang="en-US" sz="2200" dirty="0"/>
          </a:p>
        </p:txBody>
      </p:sp>
      <p:pic>
        <p:nvPicPr>
          <p:cNvPr id="3074" name="Picture 2" descr="https://edoras.sdsu.edu/doc/matlab/toolbox/fuzzy/days_ofa.gif">
            <a:extLst>
              <a:ext uri="{FF2B5EF4-FFF2-40B4-BE49-F238E27FC236}">
                <a16:creationId xmlns:a16="http://schemas.microsoft.com/office/drawing/2014/main" id="{D5421687-1988-4CCA-8354-E531F2748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952875"/>
            <a:ext cx="5715000" cy="1609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304800"/>
            <a:ext cx="8229600" cy="487362"/>
          </a:xfrm>
        </p:spPr>
        <p:txBody>
          <a:bodyPr>
            <a:normAutofit fontScale="90000"/>
          </a:bodyPr>
          <a:lstStyle/>
          <a:p>
            <a:pPr eaLnBrk="1" hangingPunct="1"/>
            <a:r>
              <a:rPr lang="en-US" sz="4000" dirty="0"/>
              <a:t>Weekend (Boolean vs Fuzzy)</a:t>
            </a:r>
          </a:p>
        </p:txBody>
      </p:sp>
      <p:pic>
        <p:nvPicPr>
          <p:cNvPr id="8195" name="Picture 3" descr="days_ofb"/>
          <p:cNvPicPr>
            <a:picLocks noChangeAspect="1" noChangeArrowheads="1"/>
          </p:cNvPicPr>
          <p:nvPr/>
        </p:nvPicPr>
        <p:blipFill>
          <a:blip r:embed="rId3"/>
          <a:srcRect/>
          <a:stretch>
            <a:fillRect/>
          </a:stretch>
        </p:blipFill>
        <p:spPr bwMode="auto">
          <a:xfrm>
            <a:off x="514350" y="2351088"/>
            <a:ext cx="8172450" cy="2525712"/>
          </a:xfrm>
          <a:prstGeom prst="rect">
            <a:avLst/>
          </a:prstGeom>
          <a:noFill/>
          <a:ln w="9525">
            <a:noFill/>
            <a:miter lim="800000"/>
            <a:headEnd/>
            <a:tailEnd/>
          </a:ln>
        </p:spPr>
      </p:pic>
      <p:pic>
        <p:nvPicPr>
          <p:cNvPr id="4" name="Picture 3" descr="days_ofc">
            <a:extLst>
              <a:ext uri="{FF2B5EF4-FFF2-40B4-BE49-F238E27FC236}">
                <a16:creationId xmlns:a16="http://schemas.microsoft.com/office/drawing/2014/main" id="{1D91BF5A-C88F-4187-9191-57189D7CA0BC}"/>
              </a:ext>
            </a:extLst>
          </p:cNvPr>
          <p:cNvPicPr>
            <a:picLocks noChangeAspect="1" noChangeArrowheads="1"/>
          </p:cNvPicPr>
          <p:nvPr/>
        </p:nvPicPr>
        <p:blipFill>
          <a:blip r:embed="rId4"/>
          <a:srcRect/>
          <a:stretch>
            <a:fillRect/>
          </a:stretch>
        </p:blipFill>
        <p:spPr bwMode="auto">
          <a:xfrm>
            <a:off x="496605" y="4408487"/>
            <a:ext cx="8172450" cy="2525713"/>
          </a:xfrm>
          <a:prstGeom prst="rect">
            <a:avLst/>
          </a:prstGeom>
          <a:noFill/>
          <a:ln w="9525">
            <a:noFill/>
            <a:miter lim="800000"/>
            <a:headEnd/>
            <a:tailEnd/>
          </a:ln>
        </p:spPr>
      </p:pic>
      <p:sp>
        <p:nvSpPr>
          <p:cNvPr id="2" name="Rectangle 1">
            <a:extLst>
              <a:ext uri="{FF2B5EF4-FFF2-40B4-BE49-F238E27FC236}">
                <a16:creationId xmlns:a16="http://schemas.microsoft.com/office/drawing/2014/main" id="{0950C95A-2001-4840-8F62-C544EBEAEBD5}"/>
              </a:ext>
            </a:extLst>
          </p:cNvPr>
          <p:cNvSpPr/>
          <p:nvPr/>
        </p:nvSpPr>
        <p:spPr>
          <a:xfrm>
            <a:off x="838200" y="1038135"/>
            <a:ext cx="7943850" cy="1200329"/>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Times New Roman" panose="02020603050405020304" pitchFamily="18" charset="0"/>
              </a:rPr>
              <a:t>On the left is a plot that shows the truth values for "weekend-ness" if we are forced to respond with an absolute yes or no response. </a:t>
            </a:r>
          </a:p>
          <a:p>
            <a:pPr marL="285750" indent="-285750">
              <a:buFont typeface="Arial" panose="020B0604020202020204" pitchFamily="34" charset="0"/>
              <a:buChar char="•"/>
            </a:pPr>
            <a:r>
              <a:rPr lang="en-US" dirty="0">
                <a:solidFill>
                  <a:srgbClr val="000000"/>
                </a:solidFill>
                <a:latin typeface="Times New Roman" panose="02020603050405020304" pitchFamily="18" charset="0"/>
              </a:rPr>
              <a:t>On the right is a plot that shows the truth value for weekend-ness if we are allowed to respond with fuzzy in-between values.</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hangingPunct="1"/>
            <a:r>
              <a:rPr lang="en-US" sz="4000" dirty="0"/>
              <a:t>Seasons (Boolean vs Fuzzy)</a:t>
            </a:r>
          </a:p>
        </p:txBody>
      </p:sp>
      <p:pic>
        <p:nvPicPr>
          <p:cNvPr id="10243" name="Picture 3" descr="seasons"/>
          <p:cNvPicPr>
            <a:picLocks noChangeAspect="1" noChangeArrowheads="1"/>
          </p:cNvPicPr>
          <p:nvPr/>
        </p:nvPicPr>
        <p:blipFill>
          <a:blip r:embed="rId3"/>
          <a:srcRect/>
          <a:stretch>
            <a:fillRect/>
          </a:stretch>
        </p:blipFill>
        <p:spPr bwMode="auto">
          <a:xfrm>
            <a:off x="304800" y="1905000"/>
            <a:ext cx="8458200" cy="2582862"/>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C041-7DA9-4EA8-B73A-8340792C2FB3}"/>
              </a:ext>
            </a:extLst>
          </p:cNvPr>
          <p:cNvSpPr>
            <a:spLocks noGrp="1"/>
          </p:cNvSpPr>
          <p:nvPr>
            <p:ph type="title"/>
          </p:nvPr>
        </p:nvSpPr>
        <p:spPr>
          <a:xfrm>
            <a:off x="457200" y="274638"/>
            <a:ext cx="8229600" cy="563562"/>
          </a:xfrm>
        </p:spPr>
        <p:txBody>
          <a:bodyPr>
            <a:normAutofit fontScale="90000"/>
          </a:bodyPr>
          <a:lstStyle/>
          <a:p>
            <a:r>
              <a:rPr lang="en-US" sz="4000" dirty="0"/>
              <a:t>Membership Function</a:t>
            </a:r>
          </a:p>
        </p:txBody>
      </p:sp>
      <p:sp>
        <p:nvSpPr>
          <p:cNvPr id="3" name="Content Placeholder 2">
            <a:extLst>
              <a:ext uri="{FF2B5EF4-FFF2-40B4-BE49-F238E27FC236}">
                <a16:creationId xmlns:a16="http://schemas.microsoft.com/office/drawing/2014/main" id="{EA5DB86B-9914-4674-9E3A-DDC4D673DD5A}"/>
              </a:ext>
            </a:extLst>
          </p:cNvPr>
          <p:cNvSpPr>
            <a:spLocks noGrp="1"/>
          </p:cNvSpPr>
          <p:nvPr>
            <p:ph idx="1"/>
          </p:nvPr>
        </p:nvSpPr>
        <p:spPr>
          <a:xfrm>
            <a:off x="424841" y="1066800"/>
            <a:ext cx="8229600" cy="1600199"/>
          </a:xfrm>
        </p:spPr>
        <p:txBody>
          <a:bodyPr>
            <a:normAutofit/>
          </a:bodyPr>
          <a:lstStyle/>
          <a:p>
            <a:r>
              <a:rPr lang="en-US" sz="2200" dirty="0"/>
              <a:t>A </a:t>
            </a:r>
            <a:r>
              <a:rPr lang="en-US" sz="2200" i="1" dirty="0"/>
              <a:t>membership function</a:t>
            </a:r>
            <a:r>
              <a:rPr lang="en-US" sz="2200" dirty="0"/>
              <a:t> (MF) is a curve that defines how each point in the input space is mapped to a membership value (or degree of membership µ) between 0 and 1. </a:t>
            </a:r>
          </a:p>
        </p:txBody>
      </p:sp>
      <p:pic>
        <p:nvPicPr>
          <p:cNvPr id="4098" name="Picture 2" descr="https://edoras.sdsu.edu/doc/matlab/toolbox/fuzzy/fuzzy_ta.gif">
            <a:extLst>
              <a:ext uri="{FF2B5EF4-FFF2-40B4-BE49-F238E27FC236}">
                <a16:creationId xmlns:a16="http://schemas.microsoft.com/office/drawing/2014/main" id="{A62F83B6-1B03-4A9D-A3AE-BABDC7275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209800"/>
            <a:ext cx="57150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7033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normAutofit/>
          </a:bodyPr>
          <a:lstStyle/>
          <a:p>
            <a:r>
              <a:rPr lang="en-US" sz="4000" dirty="0"/>
              <a:t>Membership Function Representation</a:t>
            </a:r>
          </a:p>
        </p:txBody>
      </p:sp>
      <p:sp>
        <p:nvSpPr>
          <p:cNvPr id="551939" name="Rectangle 3"/>
          <p:cNvSpPr>
            <a:spLocks noGrp="1" noChangeArrowheads="1"/>
          </p:cNvSpPr>
          <p:nvPr>
            <p:ph type="body" idx="1"/>
          </p:nvPr>
        </p:nvSpPr>
        <p:spPr>
          <a:xfrm>
            <a:off x="457200" y="1600200"/>
            <a:ext cx="8229600" cy="4525963"/>
          </a:xfrm>
        </p:spPr>
        <p:txBody>
          <a:bodyPr>
            <a:normAutofit/>
          </a:bodyPr>
          <a:lstStyle/>
          <a:p>
            <a:r>
              <a:rPr lang="en-US" sz="2200" dirty="0"/>
              <a:t>Membership </a:t>
            </a:r>
            <a:r>
              <a:rPr lang="en-US" sz="2200" dirty="0" err="1"/>
              <a:t>fuction</a:t>
            </a:r>
            <a:r>
              <a:rPr lang="en-US" sz="2200" dirty="0"/>
              <a:t> of tall people may be represented using a fuzzy set as follows:</a:t>
            </a:r>
          </a:p>
          <a:p>
            <a:pPr lvl="1"/>
            <a:r>
              <a:rPr lang="en-US" sz="2200" dirty="0"/>
              <a:t>Tall = membership value (µ)/height</a:t>
            </a:r>
          </a:p>
          <a:p>
            <a:pPr lvl="1"/>
            <a:r>
              <a:rPr lang="en-US" sz="2200" dirty="0"/>
              <a:t>Tall = (0/5, 0.25/5.5, 0.7/6, 1/6.5, 1/7)</a:t>
            </a:r>
          </a:p>
          <a:p>
            <a:pPr lvl="2"/>
            <a:r>
              <a:rPr lang="en-US" sz="2200" dirty="0"/>
              <a:t>Numerator: membership value</a:t>
            </a:r>
          </a:p>
          <a:p>
            <a:pPr lvl="2"/>
            <a:r>
              <a:rPr lang="en-US" sz="2200" dirty="0"/>
              <a:t>Denominator</a:t>
            </a:r>
            <a:r>
              <a:rPr lang="en-US" sz="1800" dirty="0"/>
              <a:t>: actual value of the variable</a:t>
            </a:r>
          </a:p>
        </p:txBody>
      </p:sp>
      <p:sp>
        <p:nvSpPr>
          <p:cNvPr id="7" name="Line 23">
            <a:extLst>
              <a:ext uri="{FF2B5EF4-FFF2-40B4-BE49-F238E27FC236}">
                <a16:creationId xmlns:a16="http://schemas.microsoft.com/office/drawing/2014/main" id="{2336D19B-1C1C-4CA0-A4D1-2ED81B3978AC}"/>
              </a:ext>
            </a:extLst>
          </p:cNvPr>
          <p:cNvSpPr>
            <a:spLocks noChangeShapeType="1"/>
          </p:cNvSpPr>
          <p:nvPr/>
        </p:nvSpPr>
        <p:spPr bwMode="auto">
          <a:xfrm flipV="1">
            <a:off x="3216275" y="4081462"/>
            <a:ext cx="0" cy="1295400"/>
          </a:xfrm>
          <a:prstGeom prst="line">
            <a:avLst/>
          </a:prstGeom>
          <a:noFill/>
          <a:ln w="12700">
            <a:solidFill>
              <a:schemeClr val="tx1"/>
            </a:solidFill>
            <a:round/>
            <a:headEnd type="none" w="sm" len="sm"/>
            <a:tailEnd type="triangle" w="sm" len="sm"/>
          </a:ln>
          <a:effectLst/>
        </p:spPr>
        <p:txBody>
          <a:bodyPr/>
          <a:lstStyle/>
          <a:p>
            <a:endParaRPr lang="en-US"/>
          </a:p>
        </p:txBody>
      </p:sp>
      <p:sp>
        <p:nvSpPr>
          <p:cNvPr id="8" name="Line 24">
            <a:extLst>
              <a:ext uri="{FF2B5EF4-FFF2-40B4-BE49-F238E27FC236}">
                <a16:creationId xmlns:a16="http://schemas.microsoft.com/office/drawing/2014/main" id="{8F1765D0-C83B-4904-BC4B-1124D8395235}"/>
              </a:ext>
            </a:extLst>
          </p:cNvPr>
          <p:cNvSpPr>
            <a:spLocks noChangeShapeType="1"/>
          </p:cNvSpPr>
          <p:nvPr/>
        </p:nvSpPr>
        <p:spPr bwMode="auto">
          <a:xfrm>
            <a:off x="3216275" y="5376862"/>
            <a:ext cx="838200" cy="0"/>
          </a:xfrm>
          <a:prstGeom prst="line">
            <a:avLst/>
          </a:prstGeom>
          <a:noFill/>
          <a:ln w="12700">
            <a:solidFill>
              <a:schemeClr val="tx1"/>
            </a:solidFill>
            <a:round/>
            <a:headEnd type="none" w="sm" len="sm"/>
            <a:tailEnd type="triangle" w="sm" len="sm"/>
          </a:ln>
          <a:effectLst/>
        </p:spPr>
        <p:txBody>
          <a:bodyPr/>
          <a:lstStyle/>
          <a:p>
            <a:endParaRPr lang="en-US"/>
          </a:p>
        </p:txBody>
      </p:sp>
      <p:sp>
        <p:nvSpPr>
          <p:cNvPr id="9" name="Text Box 25">
            <a:extLst>
              <a:ext uri="{FF2B5EF4-FFF2-40B4-BE49-F238E27FC236}">
                <a16:creationId xmlns:a16="http://schemas.microsoft.com/office/drawing/2014/main" id="{E934460E-D6E4-4A16-A6F9-209F85D1606F}"/>
              </a:ext>
            </a:extLst>
          </p:cNvPr>
          <p:cNvSpPr txBox="1">
            <a:spLocks noChangeArrowheads="1"/>
          </p:cNvSpPr>
          <p:nvPr/>
        </p:nvSpPr>
        <p:spPr bwMode="auto">
          <a:xfrm>
            <a:off x="2819400" y="4343400"/>
            <a:ext cx="1423988" cy="457200"/>
          </a:xfrm>
          <a:prstGeom prst="rect">
            <a:avLst/>
          </a:prstGeom>
          <a:noFill/>
          <a:ln w="12700">
            <a:noFill/>
            <a:miter lim="800000"/>
            <a:headEnd type="none" w="sm" len="sm"/>
            <a:tailEnd type="none" w="sm" len="sm"/>
          </a:ln>
          <a:effectLst/>
        </p:spPr>
        <p:txBody>
          <a:bodyPr wrap="square">
            <a:spAutoFit/>
          </a:bodyPr>
          <a:lstStyle/>
          <a:p>
            <a:pPr algn="ctr"/>
            <a:r>
              <a:rPr lang="en-US" sz="1200"/>
              <a:t>Membership value</a:t>
            </a:r>
          </a:p>
          <a:p>
            <a:pPr algn="ctr"/>
            <a:r>
              <a:rPr lang="en-US" sz="1200"/>
              <a:t>[0-1]</a:t>
            </a:r>
          </a:p>
        </p:txBody>
      </p:sp>
      <p:sp>
        <p:nvSpPr>
          <p:cNvPr id="10" name="Text Box 26">
            <a:extLst>
              <a:ext uri="{FF2B5EF4-FFF2-40B4-BE49-F238E27FC236}">
                <a16:creationId xmlns:a16="http://schemas.microsoft.com/office/drawing/2014/main" id="{173FCCB8-A418-4582-9BCD-B77AD7AE625F}"/>
              </a:ext>
            </a:extLst>
          </p:cNvPr>
          <p:cNvSpPr txBox="1">
            <a:spLocks noChangeArrowheads="1"/>
          </p:cNvSpPr>
          <p:nvPr/>
        </p:nvSpPr>
        <p:spPr bwMode="auto">
          <a:xfrm>
            <a:off x="3134743" y="5407025"/>
            <a:ext cx="728213" cy="461665"/>
          </a:xfrm>
          <a:prstGeom prst="rect">
            <a:avLst/>
          </a:prstGeom>
          <a:noFill/>
          <a:ln w="12700">
            <a:noFill/>
            <a:miter lim="800000"/>
            <a:headEnd type="none" w="sm" len="sm"/>
            <a:tailEnd type="none" w="sm" len="sm"/>
          </a:ln>
          <a:effectLst/>
        </p:spPr>
        <p:txBody>
          <a:bodyPr wrap="square">
            <a:spAutoFit/>
          </a:bodyPr>
          <a:lstStyle/>
          <a:p>
            <a:pPr algn="ctr"/>
            <a:r>
              <a:rPr lang="en-US" sz="1200" dirty="0"/>
              <a:t>Height</a:t>
            </a:r>
          </a:p>
          <a:p>
            <a:pPr algn="ctr"/>
            <a:r>
              <a:rPr lang="en-US" sz="1200" dirty="0"/>
              <a:t>[5-7feet]</a:t>
            </a:r>
          </a:p>
        </p:txBody>
      </p:sp>
    </p:spTree>
    <p:extLst>
      <p:ext uri="{BB962C8B-B14F-4D97-AF65-F5344CB8AC3E}">
        <p14:creationId xmlns:p14="http://schemas.microsoft.com/office/powerpoint/2010/main" val="36009293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792162"/>
          </a:xfrm>
        </p:spPr>
        <p:txBody>
          <a:bodyPr>
            <a:normAutofit/>
          </a:bodyPr>
          <a:lstStyle/>
          <a:p>
            <a:pPr eaLnBrk="1" hangingPunct="1"/>
            <a:r>
              <a:rPr lang="en-US" sz="4000" dirty="0"/>
              <a:t>Logical Operators for Fuzzy Sets</a:t>
            </a:r>
          </a:p>
        </p:txBody>
      </p:sp>
      <p:pic>
        <p:nvPicPr>
          <p:cNvPr id="13315" name="Picture 3" descr="2-valuea"/>
          <p:cNvPicPr>
            <a:picLocks noChangeAspect="1" noChangeArrowheads="1"/>
          </p:cNvPicPr>
          <p:nvPr/>
        </p:nvPicPr>
        <p:blipFill>
          <a:blip r:embed="rId3"/>
          <a:srcRect/>
          <a:stretch>
            <a:fillRect/>
          </a:stretch>
        </p:blipFill>
        <p:spPr bwMode="auto">
          <a:xfrm>
            <a:off x="1371600" y="990600"/>
            <a:ext cx="6858000" cy="2435225"/>
          </a:xfrm>
          <a:prstGeom prst="rect">
            <a:avLst/>
          </a:prstGeom>
          <a:noFill/>
          <a:ln w="9525">
            <a:noFill/>
            <a:miter lim="800000"/>
            <a:headEnd/>
            <a:tailEnd/>
          </a:ln>
        </p:spPr>
      </p:pic>
      <p:pic>
        <p:nvPicPr>
          <p:cNvPr id="4" name="Picture 3" descr="logic_gr">
            <a:extLst>
              <a:ext uri="{FF2B5EF4-FFF2-40B4-BE49-F238E27FC236}">
                <a16:creationId xmlns:a16="http://schemas.microsoft.com/office/drawing/2014/main" id="{72903DCA-AF83-493A-A5EB-FD3A5FBD3E8C}"/>
              </a:ext>
            </a:extLst>
          </p:cNvPr>
          <p:cNvPicPr>
            <a:picLocks noChangeAspect="1" noChangeArrowheads="1"/>
          </p:cNvPicPr>
          <p:nvPr/>
        </p:nvPicPr>
        <p:blipFill>
          <a:blip r:embed="rId4"/>
          <a:srcRect/>
          <a:stretch>
            <a:fillRect/>
          </a:stretch>
        </p:blipFill>
        <p:spPr bwMode="auto">
          <a:xfrm>
            <a:off x="1371600" y="3276600"/>
            <a:ext cx="6858000" cy="360045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sz="4000" dirty="0"/>
              <a:t>Logical Operators </a:t>
            </a:r>
            <a:br>
              <a:rPr lang="en-US" sz="4000" dirty="0"/>
            </a:br>
            <a:r>
              <a:rPr lang="en-US" sz="4000" dirty="0"/>
              <a:t>(Tall AND Short, Tall OR Short)</a:t>
            </a:r>
          </a:p>
        </p:txBody>
      </p:sp>
      <p:sp>
        <p:nvSpPr>
          <p:cNvPr id="15363" name="Line 5"/>
          <p:cNvSpPr>
            <a:spLocks noChangeShapeType="1"/>
          </p:cNvSpPr>
          <p:nvPr/>
        </p:nvSpPr>
        <p:spPr bwMode="auto">
          <a:xfrm>
            <a:off x="1905000" y="2743200"/>
            <a:ext cx="0" cy="1371600"/>
          </a:xfrm>
          <a:prstGeom prst="line">
            <a:avLst/>
          </a:prstGeom>
          <a:noFill/>
          <a:ln w="12700">
            <a:solidFill>
              <a:schemeClr val="tx1"/>
            </a:solidFill>
            <a:round/>
            <a:headEnd type="none" w="sm" len="sm"/>
            <a:tailEnd type="none" w="sm" len="sm"/>
          </a:ln>
          <a:effectLst/>
        </p:spPr>
        <p:txBody>
          <a:bodyPr/>
          <a:lstStyle/>
          <a:p>
            <a:endParaRPr lang="en-US"/>
          </a:p>
        </p:txBody>
      </p:sp>
      <p:sp>
        <p:nvSpPr>
          <p:cNvPr id="15364" name="Line 6"/>
          <p:cNvSpPr>
            <a:spLocks noChangeShapeType="1"/>
          </p:cNvSpPr>
          <p:nvPr/>
        </p:nvSpPr>
        <p:spPr bwMode="auto">
          <a:xfrm>
            <a:off x="1905000" y="4114800"/>
            <a:ext cx="1219200" cy="0"/>
          </a:xfrm>
          <a:prstGeom prst="line">
            <a:avLst/>
          </a:prstGeom>
          <a:noFill/>
          <a:ln w="12700">
            <a:solidFill>
              <a:schemeClr val="tx1"/>
            </a:solidFill>
            <a:round/>
            <a:headEnd type="none" w="sm" len="sm"/>
            <a:tailEnd type="none" w="sm" len="sm"/>
          </a:ln>
          <a:effectLst/>
        </p:spPr>
        <p:txBody>
          <a:bodyPr/>
          <a:lstStyle/>
          <a:p>
            <a:endParaRPr lang="en-US"/>
          </a:p>
        </p:txBody>
      </p:sp>
      <p:sp>
        <p:nvSpPr>
          <p:cNvPr id="15365" name="Line 7"/>
          <p:cNvSpPr>
            <a:spLocks noChangeShapeType="1"/>
          </p:cNvSpPr>
          <p:nvPr/>
        </p:nvSpPr>
        <p:spPr bwMode="auto">
          <a:xfrm flipV="1">
            <a:off x="1905000" y="2819400"/>
            <a:ext cx="1066800" cy="1295400"/>
          </a:xfrm>
          <a:prstGeom prst="line">
            <a:avLst/>
          </a:prstGeom>
          <a:noFill/>
          <a:ln w="12700">
            <a:solidFill>
              <a:schemeClr val="tx1"/>
            </a:solidFill>
            <a:round/>
            <a:headEnd type="none" w="sm" len="sm"/>
            <a:tailEnd type="none" w="sm" len="sm"/>
          </a:ln>
          <a:effectLst/>
        </p:spPr>
        <p:txBody>
          <a:bodyPr/>
          <a:lstStyle/>
          <a:p>
            <a:endParaRPr lang="en-US"/>
          </a:p>
        </p:txBody>
      </p:sp>
      <p:sp>
        <p:nvSpPr>
          <p:cNvPr id="15366" name="Line 8"/>
          <p:cNvSpPr>
            <a:spLocks noChangeShapeType="1"/>
          </p:cNvSpPr>
          <p:nvPr/>
        </p:nvSpPr>
        <p:spPr bwMode="auto">
          <a:xfrm>
            <a:off x="3505200" y="2743200"/>
            <a:ext cx="0" cy="1371600"/>
          </a:xfrm>
          <a:prstGeom prst="line">
            <a:avLst/>
          </a:prstGeom>
          <a:noFill/>
          <a:ln w="12700">
            <a:solidFill>
              <a:schemeClr val="tx1"/>
            </a:solidFill>
            <a:round/>
            <a:headEnd type="none" w="sm" len="sm"/>
            <a:tailEnd type="none" w="sm" len="sm"/>
          </a:ln>
          <a:effectLst/>
        </p:spPr>
        <p:txBody>
          <a:bodyPr/>
          <a:lstStyle/>
          <a:p>
            <a:endParaRPr lang="en-US"/>
          </a:p>
        </p:txBody>
      </p:sp>
      <p:sp>
        <p:nvSpPr>
          <p:cNvPr id="15367" name="Line 9"/>
          <p:cNvSpPr>
            <a:spLocks noChangeShapeType="1"/>
          </p:cNvSpPr>
          <p:nvPr/>
        </p:nvSpPr>
        <p:spPr bwMode="auto">
          <a:xfrm>
            <a:off x="3505200" y="4114800"/>
            <a:ext cx="1219200" cy="0"/>
          </a:xfrm>
          <a:prstGeom prst="line">
            <a:avLst/>
          </a:prstGeom>
          <a:noFill/>
          <a:ln w="12700">
            <a:solidFill>
              <a:schemeClr val="tx1"/>
            </a:solidFill>
            <a:round/>
            <a:headEnd type="none" w="sm" len="sm"/>
            <a:tailEnd type="none" w="sm" len="sm"/>
          </a:ln>
          <a:effectLst/>
        </p:spPr>
        <p:txBody>
          <a:bodyPr/>
          <a:lstStyle/>
          <a:p>
            <a:endParaRPr lang="en-US"/>
          </a:p>
        </p:txBody>
      </p:sp>
      <p:sp>
        <p:nvSpPr>
          <p:cNvPr id="15368" name="Line 11"/>
          <p:cNvSpPr>
            <a:spLocks noChangeShapeType="1"/>
          </p:cNvSpPr>
          <p:nvPr/>
        </p:nvSpPr>
        <p:spPr bwMode="auto">
          <a:xfrm>
            <a:off x="5105400" y="2743200"/>
            <a:ext cx="0" cy="1371600"/>
          </a:xfrm>
          <a:prstGeom prst="line">
            <a:avLst/>
          </a:prstGeom>
          <a:noFill/>
          <a:ln w="12700">
            <a:solidFill>
              <a:schemeClr val="tx1"/>
            </a:solidFill>
            <a:round/>
            <a:headEnd type="none" w="sm" len="sm"/>
            <a:tailEnd type="none" w="sm" len="sm"/>
          </a:ln>
          <a:effectLst/>
        </p:spPr>
        <p:txBody>
          <a:bodyPr/>
          <a:lstStyle/>
          <a:p>
            <a:endParaRPr lang="en-US"/>
          </a:p>
        </p:txBody>
      </p:sp>
      <p:sp>
        <p:nvSpPr>
          <p:cNvPr id="15369" name="Line 12"/>
          <p:cNvSpPr>
            <a:spLocks noChangeShapeType="1"/>
          </p:cNvSpPr>
          <p:nvPr/>
        </p:nvSpPr>
        <p:spPr bwMode="auto">
          <a:xfrm>
            <a:off x="5105400" y="4114800"/>
            <a:ext cx="1219200" cy="0"/>
          </a:xfrm>
          <a:prstGeom prst="line">
            <a:avLst/>
          </a:prstGeom>
          <a:noFill/>
          <a:ln w="12700">
            <a:solidFill>
              <a:schemeClr val="tx1"/>
            </a:solidFill>
            <a:round/>
            <a:headEnd type="none" w="sm" len="sm"/>
            <a:tailEnd type="none" w="sm" len="sm"/>
          </a:ln>
          <a:effectLst/>
        </p:spPr>
        <p:txBody>
          <a:bodyPr/>
          <a:lstStyle/>
          <a:p>
            <a:endParaRPr lang="en-US"/>
          </a:p>
        </p:txBody>
      </p:sp>
      <p:sp>
        <p:nvSpPr>
          <p:cNvPr id="15370" name="Line 13"/>
          <p:cNvSpPr>
            <a:spLocks noChangeShapeType="1"/>
          </p:cNvSpPr>
          <p:nvPr/>
        </p:nvSpPr>
        <p:spPr bwMode="auto">
          <a:xfrm flipV="1">
            <a:off x="5105400" y="3429000"/>
            <a:ext cx="533400" cy="685800"/>
          </a:xfrm>
          <a:prstGeom prst="line">
            <a:avLst/>
          </a:prstGeom>
          <a:noFill/>
          <a:ln w="12700">
            <a:solidFill>
              <a:schemeClr val="tx1"/>
            </a:solidFill>
            <a:round/>
            <a:headEnd type="none" w="sm" len="sm"/>
            <a:tailEnd type="none" w="sm" len="sm"/>
          </a:ln>
          <a:effectLst/>
        </p:spPr>
        <p:txBody>
          <a:bodyPr/>
          <a:lstStyle/>
          <a:p>
            <a:endParaRPr lang="en-US"/>
          </a:p>
        </p:txBody>
      </p:sp>
      <p:sp>
        <p:nvSpPr>
          <p:cNvPr id="15371" name="Line 14"/>
          <p:cNvSpPr>
            <a:spLocks noChangeShapeType="1"/>
          </p:cNvSpPr>
          <p:nvPr/>
        </p:nvSpPr>
        <p:spPr bwMode="auto">
          <a:xfrm>
            <a:off x="3505200" y="2743200"/>
            <a:ext cx="1143000" cy="1371600"/>
          </a:xfrm>
          <a:prstGeom prst="line">
            <a:avLst/>
          </a:prstGeom>
          <a:noFill/>
          <a:ln w="12700">
            <a:solidFill>
              <a:schemeClr val="tx1"/>
            </a:solidFill>
            <a:round/>
            <a:headEnd type="none" w="sm" len="sm"/>
            <a:tailEnd type="none" w="sm" len="sm"/>
          </a:ln>
          <a:effectLst/>
        </p:spPr>
        <p:txBody>
          <a:bodyPr/>
          <a:lstStyle/>
          <a:p>
            <a:endParaRPr lang="en-US"/>
          </a:p>
        </p:txBody>
      </p:sp>
      <p:sp>
        <p:nvSpPr>
          <p:cNvPr id="15372" name="Line 15"/>
          <p:cNvSpPr>
            <a:spLocks noChangeShapeType="1"/>
          </p:cNvSpPr>
          <p:nvPr/>
        </p:nvSpPr>
        <p:spPr bwMode="auto">
          <a:xfrm>
            <a:off x="5638800" y="3429000"/>
            <a:ext cx="533400" cy="685800"/>
          </a:xfrm>
          <a:prstGeom prst="line">
            <a:avLst/>
          </a:prstGeom>
          <a:noFill/>
          <a:ln w="12700">
            <a:solidFill>
              <a:schemeClr val="tx1"/>
            </a:solidFill>
            <a:round/>
            <a:headEnd type="none" w="sm" len="sm"/>
            <a:tailEnd type="none" w="sm" len="sm"/>
          </a:ln>
          <a:effectLst/>
        </p:spPr>
        <p:txBody>
          <a:bodyPr/>
          <a:lstStyle/>
          <a:p>
            <a:endParaRPr lang="en-US"/>
          </a:p>
        </p:txBody>
      </p:sp>
      <p:sp>
        <p:nvSpPr>
          <p:cNvPr id="15373" name="Text Box 20"/>
          <p:cNvSpPr txBox="1">
            <a:spLocks noChangeArrowheads="1"/>
          </p:cNvSpPr>
          <p:nvPr/>
        </p:nvSpPr>
        <p:spPr bwMode="auto">
          <a:xfrm>
            <a:off x="2035175" y="4303713"/>
            <a:ext cx="552450" cy="366712"/>
          </a:xfrm>
          <a:prstGeom prst="rect">
            <a:avLst/>
          </a:prstGeom>
          <a:noFill/>
          <a:ln w="12700">
            <a:noFill/>
            <a:miter lim="800000"/>
            <a:headEnd type="none" w="sm" len="sm"/>
            <a:tailEnd type="none" w="sm" len="sm"/>
          </a:ln>
          <a:effectLst/>
        </p:spPr>
        <p:txBody>
          <a:bodyPr wrap="none">
            <a:spAutoFit/>
          </a:bodyPr>
          <a:lstStyle/>
          <a:p>
            <a:r>
              <a:rPr lang="en-US"/>
              <a:t>Tall</a:t>
            </a:r>
          </a:p>
        </p:txBody>
      </p:sp>
      <p:sp>
        <p:nvSpPr>
          <p:cNvPr id="15374" name="Text Box 21"/>
          <p:cNvSpPr txBox="1">
            <a:spLocks noChangeArrowheads="1"/>
          </p:cNvSpPr>
          <p:nvPr/>
        </p:nvSpPr>
        <p:spPr bwMode="auto">
          <a:xfrm>
            <a:off x="3810000" y="4281488"/>
            <a:ext cx="730250" cy="366712"/>
          </a:xfrm>
          <a:prstGeom prst="rect">
            <a:avLst/>
          </a:prstGeom>
          <a:noFill/>
          <a:ln w="12700">
            <a:noFill/>
            <a:miter lim="800000"/>
            <a:headEnd type="none" w="sm" len="sm"/>
            <a:tailEnd type="none" w="sm" len="sm"/>
          </a:ln>
          <a:effectLst/>
        </p:spPr>
        <p:txBody>
          <a:bodyPr wrap="none">
            <a:spAutoFit/>
          </a:bodyPr>
          <a:lstStyle/>
          <a:p>
            <a:r>
              <a:rPr lang="en-US"/>
              <a:t>Short</a:t>
            </a:r>
          </a:p>
        </p:txBody>
      </p:sp>
      <p:sp>
        <p:nvSpPr>
          <p:cNvPr id="15375" name="Text Box 22"/>
          <p:cNvSpPr txBox="1">
            <a:spLocks noChangeArrowheads="1"/>
          </p:cNvSpPr>
          <p:nvPr/>
        </p:nvSpPr>
        <p:spPr bwMode="auto">
          <a:xfrm>
            <a:off x="4953000" y="4267200"/>
            <a:ext cx="1532407" cy="369332"/>
          </a:xfrm>
          <a:prstGeom prst="rect">
            <a:avLst/>
          </a:prstGeom>
          <a:noFill/>
          <a:ln w="12700">
            <a:noFill/>
            <a:miter lim="800000"/>
            <a:headEnd type="none" w="sm" len="sm"/>
            <a:tailEnd type="none" w="sm" len="sm"/>
          </a:ln>
          <a:effectLst/>
        </p:spPr>
        <p:txBody>
          <a:bodyPr wrap="none">
            <a:spAutoFit/>
          </a:bodyPr>
          <a:lstStyle/>
          <a:p>
            <a:r>
              <a:rPr lang="en-US" dirty="0"/>
              <a:t>Tall AND Short</a:t>
            </a:r>
          </a:p>
        </p:txBody>
      </p:sp>
      <p:sp>
        <p:nvSpPr>
          <p:cNvPr id="15376" name="Line 23"/>
          <p:cNvSpPr>
            <a:spLocks noChangeShapeType="1"/>
          </p:cNvSpPr>
          <p:nvPr/>
        </p:nvSpPr>
        <p:spPr bwMode="auto">
          <a:xfrm flipV="1">
            <a:off x="457200" y="2743200"/>
            <a:ext cx="0" cy="1295400"/>
          </a:xfrm>
          <a:prstGeom prst="line">
            <a:avLst/>
          </a:prstGeom>
          <a:noFill/>
          <a:ln w="12700">
            <a:solidFill>
              <a:schemeClr val="tx1"/>
            </a:solidFill>
            <a:round/>
            <a:headEnd type="none" w="sm" len="sm"/>
            <a:tailEnd type="triangle" w="sm" len="sm"/>
          </a:ln>
          <a:effectLst/>
        </p:spPr>
        <p:txBody>
          <a:bodyPr/>
          <a:lstStyle/>
          <a:p>
            <a:endParaRPr lang="en-US"/>
          </a:p>
        </p:txBody>
      </p:sp>
      <p:sp>
        <p:nvSpPr>
          <p:cNvPr id="15377" name="Line 24"/>
          <p:cNvSpPr>
            <a:spLocks noChangeShapeType="1"/>
          </p:cNvSpPr>
          <p:nvPr/>
        </p:nvSpPr>
        <p:spPr bwMode="auto">
          <a:xfrm>
            <a:off x="457200" y="4038600"/>
            <a:ext cx="838200" cy="0"/>
          </a:xfrm>
          <a:prstGeom prst="line">
            <a:avLst/>
          </a:prstGeom>
          <a:noFill/>
          <a:ln w="12700">
            <a:solidFill>
              <a:schemeClr val="tx1"/>
            </a:solidFill>
            <a:round/>
            <a:headEnd type="none" w="sm" len="sm"/>
            <a:tailEnd type="triangle" w="sm" len="sm"/>
          </a:ln>
          <a:effectLst/>
        </p:spPr>
        <p:txBody>
          <a:bodyPr/>
          <a:lstStyle/>
          <a:p>
            <a:endParaRPr lang="en-US"/>
          </a:p>
        </p:txBody>
      </p:sp>
      <p:sp>
        <p:nvSpPr>
          <p:cNvPr id="15378" name="Text Box 25"/>
          <p:cNvSpPr txBox="1">
            <a:spLocks noChangeArrowheads="1"/>
          </p:cNvSpPr>
          <p:nvPr/>
        </p:nvSpPr>
        <p:spPr bwMode="auto">
          <a:xfrm>
            <a:off x="60325" y="3005138"/>
            <a:ext cx="1423988" cy="457200"/>
          </a:xfrm>
          <a:prstGeom prst="rect">
            <a:avLst/>
          </a:prstGeom>
          <a:noFill/>
          <a:ln w="12700">
            <a:noFill/>
            <a:miter lim="800000"/>
            <a:headEnd type="none" w="sm" len="sm"/>
            <a:tailEnd type="none" w="sm" len="sm"/>
          </a:ln>
          <a:effectLst/>
        </p:spPr>
        <p:txBody>
          <a:bodyPr wrap="none">
            <a:spAutoFit/>
          </a:bodyPr>
          <a:lstStyle/>
          <a:p>
            <a:pPr algn="ctr"/>
            <a:r>
              <a:rPr lang="en-US" sz="1200"/>
              <a:t>Membership value</a:t>
            </a:r>
          </a:p>
          <a:p>
            <a:pPr algn="ctr"/>
            <a:r>
              <a:rPr lang="en-US" sz="1200"/>
              <a:t>[0-1]</a:t>
            </a:r>
          </a:p>
        </p:txBody>
      </p:sp>
      <p:sp>
        <p:nvSpPr>
          <p:cNvPr id="15379" name="Text Box 26"/>
          <p:cNvSpPr txBox="1">
            <a:spLocks noChangeArrowheads="1"/>
          </p:cNvSpPr>
          <p:nvPr/>
        </p:nvSpPr>
        <p:spPr bwMode="auto">
          <a:xfrm>
            <a:off x="368300" y="4068763"/>
            <a:ext cx="742950" cy="457200"/>
          </a:xfrm>
          <a:prstGeom prst="rect">
            <a:avLst/>
          </a:prstGeom>
          <a:noFill/>
          <a:ln w="12700">
            <a:noFill/>
            <a:miter lim="800000"/>
            <a:headEnd type="none" w="sm" len="sm"/>
            <a:tailEnd type="none" w="sm" len="sm"/>
          </a:ln>
          <a:effectLst/>
        </p:spPr>
        <p:txBody>
          <a:bodyPr wrap="none">
            <a:spAutoFit/>
          </a:bodyPr>
          <a:lstStyle/>
          <a:p>
            <a:pPr algn="ctr"/>
            <a:r>
              <a:rPr lang="en-US" sz="1200"/>
              <a:t>Height</a:t>
            </a:r>
          </a:p>
          <a:p>
            <a:pPr algn="ctr"/>
            <a:r>
              <a:rPr lang="en-US" sz="1200"/>
              <a:t>[0-7feet]</a:t>
            </a:r>
          </a:p>
        </p:txBody>
      </p:sp>
      <p:sp>
        <p:nvSpPr>
          <p:cNvPr id="15380" name="Rectangle 27"/>
          <p:cNvSpPr>
            <a:spLocks noChangeArrowheads="1"/>
          </p:cNvSpPr>
          <p:nvPr/>
        </p:nvSpPr>
        <p:spPr bwMode="auto">
          <a:xfrm>
            <a:off x="1828800" y="2209800"/>
            <a:ext cx="7010400" cy="3048000"/>
          </a:xfrm>
          <a:prstGeom prst="rect">
            <a:avLst/>
          </a:prstGeom>
          <a:noFill/>
          <a:ln w="38100">
            <a:solidFill>
              <a:schemeClr val="tx1"/>
            </a:solidFill>
            <a:prstDash val="dashDot"/>
            <a:miter lim="800000"/>
            <a:headEnd type="none" w="sm" len="sm"/>
            <a:tailEnd type="none" w="sm" len="sm"/>
          </a:ln>
          <a:effectLst/>
        </p:spPr>
        <p:txBody>
          <a:bodyPr wrap="none" anchor="ctr"/>
          <a:lstStyle/>
          <a:p>
            <a:endParaRPr lang="en-US"/>
          </a:p>
        </p:txBody>
      </p:sp>
      <p:sp>
        <p:nvSpPr>
          <p:cNvPr id="15381" name="Line 28"/>
          <p:cNvSpPr>
            <a:spLocks noChangeShapeType="1"/>
          </p:cNvSpPr>
          <p:nvPr/>
        </p:nvSpPr>
        <p:spPr bwMode="auto">
          <a:xfrm>
            <a:off x="6927850" y="2743200"/>
            <a:ext cx="0" cy="1371600"/>
          </a:xfrm>
          <a:prstGeom prst="line">
            <a:avLst/>
          </a:prstGeom>
          <a:noFill/>
          <a:ln w="12700">
            <a:solidFill>
              <a:schemeClr val="tx1"/>
            </a:solidFill>
            <a:round/>
            <a:headEnd type="none" w="sm" len="sm"/>
            <a:tailEnd type="none" w="sm" len="sm"/>
          </a:ln>
          <a:effectLst/>
        </p:spPr>
        <p:txBody>
          <a:bodyPr/>
          <a:lstStyle/>
          <a:p>
            <a:endParaRPr lang="en-US"/>
          </a:p>
        </p:txBody>
      </p:sp>
      <p:sp>
        <p:nvSpPr>
          <p:cNvPr id="15382" name="Line 29"/>
          <p:cNvSpPr>
            <a:spLocks noChangeShapeType="1"/>
          </p:cNvSpPr>
          <p:nvPr/>
        </p:nvSpPr>
        <p:spPr bwMode="auto">
          <a:xfrm>
            <a:off x="6927850" y="4114800"/>
            <a:ext cx="1219200" cy="0"/>
          </a:xfrm>
          <a:prstGeom prst="line">
            <a:avLst/>
          </a:prstGeom>
          <a:noFill/>
          <a:ln w="12700">
            <a:solidFill>
              <a:schemeClr val="tx1"/>
            </a:solidFill>
            <a:round/>
            <a:headEnd type="none" w="sm" len="sm"/>
            <a:tailEnd type="none" w="sm" len="sm"/>
          </a:ln>
          <a:effectLst/>
        </p:spPr>
        <p:txBody>
          <a:bodyPr/>
          <a:lstStyle/>
          <a:p>
            <a:endParaRPr lang="en-US"/>
          </a:p>
        </p:txBody>
      </p:sp>
      <p:sp>
        <p:nvSpPr>
          <p:cNvPr id="15383" name="Line 30"/>
          <p:cNvSpPr>
            <a:spLocks noChangeShapeType="1"/>
          </p:cNvSpPr>
          <p:nvPr/>
        </p:nvSpPr>
        <p:spPr bwMode="auto">
          <a:xfrm flipV="1">
            <a:off x="7467600" y="2774950"/>
            <a:ext cx="471488" cy="654050"/>
          </a:xfrm>
          <a:prstGeom prst="line">
            <a:avLst/>
          </a:prstGeom>
          <a:noFill/>
          <a:ln w="12700">
            <a:solidFill>
              <a:schemeClr val="tx1"/>
            </a:solidFill>
            <a:round/>
            <a:headEnd type="none" w="sm" len="sm"/>
            <a:tailEnd type="none" w="sm" len="sm"/>
          </a:ln>
          <a:effectLst/>
        </p:spPr>
        <p:txBody>
          <a:bodyPr/>
          <a:lstStyle/>
          <a:p>
            <a:endParaRPr lang="en-US"/>
          </a:p>
        </p:txBody>
      </p:sp>
      <p:sp>
        <p:nvSpPr>
          <p:cNvPr id="15384" name="Line 31"/>
          <p:cNvSpPr>
            <a:spLocks noChangeShapeType="1"/>
          </p:cNvSpPr>
          <p:nvPr/>
        </p:nvSpPr>
        <p:spPr bwMode="auto">
          <a:xfrm>
            <a:off x="6934200" y="2743200"/>
            <a:ext cx="533400" cy="685800"/>
          </a:xfrm>
          <a:prstGeom prst="line">
            <a:avLst/>
          </a:prstGeom>
          <a:noFill/>
          <a:ln w="12700">
            <a:solidFill>
              <a:schemeClr val="tx1"/>
            </a:solidFill>
            <a:round/>
            <a:headEnd type="none" w="sm" len="sm"/>
            <a:tailEnd type="none" w="sm" len="sm"/>
          </a:ln>
          <a:effectLst/>
        </p:spPr>
        <p:txBody>
          <a:bodyPr/>
          <a:lstStyle/>
          <a:p>
            <a:endParaRPr lang="en-US"/>
          </a:p>
        </p:txBody>
      </p:sp>
      <p:sp>
        <p:nvSpPr>
          <p:cNvPr id="15385" name="Text Box 32"/>
          <p:cNvSpPr txBox="1">
            <a:spLocks noChangeArrowheads="1"/>
          </p:cNvSpPr>
          <p:nvPr/>
        </p:nvSpPr>
        <p:spPr bwMode="auto">
          <a:xfrm>
            <a:off x="6858000" y="4267200"/>
            <a:ext cx="1384931" cy="646331"/>
          </a:xfrm>
          <a:prstGeom prst="rect">
            <a:avLst/>
          </a:prstGeom>
          <a:noFill/>
          <a:ln w="12700">
            <a:noFill/>
            <a:miter lim="800000"/>
            <a:headEnd type="none" w="sm" len="sm"/>
            <a:tailEnd type="none" w="sm" len="sm"/>
          </a:ln>
          <a:effectLst/>
        </p:spPr>
        <p:txBody>
          <a:bodyPr wrap="none">
            <a:spAutoFit/>
          </a:bodyPr>
          <a:lstStyle/>
          <a:p>
            <a:r>
              <a:rPr lang="en-US" dirty="0"/>
              <a:t>Tall OR Short</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a:t>Reference</a:t>
            </a:r>
            <a:endParaRPr/>
          </a:p>
        </p:txBody>
      </p:sp>
      <p:sp>
        <p:nvSpPr>
          <p:cNvPr id="509" name="Google Shape;509;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Char char="•"/>
            </a:pPr>
            <a:r>
              <a:rPr lang="en-US" sz="2200"/>
              <a:t>Chapter 2: Artificial Intelligence: A guide to Intelligent Systems , Second Edition by MICHAEL NEGNEVITSKY </a:t>
            </a:r>
            <a:r>
              <a:rPr lang="en-US"/>
              <a:t/>
            </a:r>
            <a:br>
              <a:rPr lang="en-US"/>
            </a:b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b4de3fe7d800b0ca999817686b165b1c">
  <xsd:schema xmlns:xsd="http://www.w3.org/2001/XMLSchema" xmlns:xs="http://www.w3.org/2001/XMLSchema" xmlns:p="http://schemas.microsoft.com/office/2006/metadata/properties" xmlns:ns2="71778b39-a39e-4048-b00f-99dfecabd0ec" targetNamespace="http://schemas.microsoft.com/office/2006/metadata/properties" ma:root="true" ma:fieldsID="ae0bbb1ef2e03af480cc0bac4dc148f2"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BBA230-E59B-4B62-AA76-51C63AE97CD2}"/>
</file>

<file path=customXml/itemProps2.xml><?xml version="1.0" encoding="utf-8"?>
<ds:datastoreItem xmlns:ds="http://schemas.openxmlformats.org/officeDocument/2006/customXml" ds:itemID="{64D6F630-27D6-4584-880C-C4EBF0E21439}"/>
</file>

<file path=customXml/itemProps3.xml><?xml version="1.0" encoding="utf-8"?>
<ds:datastoreItem xmlns:ds="http://schemas.openxmlformats.org/officeDocument/2006/customXml" ds:itemID="{0875EA3B-B083-42E0-BF7A-606CE5DDDB79}"/>
</file>

<file path=docProps/app.xml><?xml version="1.0" encoding="utf-8"?>
<Properties xmlns="http://schemas.openxmlformats.org/officeDocument/2006/extended-properties" xmlns:vt="http://schemas.openxmlformats.org/officeDocument/2006/docPropsVTypes">
  <TotalTime>1079</TotalTime>
  <Words>4674</Words>
  <Application>Microsoft Office PowerPoint</Application>
  <PresentationFormat>On-screen Show (4:3)</PresentationFormat>
  <Paragraphs>907</Paragraphs>
  <Slides>64</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Arial</vt:lpstr>
      <vt:lpstr>Calibri</vt:lpstr>
      <vt:lpstr>Times New Roman</vt:lpstr>
      <vt:lpstr>Office Theme</vt:lpstr>
      <vt:lpstr>Expert Systems </vt:lpstr>
      <vt:lpstr>Expert System</vt:lpstr>
      <vt:lpstr>Expert System</vt:lpstr>
      <vt:lpstr>PowerPoint Presentation</vt:lpstr>
      <vt:lpstr>PowerPoint Presentation</vt:lpstr>
      <vt:lpstr>Inference Engine</vt:lpstr>
      <vt:lpstr>Forward Chaining</vt:lpstr>
      <vt:lpstr>Forward Chaining Approach</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Forward Chaining Example</vt:lpstr>
      <vt:lpstr>Backward Chaining</vt:lpstr>
      <vt:lpstr>Backward Chaining Approach</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Backward Chaining Example</vt:lpstr>
      <vt:lpstr>Forward Chaining</vt:lpstr>
      <vt:lpstr>Backward Chaining</vt:lpstr>
      <vt:lpstr>Forward Chaining in FOL Backward Chaining in FOL</vt:lpstr>
      <vt:lpstr>Example knowledge base</vt:lpstr>
      <vt:lpstr>Example knowledge base contd.</vt:lpstr>
      <vt:lpstr>Forward chaining proof</vt:lpstr>
      <vt:lpstr>PowerPoint Presentation</vt:lpstr>
      <vt:lpstr>Forward chaining proof</vt:lpstr>
      <vt:lpstr>Backward chaining proof</vt:lpstr>
      <vt:lpstr>Backward chaining proof</vt:lpstr>
      <vt:lpstr>Backward chaining proof</vt:lpstr>
      <vt:lpstr>Backward chaining proof</vt:lpstr>
      <vt:lpstr>Backward chaining proof</vt:lpstr>
      <vt:lpstr>PowerPoint Presentation</vt:lpstr>
      <vt:lpstr>Backward chaining proof</vt:lpstr>
      <vt:lpstr>Backward chaining proof</vt:lpstr>
      <vt:lpstr>Forward Chaining vs Backward Chaining</vt:lpstr>
      <vt:lpstr>Farward Chaining vs. Backward Chaining</vt:lpstr>
      <vt:lpstr>Doctor Example </vt:lpstr>
      <vt:lpstr>Fuzzy Logic</vt:lpstr>
      <vt:lpstr>Classical/Crisp Sets</vt:lpstr>
      <vt:lpstr>Fuzzy Sets</vt:lpstr>
      <vt:lpstr>Weekend (Boolean vs Fuzzy)</vt:lpstr>
      <vt:lpstr>Seasons (Boolean vs Fuzzy)</vt:lpstr>
      <vt:lpstr>Membership Function</vt:lpstr>
      <vt:lpstr>Membership Function Representation</vt:lpstr>
      <vt:lpstr>Logical Operators for Fuzzy Sets</vt:lpstr>
      <vt:lpstr>Logical Operators  (Tall AND Short, Tall OR Short)</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Inference Strategies</dc:title>
  <dc:creator>Windows User</dc:creator>
  <cp:lastModifiedBy>Administrator</cp:lastModifiedBy>
  <cp:revision>25</cp:revision>
  <dcterms:created xsi:type="dcterms:W3CDTF">2016-03-27T09:43:42Z</dcterms:created>
  <dcterms:modified xsi:type="dcterms:W3CDTF">2025-12-06T13:41:36Z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