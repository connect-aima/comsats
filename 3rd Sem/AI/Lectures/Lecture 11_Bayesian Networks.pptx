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24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94" r:id="rId4"/>
    <p:sldId id="295" r:id="rId5"/>
    <p:sldId id="296" r:id="rId6"/>
    <p:sldId id="278" r:id="rId7"/>
    <p:sldId id="282" r:id="rId8"/>
    <p:sldId id="283" r:id="rId9"/>
    <p:sldId id="284" r:id="rId10"/>
    <p:sldId id="279" r:id="rId11"/>
    <p:sldId id="286" r:id="rId12"/>
    <p:sldId id="287" r:id="rId13"/>
    <p:sldId id="288" r:id="rId14"/>
    <p:sldId id="285" r:id="rId15"/>
    <p:sldId id="291" r:id="rId16"/>
    <p:sldId id="292" r:id="rId17"/>
    <p:sldId id="293" r:id="rId18"/>
    <p:sldId id="289" r:id="rId19"/>
    <p:sldId id="298" r:id="rId20"/>
    <p:sldId id="297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7" r:id="rId29"/>
    <p:sldId id="277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SukP75cq2tovjzlNpxHuYm8J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5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51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D112981-61A8-4593-AF54-665F03A8D804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473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98EC80-199D-4601-A0BD-A3E619CBA925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 smtClean="0"/>
          </a:p>
        </p:txBody>
      </p:sp>
      <p:sp>
        <p:nvSpPr>
          <p:cNvPr id="2253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845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B056394-F400-477E-BEEF-252254A31769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45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D7F522D-AA77-4D60-8796-8EC1F30E35FC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09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622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7AF89A-B445-4A3F-89B2-594A5B655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239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dirty="0" smtClean="0"/>
              <a:t>Bayesian Network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dirty="0" smtClean="0"/>
              <a:t>Bayesian Networks</a:t>
            </a:r>
            <a:endParaRPr dirty="0"/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 smtClean="0"/>
              <a:t>Probability</a:t>
            </a:r>
            <a:endParaRPr dirty="0"/>
          </a:p>
          <a:p>
            <a:pPr marL="342900">
              <a:spcBef>
                <a:spcPts val="0"/>
              </a:spcBef>
              <a:buSzPts val="2200"/>
            </a:pPr>
            <a:r>
              <a:rPr lang="en-US" sz="2200" dirty="0"/>
              <a:t>Conditional Probability </a:t>
            </a:r>
            <a:endParaRPr sz="2200" dirty="0"/>
          </a:p>
          <a:p>
            <a:pPr marL="342900">
              <a:spcBef>
                <a:spcPts val="0"/>
              </a:spcBef>
              <a:buSzPts val="2200"/>
            </a:pPr>
            <a:r>
              <a:rPr lang="en-US" sz="2200" dirty="0"/>
              <a:t>Bayes Theorem</a:t>
            </a:r>
            <a:endParaRPr sz="2200" dirty="0"/>
          </a:p>
          <a:p>
            <a:pPr marL="342900">
              <a:spcBef>
                <a:spcPts val="0"/>
              </a:spcBef>
              <a:buSzPts val="2200"/>
            </a:pPr>
            <a:r>
              <a:rPr lang="en-US" sz="2200" dirty="0"/>
              <a:t>Bayesian </a:t>
            </a:r>
            <a:r>
              <a:rPr lang="en-US" sz="2200" dirty="0" smtClean="0"/>
              <a:t>Network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52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6963"/>
            <a:ext cx="8229600" cy="1846383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Probability is a measure of how likely an event is to occur, quantifying the uncertainty associated with the occurrence of that </a:t>
            </a:r>
            <a:r>
              <a:rPr lang="en-US" dirty="0" smtClean="0">
                <a:solidFill>
                  <a:srgbClr val="FF0000"/>
                </a:solidFill>
              </a:rPr>
              <a:t>event.</a:t>
            </a:r>
          </a:p>
          <a:p>
            <a:r>
              <a:rPr lang="en-US" dirty="0" smtClean="0"/>
              <a:t>It </a:t>
            </a:r>
            <a:r>
              <a:rPr lang="en-US" dirty="0"/>
              <a:t>is expressed as a number between 0 and 1, where 0 indicates that the event will never happen, and 1 indicates that the event is certain to happen.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17" y="4080119"/>
            <a:ext cx="263683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342" y="3921369"/>
            <a:ext cx="4395788" cy="174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8264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49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Conditional Probability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02328"/>
            <a:ext cx="8229600" cy="161778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Conditional probability is the probability of an event occurring given that another event has already occurred. 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It </a:t>
            </a:r>
            <a:r>
              <a:rPr lang="en-US" dirty="0"/>
              <a:t>measures how the likelihood of one event changes when we have additional information about another related event.</a:t>
            </a:r>
          </a:p>
          <a:p>
            <a:endParaRPr lang="en-US" dirty="0"/>
          </a:p>
        </p:txBody>
      </p:sp>
      <p:pic>
        <p:nvPicPr>
          <p:cNvPr id="4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78373"/>
            <a:ext cx="42291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549773"/>
            <a:ext cx="46482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421556"/>
            <a:ext cx="7248525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452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809450-971D-4CE0-A83B-F6722DCF861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/>
          </a:p>
        </p:txBody>
      </p:sp>
      <p:pic>
        <p:nvPicPr>
          <p:cNvPr id="512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57200"/>
            <a:ext cx="43053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662238"/>
            <a:ext cx="8856662" cy="328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3400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4931"/>
          </a:xfrm>
        </p:spPr>
        <p:txBody>
          <a:bodyPr>
            <a:normAutofit fontScale="90000"/>
          </a:bodyPr>
          <a:lstStyle/>
          <a:p>
            <a:r>
              <a:rPr lang="en-US" dirty="0"/>
              <a:t>Bayes' Theorem </a:t>
            </a:r>
            <a:r>
              <a:rPr lang="en-US" dirty="0" smtClean="0"/>
              <a:t>(Bayes</a:t>
            </a:r>
            <a:r>
              <a:rPr lang="en-US" dirty="0"/>
              <a:t>' </a:t>
            </a:r>
            <a:r>
              <a:rPr lang="en-US" dirty="0" smtClean="0"/>
              <a:t>Rule)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39716"/>
            <a:ext cx="8229600" cy="5196254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Bayes' Theorem (also often called Bayes' Rule or Bayes' Law) is a fundamental theorem in probability that describes how to update the probability of a hypothesis </a:t>
            </a:r>
            <a:r>
              <a:rPr lang="en-US" dirty="0" smtClean="0">
                <a:solidFill>
                  <a:srgbClr val="FF0000"/>
                </a:solidFill>
              </a:rPr>
              <a:t>(A) </a:t>
            </a:r>
            <a:r>
              <a:rPr lang="en-US" dirty="0">
                <a:solidFill>
                  <a:srgbClr val="FF0000"/>
                </a:solidFill>
              </a:rPr>
              <a:t>when given new evidence </a:t>
            </a:r>
            <a:r>
              <a:rPr lang="en-US" dirty="0" smtClean="0">
                <a:solidFill>
                  <a:srgbClr val="FF0000"/>
                </a:solidFill>
              </a:rPr>
              <a:t>(B).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It is </a:t>
            </a:r>
            <a:r>
              <a:rPr lang="en-US" dirty="0"/>
              <a:t>a mathematical result derived from the definition of conditional probability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Formula</a:t>
            </a:r>
            <a:r>
              <a:rPr lang="en-US" dirty="0" smtClean="0"/>
              <a:t>:</a:t>
            </a:r>
          </a:p>
          <a:p>
            <a:r>
              <a:rPr lang="en-US" dirty="0">
                <a:solidFill>
                  <a:srgbClr val="FF0000"/>
                </a:solidFill>
              </a:rPr>
              <a:t>P(A|B) = (P(B|A) * P(A)) / P(B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endParaRPr lang="en-US" dirty="0" smtClean="0"/>
          </a:p>
          <a:p>
            <a:r>
              <a:rPr lang="en-US" dirty="0" smtClean="0"/>
              <a:t>Where</a:t>
            </a:r>
          </a:p>
          <a:p>
            <a:pPr lvl="1"/>
            <a:r>
              <a:rPr lang="en-US" dirty="0"/>
              <a:t>A = </a:t>
            </a:r>
            <a:r>
              <a:rPr lang="en-US" dirty="0" smtClean="0"/>
              <a:t>hypothesis</a:t>
            </a:r>
          </a:p>
          <a:p>
            <a:pPr lvl="1"/>
            <a:r>
              <a:rPr lang="en-US" dirty="0" smtClean="0"/>
              <a:t>B </a:t>
            </a:r>
            <a:r>
              <a:rPr lang="en-US" dirty="0"/>
              <a:t>= </a:t>
            </a:r>
            <a:r>
              <a:rPr lang="en-US" dirty="0" smtClean="0"/>
              <a:t>evidence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168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4739"/>
          </a:xfrm>
        </p:spPr>
        <p:txBody>
          <a:bodyPr/>
          <a:lstStyle/>
          <a:p>
            <a:r>
              <a:rPr lang="en-US" dirty="0"/>
              <a:t>Bayes' Theorem (Bayes' Rule)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P(A|B) is the Posterior Probability: </a:t>
            </a:r>
            <a:r>
              <a:rPr lang="en-US" dirty="0"/>
              <a:t>The probability of hypothesis A being true after observing the evidence B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P(B|A) is the Likelihood: </a:t>
            </a:r>
            <a:r>
              <a:rPr lang="en-US" dirty="0"/>
              <a:t>The probability of observing the evidence B if the hypothesis A is true</a:t>
            </a:r>
            <a:r>
              <a:rPr lang="en-US" dirty="0" smtClean="0"/>
              <a:t>.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P(A</a:t>
            </a:r>
            <a:r>
              <a:rPr lang="en-US" dirty="0">
                <a:solidFill>
                  <a:srgbClr val="FF0000"/>
                </a:solidFill>
              </a:rPr>
              <a:t>) is the Prior Probability: </a:t>
            </a:r>
            <a:r>
              <a:rPr lang="en-US" dirty="0"/>
              <a:t>The initial probability of hypothesis A being true before observing B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P(B) is the </a:t>
            </a:r>
            <a:r>
              <a:rPr lang="en-US" dirty="0" smtClean="0">
                <a:solidFill>
                  <a:srgbClr val="FF0000"/>
                </a:solidFill>
              </a:rPr>
              <a:t>Evidence: </a:t>
            </a:r>
            <a:r>
              <a:rPr lang="en-US" dirty="0"/>
              <a:t>The probability of observing the evidence B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It is a mathematical equation used for calculating conditional probabilities, forming the theoretical basis for all Bayesian methods.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37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1647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54015"/>
            <a:ext cx="8229600" cy="526659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Suppose we want to know: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If we see clouds, what is the probability that it will rain</a:t>
            </a:r>
            <a:r>
              <a:rPr lang="en-US" b="1" dirty="0" smtClean="0">
                <a:solidFill>
                  <a:srgbClr val="FF0000"/>
                </a:solidFill>
              </a:rPr>
              <a:t>?</a:t>
            </a:r>
          </a:p>
          <a:p>
            <a:endParaRPr lang="en-US" b="1" dirty="0"/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P(Rain </a:t>
            </a:r>
            <a:r>
              <a:rPr lang="en-US" dirty="0">
                <a:solidFill>
                  <a:srgbClr val="FF0000"/>
                </a:solidFill>
              </a:rPr>
              <a:t>| Cloudy)</a:t>
            </a:r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are given the following information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Prior Probability of Rain: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>
                <a:solidFill>
                  <a:srgbClr val="FF0000"/>
                </a:solidFill>
              </a:rPr>
              <a:t>P(Rain)=0.3(30</a:t>
            </a:r>
            <a:r>
              <a:rPr lang="en-US" dirty="0" smtClean="0">
                <a:solidFill>
                  <a:srgbClr val="FF0000"/>
                </a:solidFill>
              </a:rPr>
              <a:t>%)</a:t>
            </a:r>
          </a:p>
          <a:p>
            <a:pPr lvl="1"/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Likelihood </a:t>
            </a:r>
            <a:r>
              <a:rPr lang="en-US" b="1" dirty="0">
                <a:solidFill>
                  <a:srgbClr val="FF0000"/>
                </a:solidFill>
              </a:rPr>
              <a:t>(Cloudy given Rain):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>
                <a:solidFill>
                  <a:srgbClr val="FF0000"/>
                </a:solidFill>
              </a:rPr>
              <a:t>P(</a:t>
            </a:r>
            <a:r>
              <a:rPr lang="en-US" dirty="0" err="1">
                <a:solidFill>
                  <a:srgbClr val="FF0000"/>
                </a:solidFill>
              </a:rPr>
              <a:t>Cloudy∣Rain</a:t>
            </a:r>
            <a:r>
              <a:rPr lang="en-US" dirty="0">
                <a:solidFill>
                  <a:srgbClr val="FF0000"/>
                </a:solidFill>
              </a:rPr>
              <a:t>)=0.8(80</a:t>
            </a:r>
            <a:r>
              <a:rPr lang="en-US" dirty="0" smtClean="0">
                <a:solidFill>
                  <a:srgbClr val="FF0000"/>
                </a:solidFill>
              </a:rPr>
              <a:t>%) </a:t>
            </a:r>
          </a:p>
          <a:p>
            <a:pPr lvl="1"/>
            <a:endParaRPr lang="en-US" dirty="0" smtClean="0"/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Overall </a:t>
            </a:r>
            <a:r>
              <a:rPr lang="en-US" b="1" dirty="0">
                <a:solidFill>
                  <a:srgbClr val="FF0000"/>
                </a:solidFill>
              </a:rPr>
              <a:t>probability of it being Cloudy: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>
                <a:solidFill>
                  <a:srgbClr val="FF0000"/>
                </a:solidFill>
              </a:rPr>
              <a:t>P(Cloudy)=0.5(50</a:t>
            </a:r>
            <a:r>
              <a:rPr lang="en-US" dirty="0" smtClean="0">
                <a:solidFill>
                  <a:srgbClr val="FF0000"/>
                </a:solidFill>
              </a:rPr>
              <a:t>%)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597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Contd..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US" dirty="0">
                <a:solidFill>
                  <a:srgbClr val="FF0000"/>
                </a:solidFill>
              </a:rPr>
              <a:t>P(Rain | Cloudy) = [P(Cloudy | Rain) × P(Rain)] / P(Cloudy)</a:t>
            </a:r>
          </a:p>
          <a:p>
            <a:endParaRPr lang="en-US" dirty="0" smtClean="0"/>
          </a:p>
          <a:p>
            <a:r>
              <a:rPr lang="en-US" dirty="0" smtClean="0"/>
              <a:t>Plug </a:t>
            </a:r>
            <a:r>
              <a:rPr lang="en-US" dirty="0"/>
              <a:t>in the values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P(Rain | Cloudy) = (0.8 × 0.3) / 0.5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= 0.24 / 0.5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= </a:t>
            </a:r>
            <a:r>
              <a:rPr lang="en-US" dirty="0" smtClean="0">
                <a:solidFill>
                  <a:srgbClr val="FF0000"/>
                </a:solidFill>
              </a:rPr>
              <a:t>0.48</a:t>
            </a:r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sky is cloudy, the probability it will rain is:</a:t>
            </a:r>
          </a:p>
          <a:p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P(Rain | Cloudy) = 0.48 (48%)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00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Bayesian Network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46" y="1600199"/>
            <a:ext cx="5020408" cy="4950069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A Bayesian Network (also known as a Bayes Net or Belief Network) is a probabilistic graphical model that represents a set of variables and their conditional dependencies using a directed acyclic graph (DAG).</a:t>
            </a:r>
          </a:p>
          <a:p>
            <a:endParaRPr lang="en-US" dirty="0" smtClean="0"/>
          </a:p>
          <a:p>
            <a:r>
              <a:rPr lang="en-US" dirty="0" smtClean="0"/>
              <a:t>Nodes </a:t>
            </a:r>
            <a:r>
              <a:rPr lang="en-US" dirty="0"/>
              <a:t>represent random variables (e.g., </a:t>
            </a:r>
            <a:r>
              <a:rPr lang="en-US" dirty="0" smtClean="0"/>
              <a:t>“Smoker," “</a:t>
            </a:r>
            <a:r>
              <a:rPr lang="en-US" dirty="0" err="1" smtClean="0"/>
              <a:t>LungCancer</a:t>
            </a:r>
            <a:r>
              <a:rPr lang="en-US" dirty="0" smtClean="0"/>
              <a:t>," “</a:t>
            </a:r>
            <a:r>
              <a:rPr lang="en-US" dirty="0" err="1" smtClean="0"/>
              <a:t>PositiveXRay</a:t>
            </a:r>
            <a:r>
              <a:rPr lang="en-US" dirty="0" smtClean="0"/>
              <a:t>").</a:t>
            </a:r>
          </a:p>
          <a:p>
            <a:endParaRPr lang="en-US" dirty="0" smtClean="0"/>
          </a:p>
          <a:p>
            <a:r>
              <a:rPr lang="en-US" dirty="0" smtClean="0"/>
              <a:t>Edges </a:t>
            </a:r>
            <a:r>
              <a:rPr lang="en-US" dirty="0"/>
              <a:t>(arrows) represent direct probabilistic dependencies between the variables (e.g., an arrow from </a:t>
            </a:r>
            <a:r>
              <a:rPr lang="en-US" dirty="0" smtClean="0"/>
              <a:t>“Smoker" </a:t>
            </a:r>
            <a:r>
              <a:rPr lang="en-US" dirty="0"/>
              <a:t>to </a:t>
            </a:r>
            <a:r>
              <a:rPr lang="en-US" dirty="0" smtClean="0"/>
              <a:t>“</a:t>
            </a:r>
            <a:r>
              <a:rPr lang="en-US" dirty="0" err="1" smtClean="0"/>
              <a:t>LungCancer</a:t>
            </a:r>
            <a:r>
              <a:rPr lang="en-US" dirty="0" smtClean="0"/>
              <a:t>" </a:t>
            </a:r>
            <a:r>
              <a:rPr lang="en-US" dirty="0"/>
              <a:t>means the probability of </a:t>
            </a:r>
            <a:r>
              <a:rPr lang="en-US" dirty="0" err="1" smtClean="0"/>
              <a:t>LungCancer</a:t>
            </a:r>
            <a:r>
              <a:rPr lang="en-US" dirty="0" smtClean="0"/>
              <a:t> is </a:t>
            </a:r>
            <a:r>
              <a:rPr lang="en-US" dirty="0"/>
              <a:t>directly conditioned on </a:t>
            </a:r>
            <a:r>
              <a:rPr lang="en-US" dirty="0" smtClean="0"/>
              <a:t>being Smoker).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It provides a structured way to model and perform probabilistic inference on complex systems by automatically applying Bayes' Theorem across multiple related variables.</a:t>
            </a: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365" y="2268414"/>
            <a:ext cx="3662962" cy="287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2014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Bayesian Network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969477"/>
          </a:xfrm>
        </p:spPr>
        <p:txBody>
          <a:bodyPr>
            <a:normAutofit lnSpcReduction="10000"/>
          </a:bodyPr>
          <a:lstStyle/>
          <a:p>
            <a:pPr algn="just">
              <a:spcBef>
                <a:spcPct val="0"/>
              </a:spcBef>
              <a:buClrTx/>
              <a:buSzTx/>
            </a:pPr>
            <a:r>
              <a:rPr lang="en-GB" altLang="en-US" sz="1800" dirty="0" smtClean="0">
                <a:solidFill>
                  <a:srgbClr val="FF0000"/>
                </a:solidFill>
              </a:rPr>
              <a:t>A </a:t>
            </a:r>
            <a:r>
              <a:rPr lang="en-GB" altLang="en-US" sz="1800" dirty="0">
                <a:solidFill>
                  <a:srgbClr val="FF0000"/>
                </a:solidFill>
              </a:rPr>
              <a:t>belief network is defined by two components</a:t>
            </a:r>
          </a:p>
          <a:p>
            <a:pPr algn="just">
              <a:spcBef>
                <a:spcPct val="0"/>
              </a:spcBef>
              <a:buClrTx/>
              <a:buSzTx/>
            </a:pPr>
            <a:endParaRPr lang="en-GB" altLang="en-US" sz="1800" dirty="0"/>
          </a:p>
          <a:p>
            <a:pPr algn="just">
              <a:spcBef>
                <a:spcPct val="0"/>
              </a:spcBef>
              <a:buClrTx/>
              <a:buSzTx/>
            </a:pPr>
            <a:r>
              <a:rPr lang="en-GB" altLang="en-US" sz="1800" dirty="0"/>
              <a:t>The first is a directed acyclic graph, where each node represents a random </a:t>
            </a:r>
            <a:r>
              <a:rPr lang="en-GB" altLang="en-US" sz="1800" dirty="0" smtClean="0"/>
              <a:t>variable and </a:t>
            </a:r>
            <a:r>
              <a:rPr lang="en-GB" altLang="en-US" sz="1800" dirty="0"/>
              <a:t>each arc represents a probabilistic </a:t>
            </a:r>
            <a:r>
              <a:rPr lang="en-GB" altLang="en-US" sz="1800" dirty="0" smtClean="0"/>
              <a:t>dependence.</a:t>
            </a:r>
          </a:p>
          <a:p>
            <a:pPr algn="just">
              <a:spcBef>
                <a:spcPct val="0"/>
              </a:spcBef>
              <a:buClrTx/>
              <a:buSzTx/>
            </a:pPr>
            <a:endParaRPr lang="en-GB" altLang="en-US" sz="1800" dirty="0"/>
          </a:p>
          <a:p>
            <a:pPr algn="just">
              <a:spcBef>
                <a:spcPct val="0"/>
              </a:spcBef>
              <a:buClrTx/>
              <a:buSzTx/>
            </a:pPr>
            <a:r>
              <a:rPr lang="en-GB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an arc is drawn from a node Y to a node Z, then Y is a parent of Z and Z is a descendent of </a:t>
            </a:r>
            <a:r>
              <a:rPr lang="en-GB" altLang="en-US" sz="1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</a:t>
            </a:r>
            <a:endParaRPr lang="en-GB" alt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</a:pPr>
            <a:endParaRPr lang="en-GB" altLang="en-US" sz="1800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0519" y="3833445"/>
            <a:ext cx="3662962" cy="287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2166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9908"/>
          </a:xfrm>
        </p:spPr>
        <p:txBody>
          <a:bodyPr/>
          <a:lstStyle/>
          <a:p>
            <a:r>
              <a:rPr lang="en-US" dirty="0" smtClean="0"/>
              <a:t>Bayesian Network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46250"/>
            <a:ext cx="5546480" cy="4496287"/>
          </a:xfrm>
        </p:spPr>
        <p:txBody>
          <a:bodyPr>
            <a:normAutofit/>
          </a:bodyPr>
          <a:lstStyle/>
          <a:p>
            <a:pPr algn="just">
              <a:spcBef>
                <a:spcPct val="0"/>
              </a:spcBef>
              <a:buClrTx/>
              <a:buSzTx/>
            </a:pPr>
            <a:r>
              <a:rPr lang="en-GB" alt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second component of a belief network consists of a conditional probability table for each variable</a:t>
            </a:r>
          </a:p>
          <a:p>
            <a:pPr algn="just">
              <a:spcBef>
                <a:spcPct val="0"/>
              </a:spcBef>
              <a:buClrTx/>
              <a:buSzTx/>
            </a:pPr>
            <a:endParaRPr lang="en-GB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variable Z, it specifies the conditional probability distribution  P(</a:t>
            </a:r>
            <a:r>
              <a:rPr lang="en-GB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Z|Parents</a:t>
            </a: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(Z))</a:t>
            </a:r>
          </a:p>
          <a:p>
            <a:pPr algn="just">
              <a:spcBef>
                <a:spcPct val="0"/>
              </a:spcBef>
              <a:buClrTx/>
              <a:buSzTx/>
            </a:pPr>
            <a:endParaRPr lang="en-GB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</a:pPr>
            <a:r>
              <a:rPr lang="en-GB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conditional probability for each value of Z is listed for each possible combination of values of its parents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067" y="1746251"/>
            <a:ext cx="29051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680" y="4645636"/>
            <a:ext cx="30099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5767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Joint Distribution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644162"/>
          </a:xfrm>
        </p:spPr>
        <p:txBody>
          <a:bodyPr>
            <a:normAutofit fontScale="77500" lnSpcReduction="20000"/>
          </a:bodyPr>
          <a:lstStyle/>
          <a:p>
            <a:r>
              <a:rPr lang="en-GB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joint probability of any tuple (z1, …, </a:t>
            </a:r>
            <a:r>
              <a:rPr lang="en-GB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zn</a:t>
            </a:r>
            <a:r>
              <a:rPr lang="en-GB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corresponding to the attributes Z1, …, Zn is computed by </a:t>
            </a:r>
          </a:p>
          <a:p>
            <a:endParaRPr lang="en-GB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values P(</a:t>
            </a:r>
            <a:r>
              <a:rPr lang="en-GB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zi|Parents</a:t>
            </a:r>
            <a:r>
              <a:rPr lang="en-GB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</a:t>
            </a:r>
            <a:r>
              <a:rPr lang="en-GB" alt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correspond to the entries in the CPT for </a:t>
            </a:r>
            <a:r>
              <a:rPr lang="en-GB" alt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</a:t>
            </a:r>
            <a:endParaRPr lang="en-GB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762" y="3634153"/>
            <a:ext cx="290512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3657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5471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sprinkl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295400"/>
            <a:ext cx="8001000" cy="514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6864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Example: </a:t>
            </a:r>
            <a:br>
              <a:rPr lang="en-US" alt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Calculate the </a:t>
            </a:r>
            <a:r>
              <a:rPr lang="en-US" dirty="0"/>
              <a:t>probability that the grass is </a:t>
            </a:r>
            <a:r>
              <a:rPr lang="en-US" dirty="0" smtClean="0"/>
              <a:t>Wet and </a:t>
            </a:r>
            <a:r>
              <a:rPr lang="en-US" dirty="0"/>
              <a:t>it is </a:t>
            </a:r>
            <a:r>
              <a:rPr lang="en-US" dirty="0" smtClean="0"/>
              <a:t>not </a:t>
            </a:r>
            <a:r>
              <a:rPr lang="en-US" dirty="0"/>
              <a:t>Raining </a:t>
            </a:r>
            <a:r>
              <a:rPr lang="en-US" dirty="0" smtClean="0"/>
              <a:t>and </a:t>
            </a:r>
            <a:r>
              <a:rPr lang="en-US" dirty="0"/>
              <a:t>the Sprinkler is on </a:t>
            </a:r>
            <a:r>
              <a:rPr lang="en-US" dirty="0" smtClean="0"/>
              <a:t>and </a:t>
            </a:r>
            <a:r>
              <a:rPr lang="en-US" dirty="0"/>
              <a:t>it is Cloudy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None/>
            </a:pPr>
            <a:r>
              <a:rPr lang="en-US" altLang="en-US" dirty="0" smtClean="0"/>
              <a:t>= P(W</a:t>
            </a:r>
            <a:r>
              <a:rPr lang="en-US" altLang="en-US" dirty="0"/>
              <a:t>, -R, S, C) </a:t>
            </a:r>
            <a:endParaRPr lang="en-US" altLang="en-US" dirty="0" smtClean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 smtClean="0"/>
              <a:t>= P(W|S,-R)*P(-R|C)*P(S|C)*P(C)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 smtClean="0"/>
              <a:t>= </a:t>
            </a:r>
            <a:r>
              <a:rPr lang="en-US" altLang="en-US" dirty="0"/>
              <a:t>0.9*0.2*0.1*0.5 = 0.009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720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Calculate the </a:t>
            </a:r>
            <a:r>
              <a:rPr lang="en-US" dirty="0"/>
              <a:t>probability that it is </a:t>
            </a:r>
            <a:r>
              <a:rPr lang="en-US" dirty="0" smtClean="0"/>
              <a:t>not cloudy</a:t>
            </a:r>
            <a:r>
              <a:rPr lang="en-US" dirty="0"/>
              <a:t>, the sprinkler is on, it is </a:t>
            </a:r>
            <a:r>
              <a:rPr lang="en-US" dirty="0" smtClean="0"/>
              <a:t>raining</a:t>
            </a:r>
            <a:r>
              <a:rPr lang="en-US" dirty="0"/>
              <a:t>, and the grass is wet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altLang="en-US" dirty="0"/>
              <a:t>= P(W, </a:t>
            </a:r>
            <a:r>
              <a:rPr lang="en-US" altLang="en-US" dirty="0" smtClean="0"/>
              <a:t>R</a:t>
            </a:r>
            <a:r>
              <a:rPr lang="en-US" altLang="en-US" dirty="0"/>
              <a:t>, S, </a:t>
            </a:r>
            <a:r>
              <a:rPr lang="en-US" altLang="en-US" dirty="0" smtClean="0"/>
              <a:t>-C</a:t>
            </a:r>
            <a:r>
              <a:rPr lang="en-US" altLang="en-US" dirty="0"/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= </a:t>
            </a:r>
            <a:r>
              <a:rPr lang="en-US" altLang="en-US" dirty="0" smtClean="0"/>
              <a:t>P(W|S,R</a:t>
            </a:r>
            <a:r>
              <a:rPr lang="en-US" altLang="en-US" dirty="0"/>
              <a:t>)*</a:t>
            </a:r>
            <a:r>
              <a:rPr lang="en-US" altLang="en-US" dirty="0" smtClean="0"/>
              <a:t>P(R|-C</a:t>
            </a:r>
            <a:r>
              <a:rPr lang="en-US" altLang="en-US" dirty="0"/>
              <a:t>)*P(S</a:t>
            </a:r>
            <a:r>
              <a:rPr lang="en-US" altLang="en-US" dirty="0" smtClean="0"/>
              <a:t>|-C</a:t>
            </a:r>
            <a:r>
              <a:rPr lang="en-US" altLang="en-US" dirty="0"/>
              <a:t>)*P</a:t>
            </a:r>
            <a:r>
              <a:rPr lang="en-US" altLang="en-US" dirty="0" smtClean="0"/>
              <a:t>(-C</a:t>
            </a:r>
            <a:r>
              <a:rPr lang="en-US" altLang="en-US" dirty="0"/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= </a:t>
            </a:r>
            <a:r>
              <a:rPr lang="en-US" altLang="en-US" dirty="0" smtClean="0"/>
              <a:t>0.99*0.2*0.5*0.5 </a:t>
            </a:r>
            <a:r>
              <a:rPr lang="en-US" altLang="en-US" dirty="0"/>
              <a:t>= </a:t>
            </a:r>
            <a:r>
              <a:rPr lang="en-US" altLang="en-US" dirty="0" smtClean="0"/>
              <a:t>0.049</a:t>
            </a:r>
            <a:endParaRPr lang="en-US" altLang="en-US" dirty="0"/>
          </a:p>
          <a:p>
            <a:endParaRPr lang="en-US" dirty="0" smtClean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377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 the probability that it is </a:t>
            </a:r>
            <a:r>
              <a:rPr lang="en-US" dirty="0" smtClean="0"/>
              <a:t>cloudy</a:t>
            </a:r>
            <a:r>
              <a:rPr lang="en-US" dirty="0"/>
              <a:t>, the sprinkler is </a:t>
            </a:r>
            <a:r>
              <a:rPr lang="en-US" dirty="0" smtClean="0"/>
              <a:t>not on</a:t>
            </a:r>
            <a:r>
              <a:rPr lang="en-US" dirty="0"/>
              <a:t>, it is </a:t>
            </a:r>
            <a:r>
              <a:rPr lang="en-US" dirty="0" smtClean="0"/>
              <a:t>not raining</a:t>
            </a:r>
            <a:r>
              <a:rPr lang="en-US" dirty="0"/>
              <a:t>, and the grass is </a:t>
            </a:r>
            <a:r>
              <a:rPr lang="en-US" dirty="0" smtClean="0"/>
              <a:t>not wet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919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125366"/>
            <a:ext cx="8229600" cy="1495242"/>
          </a:xfrm>
        </p:spPr>
        <p:txBody>
          <a:bodyPr>
            <a:normAutofit fontScale="70000" lnSpcReduction="20000"/>
          </a:bodyPr>
          <a:lstStyle/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GB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GB" altLang="en-US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</a:t>
            </a:r>
            <a:r>
              <a:rPr lang="en-GB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 fish caught in summer, in the north Atlantic, is a sea bass, and is dark and thin: 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P(a3, b1, x2, c3, d2)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 P(a3)P(b1)P(x2|a3,b1)P(c3|x2)P(d2|x2)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 0.25 x 0.6 x 0.6 x 0.5 x 0.4 	= 0.012</a:t>
            </a:r>
          </a:p>
          <a:p>
            <a:endParaRPr lang="en-US" dirty="0"/>
          </a:p>
        </p:txBody>
      </p:sp>
      <p:pic>
        <p:nvPicPr>
          <p:cNvPr id="4" name="Picture 3" descr="A picture containing text, diagram, screenshot, number&#10;&#10;Description automatically genera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167603"/>
            <a:ext cx="8297862" cy="495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1397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Naive </a:t>
            </a:r>
            <a:r>
              <a:rPr lang="en-US" dirty="0" smtClean="0"/>
              <a:t>Bayes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69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545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Naïve Bayes Algorithm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17685"/>
            <a:ext cx="8229600" cy="125156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Naive Bayes algorithm is a probabilistic machine learning classifier based on Bayes’ theorem. </a:t>
            </a:r>
            <a:endParaRPr lang="en-US" dirty="0" smtClean="0"/>
          </a:p>
          <a:p>
            <a:r>
              <a:rPr lang="en-US" dirty="0" smtClean="0"/>
              <a:t>It’s </a:t>
            </a:r>
            <a:r>
              <a:rPr lang="en-US" dirty="0"/>
              <a:t>called “naive” because it assumes that all features are independent of each </a:t>
            </a:r>
            <a:r>
              <a:rPr lang="en-US" dirty="0" smtClean="0"/>
              <a:t>other.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515" y="2099532"/>
            <a:ext cx="7016750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584" y="3228243"/>
            <a:ext cx="658495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90246" y="2901950"/>
            <a:ext cx="313885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Which can be expressed as:</a:t>
            </a:r>
          </a:p>
        </p:txBody>
      </p:sp>
      <p:sp>
        <p:nvSpPr>
          <p:cNvPr id="8" name="Rectangle 18"/>
          <p:cNvSpPr>
            <a:spLocks noChangeArrowheads="1"/>
          </p:cNvSpPr>
          <p:nvPr/>
        </p:nvSpPr>
        <p:spPr bwMode="auto">
          <a:xfrm>
            <a:off x="1090246" y="4160716"/>
            <a:ext cx="7772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latin typeface="urw-din"/>
              </a:rPr>
              <a:t>Now, as the denominator remains constant for a given input, we can remove that </a:t>
            </a:r>
            <a:r>
              <a:rPr lang="en-US" altLang="en-US" dirty="0" smtClean="0">
                <a:latin typeface="urw-din"/>
              </a:rPr>
              <a:t>term.</a:t>
            </a:r>
            <a:endParaRPr lang="en-US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1090246" y="4470768"/>
            <a:ext cx="70167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latin typeface="urw-din"/>
              </a:rPr>
              <a:t>Now, we need to create a classifier model. For this, we find the probability of given set of inputs for all possible values of the class variable </a:t>
            </a:r>
            <a:r>
              <a:rPr lang="en-US" altLang="en-US" i="1" dirty="0">
                <a:latin typeface="urw-din"/>
              </a:rPr>
              <a:t>y</a:t>
            </a:r>
            <a:r>
              <a:rPr lang="en-US" altLang="en-US" dirty="0">
                <a:latin typeface="urw-din"/>
              </a:rPr>
              <a:t> and pick up the output with maximum probability. This can be expressed mathematically as:</a:t>
            </a:r>
            <a:endParaRPr lang="en-US" altLang="en-US" dirty="0"/>
          </a:p>
        </p:txBody>
      </p:sp>
      <p:pic>
        <p:nvPicPr>
          <p:cNvPr id="1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5270652"/>
            <a:ext cx="5892800" cy="84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099038" y="6001054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latin typeface="urw-din"/>
              </a:rPr>
              <a:t>Note that P(y) is also called </a:t>
            </a:r>
            <a:r>
              <a:rPr lang="en-US" altLang="en-US" b="1" dirty="0">
                <a:latin typeface="urw-din"/>
              </a:rPr>
              <a:t>class probability</a:t>
            </a:r>
            <a:r>
              <a:rPr lang="en-US" altLang="en-US" dirty="0">
                <a:latin typeface="urw-din"/>
              </a:rPr>
              <a:t> and P(x</a:t>
            </a:r>
            <a:r>
              <a:rPr lang="en-US" altLang="en-US" baseline="-25000" dirty="0">
                <a:latin typeface="urw-din"/>
              </a:rPr>
              <a:t>i</a:t>
            </a:r>
            <a:r>
              <a:rPr lang="en-US" altLang="en-US" dirty="0">
                <a:latin typeface="urw-din"/>
              </a:rPr>
              <a:t> | y) is called </a:t>
            </a:r>
            <a:r>
              <a:rPr lang="en-US" altLang="en-US" b="1" dirty="0">
                <a:latin typeface="urw-din"/>
              </a:rPr>
              <a:t>conditional probability</a:t>
            </a:r>
            <a:r>
              <a:rPr lang="en-US" altLang="en-US" dirty="0">
                <a:latin typeface="urw-din"/>
              </a:rPr>
              <a:t>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2405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D54896-18D2-4DED-A97C-FA7E5861641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/>
          </a:p>
        </p:txBody>
      </p:sp>
      <p:sp>
        <p:nvSpPr>
          <p:cNvPr id="1205250" name="Text Box 1026"/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GB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61" name="Picture 10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89100"/>
            <a:ext cx="67056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743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72B6F3-3304-491C-86D0-AD28DC533DE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/>
          </a:p>
        </p:txBody>
      </p:sp>
      <p:sp>
        <p:nvSpPr>
          <p:cNvPr id="1209346" name="Text Box 2"/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GB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609600" y="1143000"/>
            <a:ext cx="8175625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	</a:t>
            </a:r>
            <a:endParaRPr lang="en-GB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C</a:t>
            </a:r>
            <a:r>
              <a:rPr lang="en-GB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class buy computer and C</a:t>
            </a:r>
            <a:r>
              <a:rPr lang="en-GB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class not buy computer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unknown sample: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{age 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30, income = medium, student = yes, credit-rating = fair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prior probability of each class can be computed as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GB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P(buy computer = yes) = 9/14 = 0.643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GB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buy_computer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no) = 5/14 = 0.357</a:t>
            </a:r>
          </a:p>
        </p:txBody>
      </p:sp>
    </p:spTree>
    <p:extLst>
      <p:ext uri="{BB962C8B-B14F-4D97-AF65-F5344CB8AC3E}">
        <p14:creationId xmlns:p14="http://schemas.microsoft.com/office/powerpoint/2010/main" val="344211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F92CB7-59F3-4A8E-AE09-BD2DD389CB8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/>
          </a:p>
        </p:txBody>
      </p:sp>
      <p:sp>
        <p:nvSpPr>
          <p:cNvPr id="1211394" name="Text Box 2"/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400" b="1" u="sng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charset="0"/>
            </a:endParaRP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609600" y="1143000"/>
            <a:ext cx="81756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compute P(</a:t>
            </a:r>
            <a:r>
              <a:rPr lang="en-GB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X|Ci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we compute the following conditional probabilities</a:t>
            </a:r>
          </a:p>
        </p:txBody>
      </p:sp>
      <p:pic>
        <p:nvPicPr>
          <p:cNvPr id="2355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44008"/>
            <a:ext cx="62484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7CA067-C2B0-4F29-94AB-904C1DF9E71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/>
          </a:p>
        </p:txBody>
      </p:sp>
      <p:sp>
        <p:nvSpPr>
          <p:cNvPr id="1213442" name="Text Box 2"/>
          <p:cNvSpPr txBox="1">
            <a:spLocks noChangeArrowheads="1"/>
          </p:cNvSpPr>
          <p:nvPr/>
        </p:nvSpPr>
        <p:spPr bwMode="auto">
          <a:xfrm>
            <a:off x="762000" y="3810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400" b="1" u="sng" dirty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charset="0"/>
            </a:endParaRP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609600" y="1143000"/>
            <a:ext cx="81756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	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probabilities we obtain</a:t>
            </a:r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0"/>
            <a:ext cx="7229475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685800" y="3886200"/>
            <a:ext cx="81756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hence the naïve Bayesian classifier predicts that the student will buy computer, because</a:t>
            </a:r>
          </a:p>
        </p:txBody>
      </p:sp>
      <p:pic>
        <p:nvPicPr>
          <p:cNvPr id="2560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953000"/>
            <a:ext cx="75438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103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328C9C-EE1D-450E-BBF3-2555DD02E27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/>
          </a:p>
        </p:txBody>
      </p:sp>
      <p:pic>
        <p:nvPicPr>
          <p:cNvPr id="3584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84872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508625"/>
            <a:ext cx="9012238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4937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72C50C-4946-4A1A-A85D-826BFF087F3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/>
          </a:p>
        </p:txBody>
      </p:sp>
      <p:pic>
        <p:nvPicPr>
          <p:cNvPr id="3686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58913"/>
            <a:ext cx="8693150" cy="478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8" name="TextBox 3"/>
          <p:cNvSpPr txBox="1">
            <a:spLocks noChangeArrowheads="1"/>
          </p:cNvSpPr>
          <p:nvPr/>
        </p:nvSpPr>
        <p:spPr bwMode="auto">
          <a:xfrm>
            <a:off x="762000" y="533400"/>
            <a:ext cx="7620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/>
              <a:t>Calculate Prior and Conditional Probabilities</a:t>
            </a:r>
          </a:p>
        </p:txBody>
      </p:sp>
    </p:spTree>
    <p:extLst>
      <p:ext uri="{BB962C8B-B14F-4D97-AF65-F5344CB8AC3E}">
        <p14:creationId xmlns:p14="http://schemas.microsoft.com/office/powerpoint/2010/main" val="2129075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4AF108-A633-4DE1-84CE-71ACA67326B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/>
          </a:p>
        </p:txBody>
      </p:sp>
      <p:pic>
        <p:nvPicPr>
          <p:cNvPr id="37891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" y="762000"/>
            <a:ext cx="9064625" cy="345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005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dirty="0" smtClean="0"/>
              <a:t>Bayesian Network vs Naïve Bayes Model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264512"/>
              </p:ext>
            </p:extLst>
          </p:nvPr>
        </p:nvGraphicFramePr>
        <p:xfrm>
          <a:off x="228599" y="1417638"/>
          <a:ext cx="8730762" cy="5159010"/>
        </p:xfrm>
        <a:graphic>
          <a:graphicData uri="http://schemas.openxmlformats.org/drawingml/2006/table">
            <a:tbl>
              <a:tblPr/>
              <a:tblGrid>
                <a:gridCol w="2910254">
                  <a:extLst>
                    <a:ext uri="{9D8B030D-6E8A-4147-A177-3AD203B41FA5}">
                      <a16:colId xmlns:a16="http://schemas.microsoft.com/office/drawing/2014/main" val="1135483854"/>
                    </a:ext>
                  </a:extLst>
                </a:gridCol>
                <a:gridCol w="2910254">
                  <a:extLst>
                    <a:ext uri="{9D8B030D-6E8A-4147-A177-3AD203B41FA5}">
                      <a16:colId xmlns:a16="http://schemas.microsoft.com/office/drawing/2014/main" val="3129414667"/>
                    </a:ext>
                  </a:extLst>
                </a:gridCol>
                <a:gridCol w="2910254">
                  <a:extLst>
                    <a:ext uri="{9D8B030D-6E8A-4147-A177-3AD203B41FA5}">
                      <a16:colId xmlns:a16="http://schemas.microsoft.com/office/drawing/2014/main" val="2479550175"/>
                    </a:ext>
                  </a:extLst>
                </a:gridCol>
              </a:tblGrid>
              <a:tr h="357972">
                <a:tc>
                  <a:txBody>
                    <a:bodyPr/>
                    <a:lstStyle/>
                    <a:p>
                      <a:r>
                        <a:rPr lang="en-US" sz="800"/>
                        <a:t>Aspect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Full Bayesian Network (Joint Distribution)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Naive Bayes Model (Joint Distribution)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160350"/>
                  </a:ext>
                </a:extLst>
              </a:tr>
              <a:tr h="800173">
                <a:tc>
                  <a:txBody>
                    <a:bodyPr/>
                    <a:lstStyle/>
                    <a:p>
                      <a:r>
                        <a:rPr lang="en-US" sz="800" b="1"/>
                        <a:t>Variable Dependencies</a:t>
                      </a:r>
                      <a:endParaRPr lang="en-US" sz="800"/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Models dependencies explicitly: • Fish (X) depends on Season (A) and Locale (B) • Lightness (C) and Thickness (D) depend on Fish (X)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Assumes conditional independence of features given the class (Fish X). Lightness (C) and Thickness (D) are independent given X.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195907"/>
                  </a:ext>
                </a:extLst>
              </a:tr>
              <a:tr h="1242374">
                <a:tc>
                  <a:txBody>
                    <a:bodyPr/>
                    <a:lstStyle/>
                    <a:p>
                      <a:r>
                        <a:rPr lang="en-US" sz="800" b="1"/>
                        <a:t>Joint Probability Computation</a:t>
                      </a:r>
                      <a:endParaRPr lang="en-US" sz="800"/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Factorizes according to network: [ P(A,B,X,C,D) = P(A) \cdot P(B) \cdot P(X \mid A,B) \cdot P(C \mid X) \cdot P(D \mid X) ]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Simplifies using Naive Bayes: [ P(A,B,X,C,D) \approx P(A) \cdot P(B) \cdot P(X \mid A,B) \cdot P(C \mid X) \cdot P(D \mid X) ] (Here X is treated as the class; A and B may be treated as features depending on implementation.)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9940224"/>
                  </a:ext>
                </a:extLst>
              </a:tr>
              <a:tr h="652772">
                <a:tc>
                  <a:txBody>
                    <a:bodyPr/>
                    <a:lstStyle/>
                    <a:p>
                      <a:r>
                        <a:rPr lang="en-US" sz="800" b="1"/>
                        <a:t>Accuracy of Joint Estimates</a:t>
                      </a:r>
                      <a:endParaRPr lang="en-US" sz="800"/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High, preserves dependencies among Season, Locale, and Fish; interactions are captured.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May be less accurate if strong dependencies exist; assumes features are independent given X.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993818"/>
                  </a:ext>
                </a:extLst>
              </a:tr>
              <a:tr h="505373">
                <a:tc>
                  <a:txBody>
                    <a:bodyPr/>
                    <a:lstStyle/>
                    <a:p>
                      <a:r>
                        <a:rPr lang="en-US" sz="800" b="1"/>
                        <a:t>Computational Complexity</a:t>
                      </a:r>
                      <a:endParaRPr lang="en-US" sz="800"/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Higher, full factorization and marginalization may be needed for inference.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Lower, only multiplies conditional probabilities; scalable for many features.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408654"/>
                  </a:ext>
                </a:extLst>
              </a:tr>
              <a:tr h="800173">
                <a:tc>
                  <a:txBody>
                    <a:bodyPr/>
                    <a:lstStyle/>
                    <a:p>
                      <a:r>
                        <a:rPr lang="en-US" sz="800" b="1"/>
                        <a:t>Interpretation</a:t>
                      </a:r>
                      <a:endParaRPr lang="en-US" sz="800"/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Provides detailed insight into causal/conditional relationships: e.g., how Season and Locale influence Fish, which influences Lightness/Thickness.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Easier to implement; fast estimation but may miss correlations between variables like Season ↔ Locale affecting Fish.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2089"/>
                  </a:ext>
                </a:extLst>
              </a:tr>
              <a:tr h="800173">
                <a:tc>
                  <a:txBody>
                    <a:bodyPr/>
                    <a:lstStyle/>
                    <a:p>
                      <a:r>
                        <a:rPr lang="en-US" sz="800" b="1"/>
                        <a:t>Example in Context</a:t>
                      </a:r>
                      <a:endParaRPr lang="en-US" sz="800"/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Can compute exact probability of a fish being Salmon or Sea Bass in Spring from North Atlantic, and the probability of light/thin fish jointly.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Quickly estimates probability of fish type given features assuming independence; may slightly misrepresent joint outcomes.</a:t>
                      </a:r>
                    </a:p>
                  </a:txBody>
                  <a:tcPr marL="55420" marR="55420" marT="27710" marB="277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1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572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References</a:t>
            </a:r>
            <a:endParaRPr/>
          </a:p>
        </p:txBody>
      </p:sp>
      <p:sp>
        <p:nvSpPr>
          <p:cNvPr id="236" name="Google Shape;236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Chapter </a:t>
            </a:r>
            <a:r>
              <a:rPr lang="en-US" sz="2400" dirty="0" smtClean="0"/>
              <a:t>12, 13, </a:t>
            </a:r>
            <a:r>
              <a:rPr lang="en-US" sz="2400" dirty="0"/>
              <a:t>Artificial Intelligence, A Modern Approach, Forth Edition, Stuart Russell and Peter </a:t>
            </a:r>
            <a:r>
              <a:rPr lang="en-US" sz="2400" dirty="0" err="1"/>
              <a:t>Norvig</a:t>
            </a:r>
            <a:endParaRPr lang="en-US" sz="2400"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3F296526D7BB4EB949B2D9BCC1BDA8" ma:contentTypeVersion="3" ma:contentTypeDescription="Create a new document." ma:contentTypeScope="" ma:versionID="b4de3fe7d800b0ca999817686b165b1c">
  <xsd:schema xmlns:xsd="http://www.w3.org/2001/XMLSchema" xmlns:xs="http://www.w3.org/2001/XMLSchema" xmlns:p="http://schemas.microsoft.com/office/2006/metadata/properties" xmlns:ns2="71778b39-a39e-4048-b00f-99dfecabd0ec" targetNamespace="http://schemas.microsoft.com/office/2006/metadata/properties" ma:root="true" ma:fieldsID="ae0bbb1ef2e03af480cc0bac4dc148f2" ns2:_="">
    <xsd:import namespace="71778b39-a39e-4048-b00f-99dfecabd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778b39-a39e-4048-b00f-99dfecabd0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D33044-8475-4C18-A2E0-130C3E14BB0C}"/>
</file>

<file path=customXml/itemProps2.xml><?xml version="1.0" encoding="utf-8"?>
<ds:datastoreItem xmlns:ds="http://schemas.openxmlformats.org/officeDocument/2006/customXml" ds:itemID="{2407E1FF-CBC8-4F5B-9E81-60A5B122BB5C}"/>
</file>

<file path=customXml/itemProps3.xml><?xml version="1.0" encoding="utf-8"?>
<ds:datastoreItem xmlns:ds="http://schemas.openxmlformats.org/officeDocument/2006/customXml" ds:itemID="{8F0AE7E9-46DE-4AA1-8521-83D1F0285235}"/>
</file>

<file path=docProps/app.xml><?xml version="1.0" encoding="utf-8"?>
<Properties xmlns="http://schemas.openxmlformats.org/officeDocument/2006/extended-properties" xmlns:vt="http://schemas.openxmlformats.org/officeDocument/2006/docPropsVTypes">
  <TotalTime>8058</TotalTime>
  <Words>1363</Words>
  <Application>Microsoft Office PowerPoint</Application>
  <PresentationFormat>On-screen Show (4:3)</PresentationFormat>
  <Paragraphs>175</Paragraphs>
  <Slides>29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Symbol</vt:lpstr>
      <vt:lpstr>Times New Roman</vt:lpstr>
      <vt:lpstr>urw-din</vt:lpstr>
      <vt:lpstr>Wingdings</vt:lpstr>
      <vt:lpstr>Office Theme</vt:lpstr>
      <vt:lpstr>Artificial Intelligence</vt:lpstr>
      <vt:lpstr>Bayesian Networks</vt:lpstr>
      <vt:lpstr>Probability</vt:lpstr>
      <vt:lpstr>Conditional Probability</vt:lpstr>
      <vt:lpstr>PowerPoint Presentation</vt:lpstr>
      <vt:lpstr>Bayes' Theorem (Bayes' Rule)</vt:lpstr>
      <vt:lpstr>Bayes' Theorem (Bayes' Rule)</vt:lpstr>
      <vt:lpstr>Example</vt:lpstr>
      <vt:lpstr>Contd..</vt:lpstr>
      <vt:lpstr>Bayesian Network</vt:lpstr>
      <vt:lpstr>Bayesian Network</vt:lpstr>
      <vt:lpstr>Bayesian Network</vt:lpstr>
      <vt:lpstr>Joint Distribution</vt:lpstr>
      <vt:lpstr>Example</vt:lpstr>
      <vt:lpstr>Example:  </vt:lpstr>
      <vt:lpstr>Example</vt:lpstr>
      <vt:lpstr>Example</vt:lpstr>
      <vt:lpstr>PowerPoint Presentation</vt:lpstr>
      <vt:lpstr>Naive Bayes</vt:lpstr>
      <vt:lpstr>Naïve Bayes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Bayesian Network vs Naïve Bayes Model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Windows User</dc:creator>
  <cp:lastModifiedBy>Administrator</cp:lastModifiedBy>
  <cp:revision>69</cp:revision>
  <dcterms:created xsi:type="dcterms:W3CDTF">2016-04-03T08:28:23Z</dcterms:created>
  <dcterms:modified xsi:type="dcterms:W3CDTF">2025-12-15T16:31:07Z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0x010100263F296526D7BB4EB949B2D9BCC1BDA8</vt:lpwstr>
  </property>
</Properties>
</file>