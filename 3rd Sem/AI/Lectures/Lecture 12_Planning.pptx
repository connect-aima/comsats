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2.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97" r:id="rId4"/>
    <p:sldId id="298" r:id="rId5"/>
    <p:sldId id="299" r:id="rId6"/>
    <p:sldId id="300" r:id="rId7"/>
    <p:sldId id="305" r:id="rId8"/>
    <p:sldId id="306" r:id="rId9"/>
    <p:sldId id="309" r:id="rId10"/>
    <p:sldId id="310" r:id="rId11"/>
    <p:sldId id="317" r:id="rId12"/>
    <p:sldId id="318" r:id="rId13"/>
    <p:sldId id="320" r:id="rId14"/>
    <p:sldId id="319" r:id="rId15"/>
    <p:sldId id="321" r:id="rId16"/>
    <p:sldId id="322" r:id="rId17"/>
    <p:sldId id="308" r:id="rId18"/>
    <p:sldId id="311" r:id="rId19"/>
    <p:sldId id="312" r:id="rId20"/>
    <p:sldId id="313" r:id="rId21"/>
    <p:sldId id="314" r:id="rId22"/>
    <p:sldId id="315" r:id="rId23"/>
    <p:sldId id="316" r:id="rId24"/>
    <p:sldId id="307" r:id="rId2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SukP75cq2tovjzlNpxHuYm8JQ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05" autoAdjust="0"/>
    <p:restoredTop sz="94660"/>
  </p:normalViewPr>
  <p:slideViewPr>
    <p:cSldViewPr snapToGrid="0">
      <p:cViewPr varScale="1">
        <p:scale>
          <a:sx n="109" d="100"/>
          <a:sy n="109" d="100"/>
        </p:scale>
        <p:origin x="1296"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43" Type="http://schemas.openxmlformats.org/officeDocument/2006/relationships/customXml" Target="../customXml/item2.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2"/>
          <p:cNvSpPr>
            <a:spLocks noGrp="1"/>
          </p:cNvSpPr>
          <p:nvPr>
            <p:ph type="pic" idx="2"/>
          </p:nvPr>
        </p:nvSpPr>
        <p:spPr>
          <a:xfrm>
            <a:off x="1792288" y="612775"/>
            <a:ext cx="5486400" cy="4114800"/>
          </a:xfrm>
          <a:prstGeom prst="rect">
            <a:avLst/>
          </a:prstGeom>
          <a:noFill/>
          <a:ln>
            <a:noFill/>
          </a:ln>
        </p:spPr>
      </p:sp>
      <p:sp>
        <p:nvSpPr>
          <p:cNvPr id="68" name="Google Shape;68;p3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Artificial Intelligence</a:t>
            </a:r>
            <a:endParaRPr/>
          </a:p>
        </p:txBody>
      </p:sp>
      <p:sp>
        <p:nvSpPr>
          <p:cNvPr id="89" name="Google Shape;89;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en-US" dirty="0" smtClean="0"/>
              <a:t>Planning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dirty="0" smtClean="0"/>
              <a:t>Planning</a:t>
            </a:r>
            <a:endParaRPr dirty="0"/>
          </a:p>
        </p:txBody>
      </p:sp>
      <p:sp>
        <p:nvSpPr>
          <p:cNvPr id="95" name="Google Shape;95;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dirty="0" smtClean="0"/>
              <a:t>Introduction</a:t>
            </a:r>
            <a:endParaRPr dirty="0"/>
          </a:p>
          <a:p>
            <a:pPr marL="342900">
              <a:spcBef>
                <a:spcPts val="0"/>
              </a:spcBef>
              <a:buSzPts val="2200"/>
            </a:pPr>
            <a:r>
              <a:rPr lang="en-US" sz="2200" dirty="0" smtClean="0"/>
              <a:t>Classical Planning </a:t>
            </a:r>
            <a:endParaRPr lang="en-US" sz="2200" dirty="0" smtClean="0"/>
          </a:p>
          <a:p>
            <a:pPr marL="800100" lvl="1">
              <a:spcBef>
                <a:spcPts val="0"/>
              </a:spcBef>
              <a:buSzPts val="2200"/>
            </a:pPr>
            <a:r>
              <a:rPr lang="en-US" sz="1800" dirty="0"/>
              <a:t>Ground Atomic </a:t>
            </a:r>
            <a:r>
              <a:rPr lang="en-US" sz="1800" dirty="0" smtClean="0"/>
              <a:t>Fluent (Predicates)</a:t>
            </a:r>
            <a:endParaRPr lang="en-US" sz="1800" dirty="0"/>
          </a:p>
          <a:p>
            <a:pPr marL="800100" lvl="1">
              <a:spcBef>
                <a:spcPts val="0"/>
              </a:spcBef>
              <a:buSzPts val="2200"/>
            </a:pPr>
            <a:r>
              <a:rPr lang="en-US" sz="1800" dirty="0"/>
              <a:t>Action </a:t>
            </a:r>
            <a:r>
              <a:rPr lang="en-US" sz="1800" dirty="0" smtClean="0"/>
              <a:t>Schema</a:t>
            </a:r>
          </a:p>
          <a:p>
            <a:pPr marL="1257300" lvl="2">
              <a:spcBef>
                <a:spcPts val="0"/>
              </a:spcBef>
              <a:buSzPts val="2200"/>
            </a:pPr>
            <a:r>
              <a:rPr lang="en-US" sz="1400" dirty="0" smtClean="0"/>
              <a:t>Preconditions</a:t>
            </a:r>
          </a:p>
          <a:p>
            <a:pPr marL="1257300" lvl="2">
              <a:spcBef>
                <a:spcPts val="0"/>
              </a:spcBef>
              <a:buSzPts val="2200"/>
            </a:pPr>
            <a:r>
              <a:rPr lang="en-US" sz="1400" dirty="0" smtClean="0"/>
              <a:t>Effects</a:t>
            </a:r>
            <a:endParaRPr lang="en-US" sz="1400" dirty="0"/>
          </a:p>
          <a:p>
            <a:pPr marL="800100" lvl="1">
              <a:spcBef>
                <a:spcPts val="0"/>
              </a:spcBef>
              <a:buSzPts val="2200"/>
            </a:pPr>
            <a:r>
              <a:rPr lang="en-US" sz="1800" dirty="0"/>
              <a:t>Examples</a:t>
            </a:r>
          </a:p>
          <a:p>
            <a:pPr marL="342900" lvl="1">
              <a:spcBef>
                <a:spcPts val="0"/>
              </a:spcBef>
              <a:buSzPts val="2200"/>
              <a:buFont typeface="Arial"/>
              <a:buChar char="•"/>
            </a:pPr>
            <a:r>
              <a:rPr lang="en-US" sz="2200" dirty="0" smtClean="0"/>
              <a:t>Hierarchical </a:t>
            </a:r>
            <a:r>
              <a:rPr lang="en-US" sz="2200" dirty="0"/>
              <a:t>Planning</a:t>
            </a:r>
          </a:p>
          <a:p>
            <a:pPr marL="342900">
              <a:spcBef>
                <a:spcPts val="0"/>
              </a:spcBef>
              <a:buSzPts val="2200"/>
            </a:pPr>
            <a:r>
              <a:rPr lang="en-US" sz="2200" dirty="0"/>
              <a:t>Planning in nondeterministic Environments</a:t>
            </a:r>
            <a:endParaRPr sz="2200" dirty="0"/>
          </a:p>
          <a:p>
            <a:pPr marL="800100" lvl="1">
              <a:spcBef>
                <a:spcPts val="0"/>
              </a:spcBef>
              <a:buSzPts val="2200"/>
            </a:pPr>
            <a:r>
              <a:rPr lang="en-US" sz="1800" dirty="0" err="1"/>
              <a:t>Sensorless</a:t>
            </a:r>
            <a:r>
              <a:rPr lang="en-US" sz="1800" dirty="0"/>
              <a:t> </a:t>
            </a:r>
            <a:r>
              <a:rPr lang="en-US" sz="1800" dirty="0" smtClean="0"/>
              <a:t>Planning (No observation Environments)</a:t>
            </a:r>
            <a:endParaRPr lang="en-US" sz="1800" dirty="0"/>
          </a:p>
          <a:p>
            <a:pPr marL="800100" lvl="1">
              <a:spcBef>
                <a:spcPts val="0"/>
              </a:spcBef>
              <a:buSzPts val="2200"/>
            </a:pPr>
            <a:r>
              <a:rPr lang="en-US" sz="1800" dirty="0"/>
              <a:t>Contingency </a:t>
            </a:r>
            <a:r>
              <a:rPr lang="en-US" sz="1800" dirty="0" smtClean="0"/>
              <a:t>Planning (Partially Observable Environments)</a:t>
            </a:r>
            <a:endParaRPr lang="en-US" sz="1800" dirty="0"/>
          </a:p>
          <a:p>
            <a:pPr marL="800100" lvl="1">
              <a:spcBef>
                <a:spcPts val="0"/>
              </a:spcBef>
              <a:buSzPts val="2200"/>
            </a:pPr>
            <a:r>
              <a:rPr lang="en-US" sz="1800" dirty="0"/>
              <a:t>Online </a:t>
            </a:r>
            <a:r>
              <a:rPr lang="en-US" sz="1800" dirty="0" smtClean="0"/>
              <a:t>Planning (Unknown Environments)</a:t>
            </a:r>
            <a:r>
              <a:rPr lang="en-US" dirty="0"/>
              <a:t/>
            </a:r>
            <a:br>
              <a:rPr lang="en-US" dirty="0"/>
            </a:b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80439"/>
          </a:xfrm>
        </p:spPr>
        <p:txBody>
          <a:bodyPr/>
          <a:lstStyle/>
          <a:p>
            <a:r>
              <a:rPr lang="en-US" dirty="0" smtClean="0"/>
              <a:t>Planning</a:t>
            </a:r>
            <a:endParaRPr lang="en-US" dirty="0"/>
          </a:p>
        </p:txBody>
      </p:sp>
      <p:sp>
        <p:nvSpPr>
          <p:cNvPr id="3" name="Text Placeholder 2"/>
          <p:cNvSpPr>
            <a:spLocks noGrp="1"/>
          </p:cNvSpPr>
          <p:nvPr>
            <p:ph type="body" idx="1"/>
          </p:nvPr>
        </p:nvSpPr>
        <p:spPr>
          <a:xfrm>
            <a:off x="457200" y="1169377"/>
            <a:ext cx="8229600" cy="5424854"/>
          </a:xfrm>
        </p:spPr>
        <p:txBody>
          <a:bodyPr>
            <a:normAutofit fontScale="70000" lnSpcReduction="20000"/>
          </a:bodyPr>
          <a:lstStyle/>
          <a:p>
            <a:r>
              <a:rPr lang="en-US" dirty="0">
                <a:solidFill>
                  <a:srgbClr val="FF0000"/>
                </a:solidFill>
              </a:rPr>
              <a:t>Planning is the process of generating a sequence of actions to achieve a specific goal from an initial state</a:t>
            </a:r>
            <a:r>
              <a:rPr lang="en-US" dirty="0" smtClean="0">
                <a:solidFill>
                  <a:srgbClr val="FF0000"/>
                </a:solidFill>
              </a:rPr>
              <a:t>.</a:t>
            </a:r>
          </a:p>
          <a:p>
            <a:r>
              <a:rPr lang="en-US" dirty="0">
                <a:solidFill>
                  <a:schemeClr val="tx1"/>
                </a:solidFill>
              </a:rPr>
              <a:t>It involves reasoning about the effects of actions in a given environment and the preconditions </a:t>
            </a:r>
            <a:r>
              <a:rPr lang="en-US" dirty="0" smtClean="0">
                <a:solidFill>
                  <a:schemeClr val="tx1"/>
                </a:solidFill>
              </a:rPr>
              <a:t>required.</a:t>
            </a:r>
          </a:p>
          <a:p>
            <a:endParaRPr lang="en-US" dirty="0" smtClean="0">
              <a:solidFill>
                <a:srgbClr val="FF0000"/>
              </a:solidFill>
            </a:endParaRPr>
          </a:p>
          <a:p>
            <a:r>
              <a:rPr lang="en-US" dirty="0">
                <a:solidFill>
                  <a:srgbClr val="FF0000"/>
                </a:solidFill>
              </a:rPr>
              <a:t>Search is general: </a:t>
            </a:r>
            <a:r>
              <a:rPr lang="en-US" dirty="0"/>
              <a:t>it just finds a path from a start state to a goal state, without worrying much about what actions mean or whether they can actually be performed</a:t>
            </a:r>
            <a:r>
              <a:rPr lang="en-US" dirty="0" smtClean="0"/>
              <a:t>.</a:t>
            </a:r>
          </a:p>
          <a:p>
            <a:r>
              <a:rPr lang="en-US" dirty="0" smtClean="0">
                <a:solidFill>
                  <a:srgbClr val="FF0000"/>
                </a:solidFill>
              </a:rPr>
              <a:t>Planning </a:t>
            </a:r>
            <a:r>
              <a:rPr lang="en-US" dirty="0">
                <a:solidFill>
                  <a:srgbClr val="FF0000"/>
                </a:solidFill>
              </a:rPr>
              <a:t>is specific: </a:t>
            </a:r>
            <a:r>
              <a:rPr lang="en-US" dirty="0" smtClean="0"/>
              <a:t>It </a:t>
            </a:r>
            <a:r>
              <a:rPr lang="en-US" dirty="0"/>
              <a:t>considers action preconditions, effects, and constraints, generating a sequence of actions that can actually achieve the goal</a:t>
            </a:r>
            <a:r>
              <a:rPr lang="en-US" dirty="0" smtClean="0"/>
              <a:t>.</a:t>
            </a:r>
          </a:p>
          <a:p>
            <a:endParaRPr lang="en-US" dirty="0"/>
          </a:p>
          <a:p>
            <a:r>
              <a:rPr lang="en-US" dirty="0"/>
              <a:t>Search: </a:t>
            </a:r>
            <a:endParaRPr lang="en-US" dirty="0" smtClean="0"/>
          </a:p>
          <a:p>
            <a:pPr lvl="1"/>
            <a:r>
              <a:rPr lang="en-US" dirty="0" smtClean="0"/>
              <a:t>“</a:t>
            </a:r>
            <a:r>
              <a:rPr lang="en-US" dirty="0"/>
              <a:t>Get from home to office” → finds a route on the map.</a:t>
            </a:r>
          </a:p>
          <a:p>
            <a:r>
              <a:rPr lang="en-US" dirty="0"/>
              <a:t>Planning</a:t>
            </a:r>
            <a:r>
              <a:rPr lang="en-US" dirty="0" smtClean="0"/>
              <a:t>:</a:t>
            </a:r>
          </a:p>
          <a:p>
            <a:pPr lvl="1"/>
            <a:r>
              <a:rPr lang="en-US" dirty="0" smtClean="0"/>
              <a:t>“</a:t>
            </a:r>
            <a:r>
              <a:rPr lang="en-US" dirty="0"/>
              <a:t>Wake up → brush teeth → have breakfast → drive car → park at office → walk to desk” → ensures each action can actually be performed in sequence to reach the goal</a:t>
            </a:r>
            <a:r>
              <a:rPr lang="en-US" dirty="0" smtClean="0"/>
              <a:t>.</a:t>
            </a:r>
            <a:endParaRPr lang="en-US" dirty="0"/>
          </a:p>
        </p:txBody>
      </p:sp>
    </p:spTree>
    <p:extLst>
      <p:ext uri="{BB962C8B-B14F-4D97-AF65-F5344CB8AC3E}">
        <p14:creationId xmlns:p14="http://schemas.microsoft.com/office/powerpoint/2010/main" val="1704623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Classical Planning</a:t>
            </a:r>
            <a:endParaRPr lang="en-US" dirty="0"/>
          </a:p>
        </p:txBody>
      </p:sp>
      <p:sp>
        <p:nvSpPr>
          <p:cNvPr id="3" name="Text Placeholder 2"/>
          <p:cNvSpPr>
            <a:spLocks noGrp="1"/>
          </p:cNvSpPr>
          <p:nvPr>
            <p:ph type="body" idx="1"/>
          </p:nvPr>
        </p:nvSpPr>
        <p:spPr/>
        <p:txBody>
          <a:bodyPr>
            <a:normAutofit fontScale="70000" lnSpcReduction="20000"/>
          </a:bodyPr>
          <a:lstStyle/>
          <a:p>
            <a:r>
              <a:rPr lang="en-US" dirty="0"/>
              <a:t>Classical planning is defined as the task of finding a sequence of actions to accomplish a goal in a discrete, deterministic, static, fully observable environment. </a:t>
            </a:r>
            <a:endParaRPr lang="en-US" dirty="0" smtClean="0"/>
          </a:p>
          <a:p>
            <a:endParaRPr lang="en-US" dirty="0" smtClean="0"/>
          </a:p>
          <a:p>
            <a:r>
              <a:rPr lang="en-US" dirty="0"/>
              <a:t>P</a:t>
            </a:r>
            <a:r>
              <a:rPr lang="en-US" dirty="0" smtClean="0"/>
              <a:t>lanning </a:t>
            </a:r>
            <a:r>
              <a:rPr lang="en-US" dirty="0"/>
              <a:t>researchers have invested in a factored representation using a family of languages called PDDL, the Planning Domain Definition </a:t>
            </a:r>
            <a:r>
              <a:rPr lang="en-US" dirty="0" smtClean="0"/>
              <a:t>Language.</a:t>
            </a:r>
          </a:p>
          <a:p>
            <a:endParaRPr lang="en-US" dirty="0"/>
          </a:p>
          <a:p>
            <a:r>
              <a:rPr lang="en-US" dirty="0">
                <a:solidFill>
                  <a:srgbClr val="FF0000"/>
                </a:solidFill>
              </a:rPr>
              <a:t>PDDL allows planners to define actions with preconditions and effects, representing states compactly without enumerating every possible scenario.</a:t>
            </a:r>
            <a:endParaRPr lang="en-US" dirty="0" smtClean="0">
              <a:solidFill>
                <a:srgbClr val="FF0000"/>
              </a:solidFill>
            </a:endParaRPr>
          </a:p>
          <a:p>
            <a:endParaRPr lang="en-US" dirty="0" smtClean="0"/>
          </a:p>
          <a:p>
            <a:r>
              <a:rPr lang="en-US" dirty="0"/>
              <a:t>Basic PDDL can handle classical planning domains, and </a:t>
            </a:r>
            <a:r>
              <a:rPr lang="en-US" dirty="0" smtClean="0"/>
              <a:t>it is </a:t>
            </a:r>
            <a:r>
              <a:rPr lang="en-US" dirty="0"/>
              <a:t>based on </a:t>
            </a:r>
            <a:r>
              <a:rPr lang="en-US" dirty="0" smtClean="0"/>
              <a:t>Lisp language.</a:t>
            </a:r>
            <a:endParaRPr lang="en-US" dirty="0"/>
          </a:p>
        </p:txBody>
      </p:sp>
    </p:spTree>
    <p:extLst>
      <p:ext uri="{BB962C8B-B14F-4D97-AF65-F5344CB8AC3E}">
        <p14:creationId xmlns:p14="http://schemas.microsoft.com/office/powerpoint/2010/main" val="4136205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Ground Atomic Fluent</a:t>
            </a:r>
            <a:endParaRPr lang="en-US" dirty="0"/>
          </a:p>
        </p:txBody>
      </p:sp>
      <p:sp>
        <p:nvSpPr>
          <p:cNvPr id="3" name="Text Placeholder 2"/>
          <p:cNvSpPr>
            <a:spLocks noGrp="1"/>
          </p:cNvSpPr>
          <p:nvPr>
            <p:ph type="body" idx="1"/>
          </p:nvPr>
        </p:nvSpPr>
        <p:spPr>
          <a:xfrm>
            <a:off x="457200" y="1600200"/>
            <a:ext cx="8229600" cy="4774223"/>
          </a:xfrm>
        </p:spPr>
        <p:txBody>
          <a:bodyPr>
            <a:normAutofit fontScale="62500" lnSpcReduction="20000"/>
          </a:bodyPr>
          <a:lstStyle/>
          <a:p>
            <a:r>
              <a:rPr lang="en-US" dirty="0"/>
              <a:t>In PDDL, a state is represented as a conjunction of </a:t>
            </a:r>
            <a:r>
              <a:rPr lang="en-US" dirty="0" smtClean="0"/>
              <a:t>“ground </a:t>
            </a:r>
            <a:r>
              <a:rPr lang="en-US" dirty="0"/>
              <a:t>atomic </a:t>
            </a:r>
            <a:r>
              <a:rPr lang="en-US" dirty="0" err="1" smtClean="0"/>
              <a:t>fluents</a:t>
            </a:r>
            <a:r>
              <a:rPr lang="en-US" dirty="0" smtClean="0"/>
              <a:t>”. </a:t>
            </a:r>
          </a:p>
          <a:p>
            <a:endParaRPr lang="en-US" dirty="0" smtClean="0"/>
          </a:p>
          <a:p>
            <a:r>
              <a:rPr lang="en-US" dirty="0" smtClean="0"/>
              <a:t>The </a:t>
            </a:r>
          </a:p>
          <a:p>
            <a:r>
              <a:rPr lang="en-US" dirty="0" smtClean="0">
                <a:solidFill>
                  <a:srgbClr val="FF0000"/>
                </a:solidFill>
              </a:rPr>
              <a:t>“</a:t>
            </a:r>
            <a:r>
              <a:rPr lang="en-US" dirty="0">
                <a:solidFill>
                  <a:srgbClr val="FF0000"/>
                </a:solidFill>
              </a:rPr>
              <a:t>ground” means no variables, </a:t>
            </a:r>
            <a:endParaRPr lang="en-US" dirty="0" smtClean="0">
              <a:solidFill>
                <a:srgbClr val="FF0000"/>
              </a:solidFill>
            </a:endParaRPr>
          </a:p>
          <a:p>
            <a:r>
              <a:rPr lang="en-US" dirty="0" smtClean="0">
                <a:solidFill>
                  <a:srgbClr val="FF0000"/>
                </a:solidFill>
              </a:rPr>
              <a:t>“</a:t>
            </a:r>
            <a:r>
              <a:rPr lang="en-US" dirty="0">
                <a:solidFill>
                  <a:srgbClr val="FF0000"/>
                </a:solidFill>
              </a:rPr>
              <a:t>fluent” means an aspect of the </a:t>
            </a:r>
            <a:r>
              <a:rPr lang="en-US" dirty="0" smtClean="0">
                <a:solidFill>
                  <a:srgbClr val="FF0000"/>
                </a:solidFill>
              </a:rPr>
              <a:t>world,</a:t>
            </a:r>
            <a:r>
              <a:rPr lang="en-US" dirty="0" smtClean="0"/>
              <a:t> </a:t>
            </a:r>
            <a:r>
              <a:rPr lang="en-US" dirty="0"/>
              <a:t>and </a:t>
            </a:r>
            <a:endParaRPr lang="en-US" dirty="0" smtClean="0"/>
          </a:p>
          <a:p>
            <a:r>
              <a:rPr lang="en-US" dirty="0" smtClean="0">
                <a:solidFill>
                  <a:srgbClr val="FF0000"/>
                </a:solidFill>
              </a:rPr>
              <a:t>“</a:t>
            </a:r>
            <a:r>
              <a:rPr lang="en-US" dirty="0">
                <a:solidFill>
                  <a:srgbClr val="FF0000"/>
                </a:solidFill>
              </a:rPr>
              <a:t>ground atomic” means there is a single predicate, and if there are any arguments, they must be constants</a:t>
            </a:r>
            <a:r>
              <a:rPr lang="en-US" dirty="0" smtClean="0">
                <a:solidFill>
                  <a:srgbClr val="FF0000"/>
                </a:solidFill>
              </a:rPr>
              <a:t>.</a:t>
            </a:r>
          </a:p>
          <a:p>
            <a:endParaRPr lang="en-US" dirty="0"/>
          </a:p>
          <a:p>
            <a:r>
              <a:rPr lang="en-US" dirty="0"/>
              <a:t>For example, </a:t>
            </a:r>
            <a:endParaRPr lang="en-US" dirty="0" smtClean="0"/>
          </a:p>
          <a:p>
            <a:r>
              <a:rPr lang="en-US" dirty="0" smtClean="0"/>
              <a:t>At(Truck1,Melbourne</a:t>
            </a:r>
            <a:r>
              <a:rPr lang="en-US" dirty="0"/>
              <a:t>) → </a:t>
            </a:r>
            <a:r>
              <a:rPr lang="en-US" dirty="0" smtClean="0"/>
              <a:t>Truck1 </a:t>
            </a:r>
            <a:r>
              <a:rPr lang="en-US" dirty="0"/>
              <a:t>is at </a:t>
            </a:r>
            <a:r>
              <a:rPr lang="en-US" dirty="0" smtClean="0"/>
              <a:t>Melbourne</a:t>
            </a:r>
          </a:p>
          <a:p>
            <a:r>
              <a:rPr lang="en-US" dirty="0" smtClean="0"/>
              <a:t>At(Truck2,Sydney</a:t>
            </a:r>
            <a:r>
              <a:rPr lang="en-US" dirty="0"/>
              <a:t>) → </a:t>
            </a:r>
            <a:r>
              <a:rPr lang="en-US" dirty="0" smtClean="0"/>
              <a:t>Truck2 </a:t>
            </a:r>
            <a:r>
              <a:rPr lang="en-US" dirty="0"/>
              <a:t>is at </a:t>
            </a:r>
            <a:r>
              <a:rPr lang="en-US" dirty="0" smtClean="0"/>
              <a:t>Sydney</a:t>
            </a:r>
          </a:p>
          <a:p>
            <a:r>
              <a:rPr lang="en-US" dirty="0"/>
              <a:t>A</a:t>
            </a:r>
            <a:r>
              <a:rPr lang="en-US" dirty="0" smtClean="0"/>
              <a:t>t (Cargo1, Airport1</a:t>
            </a:r>
            <a:r>
              <a:rPr lang="en-US" dirty="0"/>
              <a:t>) → Cargo1 is at </a:t>
            </a:r>
            <a:r>
              <a:rPr lang="en-US" dirty="0" smtClean="0"/>
              <a:t>Airport1</a:t>
            </a:r>
          </a:p>
          <a:p>
            <a:r>
              <a:rPr lang="en-US" dirty="0" smtClean="0"/>
              <a:t>At (Cargo2, Airport2</a:t>
            </a:r>
            <a:r>
              <a:rPr lang="en-US" dirty="0"/>
              <a:t>) → Cargo2 is at </a:t>
            </a:r>
            <a:r>
              <a:rPr lang="en-US" dirty="0" smtClean="0"/>
              <a:t>Airport2</a:t>
            </a:r>
          </a:p>
          <a:p>
            <a:r>
              <a:rPr lang="en-US" dirty="0" smtClean="0"/>
              <a:t>In (Cargo3, Plane1</a:t>
            </a:r>
            <a:r>
              <a:rPr lang="en-US" dirty="0"/>
              <a:t>) → Cargo3 is loaded in Plane1</a:t>
            </a:r>
          </a:p>
        </p:txBody>
      </p:sp>
    </p:spTree>
    <p:extLst>
      <p:ext uri="{BB962C8B-B14F-4D97-AF65-F5344CB8AC3E}">
        <p14:creationId xmlns:p14="http://schemas.microsoft.com/office/powerpoint/2010/main" val="259858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0100"/>
          </a:xfrm>
        </p:spPr>
        <p:txBody>
          <a:bodyPr>
            <a:normAutofit fontScale="90000"/>
          </a:bodyPr>
          <a:lstStyle/>
          <a:p>
            <a:r>
              <a:rPr lang="en-US" dirty="0" smtClean="0"/>
              <a:t>Action Schema</a:t>
            </a:r>
            <a:endParaRPr lang="en-US" dirty="0"/>
          </a:p>
        </p:txBody>
      </p:sp>
      <p:sp>
        <p:nvSpPr>
          <p:cNvPr id="3" name="Text Placeholder 2"/>
          <p:cNvSpPr>
            <a:spLocks noGrp="1"/>
          </p:cNvSpPr>
          <p:nvPr>
            <p:ph type="body" idx="1"/>
          </p:nvPr>
        </p:nvSpPr>
        <p:spPr>
          <a:xfrm>
            <a:off x="457200" y="1230924"/>
            <a:ext cx="8229600" cy="4668714"/>
          </a:xfrm>
        </p:spPr>
        <p:txBody>
          <a:bodyPr>
            <a:normAutofit fontScale="70000" lnSpcReduction="20000"/>
          </a:bodyPr>
          <a:lstStyle/>
          <a:p>
            <a:r>
              <a:rPr lang="en-US" dirty="0">
                <a:solidFill>
                  <a:srgbClr val="FF0000"/>
                </a:solidFill>
              </a:rPr>
              <a:t>An action schema represents a family of ground actions</a:t>
            </a:r>
            <a:r>
              <a:rPr lang="en-US" dirty="0"/>
              <a:t>. For example, here is an action schema for flying a plane from one location to another</a:t>
            </a:r>
            <a:r>
              <a:rPr lang="en-US" dirty="0" smtClean="0"/>
              <a:t>:</a:t>
            </a:r>
          </a:p>
          <a:p>
            <a:endParaRPr lang="en-US" dirty="0"/>
          </a:p>
          <a:p>
            <a:endParaRPr lang="en-US" dirty="0" smtClean="0"/>
          </a:p>
          <a:p>
            <a:endParaRPr lang="en-US" dirty="0"/>
          </a:p>
          <a:p>
            <a:endParaRPr lang="en-US" dirty="0" smtClean="0"/>
          </a:p>
          <a:p>
            <a:r>
              <a:rPr lang="en-US" dirty="0"/>
              <a:t>The schema consists of the action name, a list of all the variables used in the schema, a precondition and an effect. </a:t>
            </a:r>
            <a:endParaRPr lang="en-US" dirty="0" smtClean="0"/>
          </a:p>
          <a:p>
            <a:r>
              <a:rPr lang="en-US" dirty="0" smtClean="0"/>
              <a:t>The </a:t>
            </a:r>
            <a:r>
              <a:rPr lang="en-US" dirty="0"/>
              <a:t>precondition and the effect are each conjunctions of literals (positive or negated atomic sentences). </a:t>
            </a:r>
            <a:endParaRPr lang="en-US" dirty="0" smtClean="0"/>
          </a:p>
          <a:p>
            <a:r>
              <a:rPr lang="en-US" dirty="0">
                <a:solidFill>
                  <a:srgbClr val="FF0000"/>
                </a:solidFill>
              </a:rPr>
              <a:t>We can choose constants to instantiate the variables, yielding a ground (variable-free) action</a:t>
            </a:r>
            <a:r>
              <a:rPr lang="en-US" dirty="0" smtClean="0">
                <a:solidFill>
                  <a:srgbClr val="FF0000"/>
                </a:solidFill>
              </a:rPr>
              <a:t>:</a:t>
            </a:r>
          </a:p>
          <a:p>
            <a:endParaRPr lang="en-US" dirty="0"/>
          </a:p>
          <a:p>
            <a:endParaRPr lang="en-US" dirty="0" smtClean="0"/>
          </a:p>
          <a:p>
            <a:endParaRPr lang="en-US" dirty="0"/>
          </a:p>
          <a:p>
            <a:endParaRPr lang="en-US" dirty="0" smtClean="0"/>
          </a:p>
          <a:p>
            <a:endParaRPr lang="en-US" dirty="0"/>
          </a:p>
          <a:p>
            <a:endParaRPr lang="en-US" dirty="0"/>
          </a:p>
          <a:p>
            <a:endParaRPr lang="en-US" dirty="0" smtClean="0"/>
          </a:p>
          <a:p>
            <a:endParaRPr lang="en-US" dirty="0"/>
          </a:p>
        </p:txBody>
      </p:sp>
      <p:pic>
        <p:nvPicPr>
          <p:cNvPr id="4" name="Picture 3"/>
          <p:cNvPicPr>
            <a:picLocks noChangeAspect="1"/>
          </p:cNvPicPr>
          <p:nvPr/>
        </p:nvPicPr>
        <p:blipFill>
          <a:blip r:embed="rId2"/>
          <a:stretch>
            <a:fillRect/>
          </a:stretch>
        </p:blipFill>
        <p:spPr>
          <a:xfrm>
            <a:off x="835269" y="2230742"/>
            <a:ext cx="6400800" cy="1104900"/>
          </a:xfrm>
          <a:prstGeom prst="rect">
            <a:avLst/>
          </a:prstGeom>
        </p:spPr>
      </p:pic>
      <p:pic>
        <p:nvPicPr>
          <p:cNvPr id="6" name="Picture 5"/>
          <p:cNvPicPr>
            <a:picLocks noChangeAspect="1"/>
          </p:cNvPicPr>
          <p:nvPr/>
        </p:nvPicPr>
        <p:blipFill>
          <a:blip r:embed="rId3"/>
          <a:stretch>
            <a:fillRect/>
          </a:stretch>
        </p:blipFill>
        <p:spPr>
          <a:xfrm>
            <a:off x="898281" y="5356713"/>
            <a:ext cx="6591300" cy="1085850"/>
          </a:xfrm>
          <a:prstGeom prst="rect">
            <a:avLst/>
          </a:prstGeom>
        </p:spPr>
      </p:pic>
    </p:spTree>
    <p:extLst>
      <p:ext uri="{BB962C8B-B14F-4D97-AF65-F5344CB8AC3E}">
        <p14:creationId xmlns:p14="http://schemas.microsoft.com/office/powerpoint/2010/main" val="214334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4975"/>
            <a:ext cx="8229600" cy="692515"/>
          </a:xfrm>
        </p:spPr>
        <p:txBody>
          <a:bodyPr>
            <a:normAutofit/>
          </a:bodyPr>
          <a:lstStyle/>
          <a:p>
            <a:r>
              <a:rPr lang="en-US" sz="3600" dirty="0"/>
              <a:t>Example domain: The spare tire problem </a:t>
            </a:r>
          </a:p>
        </p:txBody>
      </p:sp>
      <p:sp>
        <p:nvSpPr>
          <p:cNvPr id="3" name="Text Placeholder 2"/>
          <p:cNvSpPr>
            <a:spLocks noGrp="1"/>
          </p:cNvSpPr>
          <p:nvPr>
            <p:ph type="body" idx="1"/>
          </p:nvPr>
        </p:nvSpPr>
        <p:spPr>
          <a:xfrm>
            <a:off x="457200" y="1345222"/>
            <a:ext cx="8229600" cy="5055576"/>
          </a:xfrm>
        </p:spPr>
        <p:txBody>
          <a:bodyPr>
            <a:normAutofit fontScale="70000" lnSpcReduction="20000"/>
          </a:bodyPr>
          <a:lstStyle/>
          <a:p>
            <a:r>
              <a:rPr lang="en-US" dirty="0"/>
              <a:t>Consider the problem of changing a flat </a:t>
            </a:r>
            <a:r>
              <a:rPr lang="en-US" dirty="0" smtClean="0"/>
              <a:t>tire. </a:t>
            </a:r>
          </a:p>
          <a:p>
            <a:r>
              <a:rPr lang="en-US" dirty="0" smtClean="0"/>
              <a:t>The </a:t>
            </a:r>
            <a:r>
              <a:rPr lang="en-US" dirty="0"/>
              <a:t>goal is to have a good </a:t>
            </a:r>
            <a:r>
              <a:rPr lang="en-US" dirty="0" smtClean="0"/>
              <a:t>spare </a:t>
            </a:r>
            <a:r>
              <a:rPr lang="en-US" dirty="0"/>
              <a:t>tire properly mounted onto the car’s </a:t>
            </a:r>
            <a:r>
              <a:rPr lang="en-US" dirty="0" smtClean="0"/>
              <a:t>axle. </a:t>
            </a:r>
          </a:p>
          <a:p>
            <a:r>
              <a:rPr lang="en-US" dirty="0"/>
              <a:t>T</a:t>
            </a:r>
            <a:r>
              <a:rPr lang="en-US" dirty="0" smtClean="0"/>
              <a:t>he </a:t>
            </a:r>
            <a:r>
              <a:rPr lang="en-US" dirty="0"/>
              <a:t>initial state has a flat tire on the axle and a good spare tire in the trunk. </a:t>
            </a:r>
            <a:endParaRPr lang="en-US" dirty="0" smtClean="0"/>
          </a:p>
          <a:p>
            <a:r>
              <a:rPr lang="en-US" dirty="0" smtClean="0"/>
              <a:t>To </a:t>
            </a:r>
            <a:r>
              <a:rPr lang="en-US" dirty="0"/>
              <a:t>keep it simple, our version of the problem is an abstract one, with no sticky lug nuts or other complications. </a:t>
            </a:r>
            <a:endParaRPr lang="en-US" dirty="0" smtClean="0"/>
          </a:p>
          <a:p>
            <a:r>
              <a:rPr lang="en-US" dirty="0" smtClean="0"/>
              <a:t>There </a:t>
            </a:r>
            <a:r>
              <a:rPr lang="en-US" dirty="0"/>
              <a:t>are just four actions: </a:t>
            </a:r>
            <a:endParaRPr lang="en-US" dirty="0" smtClean="0"/>
          </a:p>
          <a:p>
            <a:pPr lvl="1"/>
            <a:r>
              <a:rPr lang="en-US" dirty="0" smtClean="0"/>
              <a:t>removing </a:t>
            </a:r>
            <a:r>
              <a:rPr lang="en-US" dirty="0"/>
              <a:t>the spare from the trunk, </a:t>
            </a:r>
            <a:endParaRPr lang="en-US" dirty="0" smtClean="0"/>
          </a:p>
          <a:p>
            <a:pPr lvl="1"/>
            <a:r>
              <a:rPr lang="en-US" dirty="0" smtClean="0"/>
              <a:t>removing </a:t>
            </a:r>
            <a:r>
              <a:rPr lang="en-US" dirty="0"/>
              <a:t>the flat tire from the axle, </a:t>
            </a:r>
            <a:endParaRPr lang="en-US" dirty="0" smtClean="0"/>
          </a:p>
          <a:p>
            <a:pPr lvl="1"/>
            <a:r>
              <a:rPr lang="en-US" dirty="0" smtClean="0"/>
              <a:t>putting </a:t>
            </a:r>
            <a:r>
              <a:rPr lang="en-US" dirty="0"/>
              <a:t>the spare on the axle, </a:t>
            </a:r>
            <a:endParaRPr lang="en-US" dirty="0" smtClean="0"/>
          </a:p>
          <a:p>
            <a:pPr lvl="1"/>
            <a:r>
              <a:rPr lang="en-US" dirty="0" smtClean="0"/>
              <a:t>and </a:t>
            </a:r>
            <a:r>
              <a:rPr lang="en-US" dirty="0"/>
              <a:t>leaving the car unattended overnight. </a:t>
            </a:r>
            <a:endParaRPr lang="en-US" dirty="0" smtClean="0"/>
          </a:p>
          <a:p>
            <a:r>
              <a:rPr lang="en-US" dirty="0" smtClean="0"/>
              <a:t>We </a:t>
            </a:r>
            <a:r>
              <a:rPr lang="en-US" dirty="0"/>
              <a:t>assume that the car is parked in a particularly bad neighborhood, so that the effect of leaving it overnight is that the tires disappear. </a:t>
            </a:r>
            <a:endParaRPr lang="en-US" dirty="0" smtClean="0"/>
          </a:p>
        </p:txBody>
      </p:sp>
    </p:spTree>
    <p:extLst>
      <p:ext uri="{BB962C8B-B14F-4D97-AF65-F5344CB8AC3E}">
        <p14:creationId xmlns:p14="http://schemas.microsoft.com/office/powerpoint/2010/main" val="533663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707"/>
          </a:xfrm>
        </p:spPr>
        <p:txBody>
          <a:bodyPr>
            <a:normAutofit fontScale="90000"/>
          </a:bodyPr>
          <a:lstStyle/>
          <a:p>
            <a:r>
              <a:rPr lang="en-US" sz="4000" dirty="0"/>
              <a:t>Example domain: The spare tire problem </a:t>
            </a:r>
            <a:endParaRPr lang="en-US" dirty="0"/>
          </a:p>
        </p:txBody>
      </p:sp>
      <p:sp>
        <p:nvSpPr>
          <p:cNvPr id="3" name="Text Placeholder 2"/>
          <p:cNvSpPr>
            <a:spLocks noGrp="1"/>
          </p:cNvSpPr>
          <p:nvPr>
            <p:ph type="body" idx="1"/>
          </p:nvPr>
        </p:nvSpPr>
        <p:spPr/>
        <p:txBody>
          <a:bodyPr>
            <a:normAutofit fontScale="77500" lnSpcReduction="2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The </a:t>
            </a:r>
            <a:r>
              <a:rPr lang="en-US" dirty="0"/>
              <a:t>following plan is a solution to the problem: </a:t>
            </a:r>
            <a:br>
              <a:rPr lang="en-US" dirty="0"/>
            </a:br>
            <a:endParaRPr lang="en-US" dirty="0" smtClean="0"/>
          </a:p>
          <a:p>
            <a:endParaRPr lang="en-US" dirty="0"/>
          </a:p>
        </p:txBody>
      </p:sp>
      <p:pic>
        <p:nvPicPr>
          <p:cNvPr id="4" name="Picture 3"/>
          <p:cNvPicPr>
            <a:picLocks noChangeAspect="1"/>
          </p:cNvPicPr>
          <p:nvPr/>
        </p:nvPicPr>
        <p:blipFill>
          <a:blip r:embed="rId2"/>
          <a:stretch>
            <a:fillRect/>
          </a:stretch>
        </p:blipFill>
        <p:spPr>
          <a:xfrm>
            <a:off x="1018809" y="1003056"/>
            <a:ext cx="6964606" cy="4167671"/>
          </a:xfrm>
          <a:prstGeom prst="rect">
            <a:avLst/>
          </a:prstGeom>
        </p:spPr>
      </p:pic>
      <p:pic>
        <p:nvPicPr>
          <p:cNvPr id="5" name="Picture 4"/>
          <p:cNvPicPr>
            <a:picLocks noChangeAspect="1"/>
          </p:cNvPicPr>
          <p:nvPr/>
        </p:nvPicPr>
        <p:blipFill>
          <a:blip r:embed="rId3"/>
          <a:stretch>
            <a:fillRect/>
          </a:stretch>
        </p:blipFill>
        <p:spPr>
          <a:xfrm>
            <a:off x="1245577" y="5859340"/>
            <a:ext cx="6019800" cy="361950"/>
          </a:xfrm>
          <a:prstGeom prst="rect">
            <a:avLst/>
          </a:prstGeom>
        </p:spPr>
      </p:pic>
    </p:spTree>
    <p:extLst>
      <p:ext uri="{BB962C8B-B14F-4D97-AF65-F5344CB8AC3E}">
        <p14:creationId xmlns:p14="http://schemas.microsoft.com/office/powerpoint/2010/main" val="3950025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0100"/>
          </a:xfrm>
        </p:spPr>
        <p:txBody>
          <a:bodyPr>
            <a:normAutofit fontScale="90000"/>
          </a:bodyPr>
          <a:lstStyle/>
          <a:p>
            <a:r>
              <a:rPr lang="en-US" dirty="0" smtClean="0"/>
              <a:t>Example</a:t>
            </a:r>
            <a:endParaRPr lang="en-US" dirty="0"/>
          </a:p>
        </p:txBody>
      </p:sp>
      <p:sp>
        <p:nvSpPr>
          <p:cNvPr id="3" name="Text Placeholder 2"/>
          <p:cNvSpPr>
            <a:spLocks noGrp="1"/>
          </p:cNvSpPr>
          <p:nvPr>
            <p:ph type="body" idx="1"/>
          </p:nvPr>
        </p:nvSpPr>
        <p:spPr>
          <a:xfrm>
            <a:off x="457200" y="1081454"/>
            <a:ext cx="8229600" cy="5205046"/>
          </a:xfrm>
        </p:spPr>
        <p:txBody>
          <a:bodyPr>
            <a:normAutofit fontScale="70000" lnSpcReduction="20000"/>
          </a:bodyPr>
          <a:lstStyle/>
          <a:p>
            <a:r>
              <a:rPr lang="en-US" dirty="0"/>
              <a:t>Figure 11.1 shows an air cargo transport problem involving loading and unloading cargo and flying it from place to place. </a:t>
            </a:r>
            <a:endParaRPr lang="en-US" dirty="0" smtClean="0"/>
          </a:p>
          <a:p>
            <a:r>
              <a:rPr lang="en-US" dirty="0" smtClean="0"/>
              <a:t>The </a:t>
            </a:r>
            <a:r>
              <a:rPr lang="en-US" dirty="0"/>
              <a:t>problem can be defined with three actions: Load, Unload, and Fly. </a:t>
            </a:r>
            <a:endParaRPr lang="en-US" dirty="0" smtClean="0"/>
          </a:p>
          <a:p>
            <a:r>
              <a:rPr lang="en-US" dirty="0" smtClean="0"/>
              <a:t>The </a:t>
            </a:r>
            <a:r>
              <a:rPr lang="en-US" dirty="0"/>
              <a:t>actions affect two predicates: </a:t>
            </a:r>
            <a:r>
              <a:rPr lang="en-US" dirty="0" smtClean="0"/>
              <a:t>In(</a:t>
            </a:r>
            <a:r>
              <a:rPr lang="en-US" dirty="0" err="1" smtClean="0"/>
              <a:t>c,p</a:t>
            </a:r>
            <a:r>
              <a:rPr lang="en-US" dirty="0"/>
              <a:t>) means that cargo c </a:t>
            </a:r>
            <a:r>
              <a:rPr lang="en-US" dirty="0" smtClean="0"/>
              <a:t>is </a:t>
            </a:r>
            <a:r>
              <a:rPr lang="en-US" dirty="0"/>
              <a:t>inside plane p </a:t>
            </a:r>
            <a:r>
              <a:rPr lang="en-US" dirty="0" smtClean="0"/>
              <a:t>and </a:t>
            </a:r>
            <a:r>
              <a:rPr lang="en-US" dirty="0"/>
              <a:t>At(</a:t>
            </a:r>
            <a:r>
              <a:rPr lang="en-US" dirty="0" err="1"/>
              <a:t>x,a</a:t>
            </a:r>
            <a:r>
              <a:rPr lang="en-US" dirty="0"/>
              <a:t>) </a:t>
            </a:r>
            <a:r>
              <a:rPr lang="en-US" dirty="0" smtClean="0"/>
              <a:t>means </a:t>
            </a:r>
            <a:r>
              <a:rPr lang="en-US" dirty="0"/>
              <a:t>that object (either plane or cargo) is at </a:t>
            </a:r>
            <a:r>
              <a:rPr lang="en-US" dirty="0" smtClean="0"/>
              <a:t>airport. </a:t>
            </a:r>
            <a:r>
              <a:rPr lang="en-US" dirty="0"/>
              <a:t>.</a:t>
            </a:r>
          </a:p>
          <a:p>
            <a:r>
              <a:rPr lang="en-US" dirty="0" smtClean="0"/>
              <a:t>When </a:t>
            </a:r>
            <a:r>
              <a:rPr lang="en-US" dirty="0"/>
              <a:t>a plane flies from one airport to another, all the cargo inside the plane goes with it. </a:t>
            </a:r>
            <a:endParaRPr lang="en-US" dirty="0" smtClean="0"/>
          </a:p>
          <a:p>
            <a:r>
              <a:rPr lang="en-US" dirty="0" smtClean="0"/>
              <a:t>In </a:t>
            </a:r>
            <a:r>
              <a:rPr lang="en-US" dirty="0"/>
              <a:t>first-order logic it would be easy to quantify over all objects that are inside the plane. But PDDL does not have a universal quantifier, so we need a different solution. </a:t>
            </a:r>
            <a:endParaRPr lang="en-US" dirty="0" smtClean="0"/>
          </a:p>
          <a:p>
            <a:r>
              <a:rPr lang="en-US" dirty="0" smtClean="0"/>
              <a:t>The </a:t>
            </a:r>
            <a:r>
              <a:rPr lang="en-US" dirty="0"/>
              <a:t>approach we use is to say that a piece of cargo ceases to be At anywhere when it is In a plane; the cargo only becomes At the new airport when it is unloaded. </a:t>
            </a:r>
            <a:endParaRPr lang="en-US" dirty="0" smtClean="0"/>
          </a:p>
          <a:p>
            <a:r>
              <a:rPr lang="en-US" dirty="0" smtClean="0"/>
              <a:t>So </a:t>
            </a:r>
            <a:r>
              <a:rPr lang="en-US" dirty="0"/>
              <a:t>At really means “available for use at a given location</a:t>
            </a:r>
            <a:r>
              <a:rPr lang="en-US" dirty="0" smtClean="0"/>
              <a:t>.”</a:t>
            </a:r>
            <a:endParaRPr lang="en-US" dirty="0"/>
          </a:p>
        </p:txBody>
      </p:sp>
    </p:spTree>
    <p:extLst>
      <p:ext uri="{BB962C8B-B14F-4D97-AF65-F5344CB8AC3E}">
        <p14:creationId xmlns:p14="http://schemas.microsoft.com/office/powerpoint/2010/main" val="3055754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8893"/>
          </a:xfrm>
        </p:spPr>
        <p:txBody>
          <a:bodyPr>
            <a:normAutofit fontScale="90000"/>
          </a:bodyPr>
          <a:lstStyle/>
          <a:p>
            <a:r>
              <a:rPr lang="en-US" dirty="0"/>
              <a:t>Example domain: Air cargo transport</a:t>
            </a:r>
          </a:p>
        </p:txBody>
      </p:sp>
      <p:sp>
        <p:nvSpPr>
          <p:cNvPr id="3" name="Text Placeholder 2"/>
          <p:cNvSpPr>
            <a:spLocks noGrp="1"/>
          </p:cNvSpPr>
          <p:nvPr>
            <p:ph type="body" idx="1"/>
          </p:nvPr>
        </p:nvSpPr>
        <p:spPr/>
        <p:txBody>
          <a:bodyPr>
            <a:normAutofit fontScale="77500" lnSpcReduction="2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The </a:t>
            </a:r>
            <a:r>
              <a:rPr lang="en-US" dirty="0"/>
              <a:t>following plan is a solution to the problem:</a:t>
            </a:r>
            <a:r>
              <a:rPr lang="en-US" dirty="0"/>
              <a:t> </a:t>
            </a:r>
            <a:br>
              <a:rPr lang="en-US" dirty="0"/>
            </a:br>
            <a:endParaRPr lang="en-US" dirty="0"/>
          </a:p>
        </p:txBody>
      </p:sp>
      <p:pic>
        <p:nvPicPr>
          <p:cNvPr id="6" name="Picture 5"/>
          <p:cNvPicPr>
            <a:picLocks noChangeAspect="1"/>
          </p:cNvPicPr>
          <p:nvPr/>
        </p:nvPicPr>
        <p:blipFill>
          <a:blip r:embed="rId2"/>
          <a:stretch>
            <a:fillRect/>
          </a:stretch>
        </p:blipFill>
        <p:spPr>
          <a:xfrm>
            <a:off x="1264129" y="993531"/>
            <a:ext cx="6228877" cy="4129334"/>
          </a:xfrm>
          <a:prstGeom prst="rect">
            <a:avLst/>
          </a:prstGeom>
        </p:spPr>
      </p:pic>
      <p:pic>
        <p:nvPicPr>
          <p:cNvPr id="7" name="Picture 6"/>
          <p:cNvPicPr>
            <a:picLocks noChangeAspect="1"/>
          </p:cNvPicPr>
          <p:nvPr/>
        </p:nvPicPr>
        <p:blipFill>
          <a:blip r:embed="rId3"/>
          <a:stretch>
            <a:fillRect/>
          </a:stretch>
        </p:blipFill>
        <p:spPr>
          <a:xfrm>
            <a:off x="1497256" y="5859696"/>
            <a:ext cx="5762625" cy="685800"/>
          </a:xfrm>
          <a:prstGeom prst="rect">
            <a:avLst/>
          </a:prstGeom>
        </p:spPr>
      </p:pic>
    </p:spTree>
    <p:extLst>
      <p:ext uri="{BB962C8B-B14F-4D97-AF65-F5344CB8AC3E}">
        <p14:creationId xmlns:p14="http://schemas.microsoft.com/office/powerpoint/2010/main" val="932530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Classical Search Algorithms</a:t>
            </a:r>
            <a:endParaRPr lang="en-US" dirty="0"/>
          </a:p>
        </p:txBody>
      </p:sp>
      <p:sp>
        <p:nvSpPr>
          <p:cNvPr id="3" name="Text Placeholder 2"/>
          <p:cNvSpPr>
            <a:spLocks noGrp="1"/>
          </p:cNvSpPr>
          <p:nvPr>
            <p:ph type="body" idx="1"/>
          </p:nvPr>
        </p:nvSpPr>
        <p:spPr>
          <a:xfrm>
            <a:off x="457200" y="1600200"/>
            <a:ext cx="8229600" cy="4525963"/>
          </a:xfrm>
        </p:spPr>
        <p:txBody>
          <a:bodyPr>
            <a:normAutofit fontScale="70000" lnSpcReduction="20000"/>
          </a:bodyPr>
          <a:lstStyle/>
          <a:p>
            <a:r>
              <a:rPr lang="en-US" dirty="0"/>
              <a:t>In classical planning, several well-known planning algorithms are used to generate a complete plan under deterministic and fully observable assumptions. </a:t>
            </a:r>
            <a:endParaRPr lang="en-US" dirty="0" smtClean="0"/>
          </a:p>
          <a:p>
            <a:r>
              <a:rPr lang="en-US" dirty="0" smtClean="0"/>
              <a:t>These </a:t>
            </a:r>
            <a:r>
              <a:rPr lang="en-US" dirty="0"/>
              <a:t>algorithms mainly differ in how they search for a plan</a:t>
            </a:r>
            <a:r>
              <a:rPr lang="en-US" dirty="0" smtClean="0"/>
              <a:t>.</a:t>
            </a:r>
          </a:p>
          <a:p>
            <a:r>
              <a:rPr lang="en-US" dirty="0"/>
              <a:t>Forward (Progression) </a:t>
            </a:r>
            <a:r>
              <a:rPr lang="en-US" dirty="0" smtClean="0"/>
              <a:t>Search</a:t>
            </a:r>
          </a:p>
          <a:p>
            <a:pPr lvl="1"/>
            <a:r>
              <a:rPr lang="en-US" dirty="0"/>
              <a:t>Starts from the initial </a:t>
            </a:r>
            <a:r>
              <a:rPr lang="en-US" dirty="0" smtClean="0"/>
              <a:t>state</a:t>
            </a:r>
          </a:p>
          <a:p>
            <a:pPr lvl="1"/>
            <a:r>
              <a:rPr lang="en-US" dirty="0" smtClean="0"/>
              <a:t>Applies </a:t>
            </a:r>
            <a:r>
              <a:rPr lang="en-US" dirty="0"/>
              <a:t>actions to reach the goal state</a:t>
            </a:r>
            <a:endParaRPr lang="en-US" dirty="0" smtClean="0"/>
          </a:p>
          <a:p>
            <a:r>
              <a:rPr lang="en-US" dirty="0"/>
              <a:t>Backward (Regression) </a:t>
            </a:r>
            <a:r>
              <a:rPr lang="en-US" dirty="0" smtClean="0"/>
              <a:t>Search.</a:t>
            </a:r>
          </a:p>
          <a:p>
            <a:pPr lvl="1"/>
            <a:r>
              <a:rPr lang="en-US" dirty="0"/>
              <a:t>Starts from the goal </a:t>
            </a:r>
            <a:r>
              <a:rPr lang="en-US" dirty="0" smtClean="0"/>
              <a:t>state</a:t>
            </a:r>
          </a:p>
          <a:p>
            <a:pPr lvl="1"/>
            <a:r>
              <a:rPr lang="en-US" dirty="0" smtClean="0"/>
              <a:t>Works </a:t>
            </a:r>
            <a:r>
              <a:rPr lang="en-US" dirty="0"/>
              <a:t>backward to the initial </a:t>
            </a:r>
            <a:r>
              <a:rPr lang="en-US" dirty="0" smtClean="0"/>
              <a:t>state</a:t>
            </a:r>
          </a:p>
          <a:p>
            <a:pPr lvl="1"/>
            <a:r>
              <a:rPr lang="en-US" dirty="0" smtClean="0"/>
              <a:t>Searches </a:t>
            </a:r>
            <a:r>
              <a:rPr lang="en-US" dirty="0"/>
              <a:t>for actions that could achieve the </a:t>
            </a:r>
            <a:r>
              <a:rPr lang="en-US" dirty="0" smtClean="0"/>
              <a:t>goal</a:t>
            </a:r>
          </a:p>
          <a:p>
            <a:pPr lvl="1"/>
            <a:r>
              <a:rPr lang="en-US" dirty="0"/>
              <a:t>Backward search (regression planning) works by starting from the goal, selecting actions that can achieve it, replacing the goal with their preconditions, and continuing until the regressed goal is satisfied by the initial state.</a:t>
            </a:r>
          </a:p>
        </p:txBody>
      </p:sp>
    </p:spTree>
    <p:extLst>
      <p:ext uri="{BB962C8B-B14F-4D97-AF65-F5344CB8AC3E}">
        <p14:creationId xmlns:p14="http://schemas.microsoft.com/office/powerpoint/2010/main" val="1994839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819882" y="119809"/>
            <a:ext cx="7504235" cy="6220177"/>
          </a:xfrm>
          <a:prstGeom prst="rect">
            <a:avLst/>
          </a:prstGeom>
        </p:spPr>
      </p:pic>
    </p:spTree>
    <p:extLst>
      <p:ext uri="{BB962C8B-B14F-4D97-AF65-F5344CB8AC3E}">
        <p14:creationId xmlns:p14="http://schemas.microsoft.com/office/powerpoint/2010/main" val="1655655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707"/>
          </a:xfrm>
        </p:spPr>
        <p:txBody>
          <a:bodyPr>
            <a:normAutofit fontScale="90000"/>
          </a:bodyPr>
          <a:lstStyle/>
          <a:p>
            <a:r>
              <a:rPr lang="en-US" sz="4000" dirty="0"/>
              <a:t>Example domain: The spare tire problem </a:t>
            </a:r>
            <a:endParaRPr lang="en-US" dirty="0"/>
          </a:p>
        </p:txBody>
      </p:sp>
      <p:sp>
        <p:nvSpPr>
          <p:cNvPr id="3" name="Text Placeholder 2"/>
          <p:cNvSpPr>
            <a:spLocks noGrp="1"/>
          </p:cNvSpPr>
          <p:nvPr>
            <p:ph type="body" idx="1"/>
          </p:nvPr>
        </p:nvSpPr>
        <p:spPr/>
        <p:txBody>
          <a:bodyPr>
            <a:normAutofit fontScale="77500" lnSpcReduction="2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The </a:t>
            </a:r>
            <a:r>
              <a:rPr lang="en-US" dirty="0"/>
              <a:t>following plan is a solution to the problem: </a:t>
            </a:r>
            <a:br>
              <a:rPr lang="en-US" dirty="0"/>
            </a:br>
            <a:endParaRPr lang="en-US" dirty="0" smtClean="0"/>
          </a:p>
          <a:p>
            <a:endParaRPr lang="en-US" dirty="0"/>
          </a:p>
        </p:txBody>
      </p:sp>
      <p:pic>
        <p:nvPicPr>
          <p:cNvPr id="4" name="Picture 3"/>
          <p:cNvPicPr>
            <a:picLocks noChangeAspect="1"/>
          </p:cNvPicPr>
          <p:nvPr/>
        </p:nvPicPr>
        <p:blipFill>
          <a:blip r:embed="rId2"/>
          <a:stretch>
            <a:fillRect/>
          </a:stretch>
        </p:blipFill>
        <p:spPr>
          <a:xfrm>
            <a:off x="1018809" y="1003056"/>
            <a:ext cx="6964606" cy="4167671"/>
          </a:xfrm>
          <a:prstGeom prst="rect">
            <a:avLst/>
          </a:prstGeom>
        </p:spPr>
      </p:pic>
      <p:pic>
        <p:nvPicPr>
          <p:cNvPr id="5" name="Picture 4"/>
          <p:cNvPicPr>
            <a:picLocks noChangeAspect="1"/>
          </p:cNvPicPr>
          <p:nvPr/>
        </p:nvPicPr>
        <p:blipFill>
          <a:blip r:embed="rId3"/>
          <a:stretch>
            <a:fillRect/>
          </a:stretch>
        </p:blipFill>
        <p:spPr>
          <a:xfrm>
            <a:off x="1245577" y="5859340"/>
            <a:ext cx="6019800" cy="361950"/>
          </a:xfrm>
          <a:prstGeom prst="rect">
            <a:avLst/>
          </a:prstGeom>
        </p:spPr>
      </p:pic>
    </p:spTree>
    <p:extLst>
      <p:ext uri="{BB962C8B-B14F-4D97-AF65-F5344CB8AC3E}">
        <p14:creationId xmlns:p14="http://schemas.microsoft.com/office/powerpoint/2010/main" val="264960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Forward (Progression) Search</a:t>
            </a:r>
            <a:endParaRPr lang="en-US" dirty="0"/>
          </a:p>
        </p:txBody>
      </p:sp>
      <p:sp>
        <p:nvSpPr>
          <p:cNvPr id="3" name="Text Placeholder 2"/>
          <p:cNvSpPr>
            <a:spLocks noGrp="1"/>
          </p:cNvSpPr>
          <p:nvPr>
            <p:ph type="body" idx="1"/>
          </p:nvPr>
        </p:nvSpPr>
        <p:spPr>
          <a:xfrm>
            <a:off x="465992" y="1600199"/>
            <a:ext cx="4038600" cy="4525963"/>
          </a:xfrm>
        </p:spPr>
        <p:txBody>
          <a:bodyPr>
            <a:normAutofit fontScale="70000" lnSpcReduction="20000"/>
          </a:bodyPr>
          <a:lstStyle/>
          <a:p>
            <a:r>
              <a:rPr lang="en-US" dirty="0">
                <a:solidFill>
                  <a:srgbClr val="FF0000"/>
                </a:solidFill>
              </a:rPr>
              <a:t>Step 1: Start from the initial </a:t>
            </a:r>
            <a:r>
              <a:rPr lang="en-US" dirty="0" smtClean="0">
                <a:solidFill>
                  <a:srgbClr val="FF0000"/>
                </a:solidFill>
              </a:rPr>
              <a:t>state</a:t>
            </a:r>
          </a:p>
          <a:p>
            <a:pPr lvl="1"/>
            <a:r>
              <a:rPr lang="en-US" dirty="0" smtClean="0"/>
              <a:t>At(Flat</a:t>
            </a:r>
            <a:r>
              <a:rPr lang="en-US" dirty="0"/>
              <a:t>, Axle)</a:t>
            </a:r>
          </a:p>
          <a:p>
            <a:pPr lvl="1"/>
            <a:r>
              <a:rPr lang="en-US" dirty="0"/>
              <a:t>At(Spare, Trunk</a:t>
            </a:r>
            <a:r>
              <a:rPr lang="en-US" dirty="0" smtClean="0"/>
              <a:t>)</a:t>
            </a:r>
          </a:p>
          <a:p>
            <a:r>
              <a:rPr lang="en-US" dirty="0">
                <a:solidFill>
                  <a:srgbClr val="FF0000"/>
                </a:solidFill>
              </a:rPr>
              <a:t>Step 2: Apply applicable </a:t>
            </a:r>
            <a:r>
              <a:rPr lang="en-US" dirty="0" smtClean="0">
                <a:solidFill>
                  <a:srgbClr val="FF0000"/>
                </a:solidFill>
              </a:rPr>
              <a:t>actions</a:t>
            </a:r>
          </a:p>
          <a:p>
            <a:r>
              <a:rPr lang="en-US" dirty="0"/>
              <a:t>Action: Remove(Flat, Axle)</a:t>
            </a:r>
          </a:p>
          <a:p>
            <a:r>
              <a:rPr lang="en-US" dirty="0" smtClean="0"/>
              <a:t>Precondition satisfied</a:t>
            </a:r>
            <a:endParaRPr lang="en-US" dirty="0"/>
          </a:p>
          <a:p>
            <a:pPr lvl="1"/>
            <a:r>
              <a:rPr lang="en-US" dirty="0"/>
              <a:t>At(Flat, Ground)</a:t>
            </a:r>
          </a:p>
          <a:p>
            <a:pPr lvl="1"/>
            <a:r>
              <a:rPr lang="en-US" dirty="0"/>
              <a:t>At(Spare, Trunk)</a:t>
            </a:r>
          </a:p>
          <a:p>
            <a:r>
              <a:rPr lang="en-US" dirty="0">
                <a:solidFill>
                  <a:srgbClr val="FF0000"/>
                </a:solidFill>
              </a:rPr>
              <a:t>Step 3: Continue </a:t>
            </a:r>
            <a:r>
              <a:rPr lang="en-US" dirty="0" smtClean="0">
                <a:solidFill>
                  <a:srgbClr val="FF0000"/>
                </a:solidFill>
              </a:rPr>
              <a:t>search</a:t>
            </a:r>
          </a:p>
          <a:p>
            <a:r>
              <a:rPr lang="en-US" dirty="0" smtClean="0"/>
              <a:t>Action</a:t>
            </a:r>
            <a:r>
              <a:rPr lang="en-US" dirty="0"/>
              <a:t>: </a:t>
            </a:r>
            <a:r>
              <a:rPr lang="en-US" dirty="0" smtClean="0"/>
              <a:t>Remove(Spare</a:t>
            </a:r>
            <a:r>
              <a:rPr lang="en-US" dirty="0"/>
              <a:t>, </a:t>
            </a:r>
            <a:r>
              <a:rPr lang="en-US" dirty="0" smtClean="0"/>
              <a:t>Trunk)</a:t>
            </a:r>
            <a:endParaRPr lang="en-US" dirty="0"/>
          </a:p>
          <a:p>
            <a:r>
              <a:rPr lang="en-US" dirty="0" smtClean="0"/>
              <a:t>Precondition satisfied</a:t>
            </a:r>
            <a:endParaRPr lang="en-US" dirty="0"/>
          </a:p>
          <a:p>
            <a:pPr lvl="1"/>
            <a:r>
              <a:rPr lang="en-US" dirty="0"/>
              <a:t>At(Flat, Ground)</a:t>
            </a:r>
          </a:p>
          <a:p>
            <a:pPr lvl="1"/>
            <a:r>
              <a:rPr lang="en-US" dirty="0"/>
              <a:t>At(Spare, Ground)</a:t>
            </a:r>
          </a:p>
          <a:p>
            <a:endParaRPr lang="en-US" dirty="0"/>
          </a:p>
          <a:p>
            <a:endParaRPr lang="en-US" dirty="0"/>
          </a:p>
          <a:p>
            <a:endParaRPr lang="en-US" dirty="0"/>
          </a:p>
        </p:txBody>
      </p:sp>
      <p:sp>
        <p:nvSpPr>
          <p:cNvPr id="6" name="Text Placeholder 5"/>
          <p:cNvSpPr>
            <a:spLocks noGrp="1"/>
          </p:cNvSpPr>
          <p:nvPr>
            <p:ph type="body" idx="2"/>
          </p:nvPr>
        </p:nvSpPr>
        <p:spPr/>
        <p:txBody>
          <a:bodyPr>
            <a:normAutofit fontScale="77500" lnSpcReduction="20000"/>
          </a:bodyPr>
          <a:lstStyle/>
          <a:p>
            <a:r>
              <a:rPr lang="en-US" dirty="0">
                <a:solidFill>
                  <a:srgbClr val="FF0000"/>
                </a:solidFill>
              </a:rPr>
              <a:t>Step 4: Apply </a:t>
            </a:r>
            <a:r>
              <a:rPr lang="en-US" dirty="0" err="1">
                <a:solidFill>
                  <a:srgbClr val="FF0000"/>
                </a:solidFill>
              </a:rPr>
              <a:t>PutOn</a:t>
            </a:r>
            <a:r>
              <a:rPr lang="en-US" dirty="0">
                <a:solidFill>
                  <a:srgbClr val="FF0000"/>
                </a:solidFill>
              </a:rPr>
              <a:t>(Spare, Axle)</a:t>
            </a:r>
          </a:p>
          <a:p>
            <a:r>
              <a:rPr lang="en-US" dirty="0"/>
              <a:t>Preconditions satisfied:</a:t>
            </a:r>
          </a:p>
          <a:p>
            <a:pPr lvl="1"/>
            <a:r>
              <a:rPr lang="en-US" dirty="0"/>
              <a:t>Tire(Spare)</a:t>
            </a:r>
          </a:p>
          <a:p>
            <a:pPr lvl="1"/>
            <a:r>
              <a:rPr lang="en-US" dirty="0"/>
              <a:t>At(Spare, Ground)</a:t>
            </a:r>
          </a:p>
          <a:p>
            <a:pPr lvl="1"/>
            <a:r>
              <a:rPr lang="en-US" dirty="0"/>
              <a:t>Axle </a:t>
            </a:r>
            <a:r>
              <a:rPr lang="en-US" dirty="0" smtClean="0"/>
              <a:t>empty</a:t>
            </a:r>
          </a:p>
          <a:p>
            <a:r>
              <a:rPr lang="en-US" dirty="0" smtClean="0"/>
              <a:t>At(Spare</a:t>
            </a:r>
            <a:r>
              <a:rPr lang="en-US" dirty="0"/>
              <a:t>, Axle)</a:t>
            </a:r>
          </a:p>
          <a:p>
            <a:r>
              <a:rPr lang="en-US" dirty="0"/>
              <a:t>At(Flat, Ground)</a:t>
            </a:r>
          </a:p>
          <a:p>
            <a:r>
              <a:rPr lang="en-US" dirty="0">
                <a:solidFill>
                  <a:srgbClr val="FF0000"/>
                </a:solidFill>
              </a:rPr>
              <a:t>Step 5: Goal test</a:t>
            </a:r>
          </a:p>
          <a:p>
            <a:pPr lvl="1"/>
            <a:r>
              <a:rPr lang="en-US" dirty="0" smtClean="0"/>
              <a:t>Goal achieved</a:t>
            </a:r>
          </a:p>
          <a:p>
            <a:r>
              <a:rPr lang="en-US" b="1" dirty="0" smtClean="0"/>
              <a:t>Solution Path:</a:t>
            </a:r>
          </a:p>
          <a:p>
            <a:pPr marL="508000" lvl="1" indent="0">
              <a:buNone/>
            </a:pPr>
            <a:r>
              <a:rPr lang="en-US" dirty="0"/>
              <a:t>1. Remove(Flat, Axle)</a:t>
            </a:r>
          </a:p>
          <a:p>
            <a:pPr marL="508000" lvl="1" indent="0">
              <a:buNone/>
            </a:pPr>
            <a:r>
              <a:rPr lang="en-US" dirty="0"/>
              <a:t>2. Remove(Spare, </a:t>
            </a:r>
            <a:r>
              <a:rPr lang="en-US" dirty="0" smtClean="0"/>
              <a:t>Trunk)</a:t>
            </a:r>
          </a:p>
          <a:p>
            <a:pPr marL="508000" lvl="1" indent="0">
              <a:buNone/>
            </a:pPr>
            <a:r>
              <a:rPr lang="en-US" dirty="0" smtClean="0"/>
              <a:t>3</a:t>
            </a:r>
            <a:r>
              <a:rPr lang="en-US" dirty="0"/>
              <a:t>. </a:t>
            </a:r>
            <a:r>
              <a:rPr lang="en-US" dirty="0" err="1"/>
              <a:t>PutOn</a:t>
            </a:r>
            <a:r>
              <a:rPr lang="en-US" dirty="0"/>
              <a:t>(Spare, Axle)</a:t>
            </a:r>
          </a:p>
          <a:p>
            <a:pPr lvl="1"/>
            <a:endParaRPr lang="en-US" dirty="0"/>
          </a:p>
          <a:p>
            <a:endParaRPr lang="en-US" dirty="0"/>
          </a:p>
        </p:txBody>
      </p:sp>
    </p:spTree>
    <p:extLst>
      <p:ext uri="{BB962C8B-B14F-4D97-AF65-F5344CB8AC3E}">
        <p14:creationId xmlns:p14="http://schemas.microsoft.com/office/powerpoint/2010/main" val="4227521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89231"/>
          </a:xfrm>
        </p:spPr>
        <p:txBody>
          <a:bodyPr>
            <a:normAutofit/>
          </a:bodyPr>
          <a:lstStyle/>
          <a:p>
            <a:r>
              <a:rPr lang="en-US" sz="3600" dirty="0"/>
              <a:t>Backward (Regression) Search</a:t>
            </a:r>
          </a:p>
        </p:txBody>
      </p:sp>
      <p:sp>
        <p:nvSpPr>
          <p:cNvPr id="3" name="Text Placeholder 2"/>
          <p:cNvSpPr>
            <a:spLocks noGrp="1"/>
          </p:cNvSpPr>
          <p:nvPr>
            <p:ph type="body" idx="1"/>
          </p:nvPr>
        </p:nvSpPr>
        <p:spPr>
          <a:xfrm>
            <a:off x="457200" y="1125416"/>
            <a:ext cx="4038600" cy="5530362"/>
          </a:xfrm>
        </p:spPr>
        <p:txBody>
          <a:bodyPr>
            <a:normAutofit fontScale="70000" lnSpcReduction="20000"/>
          </a:bodyPr>
          <a:lstStyle/>
          <a:p>
            <a:r>
              <a:rPr lang="en-US" dirty="0">
                <a:solidFill>
                  <a:srgbClr val="FF0000"/>
                </a:solidFill>
              </a:rPr>
              <a:t>Step 1: Start from the </a:t>
            </a:r>
            <a:r>
              <a:rPr lang="en-US" dirty="0" smtClean="0">
                <a:solidFill>
                  <a:srgbClr val="FF0000"/>
                </a:solidFill>
              </a:rPr>
              <a:t>goal</a:t>
            </a:r>
          </a:p>
          <a:p>
            <a:pPr lvl="1"/>
            <a:r>
              <a:rPr lang="en-US" dirty="0"/>
              <a:t>G0 = { At(Spare, Axle) }</a:t>
            </a:r>
          </a:p>
          <a:p>
            <a:r>
              <a:rPr lang="en-US" dirty="0"/>
              <a:t>Which action can achieve At(Spare, Axle</a:t>
            </a:r>
            <a:r>
              <a:rPr lang="en-US" dirty="0" smtClean="0"/>
              <a:t>)?</a:t>
            </a:r>
          </a:p>
          <a:p>
            <a:r>
              <a:rPr lang="en-US" dirty="0" smtClean="0"/>
              <a:t>Applicable action</a:t>
            </a:r>
            <a:endParaRPr lang="en-US" dirty="0"/>
          </a:p>
          <a:p>
            <a:pPr lvl="1"/>
            <a:r>
              <a:rPr lang="en-US" dirty="0" err="1" smtClean="0"/>
              <a:t>PutOn</a:t>
            </a:r>
            <a:r>
              <a:rPr lang="en-US" dirty="0" smtClean="0"/>
              <a:t>(Spare</a:t>
            </a:r>
            <a:r>
              <a:rPr lang="en-US" dirty="0"/>
              <a:t>, Axle)(because its effect includes At(t, Axle</a:t>
            </a:r>
            <a:r>
              <a:rPr lang="en-US" dirty="0" smtClean="0"/>
              <a:t>))</a:t>
            </a:r>
          </a:p>
          <a:p>
            <a:r>
              <a:rPr lang="en-US" dirty="0">
                <a:solidFill>
                  <a:srgbClr val="FF0000"/>
                </a:solidFill>
              </a:rPr>
              <a:t>Step 2: Regress the goal through </a:t>
            </a:r>
            <a:r>
              <a:rPr lang="en-US" dirty="0" err="1" smtClean="0">
                <a:solidFill>
                  <a:srgbClr val="FF0000"/>
                </a:solidFill>
              </a:rPr>
              <a:t>PutOn</a:t>
            </a:r>
            <a:endParaRPr lang="en-US" dirty="0" smtClean="0">
              <a:solidFill>
                <a:srgbClr val="FF0000"/>
              </a:solidFill>
            </a:endParaRPr>
          </a:p>
          <a:p>
            <a:r>
              <a:rPr lang="en-US" dirty="0"/>
              <a:t>Action: </a:t>
            </a:r>
            <a:r>
              <a:rPr lang="en-US" dirty="0" err="1"/>
              <a:t>PutOn</a:t>
            </a:r>
            <a:r>
              <a:rPr lang="en-US" dirty="0"/>
              <a:t>(Spare, Axle</a:t>
            </a:r>
            <a:r>
              <a:rPr lang="en-US" dirty="0" smtClean="0"/>
              <a:t>)</a:t>
            </a:r>
          </a:p>
          <a:p>
            <a:r>
              <a:rPr lang="en-US" dirty="0" smtClean="0"/>
              <a:t>Preconditions:</a:t>
            </a:r>
          </a:p>
          <a:p>
            <a:pPr lvl="1"/>
            <a:r>
              <a:rPr lang="en-US" dirty="0"/>
              <a:t>Tire(Spare)</a:t>
            </a:r>
          </a:p>
          <a:p>
            <a:pPr lvl="1"/>
            <a:r>
              <a:rPr lang="en-US" dirty="0"/>
              <a:t>At(Spare, Ground)</a:t>
            </a:r>
          </a:p>
          <a:p>
            <a:pPr lvl="1"/>
            <a:r>
              <a:rPr lang="en-US" dirty="0"/>
              <a:t>¬At(Flat, Axle)</a:t>
            </a:r>
          </a:p>
          <a:p>
            <a:pPr lvl="1"/>
            <a:r>
              <a:rPr lang="en-US" dirty="0"/>
              <a:t>¬At(Spare, Axle)</a:t>
            </a:r>
          </a:p>
          <a:p>
            <a:r>
              <a:rPr lang="en-US" dirty="0"/>
              <a:t>Regression </a:t>
            </a:r>
            <a:r>
              <a:rPr lang="en-US" dirty="0" smtClean="0"/>
              <a:t>rule</a:t>
            </a:r>
          </a:p>
          <a:p>
            <a:pPr lvl="1"/>
            <a:r>
              <a:rPr lang="en-US" dirty="0" smtClean="0"/>
              <a:t>Remove </a:t>
            </a:r>
            <a:r>
              <a:rPr lang="en-US" dirty="0"/>
              <a:t>achieved goal: At(Spare, Axle</a:t>
            </a:r>
            <a:r>
              <a:rPr lang="en-US" dirty="0" smtClean="0"/>
              <a:t>)</a:t>
            </a:r>
          </a:p>
        </p:txBody>
      </p:sp>
      <p:sp>
        <p:nvSpPr>
          <p:cNvPr id="4" name="Text Placeholder 3"/>
          <p:cNvSpPr>
            <a:spLocks noGrp="1"/>
          </p:cNvSpPr>
          <p:nvPr>
            <p:ph type="body" idx="2"/>
          </p:nvPr>
        </p:nvSpPr>
        <p:spPr>
          <a:xfrm>
            <a:off x="4648200" y="1230924"/>
            <a:ext cx="4038600" cy="5205045"/>
          </a:xfrm>
        </p:spPr>
        <p:txBody>
          <a:bodyPr>
            <a:normAutofit fontScale="77500" lnSpcReduction="20000"/>
          </a:bodyPr>
          <a:lstStyle/>
          <a:p>
            <a:pPr lvl="1"/>
            <a:r>
              <a:rPr lang="en-US" dirty="0"/>
              <a:t>Add preconditions</a:t>
            </a:r>
          </a:p>
          <a:p>
            <a:pPr lvl="1"/>
            <a:r>
              <a:rPr lang="en-US" dirty="0"/>
              <a:t>G1 = {</a:t>
            </a:r>
          </a:p>
          <a:p>
            <a:pPr lvl="1"/>
            <a:r>
              <a:rPr lang="en-US" dirty="0"/>
              <a:t>  Tire(Spare),</a:t>
            </a:r>
          </a:p>
          <a:p>
            <a:pPr lvl="1"/>
            <a:r>
              <a:rPr lang="en-US" dirty="0"/>
              <a:t>  At(Spare, Ground),</a:t>
            </a:r>
          </a:p>
          <a:p>
            <a:pPr lvl="1"/>
            <a:r>
              <a:rPr lang="en-US" dirty="0"/>
              <a:t>  ¬At(Flat, Axle)</a:t>
            </a:r>
          </a:p>
          <a:p>
            <a:pPr lvl="1"/>
            <a:r>
              <a:rPr lang="en-US" dirty="0" smtClean="0"/>
              <a:t>}</a:t>
            </a:r>
          </a:p>
          <a:p>
            <a:r>
              <a:rPr lang="en-US" dirty="0" smtClean="0">
                <a:solidFill>
                  <a:srgbClr val="FF0000"/>
                </a:solidFill>
              </a:rPr>
              <a:t>Step </a:t>
            </a:r>
            <a:r>
              <a:rPr lang="en-US" dirty="0">
                <a:solidFill>
                  <a:srgbClr val="FF0000"/>
                </a:solidFill>
              </a:rPr>
              <a:t>3: Regress G1 </a:t>
            </a:r>
            <a:r>
              <a:rPr lang="en-US" dirty="0" smtClean="0">
                <a:solidFill>
                  <a:srgbClr val="FF0000"/>
                </a:solidFill>
              </a:rPr>
              <a:t>further</a:t>
            </a:r>
          </a:p>
          <a:p>
            <a:pPr lvl="1"/>
            <a:r>
              <a:rPr lang="en-US" dirty="0"/>
              <a:t>Which action can achieve At(Spare, Ground</a:t>
            </a:r>
            <a:r>
              <a:rPr lang="en-US" dirty="0" smtClean="0"/>
              <a:t>)?</a:t>
            </a:r>
          </a:p>
          <a:p>
            <a:r>
              <a:rPr lang="en-US" dirty="0" smtClean="0"/>
              <a:t>Applicable action </a:t>
            </a:r>
          </a:p>
          <a:p>
            <a:pPr lvl="1"/>
            <a:r>
              <a:rPr lang="en-US" dirty="0" smtClean="0"/>
              <a:t>Remove(Spare</a:t>
            </a:r>
            <a:r>
              <a:rPr lang="en-US" dirty="0"/>
              <a:t>, Trunk</a:t>
            </a:r>
            <a:r>
              <a:rPr lang="en-US" dirty="0" smtClean="0"/>
              <a:t>)</a:t>
            </a:r>
          </a:p>
          <a:p>
            <a:pPr lvl="1"/>
            <a:r>
              <a:rPr lang="en-US" dirty="0"/>
              <a:t>At(Spare, Trunk)</a:t>
            </a:r>
          </a:p>
          <a:p>
            <a:pPr lvl="1"/>
            <a:r>
              <a:rPr lang="en-US" dirty="0"/>
              <a:t>G2 = {</a:t>
            </a:r>
          </a:p>
          <a:p>
            <a:pPr lvl="1"/>
            <a:r>
              <a:rPr lang="en-US" dirty="0"/>
              <a:t>  Tire(Spare),</a:t>
            </a:r>
          </a:p>
          <a:p>
            <a:pPr lvl="1"/>
            <a:r>
              <a:rPr lang="en-US" dirty="0"/>
              <a:t>  At(Spare, Trunk),</a:t>
            </a:r>
          </a:p>
          <a:p>
            <a:pPr lvl="1"/>
            <a:r>
              <a:rPr lang="en-US" dirty="0"/>
              <a:t>  ¬At(Flat, Axle)</a:t>
            </a:r>
          </a:p>
          <a:p>
            <a:pPr lvl="1"/>
            <a:r>
              <a:rPr lang="en-US" dirty="0"/>
              <a:t>}</a:t>
            </a:r>
          </a:p>
          <a:p>
            <a:endParaRPr lang="en-US" dirty="0" smtClean="0"/>
          </a:p>
          <a:p>
            <a:endParaRPr lang="en-US" dirty="0"/>
          </a:p>
        </p:txBody>
      </p:sp>
    </p:spTree>
    <p:extLst>
      <p:ext uri="{BB962C8B-B14F-4D97-AF65-F5344CB8AC3E}">
        <p14:creationId xmlns:p14="http://schemas.microsoft.com/office/powerpoint/2010/main" val="2209764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4546"/>
            <a:ext cx="4038600" cy="5196254"/>
          </a:xfrm>
        </p:spPr>
        <p:txBody>
          <a:bodyPr>
            <a:normAutofit fontScale="85000" lnSpcReduction="20000"/>
          </a:bodyPr>
          <a:lstStyle/>
          <a:p>
            <a:r>
              <a:rPr lang="en-US" dirty="0">
                <a:solidFill>
                  <a:srgbClr val="FF0000"/>
                </a:solidFill>
              </a:rPr>
              <a:t>Step 4: Handle ¬At(Flat, Axle</a:t>
            </a:r>
            <a:r>
              <a:rPr lang="en-US" dirty="0" smtClean="0">
                <a:solidFill>
                  <a:srgbClr val="FF0000"/>
                </a:solidFill>
              </a:rPr>
              <a:t>)</a:t>
            </a:r>
          </a:p>
          <a:p>
            <a:r>
              <a:rPr lang="en-US" dirty="0"/>
              <a:t>Which action removes At(Flat, Axle</a:t>
            </a:r>
            <a:r>
              <a:rPr lang="en-US" dirty="0" smtClean="0"/>
              <a:t>)?</a:t>
            </a:r>
          </a:p>
          <a:p>
            <a:r>
              <a:rPr lang="en-US" dirty="0" smtClean="0"/>
              <a:t>Applicable action</a:t>
            </a:r>
            <a:endParaRPr lang="en-US" dirty="0"/>
          </a:p>
          <a:p>
            <a:pPr lvl="1"/>
            <a:r>
              <a:rPr lang="en-US" dirty="0" smtClean="0"/>
              <a:t>Remove(Flat</a:t>
            </a:r>
            <a:r>
              <a:rPr lang="en-US" dirty="0"/>
              <a:t>, Axle</a:t>
            </a:r>
            <a:r>
              <a:rPr lang="en-US" dirty="0" smtClean="0"/>
              <a:t>)</a:t>
            </a:r>
          </a:p>
          <a:p>
            <a:pPr lvl="1"/>
            <a:r>
              <a:rPr lang="en-US" dirty="0" smtClean="0"/>
              <a:t>Regress </a:t>
            </a:r>
            <a:r>
              <a:rPr lang="en-US" dirty="0"/>
              <a:t>through Remove(Flat, Axle</a:t>
            </a:r>
            <a:r>
              <a:rPr lang="en-US" dirty="0" smtClean="0"/>
              <a:t>)</a:t>
            </a:r>
          </a:p>
          <a:p>
            <a:r>
              <a:rPr lang="en-US" dirty="0" smtClean="0"/>
              <a:t>Preconditions</a:t>
            </a:r>
          </a:p>
          <a:p>
            <a:pPr lvl="1"/>
            <a:r>
              <a:rPr lang="en-US" dirty="0"/>
              <a:t>At(Flat, Axle)</a:t>
            </a:r>
          </a:p>
          <a:p>
            <a:pPr lvl="1"/>
            <a:r>
              <a:rPr lang="en-US" dirty="0"/>
              <a:t>New regressed </a:t>
            </a:r>
            <a:r>
              <a:rPr lang="en-US" dirty="0" smtClean="0"/>
              <a:t>goal</a:t>
            </a:r>
          </a:p>
          <a:p>
            <a:pPr lvl="1"/>
            <a:r>
              <a:rPr lang="en-US" dirty="0"/>
              <a:t>G3 = {</a:t>
            </a:r>
          </a:p>
          <a:p>
            <a:pPr lvl="1"/>
            <a:r>
              <a:rPr lang="en-US" dirty="0"/>
              <a:t>  Tire(Spare),</a:t>
            </a:r>
          </a:p>
          <a:p>
            <a:pPr lvl="1"/>
            <a:r>
              <a:rPr lang="en-US" dirty="0"/>
              <a:t>  At(Spare, Trunk),</a:t>
            </a:r>
          </a:p>
          <a:p>
            <a:pPr lvl="1"/>
            <a:r>
              <a:rPr lang="en-US" dirty="0"/>
              <a:t>  At(Flat, Axle)</a:t>
            </a:r>
          </a:p>
          <a:p>
            <a:pPr lvl="1"/>
            <a:r>
              <a:rPr lang="en-US" dirty="0"/>
              <a:t>}</a:t>
            </a:r>
          </a:p>
          <a:p>
            <a:endParaRPr lang="en-US" dirty="0"/>
          </a:p>
        </p:txBody>
      </p:sp>
      <p:sp>
        <p:nvSpPr>
          <p:cNvPr id="4" name="Text Placeholder 3"/>
          <p:cNvSpPr>
            <a:spLocks noGrp="1"/>
          </p:cNvSpPr>
          <p:nvPr>
            <p:ph type="body" idx="2"/>
          </p:nvPr>
        </p:nvSpPr>
        <p:spPr>
          <a:xfrm>
            <a:off x="4648200" y="1204546"/>
            <a:ext cx="4038600" cy="5196254"/>
          </a:xfrm>
        </p:spPr>
        <p:txBody>
          <a:bodyPr>
            <a:normAutofit fontScale="92500" lnSpcReduction="10000"/>
          </a:bodyPr>
          <a:lstStyle/>
          <a:p>
            <a:r>
              <a:rPr lang="en-US" dirty="0">
                <a:solidFill>
                  <a:srgbClr val="FF0000"/>
                </a:solidFill>
              </a:rPr>
              <a:t>Step 5: Check against initial </a:t>
            </a:r>
            <a:r>
              <a:rPr lang="en-US" dirty="0" smtClean="0">
                <a:solidFill>
                  <a:srgbClr val="FF0000"/>
                </a:solidFill>
              </a:rPr>
              <a:t>state</a:t>
            </a:r>
          </a:p>
          <a:p>
            <a:pPr lvl="1"/>
            <a:r>
              <a:rPr lang="en-US" dirty="0"/>
              <a:t>Tire(Spare)</a:t>
            </a:r>
          </a:p>
          <a:p>
            <a:pPr lvl="1"/>
            <a:r>
              <a:rPr lang="en-US" dirty="0"/>
              <a:t>At(Spare, Trunk)</a:t>
            </a:r>
          </a:p>
          <a:p>
            <a:pPr lvl="1"/>
            <a:r>
              <a:rPr lang="en-US" dirty="0"/>
              <a:t>At(Flat, Axle)</a:t>
            </a:r>
          </a:p>
          <a:p>
            <a:r>
              <a:rPr lang="en-US" dirty="0"/>
              <a:t>All goals </a:t>
            </a:r>
            <a:r>
              <a:rPr lang="en-US" dirty="0" smtClean="0"/>
              <a:t>satisfied</a:t>
            </a:r>
          </a:p>
          <a:p>
            <a:r>
              <a:rPr lang="en-US" b="1" dirty="0"/>
              <a:t>Final </a:t>
            </a:r>
            <a:r>
              <a:rPr lang="en-US" b="1" dirty="0" smtClean="0"/>
              <a:t>Solution</a:t>
            </a:r>
            <a:endParaRPr lang="en-US" b="1" dirty="0"/>
          </a:p>
          <a:p>
            <a:pPr lvl="1"/>
            <a:r>
              <a:rPr lang="en-US" dirty="0"/>
              <a:t>Regression finds actions backward, so reverse them:</a:t>
            </a:r>
          </a:p>
          <a:p>
            <a:pPr marL="508000" lvl="1" indent="0">
              <a:buNone/>
            </a:pPr>
            <a:r>
              <a:rPr lang="en-US" dirty="0"/>
              <a:t>1. Remove(Flat, Axle)</a:t>
            </a:r>
          </a:p>
          <a:p>
            <a:pPr marL="508000" lvl="1" indent="0">
              <a:buNone/>
            </a:pPr>
            <a:r>
              <a:rPr lang="en-US" dirty="0"/>
              <a:t>2. Remove(Spare, Trunk)</a:t>
            </a:r>
          </a:p>
          <a:p>
            <a:pPr marL="508000" lvl="1" indent="0">
              <a:buNone/>
            </a:pPr>
            <a:r>
              <a:rPr lang="en-US" dirty="0"/>
              <a:t>3. </a:t>
            </a:r>
            <a:r>
              <a:rPr lang="en-US" dirty="0" err="1"/>
              <a:t>PutOn</a:t>
            </a:r>
            <a:r>
              <a:rPr lang="en-US" dirty="0"/>
              <a:t>(Spare, Axle</a:t>
            </a:r>
            <a:r>
              <a:rPr lang="en-US" dirty="0" smtClean="0"/>
              <a:t>)</a:t>
            </a:r>
            <a:endParaRPr lang="en-US" dirty="0"/>
          </a:p>
        </p:txBody>
      </p:sp>
      <p:sp>
        <p:nvSpPr>
          <p:cNvPr id="6" name="Title 1"/>
          <p:cNvSpPr>
            <a:spLocks noGrp="1"/>
          </p:cNvSpPr>
          <p:nvPr>
            <p:ph type="title"/>
          </p:nvPr>
        </p:nvSpPr>
        <p:spPr>
          <a:xfrm>
            <a:off x="457200" y="274638"/>
            <a:ext cx="8229600" cy="789231"/>
          </a:xfrm>
        </p:spPr>
        <p:txBody>
          <a:bodyPr>
            <a:normAutofit/>
          </a:bodyPr>
          <a:lstStyle/>
          <a:p>
            <a:r>
              <a:rPr lang="en-US" sz="3600" dirty="0"/>
              <a:t>Backward (Regression) Search</a:t>
            </a:r>
          </a:p>
        </p:txBody>
      </p:sp>
    </p:spTree>
    <p:extLst>
      <p:ext uri="{BB962C8B-B14F-4D97-AF65-F5344CB8AC3E}">
        <p14:creationId xmlns:p14="http://schemas.microsoft.com/office/powerpoint/2010/main" val="1902817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40"/>
            <a:ext cx="8229600" cy="499084"/>
          </a:xfrm>
        </p:spPr>
        <p:txBody>
          <a:bodyPr>
            <a:normAutofit fontScale="90000"/>
          </a:bodyPr>
          <a:lstStyle/>
          <a:p>
            <a:r>
              <a:rPr lang="en-US" dirty="0" smtClean="0"/>
              <a:t>Hierarchical Planning</a:t>
            </a:r>
            <a:endParaRPr lang="en-US" dirty="0"/>
          </a:p>
        </p:txBody>
      </p:sp>
      <p:sp>
        <p:nvSpPr>
          <p:cNvPr id="3" name="Text Placeholder 2"/>
          <p:cNvSpPr>
            <a:spLocks noGrp="1"/>
          </p:cNvSpPr>
          <p:nvPr>
            <p:ph type="body" idx="1"/>
          </p:nvPr>
        </p:nvSpPr>
        <p:spPr>
          <a:xfrm>
            <a:off x="457200" y="923192"/>
            <a:ext cx="8229600" cy="4466492"/>
          </a:xfrm>
        </p:spPr>
        <p:txBody>
          <a:bodyPr>
            <a:normAutofit fontScale="77500" lnSpcReduction="20000"/>
          </a:bodyPr>
          <a:lstStyle/>
          <a:p>
            <a:r>
              <a:rPr lang="en-US" dirty="0"/>
              <a:t>Hierarchical planning is a planning approach in Artificial Intelligence in which a complex problem is solved by breaking it down into smaller, more manageable </a:t>
            </a:r>
            <a:r>
              <a:rPr lang="en-US" dirty="0" err="1"/>
              <a:t>subproblems</a:t>
            </a:r>
            <a:r>
              <a:rPr lang="en-US" dirty="0"/>
              <a:t> arranged in multiple levels of abstraction</a:t>
            </a:r>
            <a:r>
              <a:rPr lang="en-US" dirty="0" smtClean="0"/>
              <a:t>.</a:t>
            </a:r>
          </a:p>
          <a:p>
            <a:r>
              <a:rPr lang="en-US" dirty="0" smtClean="0"/>
              <a:t>We </a:t>
            </a:r>
            <a:r>
              <a:rPr lang="en-US" dirty="0"/>
              <a:t>distinguish actions in: </a:t>
            </a:r>
          </a:p>
          <a:p>
            <a:pPr lvl="1"/>
            <a:r>
              <a:rPr lang="en-US" dirty="0" smtClean="0"/>
              <a:t>Primitive actions: Directly </a:t>
            </a:r>
            <a:r>
              <a:rPr lang="en-US" dirty="0"/>
              <a:t>executable by the </a:t>
            </a:r>
            <a:r>
              <a:rPr lang="en-US" dirty="0" smtClean="0"/>
              <a:t>agent</a:t>
            </a:r>
            <a:r>
              <a:rPr lang="en-US" dirty="0"/>
              <a:t>.</a:t>
            </a:r>
          </a:p>
          <a:p>
            <a:pPr lvl="1"/>
            <a:r>
              <a:rPr lang="en-US" dirty="0" smtClean="0"/>
              <a:t>High </a:t>
            </a:r>
            <a:r>
              <a:rPr lang="en-US" dirty="0"/>
              <a:t>Level Actions (</a:t>
            </a:r>
            <a:r>
              <a:rPr lang="en-US" dirty="0" smtClean="0"/>
              <a:t>HLA): Each </a:t>
            </a:r>
            <a:r>
              <a:rPr lang="en-US" dirty="0"/>
              <a:t>HLA has one or more possible refinements in terms of a sequence of primitive or high level </a:t>
            </a:r>
            <a:r>
              <a:rPr lang="en-US" dirty="0" smtClean="0"/>
              <a:t>actions.</a:t>
            </a:r>
          </a:p>
          <a:p>
            <a:r>
              <a:rPr lang="en-US" dirty="0" smtClean="0"/>
              <a:t>For </a:t>
            </a:r>
            <a:r>
              <a:rPr lang="en-US" dirty="0"/>
              <a:t>example, the action “Go to San Francisco airport,” represented formally as </a:t>
            </a:r>
            <a:r>
              <a:rPr lang="en-US" i="1" dirty="0"/>
              <a:t>Go</a:t>
            </a:r>
            <a:r>
              <a:rPr lang="en-US" dirty="0"/>
              <a:t>(</a:t>
            </a:r>
            <a:r>
              <a:rPr lang="en-US" i="1" dirty="0" err="1"/>
              <a:t>Home,SFO</a:t>
            </a:r>
            <a:r>
              <a:rPr lang="en-US" dirty="0"/>
              <a:t>), might have two possible </a:t>
            </a:r>
            <a:r>
              <a:rPr lang="en-US" dirty="0" smtClean="0"/>
              <a:t>refinements.</a:t>
            </a:r>
          </a:p>
        </p:txBody>
      </p:sp>
      <p:pic>
        <p:nvPicPr>
          <p:cNvPr id="4" name="Picture 3"/>
          <p:cNvPicPr>
            <a:picLocks noChangeAspect="1"/>
          </p:cNvPicPr>
          <p:nvPr/>
        </p:nvPicPr>
        <p:blipFill>
          <a:blip r:embed="rId2"/>
          <a:stretch>
            <a:fillRect/>
          </a:stretch>
        </p:blipFill>
        <p:spPr>
          <a:xfrm>
            <a:off x="1098305" y="4747846"/>
            <a:ext cx="6849942" cy="1980574"/>
          </a:xfrm>
          <a:prstGeom prst="rect">
            <a:avLst/>
          </a:prstGeom>
        </p:spPr>
      </p:pic>
    </p:spTree>
    <p:extLst>
      <p:ext uri="{BB962C8B-B14F-4D97-AF65-F5344CB8AC3E}">
        <p14:creationId xmlns:p14="http://schemas.microsoft.com/office/powerpoint/2010/main" val="3050830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Planning and acting in nondeterministic domains</a:t>
            </a:r>
            <a:r>
              <a:rPr lang="en-US" sz="4000" dirty="0"/>
              <a:t> </a:t>
            </a:r>
            <a:endParaRPr lang="en-US" dirty="0"/>
          </a:p>
        </p:txBody>
      </p:sp>
      <p:sp>
        <p:nvSpPr>
          <p:cNvPr id="3" name="Text Placeholder 2"/>
          <p:cNvSpPr>
            <a:spLocks noGrp="1"/>
          </p:cNvSpPr>
          <p:nvPr>
            <p:ph type="body" idx="1"/>
          </p:nvPr>
        </p:nvSpPr>
        <p:spPr/>
        <p:txBody>
          <a:bodyPr>
            <a:normAutofit fontScale="85000" lnSpcReduction="10000"/>
          </a:bodyPr>
          <a:lstStyle/>
          <a:p>
            <a:r>
              <a:rPr lang="en-US" dirty="0"/>
              <a:t>Consider partially observable, nondeterministic, and unknown environments.</a:t>
            </a:r>
          </a:p>
          <a:p>
            <a:r>
              <a:rPr lang="en-US" dirty="0" err="1">
                <a:solidFill>
                  <a:srgbClr val="FF0000"/>
                </a:solidFill>
              </a:rPr>
              <a:t>S</a:t>
            </a:r>
            <a:r>
              <a:rPr lang="en-US" dirty="0" err="1" smtClean="0">
                <a:solidFill>
                  <a:srgbClr val="FF0000"/>
                </a:solidFill>
              </a:rPr>
              <a:t>ensorless</a:t>
            </a:r>
            <a:r>
              <a:rPr lang="en-US" dirty="0" smtClean="0">
                <a:solidFill>
                  <a:srgbClr val="FF0000"/>
                </a:solidFill>
              </a:rPr>
              <a:t> </a:t>
            </a:r>
            <a:r>
              <a:rPr lang="en-US" dirty="0">
                <a:solidFill>
                  <a:srgbClr val="FF0000"/>
                </a:solidFill>
              </a:rPr>
              <a:t>planning (also known as conformant</a:t>
            </a:r>
            <a:r>
              <a:rPr lang="en-US" b="1" dirty="0">
                <a:solidFill>
                  <a:srgbClr val="FF0000"/>
                </a:solidFill>
              </a:rPr>
              <a:t> </a:t>
            </a:r>
            <a:r>
              <a:rPr lang="en-US" dirty="0">
                <a:solidFill>
                  <a:srgbClr val="FF0000"/>
                </a:solidFill>
              </a:rPr>
              <a:t>planning) </a:t>
            </a:r>
            <a:r>
              <a:rPr lang="en-US" dirty="0"/>
              <a:t>for </a:t>
            </a:r>
            <a:r>
              <a:rPr lang="en-US" dirty="0" smtClean="0"/>
              <a:t>environments with </a:t>
            </a:r>
            <a:r>
              <a:rPr lang="en-US" dirty="0"/>
              <a:t>no observations; </a:t>
            </a:r>
          </a:p>
          <a:p>
            <a:r>
              <a:rPr lang="en-US" dirty="0">
                <a:solidFill>
                  <a:srgbClr val="FF0000"/>
                </a:solidFill>
              </a:rPr>
              <a:t>C</a:t>
            </a:r>
            <a:r>
              <a:rPr lang="en-US" dirty="0" smtClean="0">
                <a:solidFill>
                  <a:srgbClr val="FF0000"/>
                </a:solidFill>
              </a:rPr>
              <a:t>ontingent </a:t>
            </a:r>
            <a:r>
              <a:rPr lang="en-US" dirty="0">
                <a:solidFill>
                  <a:srgbClr val="FF0000"/>
                </a:solidFill>
              </a:rPr>
              <a:t>planning</a:t>
            </a:r>
            <a:r>
              <a:rPr lang="en-US" dirty="0"/>
              <a:t> for partially observable and nondeterministic </a:t>
            </a:r>
            <a:r>
              <a:rPr lang="en-US" dirty="0" smtClean="0"/>
              <a:t>environments</a:t>
            </a:r>
            <a:r>
              <a:rPr lang="en-US" dirty="0"/>
              <a:t>;</a:t>
            </a:r>
          </a:p>
          <a:p>
            <a:r>
              <a:rPr lang="en-US" dirty="0">
                <a:solidFill>
                  <a:srgbClr val="FF0000"/>
                </a:solidFill>
              </a:rPr>
              <a:t>O</a:t>
            </a:r>
            <a:r>
              <a:rPr lang="en-US" dirty="0" smtClean="0">
                <a:solidFill>
                  <a:srgbClr val="FF0000"/>
                </a:solidFill>
              </a:rPr>
              <a:t>nline </a:t>
            </a:r>
            <a:r>
              <a:rPr lang="en-US" dirty="0">
                <a:solidFill>
                  <a:srgbClr val="FF0000"/>
                </a:solidFill>
              </a:rPr>
              <a:t>planning and re-planning </a:t>
            </a:r>
            <a:r>
              <a:rPr lang="en-US" dirty="0"/>
              <a:t>for unknown environments.</a:t>
            </a:r>
          </a:p>
          <a:p>
            <a:r>
              <a:rPr lang="en-US" dirty="0"/>
              <a:t>The belief state in all these cases is uncertain. For this reason we need to change </a:t>
            </a:r>
            <a:r>
              <a:rPr lang="en-US" dirty="0" smtClean="0"/>
              <a:t>the </a:t>
            </a:r>
            <a:r>
              <a:rPr lang="en-US" dirty="0"/>
              <a:t>representation of states.</a:t>
            </a:r>
            <a:r>
              <a:rPr lang="en-US" dirty="0"/>
              <a:t> </a:t>
            </a:r>
          </a:p>
        </p:txBody>
      </p:sp>
    </p:spTree>
    <p:extLst>
      <p:ext uri="{BB962C8B-B14F-4D97-AF65-F5344CB8AC3E}">
        <p14:creationId xmlns:p14="http://schemas.microsoft.com/office/powerpoint/2010/main" val="2230408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92516"/>
          </a:xfrm>
        </p:spPr>
        <p:txBody>
          <a:bodyPr>
            <a:normAutofit fontScale="90000"/>
          </a:bodyPr>
          <a:lstStyle/>
          <a:p>
            <a:r>
              <a:rPr lang="en-US" dirty="0" smtClean="0"/>
              <a:t>Contingency Planning</a:t>
            </a:r>
            <a:endParaRPr lang="en-US" dirty="0"/>
          </a:p>
        </p:txBody>
      </p:sp>
      <p:sp>
        <p:nvSpPr>
          <p:cNvPr id="3" name="Text Placeholder 2"/>
          <p:cNvSpPr>
            <a:spLocks noGrp="1"/>
          </p:cNvSpPr>
          <p:nvPr>
            <p:ph type="body" idx="1"/>
          </p:nvPr>
        </p:nvSpPr>
        <p:spPr>
          <a:xfrm>
            <a:off x="457200" y="1417638"/>
            <a:ext cx="8229600" cy="2890593"/>
          </a:xfrm>
        </p:spPr>
        <p:txBody>
          <a:bodyPr>
            <a:normAutofit fontScale="62500" lnSpcReduction="20000"/>
          </a:bodyPr>
          <a:lstStyle/>
          <a:p>
            <a:r>
              <a:rPr lang="en-US" dirty="0">
                <a:solidFill>
                  <a:srgbClr val="FF0000"/>
                </a:solidFill>
              </a:rPr>
              <a:t>Contingency planning is a planning approach in AI where the agent plans in advance for multiple possible outcomes, especially when actions or observations are uncertain</a:t>
            </a:r>
            <a:r>
              <a:rPr lang="en-US" dirty="0" smtClean="0">
                <a:solidFill>
                  <a:srgbClr val="FF0000"/>
                </a:solidFill>
              </a:rPr>
              <a:t>.</a:t>
            </a:r>
          </a:p>
          <a:p>
            <a:r>
              <a:rPr lang="en-US" dirty="0"/>
              <a:t>Contingency planning </a:t>
            </a:r>
            <a:r>
              <a:rPr lang="en-US" dirty="0" smtClean="0"/>
              <a:t>plans </a:t>
            </a:r>
            <a:r>
              <a:rPr lang="en-US" dirty="0"/>
              <a:t>ahead for “if–then” situations</a:t>
            </a:r>
          </a:p>
          <a:p>
            <a:r>
              <a:rPr lang="en-US" dirty="0" smtClean="0"/>
              <a:t>Contingent </a:t>
            </a:r>
            <a:r>
              <a:rPr lang="en-US" dirty="0"/>
              <a:t>planning is the generation of plans with conditional branching based on percepts</a:t>
            </a:r>
            <a:r>
              <a:rPr lang="en-US" dirty="0" smtClean="0"/>
              <a:t>.</a:t>
            </a:r>
          </a:p>
          <a:p>
            <a:r>
              <a:rPr lang="en-US" dirty="0" smtClean="0"/>
              <a:t>It </a:t>
            </a:r>
            <a:r>
              <a:rPr lang="en-US" dirty="0"/>
              <a:t>is appropriate for environments with partial observability, nondeterminism, or both. </a:t>
            </a:r>
            <a:endParaRPr lang="en-US" dirty="0" smtClean="0"/>
          </a:p>
          <a:p>
            <a:r>
              <a:rPr lang="en-US" dirty="0" smtClean="0"/>
              <a:t>The </a:t>
            </a:r>
            <a:r>
              <a:rPr lang="en-US" dirty="0"/>
              <a:t>action is selected on the basis of perceptions.</a:t>
            </a:r>
            <a:r>
              <a:rPr lang="en-US" dirty="0"/>
              <a:t> </a:t>
            </a:r>
            <a:br>
              <a:rPr lang="en-US" dirty="0"/>
            </a:br>
            <a:endParaRPr lang="en-US" dirty="0"/>
          </a:p>
        </p:txBody>
      </p:sp>
      <p:pic>
        <p:nvPicPr>
          <p:cNvPr id="4" name="Picture 3"/>
          <p:cNvPicPr>
            <a:picLocks noChangeAspect="1"/>
          </p:cNvPicPr>
          <p:nvPr/>
        </p:nvPicPr>
        <p:blipFill>
          <a:blip r:embed="rId2"/>
          <a:stretch>
            <a:fillRect/>
          </a:stretch>
        </p:blipFill>
        <p:spPr>
          <a:xfrm>
            <a:off x="795337" y="4449275"/>
            <a:ext cx="7553325" cy="1933575"/>
          </a:xfrm>
          <a:prstGeom prst="rect">
            <a:avLst/>
          </a:prstGeom>
        </p:spPr>
      </p:pic>
    </p:spTree>
    <p:extLst>
      <p:ext uri="{BB962C8B-B14F-4D97-AF65-F5344CB8AC3E}">
        <p14:creationId xmlns:p14="http://schemas.microsoft.com/office/powerpoint/2010/main" val="2003157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Online Planning</a:t>
            </a:r>
            <a:endParaRPr lang="en-US" dirty="0"/>
          </a:p>
        </p:txBody>
      </p:sp>
      <p:sp>
        <p:nvSpPr>
          <p:cNvPr id="3" name="Text Placeholder 2"/>
          <p:cNvSpPr>
            <a:spLocks noGrp="1"/>
          </p:cNvSpPr>
          <p:nvPr>
            <p:ph type="body" idx="1"/>
          </p:nvPr>
        </p:nvSpPr>
        <p:spPr>
          <a:xfrm>
            <a:off x="457200" y="1417638"/>
            <a:ext cx="8229600" cy="4675431"/>
          </a:xfrm>
        </p:spPr>
        <p:txBody>
          <a:bodyPr>
            <a:normAutofit fontScale="70000" lnSpcReduction="20000"/>
          </a:bodyPr>
          <a:lstStyle/>
          <a:p>
            <a:r>
              <a:rPr lang="en-US" dirty="0"/>
              <a:t>Online planning is a decision-making approach in AI and intelligent agents where the agent plans while it is acting, rather than computing a complete plan in advance</a:t>
            </a:r>
            <a:r>
              <a:rPr lang="en-US" dirty="0" smtClean="0"/>
              <a:t>.</a:t>
            </a:r>
          </a:p>
          <a:p>
            <a:r>
              <a:rPr lang="en-US" dirty="0" smtClean="0"/>
              <a:t>In </a:t>
            </a:r>
            <a:r>
              <a:rPr lang="en-US" dirty="0"/>
              <a:t>contingent planning you have to consider all the contingencies that may arise. An alternative, or addition, to contingent planning is </a:t>
            </a:r>
            <a:r>
              <a:rPr lang="en-US" dirty="0" err="1"/>
              <a:t>replanning</a:t>
            </a:r>
            <a:r>
              <a:rPr lang="en-US" b="1" dirty="0"/>
              <a:t> </a:t>
            </a:r>
            <a:r>
              <a:rPr lang="en-US" dirty="0"/>
              <a:t>during </a:t>
            </a:r>
            <a:r>
              <a:rPr lang="en-US" dirty="0" smtClean="0"/>
              <a:t>execution.</a:t>
            </a:r>
          </a:p>
          <a:p>
            <a:r>
              <a:rPr lang="en-US" dirty="0" err="1" smtClean="0"/>
              <a:t>Replanning</a:t>
            </a:r>
            <a:r>
              <a:rPr lang="en-US" dirty="0" smtClean="0"/>
              <a:t> </a:t>
            </a:r>
            <a:r>
              <a:rPr lang="en-US" dirty="0"/>
              <a:t>presupposes some form of execution monitoring to determine the need for a new plan</a:t>
            </a:r>
            <a:r>
              <a:rPr lang="en-US" dirty="0" smtClean="0"/>
              <a:t>.</a:t>
            </a:r>
          </a:p>
          <a:p>
            <a:r>
              <a:rPr lang="en-US" dirty="0"/>
              <a:t>The agent observes the current state of the environment</a:t>
            </a:r>
          </a:p>
          <a:p>
            <a:pPr lvl="1"/>
            <a:r>
              <a:rPr lang="en-US" dirty="0"/>
              <a:t>It computes the next best action (or a short sequence of actions)</a:t>
            </a:r>
          </a:p>
          <a:p>
            <a:pPr lvl="1"/>
            <a:r>
              <a:rPr lang="en-US" dirty="0"/>
              <a:t>Executes the action</a:t>
            </a:r>
          </a:p>
          <a:p>
            <a:pPr lvl="1"/>
            <a:r>
              <a:rPr lang="en-US" dirty="0"/>
              <a:t>Observes feedback from the environment</a:t>
            </a:r>
          </a:p>
          <a:p>
            <a:pPr lvl="1"/>
            <a:r>
              <a:rPr lang="en-US" dirty="0"/>
              <a:t>Updates its plan and repeats the process</a:t>
            </a:r>
          </a:p>
          <a:p>
            <a:pPr lvl="1"/>
            <a:r>
              <a:rPr lang="en-US" dirty="0"/>
              <a:t>The plan is continuously refined as new information becomes </a:t>
            </a:r>
            <a:r>
              <a:rPr lang="en-US" dirty="0" smtClean="0"/>
              <a:t>available</a:t>
            </a:r>
            <a:r>
              <a:rPr lang="en-US" dirty="0"/>
              <a:t>.</a:t>
            </a:r>
          </a:p>
        </p:txBody>
      </p:sp>
    </p:spTree>
    <p:extLst>
      <p:ext uri="{BB962C8B-B14F-4D97-AF65-F5344CB8AC3E}">
        <p14:creationId xmlns:p14="http://schemas.microsoft.com/office/powerpoint/2010/main" val="3720871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214312" y="627917"/>
            <a:ext cx="8715375" cy="5848350"/>
          </a:xfrm>
          <a:prstGeom prst="rect">
            <a:avLst/>
          </a:prstGeom>
        </p:spPr>
      </p:pic>
    </p:spTree>
    <p:extLst>
      <p:ext uri="{BB962C8B-B14F-4D97-AF65-F5344CB8AC3E}">
        <p14:creationId xmlns:p14="http://schemas.microsoft.com/office/powerpoint/2010/main" val="888097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7731"/>
            <a:ext cx="8229600" cy="419954"/>
          </a:xfrm>
        </p:spPr>
        <p:txBody>
          <a:bodyPr>
            <a:noAutofit/>
          </a:bodyPr>
          <a:lstStyle/>
          <a:p>
            <a:r>
              <a:rPr lang="en-US" sz="3600" dirty="0" smtClean="0"/>
              <a:t>Figure 11.1 Elaboration</a:t>
            </a:r>
            <a:endParaRPr lang="en-US" sz="3600" dirty="0"/>
          </a:p>
        </p:txBody>
      </p:sp>
      <p:sp>
        <p:nvSpPr>
          <p:cNvPr id="3" name="Text Placeholder 2"/>
          <p:cNvSpPr>
            <a:spLocks noGrp="1"/>
          </p:cNvSpPr>
          <p:nvPr>
            <p:ph type="body" idx="1"/>
          </p:nvPr>
        </p:nvSpPr>
        <p:spPr>
          <a:xfrm>
            <a:off x="457200" y="1283677"/>
            <a:ext cx="8229600" cy="5380892"/>
          </a:xfrm>
        </p:spPr>
        <p:txBody>
          <a:bodyPr>
            <a:normAutofit fontScale="85000" lnSpcReduction="20000"/>
          </a:bodyPr>
          <a:lstStyle/>
          <a:p>
            <a:r>
              <a:rPr lang="en-US" dirty="0"/>
              <a:t>Whole plan (offline idea)</a:t>
            </a:r>
          </a:p>
          <a:p>
            <a:pPr lvl="1"/>
            <a:r>
              <a:rPr lang="en-US" dirty="0"/>
              <a:t>At the beginning, the agent creates a whole plan from S → G.</a:t>
            </a:r>
          </a:p>
          <a:p>
            <a:pPr lvl="1"/>
            <a:r>
              <a:rPr lang="en-US" dirty="0"/>
              <a:t>This assumes everything will go exactly as expected.</a:t>
            </a:r>
          </a:p>
          <a:p>
            <a:r>
              <a:rPr lang="en-US" dirty="0"/>
              <a:t>Plan execution</a:t>
            </a:r>
          </a:p>
          <a:p>
            <a:pPr lvl="1"/>
            <a:r>
              <a:rPr lang="en-US" dirty="0"/>
              <a:t>The agent starts executing actions from S.</a:t>
            </a:r>
          </a:p>
          <a:p>
            <a:pPr lvl="1"/>
            <a:r>
              <a:rPr lang="en-US" dirty="0"/>
              <a:t>It follows the plan and reaches state P, then continues.</a:t>
            </a:r>
          </a:p>
          <a:p>
            <a:r>
              <a:rPr lang="en-US" dirty="0"/>
              <a:t>Expectation vs reality</a:t>
            </a:r>
          </a:p>
          <a:p>
            <a:pPr lvl="1"/>
            <a:r>
              <a:rPr lang="en-US" dirty="0"/>
              <a:t>According to the plan, after some actions the agent expects to be in state E.</a:t>
            </a:r>
          </a:p>
          <a:p>
            <a:pPr lvl="1"/>
            <a:r>
              <a:rPr lang="en-US" dirty="0"/>
              <a:t>However, when it checks the environment, it finds itself in state O </a:t>
            </a:r>
            <a:r>
              <a:rPr lang="en-US" dirty="0" smtClean="0"/>
              <a:t>instead. This </a:t>
            </a:r>
            <a:r>
              <a:rPr lang="en-US" dirty="0"/>
              <a:t>mismatch happens because the environment is:</a:t>
            </a:r>
          </a:p>
          <a:p>
            <a:pPr lvl="2"/>
            <a:r>
              <a:rPr lang="en-US" dirty="0"/>
              <a:t>uncertain</a:t>
            </a:r>
          </a:p>
          <a:p>
            <a:pPr lvl="2"/>
            <a:r>
              <a:rPr lang="en-US" dirty="0"/>
              <a:t>nondeterministic</a:t>
            </a:r>
          </a:p>
          <a:p>
            <a:pPr lvl="2"/>
            <a:r>
              <a:rPr lang="en-US" dirty="0"/>
              <a:t>partially </a:t>
            </a:r>
            <a:r>
              <a:rPr lang="en-US" dirty="0" smtClean="0"/>
              <a:t>observable</a:t>
            </a:r>
          </a:p>
        </p:txBody>
      </p:sp>
    </p:spTree>
    <p:extLst>
      <p:ext uri="{BB962C8B-B14F-4D97-AF65-F5344CB8AC3E}">
        <p14:creationId xmlns:p14="http://schemas.microsoft.com/office/powerpoint/2010/main" val="4218524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78170"/>
            <a:ext cx="8229600" cy="4947994"/>
          </a:xfrm>
        </p:spPr>
        <p:txBody>
          <a:bodyPr>
            <a:normAutofit fontScale="92500" lnSpcReduction="10000"/>
          </a:bodyPr>
          <a:lstStyle/>
          <a:p>
            <a:r>
              <a:rPr lang="en-US" dirty="0" err="1"/>
              <a:t>Replanning</a:t>
            </a:r>
            <a:r>
              <a:rPr lang="en-US" dirty="0"/>
              <a:t> (repair)</a:t>
            </a:r>
          </a:p>
          <a:p>
            <a:pPr lvl="1"/>
            <a:r>
              <a:rPr lang="en-US" dirty="0"/>
              <a:t>Instead of throwing away the entire </a:t>
            </a:r>
            <a:r>
              <a:rPr lang="en-US" dirty="0" smtClean="0"/>
              <a:t>plan, the </a:t>
            </a:r>
            <a:r>
              <a:rPr lang="en-US" dirty="0"/>
              <a:t>agent computes a minimal repair from O → P (or a nearby planned state</a:t>
            </a:r>
            <a:r>
              <a:rPr lang="en-US" dirty="0" smtClean="0"/>
              <a:t>). </a:t>
            </a:r>
          </a:p>
          <a:p>
            <a:pPr lvl="1"/>
            <a:r>
              <a:rPr lang="en-US" dirty="0" smtClean="0"/>
              <a:t>This </a:t>
            </a:r>
            <a:r>
              <a:rPr lang="en-US" dirty="0"/>
              <a:t>is the short vertical path labeled “repair</a:t>
            </a:r>
            <a:r>
              <a:rPr lang="en-US" dirty="0" smtClean="0"/>
              <a:t>” which is key </a:t>
            </a:r>
            <a:r>
              <a:rPr lang="en-US" dirty="0"/>
              <a:t>to online </a:t>
            </a:r>
            <a:r>
              <a:rPr lang="en-US" dirty="0" smtClean="0"/>
              <a:t>planning: fix </a:t>
            </a:r>
            <a:r>
              <a:rPr lang="en-US" dirty="0"/>
              <a:t>only what went wrong, not everything.</a:t>
            </a:r>
          </a:p>
          <a:p>
            <a:r>
              <a:rPr lang="en-US" dirty="0"/>
              <a:t>Continuation</a:t>
            </a:r>
          </a:p>
          <a:p>
            <a:pPr lvl="1"/>
            <a:r>
              <a:rPr lang="en-US" dirty="0"/>
              <a:t>After the repair, the agent rejoins the original plan.</a:t>
            </a:r>
          </a:p>
          <a:p>
            <a:pPr lvl="1"/>
            <a:r>
              <a:rPr lang="en-US" dirty="0"/>
              <a:t>It then follows the remaining actions from E → G.</a:t>
            </a:r>
          </a:p>
          <a:p>
            <a:pPr lvl="1"/>
            <a:r>
              <a:rPr lang="en-US" dirty="0"/>
              <a:t>This is shown by the dashed line labeled “continuation”.</a:t>
            </a:r>
          </a:p>
          <a:p>
            <a:endParaRPr lang="en-US" dirty="0"/>
          </a:p>
        </p:txBody>
      </p:sp>
      <p:sp>
        <p:nvSpPr>
          <p:cNvPr id="4" name="Title 1"/>
          <p:cNvSpPr>
            <a:spLocks noGrp="1"/>
          </p:cNvSpPr>
          <p:nvPr>
            <p:ph type="title"/>
          </p:nvPr>
        </p:nvSpPr>
        <p:spPr>
          <a:xfrm>
            <a:off x="457200" y="397731"/>
            <a:ext cx="8229600" cy="419954"/>
          </a:xfrm>
        </p:spPr>
        <p:txBody>
          <a:bodyPr>
            <a:noAutofit/>
          </a:bodyPr>
          <a:lstStyle/>
          <a:p>
            <a:r>
              <a:rPr lang="en-US" sz="3600" dirty="0" smtClean="0"/>
              <a:t>Figure 11.1 Elaboration</a:t>
            </a:r>
            <a:endParaRPr lang="en-US" sz="3600" dirty="0"/>
          </a:p>
        </p:txBody>
      </p:sp>
    </p:spTree>
    <p:extLst>
      <p:ext uri="{BB962C8B-B14F-4D97-AF65-F5344CB8AC3E}">
        <p14:creationId xmlns:p14="http://schemas.microsoft.com/office/powerpoint/2010/main" val="101205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Text Placeholder 2"/>
          <p:cNvSpPr>
            <a:spLocks noGrp="1"/>
          </p:cNvSpPr>
          <p:nvPr>
            <p:ph type="body" idx="1"/>
          </p:nvPr>
        </p:nvSpPr>
        <p:spPr/>
        <p:txBody>
          <a:bodyPr/>
          <a:lstStyle/>
          <a:p>
            <a:r>
              <a:rPr lang="en-US" dirty="0"/>
              <a:t>Chapter </a:t>
            </a:r>
            <a:r>
              <a:rPr lang="en-US" dirty="0" smtClean="0"/>
              <a:t>11, </a:t>
            </a:r>
            <a:r>
              <a:rPr lang="en-US" dirty="0"/>
              <a:t>Artificial Intelligence, A Modern Approach, </a:t>
            </a:r>
            <a:r>
              <a:rPr lang="en-US" dirty="0" smtClean="0"/>
              <a:t>Forth </a:t>
            </a:r>
            <a:r>
              <a:rPr lang="en-US" dirty="0"/>
              <a:t>Edition, Stuart Russell and Peter </a:t>
            </a:r>
            <a:r>
              <a:rPr lang="en-US" dirty="0" err="1"/>
              <a:t>Norvig</a:t>
            </a:r>
            <a:endParaRPr lang="en-US" dirty="0"/>
          </a:p>
        </p:txBody>
      </p:sp>
    </p:spTree>
    <p:extLst>
      <p:ext uri="{BB962C8B-B14F-4D97-AF65-F5344CB8AC3E}">
        <p14:creationId xmlns:p14="http://schemas.microsoft.com/office/powerpoint/2010/main" val="177780713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3F296526D7BB4EB949B2D9BCC1BDA8" ma:contentTypeVersion="3" ma:contentTypeDescription="Create a new document." ma:contentTypeScope="" ma:versionID="b4de3fe7d800b0ca999817686b165b1c">
  <xsd:schema xmlns:xsd="http://www.w3.org/2001/XMLSchema" xmlns:xs="http://www.w3.org/2001/XMLSchema" xmlns:p="http://schemas.microsoft.com/office/2006/metadata/properties" xmlns:ns2="71778b39-a39e-4048-b00f-99dfecabd0ec" targetNamespace="http://schemas.microsoft.com/office/2006/metadata/properties" ma:root="true" ma:fieldsID="ae0bbb1ef2e03af480cc0bac4dc148f2" ns2:_="">
    <xsd:import namespace="71778b39-a39e-4048-b00f-99dfecabd0e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778b39-a39e-4048-b00f-99dfecabd0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BE57B9A-ECCE-49E4-9F37-4D463F39D849}"/>
</file>

<file path=customXml/itemProps2.xml><?xml version="1.0" encoding="utf-8"?>
<ds:datastoreItem xmlns:ds="http://schemas.openxmlformats.org/officeDocument/2006/customXml" ds:itemID="{908B3A09-170F-453E-88F9-E3C4D5F11638}"/>
</file>

<file path=customXml/itemProps3.xml><?xml version="1.0" encoding="utf-8"?>
<ds:datastoreItem xmlns:ds="http://schemas.openxmlformats.org/officeDocument/2006/customXml" ds:itemID="{CFB17382-7E3A-45C6-8488-CF50461178CC}"/>
</file>

<file path=docProps/app.xml><?xml version="1.0" encoding="utf-8"?>
<Properties xmlns="http://schemas.openxmlformats.org/officeDocument/2006/extended-properties" xmlns:vt="http://schemas.openxmlformats.org/officeDocument/2006/docPropsVTypes">
  <TotalTime>19762</TotalTime>
  <Words>1921</Words>
  <Application>Microsoft Office PowerPoint</Application>
  <PresentationFormat>On-screen Show (4:3)</PresentationFormat>
  <Paragraphs>263</Paragraphs>
  <Slides>24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Artificial Intelligence</vt:lpstr>
      <vt:lpstr>Planning</vt:lpstr>
      <vt:lpstr>Planning</vt:lpstr>
      <vt:lpstr>Classical Planning</vt:lpstr>
      <vt:lpstr>Ground Atomic Fluent</vt:lpstr>
      <vt:lpstr>Action Schema</vt:lpstr>
      <vt:lpstr>Example domain: The spare tire problem </vt:lpstr>
      <vt:lpstr>Example domain: The spare tire problem </vt:lpstr>
      <vt:lpstr>Example</vt:lpstr>
      <vt:lpstr>Example domain: Air cargo transport</vt:lpstr>
      <vt:lpstr>Classical Search Algorithms</vt:lpstr>
      <vt:lpstr>PowerPoint Presentation</vt:lpstr>
      <vt:lpstr>Example domain: The spare tire problem </vt:lpstr>
      <vt:lpstr>Forward (Progression) Search</vt:lpstr>
      <vt:lpstr>Backward (Regression) Search</vt:lpstr>
      <vt:lpstr>Backward (Regression) Search</vt:lpstr>
      <vt:lpstr>Hierarchical Planning</vt:lpstr>
      <vt:lpstr>Planning and acting in nondeterministic domains </vt:lpstr>
      <vt:lpstr>Contingency Planning</vt:lpstr>
      <vt:lpstr>Online Planning</vt:lpstr>
      <vt:lpstr>PowerPoint Presentation</vt:lpstr>
      <vt:lpstr>Figure 11.1 Elaboration</vt:lpstr>
      <vt:lpstr>Figure 11.1 Elaboration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Windows User</dc:creator>
  <cp:lastModifiedBy>Administrator</cp:lastModifiedBy>
  <cp:revision>139</cp:revision>
  <dcterms:created xsi:type="dcterms:W3CDTF">2016-04-03T08:28:23Z</dcterms:created>
  <dcterms:modified xsi:type="dcterms:W3CDTF">2025-12-23T17:53:48Z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0x010100263F296526D7BB4EB949B2D9BCC1BDA8</vt:lpwstr>
  </property>
</Properties>
</file>