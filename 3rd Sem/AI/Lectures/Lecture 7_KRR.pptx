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9144000"/>
  <p:notesSz cx="6858000" cy="9144000"/>
  <p:embeddedFontLst>
    <p:embeddedFont>
      <p:font typeface="Noto Sans Symbols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jR1aNlwXgL45maLk+Le7bjOieX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5E82FC-FF76-4166-806A-3E168DAA109F}">
  <a:tblStyle styleId="{325E82FC-FF76-4166-806A-3E168DAA10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2000D7A-97CE-4C19-89D7-C655FB050D6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3.xml"/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34" Type="http://schemas.openxmlformats.org/officeDocument/2006/relationships/slide" Target="slides/slide28.xml"/><Relationship Id="rId21" Type="http://schemas.openxmlformats.org/officeDocument/2006/relationships/slide" Target="slides/slide15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24" Type="http://schemas.openxmlformats.org/officeDocument/2006/relationships/slide" Target="slides/slide18.xml"/><Relationship Id="rId53" Type="http://schemas.openxmlformats.org/officeDocument/2006/relationships/slide" Target="slides/slide47.xml"/><Relationship Id="rId11" Type="http://schemas.openxmlformats.org/officeDocument/2006/relationships/slide" Target="slides/slide5.xml"/><Relationship Id="rId58" Type="http://schemas.openxmlformats.org/officeDocument/2006/relationships/font" Target="fonts/NotoSansSymbols-bold.fntdata"/><Relationship Id="rId5" Type="http://schemas.openxmlformats.org/officeDocument/2006/relationships/slideMaster" Target="slideMasters/slideMaster1.xml"/><Relationship Id="rId61" Type="http://schemas.openxmlformats.org/officeDocument/2006/relationships/customXml" Target="../customXml/item2.xml"/><Relationship Id="rId19" Type="http://schemas.openxmlformats.org/officeDocument/2006/relationships/slide" Target="slides/slide13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56" Type="http://schemas.openxmlformats.org/officeDocument/2006/relationships/slide" Target="slides/slide50.xml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presProps" Target="presProps.xml"/><Relationship Id="rId46" Type="http://schemas.openxmlformats.org/officeDocument/2006/relationships/slide" Target="slides/slide40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5" Type="http://schemas.openxmlformats.org/officeDocument/2006/relationships/slide" Target="slides/slide19.xml"/><Relationship Id="rId12" Type="http://schemas.openxmlformats.org/officeDocument/2006/relationships/slide" Target="slides/slide6.xml"/><Relationship Id="rId59" Type="http://customschemas.google.com/relationships/presentationmetadata" Target="metadata"/><Relationship Id="rId17" Type="http://schemas.openxmlformats.org/officeDocument/2006/relationships/slide" Target="slides/slide11.xml"/><Relationship Id="rId41" Type="http://schemas.openxmlformats.org/officeDocument/2006/relationships/slide" Target="slides/slide35.xml"/><Relationship Id="rId20" Type="http://schemas.openxmlformats.org/officeDocument/2006/relationships/slide" Target="slides/slide14.xml"/><Relationship Id="rId54" Type="http://schemas.openxmlformats.org/officeDocument/2006/relationships/slide" Target="slides/slide48.xml"/><Relationship Id="rId62" Type="http://schemas.openxmlformats.org/officeDocument/2006/relationships/customXml" Target="../customXml/item3.xml"/><Relationship Id="rId1" Type="http://schemas.openxmlformats.org/officeDocument/2006/relationships/theme" Target="theme/theme1.xml"/><Relationship Id="rId6" Type="http://schemas.openxmlformats.org/officeDocument/2006/relationships/notesMaster" Target="notesMasters/notesMaster1.xml"/><Relationship Id="rId49" Type="http://schemas.openxmlformats.org/officeDocument/2006/relationships/slide" Target="slides/slide43.xml"/><Relationship Id="rId36" Type="http://schemas.openxmlformats.org/officeDocument/2006/relationships/slide" Target="slides/slide30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7" Type="http://schemas.openxmlformats.org/officeDocument/2006/relationships/font" Target="fonts/NotoSansSymbols-regular.fntdata"/><Relationship Id="rId15" Type="http://schemas.openxmlformats.org/officeDocument/2006/relationships/slide" Target="slides/slide9.xml"/><Relationship Id="rId44" Type="http://schemas.openxmlformats.org/officeDocument/2006/relationships/slide" Target="slides/slide38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10" Type="http://schemas.openxmlformats.org/officeDocument/2006/relationships/slide" Target="slides/slide4.xml"/><Relationship Id="rId60" Type="http://schemas.openxmlformats.org/officeDocument/2006/relationships/customXml" Target="../customXml/item1.xml"/><Relationship Id="rId4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9" name="Google Shape;40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1" name="Google Shape;44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35:notes"/>
          <p:cNvSpPr txBox="1"/>
          <p:nvPr>
            <p:ph idx="1" type="body"/>
          </p:nvPr>
        </p:nvSpPr>
        <p:spPr>
          <a:xfrm>
            <a:off x="915294" y="4343704"/>
            <a:ext cx="5027414" cy="41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7" name="Google Shape;48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" name="Google Shape;50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38:notes"/>
          <p:cNvSpPr txBox="1"/>
          <p:nvPr>
            <p:ph idx="1" type="body"/>
          </p:nvPr>
        </p:nvSpPr>
        <p:spPr>
          <a:xfrm>
            <a:off x="915294" y="4343704"/>
            <a:ext cx="5027414" cy="41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0" name="Google Shape;510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00"/>
          </a:p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6" name="Google Shape;546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5" name="Google Shape;55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" name="Google Shape;573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2" name="Google Shape;58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0" name="Google Shape;600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" type="body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3" type="body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4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4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66" name="Google Shape;66;p68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67" name="Google Shape;67;p68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68" name="Google Shape;68;p6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5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1" name="Google Shape;81;p5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5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3" name="Google Shape;83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8" name="Google Shape;98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9" name="Google Shape;99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Artificial Intelligence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Knowledge Representation &amp; Reasoning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Rationally</a:t>
            </a:r>
            <a:endParaRPr/>
          </a:p>
        </p:txBody>
      </p:sp>
      <p:sp>
        <p:nvSpPr>
          <p:cNvPr id="132" name="Google Shape;132;p2"/>
          <p:cNvSpPr txBox="1"/>
          <p:nvPr>
            <p:ph idx="1" type="body"/>
          </p:nvPr>
        </p:nvSpPr>
        <p:spPr>
          <a:xfrm>
            <a:off x="3810000" y="1676400"/>
            <a:ext cx="5410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400">
                <a:solidFill>
                  <a:srgbClr val="FF0000"/>
                </a:solidFill>
              </a:rPr>
              <a:t>The Laws of Thought are the basic principles that guide logical reasoning.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A syllogism is a form of logical reasoning developed by Aristotle, in which a conclusion is drawn from two premises.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It is one of the earliest formal systems of logic and the foundation of deductive reasoning.</a:t>
            </a:r>
            <a:endParaRPr/>
          </a:p>
          <a:p>
            <a:pPr indent="-224790" lvl="0" marL="3429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500"/>
              <a:t>Syllogistic arguments are usually represented in a three-line form: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234632" lvl="0" marL="342900" rtl="0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224790" lvl="0" marL="3429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24790" lvl="0" marL="3429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These laws of thought govern the operation of the mind; their study initiated the field called logic. </a:t>
            </a:r>
            <a:br>
              <a:rPr lang="en-US" sz="2400"/>
            </a:br>
            <a:endParaRPr sz="2200"/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00200"/>
            <a:ext cx="3888117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495800"/>
            <a:ext cx="2895600" cy="94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Knowledge</a:t>
            </a:r>
            <a:endParaRPr/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457200" y="11430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Knowledge is a familiarity with someone or something, which can include facts, information, descriptions, or skills acquired through experience or education.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can be </a:t>
            </a:r>
            <a:r>
              <a:rPr lang="en-US">
                <a:solidFill>
                  <a:srgbClr val="FF0000"/>
                </a:solidFill>
              </a:rPr>
              <a:t>explicit</a:t>
            </a:r>
            <a:r>
              <a:rPr lang="en-US"/>
              <a:t> (as with the theoretical understanding of a subject). </a:t>
            </a:r>
            <a:endParaRPr/>
          </a:p>
          <a:p>
            <a:pPr indent="0" lvl="2" marL="91440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	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implicit</a:t>
            </a:r>
            <a:r>
              <a:rPr lang="en-US"/>
              <a:t> (as with practical skill or expertise).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philosophy, the study of knowledge is called epistemology.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philosopher Plato famously defined knowledge as “</a:t>
            </a:r>
            <a:r>
              <a:rPr lang="en-US">
                <a:solidFill>
                  <a:srgbClr val="FF0000"/>
                </a:solidFill>
              </a:rPr>
              <a:t>justified true belief”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The concept of justified true belief states that in order to know that a given proposition is true, one must not only believe the relevant true proposition, but also have justification for doing so.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Statement: It is true that “Water boils at 100°C.”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Belief: I believe that “Water boils at 100°C.”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Justification: I have measured water boiling at 100°C many times, or I trust scientific evidence.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Knowledge</a:t>
            </a:r>
            <a:endParaRPr/>
          </a:p>
        </p:txBody>
      </p:sp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457200" y="1371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Declarative knowledge</a:t>
            </a:r>
            <a:r>
              <a:rPr lang="en-US"/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knowing what something is.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Declarative knowledge refers to the statements of </a:t>
            </a:r>
            <a:r>
              <a:rPr lang="en-US">
                <a:solidFill>
                  <a:srgbClr val="FF0000"/>
                </a:solidFill>
              </a:rPr>
              <a:t>facts</a:t>
            </a:r>
            <a:r>
              <a:rPr lang="en-US"/>
              <a:t> about the world.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e.g. it is sunny today, cherries are red, earth revolves around the sun. etc.</a:t>
            </a:r>
            <a:endParaRPr/>
          </a:p>
          <a:p>
            <a:pPr indent="-147955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Procedural knowledge</a:t>
            </a:r>
            <a:r>
              <a:rPr lang="en-US"/>
              <a:t>: 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knowing how to perform a task.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Procedural knowledge is compiled or processed form of information.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Procedural knowledge is related to the performance of some task. 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It relies on </a:t>
            </a:r>
            <a:r>
              <a:rPr lang="en-US">
                <a:solidFill>
                  <a:srgbClr val="FF0000"/>
                </a:solidFill>
              </a:rPr>
              <a:t>rules</a:t>
            </a:r>
            <a:r>
              <a:rPr lang="en-US"/>
              <a:t> to provide a set of directions of how to perform a certain task,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e.g., how to drive a car, how to cook a recipe etc. </a:t>
            </a:r>
            <a:endParaRPr/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Knowledge Representation Techniques</a:t>
            </a:r>
            <a:endParaRPr/>
          </a:p>
        </p:txBody>
      </p:sp>
      <p:sp>
        <p:nvSpPr>
          <p:cNvPr id="152" name="Google Shape;15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Knowledge Representation is about how to store knowledge in a form that a computer can use to reason, make decisions, or solve problems intelligently.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several classic and modern ways to represent knowledge in AI.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Semantic Networks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Frames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Production Rules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Logical Representation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Propositional Logic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Predicate Logic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type="title"/>
          </p:nvPr>
        </p:nvSpPr>
        <p:spPr>
          <a:xfrm>
            <a:off x="457200" y="274638"/>
            <a:ext cx="8229600" cy="761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Semantic Networks</a:t>
            </a:r>
            <a:endParaRPr/>
          </a:p>
        </p:txBody>
      </p:sp>
      <p:sp>
        <p:nvSpPr>
          <p:cNvPr id="158" name="Google Shape;158;p6"/>
          <p:cNvSpPr txBox="1"/>
          <p:nvPr>
            <p:ph idx="1" type="body"/>
          </p:nvPr>
        </p:nvSpPr>
        <p:spPr>
          <a:xfrm>
            <a:off x="457200" y="1143000"/>
            <a:ext cx="8229600" cy="1592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A Semantic Network (or Semantic Net) is a graph-based representation of knowledge that shows how concepts (things, ideas, or objects) are related to each other through links or relationships.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represents meaning (semantics) using a network of nodes (concepts) and edges (relationships).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graphicFrame>
        <p:nvGraphicFramePr>
          <p:cNvPr id="159" name="Google Shape;159;p6"/>
          <p:cNvGraphicFramePr/>
          <p:nvPr/>
        </p:nvGraphicFramePr>
        <p:xfrm>
          <a:off x="685799" y="44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Relationship Type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IS-A (Inheritance)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“Penguin is a Bird”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PART-OF (Composition)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“Engine is part of Car”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HAS (Attribute)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“Bird has Wings”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CAN (Ability)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“Bird can Fly”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INSTANCE-OF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“Tweety is an instance of Bird”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" name="Google Shape;160;p6"/>
          <p:cNvGraphicFramePr/>
          <p:nvPr/>
        </p:nvGraphicFramePr>
        <p:xfrm>
          <a:off x="685799" y="25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2667000"/>
                <a:gridCol w="2667000"/>
                <a:gridCol w="2667000"/>
              </a:tblGrid>
              <a:tr h="29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Component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Meaning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Nodes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Concepts or objects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“Bird”, “Animal”, “Penguin”, “Wings”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Edges/Links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Relationships between concepts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“is-a”, “has”, “can”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902633"/>
            <a:ext cx="8610600" cy="4903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529" y="381000"/>
            <a:ext cx="8762427" cy="140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Production Rules</a:t>
            </a:r>
            <a:endParaRPr/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400">
                <a:solidFill>
                  <a:srgbClr val="FF0000"/>
                </a:solidFill>
              </a:rPr>
              <a:t>A production rules system is a rule-based knowledge representation system that expresses knowledge using IF–THEN statements.</a:t>
            </a:r>
            <a:r>
              <a:rPr lang="en-US" sz="2400"/>
              <a:t> 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It is primarily used to represent procedural knowledge, specifying what actions to take under certain conditions.</a:t>
            </a:r>
            <a:endParaRPr/>
          </a:p>
          <a:p>
            <a:pPr indent="-20193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Components of a Production Rule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 sz="2000">
                <a:solidFill>
                  <a:srgbClr val="FF0000"/>
                </a:solidFill>
              </a:rPr>
              <a:t>Antecedent (Premise)</a:t>
            </a:r>
            <a:r>
              <a:rPr lang="en-US" sz="2000"/>
              <a:t>: The IF part of the rule, describing the condition(s).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 sz="2000">
                <a:solidFill>
                  <a:srgbClr val="FF0000"/>
                </a:solidFill>
              </a:rPr>
              <a:t>Consequent (Conclusion)</a:t>
            </a:r>
            <a:r>
              <a:rPr lang="en-US" sz="2000"/>
              <a:t>: The THEN part of the rule, describing the action or outcome.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For Example,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 sz="2000">
                <a:solidFill>
                  <a:srgbClr val="FF0000"/>
                </a:solidFill>
              </a:rPr>
              <a:t>IF it is raining THEN I will not go to school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Premise (IF): </a:t>
            </a:r>
            <a:r>
              <a:rPr lang="en-US" sz="2000">
                <a:solidFill>
                  <a:srgbClr val="FF0000"/>
                </a:solidFill>
              </a:rPr>
              <a:t>It is raining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Conclusion (THEN): </a:t>
            </a:r>
            <a:r>
              <a:rPr lang="en-US" sz="2000">
                <a:solidFill>
                  <a:srgbClr val="FF0000"/>
                </a:solidFill>
              </a:rPr>
              <a:t>I will not go to school</a:t>
            </a:r>
            <a:endParaRPr/>
          </a:p>
          <a:p>
            <a:pPr indent="-20193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In a production rules system, rules fire when their premises match the facts, producing new facts or actions.</a:t>
            </a:r>
            <a:endParaRPr/>
          </a:p>
          <a:p>
            <a:pPr indent="-20193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Facts</a:t>
            </a:r>
            <a:endParaRPr/>
          </a:p>
        </p:txBody>
      </p:sp>
      <p:sp>
        <p:nvSpPr>
          <p:cNvPr id="182" name="Google Shape;182;p9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400">
                <a:solidFill>
                  <a:srgbClr val="FF0000"/>
                </a:solidFill>
              </a:rPr>
              <a:t>Facts are the basic building blocks of knowledge, representing atomic units of declarative knowledge.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400">
                <a:solidFill>
                  <a:srgbClr val="FF0000"/>
                </a:solidFill>
              </a:rPr>
              <a:t>Each fact can be expressed as a proposition, which is a statement that has an associated truth value, either true or false.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In AI, we represent knowledge using propositions and their truth values.</a:t>
            </a:r>
            <a:endParaRPr/>
          </a:p>
          <a:p>
            <a:pPr indent="-20193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For Example,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Proposition A: “It is raining.”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Proposition B: “I have an umbrella.”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Proposition C: “I will go to school.”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Here, each proposition corresponds to a fact, and the AI system can reason about these facts based on their truth values.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442404" y="457200"/>
            <a:ext cx="8229600" cy="698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Logic</a:t>
            </a:r>
            <a:endParaRPr/>
          </a:p>
        </p:txBody>
      </p:sp>
      <p:sp>
        <p:nvSpPr>
          <p:cNvPr id="189" name="Google Shape;189;p10"/>
          <p:cNvSpPr txBox="1"/>
          <p:nvPr>
            <p:ph idx="1" type="body"/>
          </p:nvPr>
        </p:nvSpPr>
        <p:spPr>
          <a:xfrm>
            <a:off x="457200" y="12954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Logic is a tool for deriving reasonable conclusions from a given set of data. It provides a formal system for describing states of affairs, consisting of three main components: syntax, semantics, and proof theory.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Syntax defines the rules for constructing valid sentences</a:t>
            </a:r>
            <a:r>
              <a:rPr lang="en-US"/>
              <a:t>, known as well-formed formulas (wffs). For example,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“</a:t>
            </a:r>
            <a:r>
              <a:rPr lang="en-US">
                <a:solidFill>
                  <a:srgbClr val="FF0000"/>
                </a:solidFill>
              </a:rPr>
              <a:t>x + y = 4</a:t>
            </a:r>
            <a:r>
              <a:rPr lang="en-US"/>
              <a:t>”</a:t>
            </a:r>
            <a:r>
              <a:rPr lang="en-US">
                <a:solidFill>
                  <a:srgbClr val="FF0000"/>
                </a:solidFill>
              </a:rPr>
              <a:t> is a well-formed sentence</a:t>
            </a:r>
            <a:r>
              <a:rPr lang="en-US"/>
              <a:t>, whereas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“</a:t>
            </a:r>
            <a:r>
              <a:rPr lang="en-US">
                <a:solidFill>
                  <a:srgbClr val="FF0000"/>
                </a:solidFill>
              </a:rPr>
              <a:t>x4y+ =</a:t>
            </a:r>
            <a:r>
              <a:rPr lang="en-US"/>
              <a:t>”</a:t>
            </a:r>
            <a:r>
              <a:rPr lang="en-US">
                <a:solidFill>
                  <a:srgbClr val="FF0000"/>
                </a:solidFill>
              </a:rPr>
              <a:t> is not.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Semantics assigns meaning to sentences and specifies their truth in relation to possible worlds</a:t>
            </a:r>
            <a:r>
              <a:rPr lang="en-US"/>
              <a:t>. For instance, in arithmetic: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The sentence “x + y = 4” is true in a world where x = 2 and y = 2,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but false in a world where x = 1 and y = 1.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Proof theory provides a set of rules for deducing the logical consequences of a set of sentences. It allows us to formally derive new truths from known statements.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Together, these components make logic a rigorous framework for reasoning, ensuring that conclusions are both well-formed and valid.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type="title"/>
          </p:nvPr>
        </p:nvSpPr>
        <p:spPr>
          <a:xfrm>
            <a:off x="457200" y="15240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Logic</a:t>
            </a:r>
            <a:endParaRPr/>
          </a:p>
        </p:txBody>
      </p:sp>
      <p:sp>
        <p:nvSpPr>
          <p:cNvPr id="195" name="Google Shape;195;p11"/>
          <p:cNvSpPr txBox="1"/>
          <p:nvPr>
            <p:ph idx="1" type="body"/>
          </p:nvPr>
        </p:nvSpPr>
        <p:spPr>
          <a:xfrm>
            <a:off x="457200" y="11430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Propositional Logic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Deals with simple statements (propositions) that are either true or false.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Each statement is treated as a single, indivisible unit; the logic only manipulates truth values using connectives like AND, OR, NOT, IMPLIES.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Example: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“It is raining AND it is cold” → True or False.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Predicate Logic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Extends propositional logic by introducing objects, variables, properties, and relations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Allows quantifiers like ∀ (for all) and ∃ (there exists) to express general statements about multiple objects.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Example: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“All humans are mortal. Socrates is human. Therefore, Socrates is mortal.”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Here, “human,” “mortal,” and “Socrates” are elements inside the proposition, not just a single true/false statement.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Propositional logic - Syntax </a:t>
            </a:r>
            <a:endParaRPr/>
          </a:p>
        </p:txBody>
      </p:sp>
      <p:sp>
        <p:nvSpPr>
          <p:cNvPr id="201" name="Google Shape;201;p12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Symbols (alphabet):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Constants: </a:t>
            </a:r>
            <a:r>
              <a:rPr i="1" lang="en-US"/>
              <a:t>True (T), False (F)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Propositional symbols: </a:t>
            </a:r>
            <a:r>
              <a:rPr lang="en-US"/>
              <a:t>for example, </a:t>
            </a:r>
            <a:r>
              <a:rPr i="1" lang="en-US"/>
              <a:t>P,</a:t>
            </a:r>
            <a:r>
              <a:rPr lang="en-US"/>
              <a:t> </a:t>
            </a:r>
            <a:r>
              <a:rPr i="1" lang="en-US"/>
              <a:t>Q, R, </a:t>
            </a:r>
            <a:r>
              <a:rPr lang="en-US"/>
              <a:t>etc.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Connective Symbols:</a:t>
            </a:r>
            <a:br>
              <a:rPr lang="en-US"/>
            </a:br>
            <a:r>
              <a:rPr lang="en-US"/>
              <a:t>			¬ ,∧ ,∨ , ⇒ , ⇔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order of precedence in propositional logic is (from highest to lowest): ¬ ,∧ ,∨ , ⇒ , ⇔ .</a:t>
            </a:r>
            <a:br>
              <a:rPr lang="en-US"/>
            </a:br>
            <a:r>
              <a:rPr lang="en-US"/>
              <a:t>Hence, the sentence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is equivalent to the sentence</a:t>
            </a:r>
            <a:br>
              <a:rPr lang="en-US"/>
            </a:br>
            <a:endParaRPr/>
          </a:p>
        </p:txBody>
      </p:sp>
      <p:pic>
        <p:nvPicPr>
          <p:cNvPr id="202" name="Google Shape;2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4572000"/>
            <a:ext cx="2073742" cy="37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6629" y="5562600"/>
            <a:ext cx="3027684" cy="448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Propositional logic - Syntax </a:t>
            </a:r>
            <a:endParaRPr/>
          </a:p>
        </p:txBody>
      </p:sp>
      <p:sp>
        <p:nvSpPr>
          <p:cNvPr id="209" name="Google Shape;20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35" y="1600200"/>
            <a:ext cx="7993586" cy="462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562" y="1122911"/>
            <a:ext cx="4800600" cy="374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Propositional logic - Syntax </a:t>
            </a:r>
            <a:endParaRPr/>
          </a:p>
        </p:txBody>
      </p:sp>
      <p:pic>
        <p:nvPicPr>
          <p:cNvPr id="217" name="Google Shape;21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662" y="1600200"/>
            <a:ext cx="7922675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Proposition Translation</a:t>
            </a:r>
            <a:endParaRPr/>
          </a:p>
        </p:txBody>
      </p:sp>
      <p:sp>
        <p:nvSpPr>
          <p:cNvPr id="223" name="Google Shape;223;p15"/>
          <p:cNvSpPr txBox="1"/>
          <p:nvPr>
            <p:ph idx="1" type="body"/>
          </p:nvPr>
        </p:nvSpPr>
        <p:spPr>
          <a:xfrm>
            <a:off x="457200" y="1600201"/>
            <a:ext cx="8229600" cy="2209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It is not sunny this afternoon and it is colder than yesterday.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we go swimming it is sunny.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we do not go swimming then we will take a canoe trip.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we take a canoe trip then we will be home by sunset.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will be home by sunset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267200"/>
            <a:ext cx="4608513" cy="1670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Proposition Translation</a:t>
            </a:r>
            <a:endParaRPr/>
          </a:p>
        </p:txBody>
      </p:sp>
      <p:pic>
        <p:nvPicPr>
          <p:cNvPr id="230" name="Google Shape;2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3982327"/>
            <a:ext cx="1385843" cy="20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6"/>
          <p:cNvSpPr txBox="1"/>
          <p:nvPr/>
        </p:nvSpPr>
        <p:spPr>
          <a:xfrm>
            <a:off x="457200" y="1600201"/>
            <a:ext cx="8229600" cy="2209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not sunny this afternoon and it is colder than yesterday.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go swimming it is sunny.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do not go swimming then we will take a canoe trip.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take a canoe trip then we will be home by sunset.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be home by sunset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267200"/>
            <a:ext cx="4608513" cy="1670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Propositional Logic – Semantics </a:t>
            </a:r>
            <a:br>
              <a:rPr lang="en-US" sz="4000"/>
            </a:br>
            <a:r>
              <a:rPr lang="en-US" sz="4000"/>
              <a:t>Composite Sentences</a:t>
            </a:r>
            <a:endParaRPr/>
          </a:p>
        </p:txBody>
      </p:sp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28800"/>
            <a:ext cx="8483941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/>
          <p:nvPr>
            <p:ph type="title"/>
          </p:nvPr>
        </p:nvSpPr>
        <p:spPr>
          <a:xfrm>
            <a:off x="457200" y="2286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Reasoning</a:t>
            </a:r>
            <a:endParaRPr/>
          </a:p>
        </p:txBody>
      </p:sp>
      <p:sp>
        <p:nvSpPr>
          <p:cNvPr id="244" name="Google Shape;244;p18"/>
          <p:cNvSpPr txBox="1"/>
          <p:nvPr>
            <p:ph idx="1" type="body"/>
          </p:nvPr>
        </p:nvSpPr>
        <p:spPr>
          <a:xfrm>
            <a:off x="457200" y="10668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Reasoning is the process of using knowledge to draw conclusions</a:t>
            </a:r>
            <a:r>
              <a:rPr lang="en-US"/>
              <a:t>, make decisions, or solve problems. There are two main types of reasoning.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Deductive Reasoning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Drawing a specific conclusion from general rules or facts.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Example: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Rule: All humans are mortal.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Fact: Socrates is a human.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Conclusion: Socrates is mortal.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in AI: Logic-based systems, rule-based expert systems.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Inductive Reasoning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Drawing a general conclusion from specific observations.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Example: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Observation: Every swan I’ve seen is white.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Conclusion: All swans are probably white.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Use in AI: Machine learning, pattern recognition.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/>
          <p:nvPr>
            <p:ph type="title"/>
          </p:nvPr>
        </p:nvSpPr>
        <p:spPr>
          <a:xfrm>
            <a:off x="457200" y="3810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Inference</a:t>
            </a:r>
            <a:endParaRPr/>
          </a:p>
        </p:txBody>
      </p:sp>
      <p:sp>
        <p:nvSpPr>
          <p:cNvPr id="251" name="Google Shape;251;p19"/>
          <p:cNvSpPr txBox="1"/>
          <p:nvPr>
            <p:ph idx="1" type="body"/>
          </p:nvPr>
        </p:nvSpPr>
        <p:spPr>
          <a:xfrm>
            <a:off x="609600" y="1371600"/>
            <a:ext cx="8153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Inference is a specific operation within reasoning</a:t>
            </a:r>
            <a:r>
              <a:rPr lang="en-US" sz="2400"/>
              <a:t>. 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Every reasoning process involves one or more inferences to move from known facts and rules to new conclusions.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Inference is a way of syntactically generating new wffs from a set of wffs. 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Entailment using truth tables is too expensive for most KBs (i.e. 2</a:t>
            </a:r>
            <a:r>
              <a:rPr baseline="30000" lang="en-US" sz="2400"/>
              <a:t>n</a:t>
            </a:r>
            <a:r>
              <a:rPr lang="en-US" sz="2400"/>
              <a:t> entries in the table).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Instead of truth tables, AI uses symbolic inference or theorem proving methods (like Modus Ponens, Resolution, or Forward/Backward chaining) to derive conclusions without enumerating all truth assignments.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The component of the system that performs inference is called an </a:t>
            </a:r>
            <a:r>
              <a:rPr i="1" lang="en-US" sz="2400">
                <a:solidFill>
                  <a:srgbClr val="FF0000"/>
                </a:solidFill>
              </a:rPr>
              <a:t>inference engine</a:t>
            </a:r>
            <a:r>
              <a:rPr lang="en-US" sz="2400"/>
              <a:t>.</a:t>
            </a:r>
            <a:endParaRPr/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Rules of Inference</a:t>
            </a:r>
            <a:endParaRPr/>
          </a:p>
        </p:txBody>
      </p:sp>
      <p:sp>
        <p:nvSpPr>
          <p:cNvPr id="258" name="Google Shape;258;p20"/>
          <p:cNvSpPr txBox="1"/>
          <p:nvPr>
            <p:ph idx="1" type="body"/>
          </p:nvPr>
        </p:nvSpPr>
        <p:spPr>
          <a:xfrm>
            <a:off x="685800" y="1219200"/>
            <a:ext cx="79248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“Modus Ponens", “p implies q" and “p" you can conclude “q".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you know that p implies q is true, and you know p to be true, you can automatically say that q is true</a:t>
            </a:r>
            <a:endParaRPr/>
          </a:p>
        </p:txBody>
      </p:sp>
      <p:grpSp>
        <p:nvGrpSpPr>
          <p:cNvPr id="259" name="Google Shape;259;p20"/>
          <p:cNvGrpSpPr/>
          <p:nvPr/>
        </p:nvGrpSpPr>
        <p:grpSpPr>
          <a:xfrm>
            <a:off x="457202" y="3479800"/>
            <a:ext cx="1447800" cy="2541588"/>
            <a:chOff x="-1440" y="2192"/>
            <a:chExt cx="912" cy="1601"/>
          </a:xfrm>
        </p:grpSpPr>
        <p:pic>
          <p:nvPicPr>
            <p:cNvPr id="260" name="Google Shape;26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393" y="2192"/>
              <a:ext cx="561" cy="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0"/>
            <p:cNvSpPr txBox="1"/>
            <p:nvPr/>
          </p:nvSpPr>
          <p:spPr>
            <a:xfrm>
              <a:off x="-1440" y="3255"/>
              <a:ext cx="912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Modus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Ponens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20"/>
          <p:cNvGrpSpPr/>
          <p:nvPr/>
        </p:nvGrpSpPr>
        <p:grpSpPr>
          <a:xfrm>
            <a:off x="2057400" y="2971800"/>
            <a:ext cx="7315200" cy="3657600"/>
            <a:chOff x="288" y="1008"/>
            <a:chExt cx="5184" cy="2851"/>
          </a:xfrm>
        </p:grpSpPr>
        <p:sp>
          <p:nvSpPr>
            <p:cNvPr id="263" name="Google Shape;263;p20"/>
            <p:cNvSpPr/>
            <p:nvPr/>
          </p:nvSpPr>
          <p:spPr>
            <a:xfrm>
              <a:off x="4608" y="3289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3744" y="3289"/>
              <a:ext cx="864" cy="57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2880" y="3289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2016" y="3289"/>
              <a:ext cx="864" cy="57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1152" y="3289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288" y="3289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4608" y="271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3744" y="2718"/>
              <a:ext cx="864" cy="57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2880" y="271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2016" y="2718"/>
              <a:ext cx="864" cy="57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1152" y="271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288" y="271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4608" y="2149"/>
              <a:ext cx="864" cy="56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3744" y="2149"/>
              <a:ext cx="864" cy="56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2880" y="2149"/>
              <a:ext cx="864" cy="56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2016" y="2149"/>
              <a:ext cx="864" cy="56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1152" y="2149"/>
              <a:ext cx="864" cy="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288" y="2149"/>
              <a:ext cx="864" cy="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4608" y="157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3744" y="1578"/>
              <a:ext cx="864" cy="57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2880" y="157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2016" y="1578"/>
              <a:ext cx="864" cy="57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1152" y="157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288" y="157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4608" y="1008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⇔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3744" y="1008"/>
              <a:ext cx="864" cy="57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⇒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2880" y="1008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∨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2016" y="1008"/>
              <a:ext cx="864" cy="57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∧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1152" y="1008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288" y="1008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3" name="Google Shape;293;p20"/>
            <p:cNvCxnSpPr/>
            <p:nvPr/>
          </p:nvCxnSpPr>
          <p:spPr>
            <a:xfrm>
              <a:off x="288" y="1008"/>
              <a:ext cx="51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0"/>
            <p:cNvCxnSpPr/>
            <p:nvPr/>
          </p:nvCxnSpPr>
          <p:spPr>
            <a:xfrm>
              <a:off x="288" y="1578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0"/>
            <p:cNvCxnSpPr/>
            <p:nvPr/>
          </p:nvCxnSpPr>
          <p:spPr>
            <a:xfrm>
              <a:off x="288" y="2149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20"/>
            <p:cNvCxnSpPr/>
            <p:nvPr/>
          </p:nvCxnSpPr>
          <p:spPr>
            <a:xfrm>
              <a:off x="288" y="2718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0"/>
            <p:cNvCxnSpPr/>
            <p:nvPr/>
          </p:nvCxnSpPr>
          <p:spPr>
            <a:xfrm>
              <a:off x="288" y="3289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8" name="Google Shape;298;p20"/>
            <p:cNvCxnSpPr/>
            <p:nvPr/>
          </p:nvCxnSpPr>
          <p:spPr>
            <a:xfrm>
              <a:off x="288" y="3859"/>
              <a:ext cx="51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20"/>
            <p:cNvCxnSpPr/>
            <p:nvPr/>
          </p:nvCxnSpPr>
          <p:spPr>
            <a:xfrm>
              <a:off x="288" y="1008"/>
              <a:ext cx="0" cy="285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20"/>
            <p:cNvCxnSpPr/>
            <p:nvPr/>
          </p:nvCxnSpPr>
          <p:spPr>
            <a:xfrm>
              <a:off x="1152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20"/>
            <p:cNvCxnSpPr/>
            <p:nvPr/>
          </p:nvCxnSpPr>
          <p:spPr>
            <a:xfrm>
              <a:off x="2016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20"/>
            <p:cNvCxnSpPr/>
            <p:nvPr/>
          </p:nvCxnSpPr>
          <p:spPr>
            <a:xfrm>
              <a:off x="2880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20"/>
            <p:cNvCxnSpPr/>
            <p:nvPr/>
          </p:nvCxnSpPr>
          <p:spPr>
            <a:xfrm>
              <a:off x="3744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20"/>
            <p:cNvCxnSpPr/>
            <p:nvPr/>
          </p:nvCxnSpPr>
          <p:spPr>
            <a:xfrm>
              <a:off x="4608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5" name="Google Shape;305;p20"/>
            <p:cNvCxnSpPr/>
            <p:nvPr/>
          </p:nvCxnSpPr>
          <p:spPr>
            <a:xfrm>
              <a:off x="5472" y="1008"/>
              <a:ext cx="0" cy="285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Rules of Inference</a:t>
            </a:r>
            <a:endParaRPr/>
          </a:p>
        </p:txBody>
      </p:sp>
      <p:sp>
        <p:nvSpPr>
          <p:cNvPr id="312" name="Google Shape;312;p21"/>
          <p:cNvSpPr txBox="1"/>
          <p:nvPr>
            <p:ph idx="1" type="body"/>
          </p:nvPr>
        </p:nvSpPr>
        <p:spPr>
          <a:xfrm>
            <a:off x="685800" y="1295400"/>
            <a:ext cx="792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Modus Tollens: “p implies q" and "not q" you can conclude "not p".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p implies q is true and q is known to be not true, then p could not have been true.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/>
          </a:p>
        </p:txBody>
      </p:sp>
      <p:grpSp>
        <p:nvGrpSpPr>
          <p:cNvPr id="313" name="Google Shape;313;p21"/>
          <p:cNvGrpSpPr/>
          <p:nvPr/>
        </p:nvGrpSpPr>
        <p:grpSpPr>
          <a:xfrm>
            <a:off x="420688" y="3606800"/>
            <a:ext cx="1219200" cy="2428875"/>
            <a:chOff x="649" y="2224"/>
            <a:chExt cx="768" cy="1530"/>
          </a:xfrm>
        </p:grpSpPr>
        <p:pic>
          <p:nvPicPr>
            <p:cNvPr id="314" name="Google Shape;31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3" y="2224"/>
              <a:ext cx="561" cy="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21"/>
            <p:cNvSpPr txBox="1"/>
            <p:nvPr/>
          </p:nvSpPr>
          <p:spPr>
            <a:xfrm>
              <a:off x="649" y="3312"/>
              <a:ext cx="768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Modus Tollens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1905000" y="3124200"/>
            <a:ext cx="7315200" cy="3657600"/>
            <a:chOff x="288" y="1008"/>
            <a:chExt cx="5184" cy="2851"/>
          </a:xfrm>
        </p:grpSpPr>
        <p:sp>
          <p:nvSpPr>
            <p:cNvPr id="317" name="Google Shape;317;p21"/>
            <p:cNvSpPr/>
            <p:nvPr/>
          </p:nvSpPr>
          <p:spPr>
            <a:xfrm>
              <a:off x="4608" y="3289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3744" y="3289"/>
              <a:ext cx="864" cy="57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2880" y="3289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2016" y="3289"/>
              <a:ext cx="864" cy="57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1152" y="3289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288" y="3289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4608" y="271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3744" y="2718"/>
              <a:ext cx="864" cy="57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2880" y="271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2016" y="2718"/>
              <a:ext cx="864" cy="57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1152" y="271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288" y="271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4608" y="2149"/>
              <a:ext cx="864" cy="56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3744" y="2149"/>
              <a:ext cx="864" cy="56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2880" y="2149"/>
              <a:ext cx="864" cy="56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2016" y="2149"/>
              <a:ext cx="864" cy="56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1152" y="2149"/>
              <a:ext cx="864" cy="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288" y="2149"/>
              <a:ext cx="864" cy="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4608" y="157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3744" y="1578"/>
              <a:ext cx="864" cy="57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2880" y="1578"/>
              <a:ext cx="864" cy="5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2016" y="1578"/>
              <a:ext cx="864" cy="57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1152" y="157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288" y="1578"/>
              <a:ext cx="864" cy="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4608" y="1008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⇔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3744" y="1008"/>
              <a:ext cx="864" cy="57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⇒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2880" y="1008"/>
              <a:ext cx="864" cy="57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∨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2016" y="1008"/>
              <a:ext cx="864" cy="57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 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∧</a:t>
              </a:r>
              <a:r>
                <a:rPr b="0" i="0" lang="en-US" sz="3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1152" y="1008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288" y="1008"/>
              <a:ext cx="864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7" name="Google Shape;347;p21"/>
            <p:cNvCxnSpPr/>
            <p:nvPr/>
          </p:nvCxnSpPr>
          <p:spPr>
            <a:xfrm>
              <a:off x="288" y="1008"/>
              <a:ext cx="51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8" name="Google Shape;348;p21"/>
            <p:cNvCxnSpPr/>
            <p:nvPr/>
          </p:nvCxnSpPr>
          <p:spPr>
            <a:xfrm>
              <a:off x="288" y="1578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21"/>
            <p:cNvCxnSpPr/>
            <p:nvPr/>
          </p:nvCxnSpPr>
          <p:spPr>
            <a:xfrm>
              <a:off x="288" y="2149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21"/>
            <p:cNvCxnSpPr/>
            <p:nvPr/>
          </p:nvCxnSpPr>
          <p:spPr>
            <a:xfrm>
              <a:off x="288" y="2718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1" name="Google Shape;351;p21"/>
            <p:cNvCxnSpPr/>
            <p:nvPr/>
          </p:nvCxnSpPr>
          <p:spPr>
            <a:xfrm>
              <a:off x="288" y="3289"/>
              <a:ext cx="5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2" name="Google Shape;352;p21"/>
            <p:cNvCxnSpPr/>
            <p:nvPr/>
          </p:nvCxnSpPr>
          <p:spPr>
            <a:xfrm>
              <a:off x="288" y="3859"/>
              <a:ext cx="51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p21"/>
            <p:cNvCxnSpPr/>
            <p:nvPr/>
          </p:nvCxnSpPr>
          <p:spPr>
            <a:xfrm>
              <a:off x="288" y="1008"/>
              <a:ext cx="0" cy="285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21"/>
            <p:cNvCxnSpPr/>
            <p:nvPr/>
          </p:nvCxnSpPr>
          <p:spPr>
            <a:xfrm>
              <a:off x="1152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21"/>
            <p:cNvCxnSpPr/>
            <p:nvPr/>
          </p:nvCxnSpPr>
          <p:spPr>
            <a:xfrm>
              <a:off x="2016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21"/>
            <p:cNvCxnSpPr/>
            <p:nvPr/>
          </p:nvCxnSpPr>
          <p:spPr>
            <a:xfrm>
              <a:off x="2880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7" name="Google Shape;357;p21"/>
            <p:cNvCxnSpPr/>
            <p:nvPr/>
          </p:nvCxnSpPr>
          <p:spPr>
            <a:xfrm>
              <a:off x="3744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" name="Google Shape;358;p21"/>
            <p:cNvCxnSpPr/>
            <p:nvPr/>
          </p:nvCxnSpPr>
          <p:spPr>
            <a:xfrm>
              <a:off x="4608" y="1008"/>
              <a:ext cx="0" cy="285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" name="Google Shape;359;p21"/>
            <p:cNvCxnSpPr/>
            <p:nvPr/>
          </p:nvCxnSpPr>
          <p:spPr>
            <a:xfrm>
              <a:off x="5472" y="1008"/>
              <a:ext cx="0" cy="285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Rules of Inference</a:t>
            </a:r>
            <a:endParaRPr/>
          </a:p>
        </p:txBody>
      </p:sp>
      <p:sp>
        <p:nvSpPr>
          <p:cNvPr id="366" name="Google Shape;366;p22"/>
          <p:cNvSpPr txBox="1"/>
          <p:nvPr>
            <p:ph idx="1" type="body"/>
          </p:nvPr>
        </p:nvSpPr>
        <p:spPr>
          <a:xfrm>
            <a:off x="685800" y="1600200"/>
            <a:ext cx="792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And-introduction say that if “p” is true and “q” is true you can conclude “p and q is also true".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Conversely, and-elimination says that if “p and q“ is true you can conclude “p” to be true.</a:t>
            </a:r>
            <a:endParaRPr/>
          </a:p>
        </p:txBody>
      </p:sp>
      <p:grpSp>
        <p:nvGrpSpPr>
          <p:cNvPr id="367" name="Google Shape;367;p22"/>
          <p:cNvGrpSpPr/>
          <p:nvPr/>
        </p:nvGrpSpPr>
        <p:grpSpPr>
          <a:xfrm>
            <a:off x="2667000" y="3416300"/>
            <a:ext cx="4267200" cy="2757488"/>
            <a:chOff x="3072" y="2152"/>
            <a:chExt cx="2688" cy="1737"/>
          </a:xfrm>
        </p:grpSpPr>
        <p:pic>
          <p:nvPicPr>
            <p:cNvPr id="368" name="Google Shape;36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02" y="2152"/>
              <a:ext cx="492" cy="9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8" y="2469"/>
              <a:ext cx="490" cy="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22"/>
            <p:cNvSpPr txBox="1"/>
            <p:nvPr/>
          </p:nvSpPr>
          <p:spPr>
            <a:xfrm>
              <a:off x="3072" y="3351"/>
              <a:ext cx="1152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And-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Introduction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2"/>
            <p:cNvSpPr txBox="1"/>
            <p:nvPr/>
          </p:nvSpPr>
          <p:spPr>
            <a:xfrm>
              <a:off x="4560" y="3312"/>
              <a:ext cx="1200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And-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elimination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Rules of Inference</a:t>
            </a:r>
            <a:endParaRPr/>
          </a:p>
        </p:txBody>
      </p:sp>
      <p:grpSp>
        <p:nvGrpSpPr>
          <p:cNvPr id="378" name="Google Shape;378;p23"/>
          <p:cNvGrpSpPr/>
          <p:nvPr/>
        </p:nvGrpSpPr>
        <p:grpSpPr>
          <a:xfrm>
            <a:off x="609600" y="2106613"/>
            <a:ext cx="8229600" cy="2755901"/>
            <a:chOff x="576" y="2143"/>
            <a:chExt cx="5184" cy="1736"/>
          </a:xfrm>
        </p:grpSpPr>
        <p:pic>
          <p:nvPicPr>
            <p:cNvPr id="379" name="Google Shape;379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02" y="2143"/>
              <a:ext cx="492" cy="9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7" y="2459"/>
              <a:ext cx="491" cy="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88" y="2262"/>
              <a:ext cx="561" cy="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4" y="2278"/>
              <a:ext cx="561" cy="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23"/>
            <p:cNvSpPr txBox="1"/>
            <p:nvPr/>
          </p:nvSpPr>
          <p:spPr>
            <a:xfrm>
              <a:off x="576" y="3341"/>
              <a:ext cx="912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Modus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Ponens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3"/>
            <p:cNvSpPr txBox="1"/>
            <p:nvPr/>
          </p:nvSpPr>
          <p:spPr>
            <a:xfrm>
              <a:off x="1728" y="3350"/>
              <a:ext cx="768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Modus Tolens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3"/>
            <p:cNvSpPr txBox="1"/>
            <p:nvPr/>
          </p:nvSpPr>
          <p:spPr>
            <a:xfrm>
              <a:off x="3072" y="3341"/>
              <a:ext cx="1152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And-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Introduction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3"/>
            <p:cNvSpPr txBox="1"/>
            <p:nvPr/>
          </p:nvSpPr>
          <p:spPr>
            <a:xfrm>
              <a:off x="4560" y="3312"/>
              <a:ext cx="1200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And-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elimination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Rules of Inference</a:t>
            </a:r>
            <a:endParaRPr/>
          </a:p>
        </p:txBody>
      </p:sp>
      <p:graphicFrame>
        <p:nvGraphicFramePr>
          <p:cNvPr id="392" name="Google Shape;392;p24"/>
          <p:cNvGraphicFramePr/>
          <p:nvPr/>
        </p:nvGraphicFramePr>
        <p:xfrm>
          <a:off x="457200" y="2400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Rule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Description</a:t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Modus Ponens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 → Q, P → </a:t>
                      </a:r>
                      <a:r>
                        <a:rPr b="1" lang="en-US" sz="1800" u="none" cap="none" strike="noStrike"/>
                        <a:t>Infer: Q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Modus Tollens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 → Q, ¬Q → </a:t>
                      </a:r>
                      <a:r>
                        <a:rPr b="1" lang="en-US" sz="1800" u="none" cap="none" strike="noStrike"/>
                        <a:t>Infer: ¬P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Hypothetical Syllogism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 → Q, Q → R → </a:t>
                      </a:r>
                      <a:r>
                        <a:rPr b="1" lang="en-US" sz="1800" u="none" cap="none" strike="noStrike"/>
                        <a:t>Infer: P → R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Disjunctive Syllogism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 ∨ Q, ¬P → </a:t>
                      </a:r>
                      <a:r>
                        <a:rPr b="1" lang="en-US" sz="1800" u="none" cap="none" strike="noStrike"/>
                        <a:t>Infer: Q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Conjunction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P, Q → </a:t>
                      </a:r>
                      <a:r>
                        <a:rPr b="1" lang="en-US" sz="1800" u="none" cap="none" strike="noStrike"/>
                        <a:t>Infer: P ∧ Q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Simplification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 ∧ Q → </a:t>
                      </a:r>
                      <a:r>
                        <a:rPr b="1" lang="en-US" sz="1800" u="none" cap="none" strike="noStrike"/>
                        <a:t>Infer: P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Addition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 → </a:t>
                      </a:r>
                      <a:r>
                        <a:rPr b="1" lang="en-US" sz="1800" u="none" cap="none" strike="noStrike"/>
                        <a:t>Infer: P ∨ Q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Rules of Inference</a:t>
            </a:r>
            <a:endParaRPr/>
          </a:p>
        </p:txBody>
      </p:sp>
      <p:graphicFrame>
        <p:nvGraphicFramePr>
          <p:cNvPr id="398" name="Google Shape;398;p25"/>
          <p:cNvGraphicFramePr/>
          <p:nvPr/>
        </p:nvGraphicFramePr>
        <p:xfrm>
          <a:off x="838199" y="1549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2489200"/>
                <a:gridCol w="2489200"/>
                <a:gridCol w="2489200"/>
              </a:tblGrid>
              <a:tr h="24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Rule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Modus Ponens (→ Elimination)</a:t>
                      </a:r>
                      <a:endParaRPr sz="11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If “P → Q” is true and P is true, then Q must be true.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P: “It rains”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P → Q: “If it rains, the ground gets wet”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Infer: “The ground gets wet”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Modus Tollens</a:t>
                      </a:r>
                      <a:endParaRPr sz="11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If “P → Q” is true and Q is false, then P is false.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P → Q: “If it rains, the ground gets wet”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¬Q: “The ground is not wet”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Infer: ¬P: “It did not rain”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Hypothetical Syllogism</a:t>
                      </a:r>
                      <a:endParaRPr sz="11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If P → Q and Q → R, then P → R.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“If it rains, the ground gets wet” and “If the ground gets wet, the grass grows” → “If it rains, the grass grows”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Disjunctive Syllogism</a:t>
                      </a:r>
                      <a:endParaRPr sz="11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From “P ∨ Q” and ¬P, infer Q.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“It is raining or it is snowing” and “It is not raining” → “It is snowing”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Conjunction</a:t>
                      </a:r>
                      <a:endParaRPr sz="11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If P and Q are both true, infer P ∧ Q.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P: “It rains”, Q: “It is cold” → “It rains AND it is cold”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Simplification</a:t>
                      </a:r>
                      <a:endParaRPr sz="11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From P ∧ Q, infer P (or infer Q).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“It rains AND it is cold” → “It rains”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Addition</a:t>
                      </a:r>
                      <a:endParaRPr sz="11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From P, infer P ∨ Q.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“It rains” → “It rains OR it is sunny”</a:t>
                      </a:r>
                      <a:endParaRPr sz="1400" u="none" cap="none" strike="noStrike"/>
                    </a:p>
                  </a:txBody>
                  <a:tcPr marT="27275" marB="27275" marR="54525" marL="54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Inference Example</a:t>
            </a:r>
            <a:endParaRPr/>
          </a:p>
        </p:txBody>
      </p:sp>
      <p:graphicFrame>
        <p:nvGraphicFramePr>
          <p:cNvPr id="405" name="Google Shape;405;p26"/>
          <p:cNvGraphicFramePr/>
          <p:nvPr/>
        </p:nvGraphicFramePr>
        <p:xfrm>
          <a:off x="11430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838200"/>
                <a:gridCol w="2411425"/>
                <a:gridCol w="3729025"/>
              </a:tblGrid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R) 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26"/>
          <p:cNvSpPr txBox="1"/>
          <p:nvPr/>
        </p:nvSpPr>
        <p:spPr>
          <a:xfrm>
            <a:off x="3505200" y="1676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Inference Example</a:t>
            </a:r>
            <a:endParaRPr/>
          </a:p>
        </p:txBody>
      </p:sp>
      <p:graphicFrame>
        <p:nvGraphicFramePr>
          <p:cNvPr id="413" name="Google Shape;413;p27"/>
          <p:cNvGraphicFramePr/>
          <p:nvPr/>
        </p:nvGraphicFramePr>
        <p:xfrm>
          <a:off x="11430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838200"/>
                <a:gridCol w="2411425"/>
                <a:gridCol w="3729025"/>
              </a:tblGrid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R) 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4" name="Google Shape;414;p27"/>
          <p:cNvSpPr txBox="1"/>
          <p:nvPr/>
        </p:nvSpPr>
        <p:spPr>
          <a:xfrm>
            <a:off x="3505200" y="1676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Inference Example</a:t>
            </a:r>
            <a:endParaRPr/>
          </a:p>
        </p:txBody>
      </p:sp>
      <p:graphicFrame>
        <p:nvGraphicFramePr>
          <p:cNvPr id="421" name="Google Shape;421;p28"/>
          <p:cNvGraphicFramePr/>
          <p:nvPr/>
        </p:nvGraphicFramePr>
        <p:xfrm>
          <a:off x="11430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838200"/>
                <a:gridCol w="2411425"/>
                <a:gridCol w="3729025"/>
              </a:tblGrid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R) 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 2 Modus Ponens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2" name="Google Shape;422;p28"/>
          <p:cNvSpPr txBox="1"/>
          <p:nvPr/>
        </p:nvSpPr>
        <p:spPr>
          <a:xfrm>
            <a:off x="3505200" y="1676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Inference Example</a:t>
            </a:r>
            <a:endParaRPr/>
          </a:p>
        </p:txBody>
      </p:sp>
      <p:graphicFrame>
        <p:nvGraphicFramePr>
          <p:cNvPr id="429" name="Google Shape;429;p29"/>
          <p:cNvGraphicFramePr/>
          <p:nvPr/>
        </p:nvGraphicFramePr>
        <p:xfrm>
          <a:off x="11430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838200"/>
                <a:gridCol w="2411425"/>
                <a:gridCol w="3729025"/>
              </a:tblGrid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R) 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 2 Modus Ponens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0" name="Google Shape;430;p29"/>
          <p:cNvSpPr txBox="1"/>
          <p:nvPr/>
        </p:nvSpPr>
        <p:spPr>
          <a:xfrm>
            <a:off x="3505200" y="1676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Inference Example</a:t>
            </a:r>
            <a:endParaRPr/>
          </a:p>
        </p:txBody>
      </p:sp>
      <p:graphicFrame>
        <p:nvGraphicFramePr>
          <p:cNvPr id="437" name="Google Shape;437;p30"/>
          <p:cNvGraphicFramePr/>
          <p:nvPr/>
        </p:nvGraphicFramePr>
        <p:xfrm>
          <a:off x="11430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838200"/>
                <a:gridCol w="2411425"/>
                <a:gridCol w="3729025"/>
              </a:tblGrid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R) 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 2 Modus Ponens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 6 And-introduction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30"/>
          <p:cNvSpPr txBox="1"/>
          <p:nvPr/>
        </p:nvSpPr>
        <p:spPr>
          <a:xfrm>
            <a:off x="3505200" y="1676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Inference Example</a:t>
            </a:r>
            <a:endParaRPr/>
          </a:p>
        </p:txBody>
      </p:sp>
      <p:graphicFrame>
        <p:nvGraphicFramePr>
          <p:cNvPr id="445" name="Google Shape;445;p31"/>
          <p:cNvGraphicFramePr/>
          <p:nvPr/>
        </p:nvGraphicFramePr>
        <p:xfrm>
          <a:off x="11430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838200"/>
                <a:gridCol w="2411425"/>
                <a:gridCol w="3729025"/>
              </a:tblGrid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 R) 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 2 Modus Ponens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And-elimination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∧R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 6 And-introduction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 3 Modus Ponens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6" name="Google Shape;446;p31"/>
          <p:cNvSpPr txBox="1"/>
          <p:nvPr/>
        </p:nvSpPr>
        <p:spPr>
          <a:xfrm>
            <a:off x="3505200" y="1676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/>
          <p:cNvSpPr txBox="1"/>
          <p:nvPr>
            <p:ph type="title"/>
          </p:nvPr>
        </p:nvSpPr>
        <p:spPr>
          <a:xfrm>
            <a:off x="457200" y="274638"/>
            <a:ext cx="8229600" cy="75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Resolution</a:t>
            </a:r>
            <a:endParaRPr/>
          </a:p>
        </p:txBody>
      </p:sp>
      <p:sp>
        <p:nvSpPr>
          <p:cNvPr id="453" name="Google Shape;453;p32"/>
          <p:cNvSpPr txBox="1"/>
          <p:nvPr>
            <p:ph idx="1" type="body"/>
          </p:nvPr>
        </p:nvSpPr>
        <p:spPr>
          <a:xfrm>
            <a:off x="685800" y="1116419"/>
            <a:ext cx="8229600" cy="381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deduction mechanism we discussed may be used in practical systems but is not feasible. </a:t>
            </a:r>
            <a:endParaRPr sz="22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It uses a lot of inference rules, which introduces a large branch factor in the search for a proof.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 alternative is Resolution, a strategy used to determine the truth of an assertion using only a single rule.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Resolution is the central inference rule used in automated theorem proving. </a:t>
            </a:r>
            <a:r>
              <a:rPr lang="en-US" sz="2200">
                <a:solidFill>
                  <a:srgbClr val="FF0000"/>
                </a:solidFill>
              </a:rPr>
              <a:t>It is used when you want to perform inference by proof by contradiction. </a:t>
            </a:r>
            <a:endParaRPr sz="2200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Only one Resolution rule:</a:t>
            </a:r>
            <a:endParaRPr/>
          </a:p>
        </p:txBody>
      </p:sp>
      <p:pic>
        <p:nvPicPr>
          <p:cNvPr id="454" name="Google Shape;4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8588" y="4933507"/>
            <a:ext cx="862012" cy="13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Resolution Rule</a:t>
            </a:r>
            <a:endParaRPr/>
          </a:p>
        </p:txBody>
      </p:sp>
      <p:graphicFrame>
        <p:nvGraphicFramePr>
          <p:cNvPr id="461" name="Google Shape;461;p33"/>
          <p:cNvGraphicFramePr/>
          <p:nvPr/>
        </p:nvGraphicFramePr>
        <p:xfrm>
          <a:off x="5334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{325E82FC-FF76-4166-806A-3E168DAA109F}</a:tableStyleId>
              </a:tblPr>
              <a:tblGrid>
                <a:gridCol w="1166825"/>
                <a:gridCol w="1163625"/>
                <a:gridCol w="1163650"/>
                <a:gridCol w="1165225"/>
                <a:gridCol w="1163625"/>
                <a:gridCol w="1163650"/>
                <a:gridCol w="1166800"/>
              </a:tblGrid>
              <a:tr h="52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  <a:tr h="52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CCFF"/>
                    </a:solidFill>
                  </a:tcPr>
                </a:tc>
              </a:tr>
            </a:tbl>
          </a:graphicData>
        </a:graphic>
      </p:graphicFrame>
      <p:pic>
        <p:nvPicPr>
          <p:cNvPr id="462" name="Google Shape;4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51000"/>
            <a:ext cx="311150" cy="3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" y="1649413"/>
            <a:ext cx="258763" cy="33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1689100"/>
            <a:ext cx="233363" cy="2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2100" y="1638300"/>
            <a:ext cx="752475" cy="3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1600" y="1638300"/>
            <a:ext cx="908050" cy="3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29113" y="1649413"/>
            <a:ext cx="493712" cy="33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64438" y="1651000"/>
            <a:ext cx="727075" cy="33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4"/>
          <p:cNvSpPr txBox="1"/>
          <p:nvPr>
            <p:ph type="title"/>
          </p:nvPr>
        </p:nvSpPr>
        <p:spPr>
          <a:xfrm>
            <a:off x="457200" y="274638"/>
            <a:ext cx="8229600" cy="948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Conjunctive Normal Form</a:t>
            </a:r>
            <a:endParaRPr/>
          </a:p>
        </p:txBody>
      </p:sp>
      <p:sp>
        <p:nvSpPr>
          <p:cNvPr id="475" name="Google Shape;475;p34"/>
          <p:cNvSpPr txBox="1"/>
          <p:nvPr>
            <p:ph idx="1" type="body"/>
          </p:nvPr>
        </p:nvSpPr>
        <p:spPr>
          <a:xfrm>
            <a:off x="685800" y="1222744"/>
            <a:ext cx="8229600" cy="5360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ANDs of Ors</a:t>
            </a:r>
            <a:endParaRPr sz="22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Resolution requires all  sentences to be converted into a special form called Conjunctive Normal Form (CNF).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CNF is a standardized way of writing logical expressions so they can be used easily by automated reasoning methods such as resolution.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sentence written in CNF looks like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Outermost structure is made up of conjunctions. Inner units called clauses are made up of disjunctions.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  <p:pic>
        <p:nvPicPr>
          <p:cNvPr id="476" name="Google Shape;4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797044"/>
            <a:ext cx="433705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Convert to CNF</a:t>
            </a:r>
            <a:endParaRPr/>
          </a:p>
        </p:txBody>
      </p:sp>
      <p:sp>
        <p:nvSpPr>
          <p:cNvPr descr="Rectangle: Click to edit Master text styles&#10;Second level&#10;Third level&#10;Fourth level&#10;Fifth level" id="483" name="Google Shape;483;p35"/>
          <p:cNvSpPr txBox="1"/>
          <p:nvPr>
            <p:ph idx="1" type="body"/>
          </p:nvPr>
        </p:nvSpPr>
        <p:spPr>
          <a:xfrm>
            <a:off x="762000" y="1752600"/>
            <a:ext cx="7924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Eliminate ⇔ (implications)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 ⇔ (C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D) =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((A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(C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D))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((C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D)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1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Eliminate arrows (implications)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484" name="Google Shape;48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442" y="4419600"/>
            <a:ext cx="277895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Convert to CNF</a:t>
            </a:r>
            <a:endParaRPr/>
          </a:p>
        </p:txBody>
      </p:sp>
      <p:sp>
        <p:nvSpPr>
          <p:cNvPr id="491" name="Google Shape;491;p36"/>
          <p:cNvSpPr txBox="1"/>
          <p:nvPr>
            <p:ph idx="1" type="body"/>
          </p:nvPr>
        </p:nvSpPr>
        <p:spPr>
          <a:xfrm>
            <a:off x="457200" y="1600200"/>
            <a:ext cx="784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Drive in negations using De Morgan’s Law</a:t>
            </a:r>
            <a:endParaRPr/>
          </a:p>
        </p:txBody>
      </p:sp>
      <p:pic>
        <p:nvPicPr>
          <p:cNvPr id="492" name="Google Shape;49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2063" y="3124200"/>
            <a:ext cx="4097337" cy="6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4288" y="4346575"/>
            <a:ext cx="4056062" cy="6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Convert to CNF</a:t>
            </a:r>
            <a:endParaRPr/>
          </a:p>
        </p:txBody>
      </p:sp>
      <p:sp>
        <p:nvSpPr>
          <p:cNvPr id="499" name="Google Shape;499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AND distributes over OR: (OR of ANDs)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 ∧ (Q ∨ R) ≡ (P ∧ Q) ∨ (P ∧ R)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you apply AND to a whole OR expression, it “distributes” over each term in the OR: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 = “It rains”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Q = “I carry an umbrella”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 = “I wear a raincoat”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 rains AND (I carry an umbrella OR I wear a raincoat)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This is </a:t>
            </a:r>
            <a:r>
              <a:rPr b="1" lang="en-US"/>
              <a:t>equivalent to</a:t>
            </a:r>
            <a:r>
              <a:rPr lang="en-US"/>
              <a:t>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(It rains AND I carry an umbrella) OR (It rains AND I wear a raincoat)</a:t>
            </a:r>
            <a:endParaRPr/>
          </a:p>
          <a:p>
            <a:pPr indent="-16129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OR distributes over AND: (AND of ORs)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 ∨ (Q ∧ R) ≡ (P ∨ Q) ∧ (P ∨ R)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Convert to CNF Example</a:t>
            </a:r>
            <a:endParaRPr sz="4000"/>
          </a:p>
        </p:txBody>
      </p:sp>
      <p:sp>
        <p:nvSpPr>
          <p:cNvPr descr="Rectangle: Click to edit Master text styles&#10;Second level&#10;Third level&#10;Fourth level&#10;Fifth level" id="506" name="Google Shape;506;p38"/>
          <p:cNvSpPr txBox="1"/>
          <p:nvPr>
            <p:ph idx="1" type="body"/>
          </p:nvPr>
        </p:nvSpPr>
        <p:spPr>
          <a:xfrm>
            <a:off x="685800" y="1752600"/>
            <a:ext cx="8077200" cy="4830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Example: (A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2400"/>
              <a:t> B) ⇔ (C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2400"/>
              <a:t> D)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Eliminate ⇔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((A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(C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D))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((C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D)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n-US" sz="1800"/>
              <a:t> 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Eliminate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D)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 ¬</a:t>
            </a:r>
            <a:r>
              <a:rPr lang="en-US" sz="1800"/>
              <a:t> 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D)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 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Drive in negations</a:t>
            </a:r>
            <a:br>
              <a:rPr lang="en-US" sz="2000"/>
            </a:br>
            <a:r>
              <a:rPr lang="en-US" sz="1800"/>
              <a:t>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B)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D))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((C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D)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Distribute</a:t>
            </a:r>
            <a:br>
              <a:rPr lang="en-US" sz="2400"/>
            </a:br>
            <a:r>
              <a:rPr lang="en-US" sz="1800"/>
              <a:t>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D)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B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 (</a:t>
            </a:r>
            <a:r>
              <a:rPr lang="en-US" sz="1800"/>
              <a:t>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D)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(C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(A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∧</a:t>
            </a:r>
            <a:r>
              <a:rPr lang="en-US" sz="1800"/>
              <a:t> (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1800"/>
              <a:t> D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∨(</a:t>
            </a:r>
            <a:r>
              <a:rPr lang="en-US" sz="1800"/>
              <a:t> A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∨</a:t>
            </a:r>
            <a:r>
              <a:rPr lang="en-US" sz="1800"/>
              <a:t> B)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000"/>
              <a:t>Convert to CNF</a:t>
            </a:r>
            <a:r>
              <a:rPr lang="en-US" sz="4000"/>
              <a:t> Example</a:t>
            </a:r>
            <a:endParaRPr/>
          </a:p>
        </p:txBody>
      </p:sp>
      <p:sp>
        <p:nvSpPr>
          <p:cNvPr id="513" name="Google Shape;513;p66"/>
          <p:cNvSpPr/>
          <p:nvPr/>
        </p:nvSpPr>
        <p:spPr>
          <a:xfrm>
            <a:off x="457200" y="1600200"/>
            <a:ext cx="8229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(P→Q) →Q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P→R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¬R → ¬Q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 to CNF:</a:t>
            </a:r>
            <a:endParaRPr/>
          </a:p>
        </p:txBody>
      </p:sp>
      <p:grpSp>
        <p:nvGrpSpPr>
          <p:cNvPr id="514" name="Google Shape;514;p66"/>
          <p:cNvGrpSpPr/>
          <p:nvPr/>
        </p:nvGrpSpPr>
        <p:grpSpPr>
          <a:xfrm>
            <a:off x="609600" y="3505200"/>
            <a:ext cx="6357938" cy="2952750"/>
            <a:chOff x="384" y="2592"/>
            <a:chExt cx="4005" cy="1691"/>
          </a:xfrm>
        </p:grpSpPr>
        <p:pic>
          <p:nvPicPr>
            <p:cNvPr id="515" name="Google Shape;515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4" y="2592"/>
              <a:ext cx="1739" cy="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6" name="Google Shape;516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06" y="2640"/>
              <a:ext cx="1527" cy="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92" y="3120"/>
              <a:ext cx="1797" cy="2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Logical Equivalences</a:t>
            </a:r>
            <a:endParaRPr/>
          </a:p>
        </p:txBody>
      </p:sp>
      <p:sp>
        <p:nvSpPr>
          <p:cNvPr id="523" name="Google Shape;523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524" name="Google Shape;52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676400"/>
            <a:ext cx="8199438" cy="4306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Resolution based Proof</a:t>
            </a:r>
            <a:endParaRPr/>
          </a:p>
        </p:txBody>
      </p:sp>
      <p:sp>
        <p:nvSpPr>
          <p:cNvPr id="530" name="Google Shape;530;p39"/>
          <p:cNvSpPr/>
          <p:nvPr/>
        </p:nvSpPr>
        <p:spPr>
          <a:xfrm>
            <a:off x="381000" y="1600200"/>
            <a:ext cx="8305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that the hypotheses: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¬s ∧ 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→ 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¬w → 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→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to the conclusion: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Resolution based Proof</a:t>
            </a:r>
            <a:endParaRPr/>
          </a:p>
        </p:txBody>
      </p:sp>
      <p:pic>
        <p:nvPicPr>
          <p:cNvPr id="536" name="Google Shape;536;p40"/>
          <p:cNvPicPr preferRelativeResize="0"/>
          <p:nvPr>
            <p:ph idx="2" type="tbl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752600"/>
            <a:ext cx="6740100" cy="43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</a:t>
            </a:r>
            <a:endParaRPr/>
          </a:p>
        </p:txBody>
      </p:sp>
      <p:sp>
        <p:nvSpPr>
          <p:cNvPr id="543" name="Google Shape;543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/>
              <a:t>Proof strategy called </a:t>
            </a:r>
            <a:r>
              <a:rPr lang="en-US" sz="2200"/>
              <a:t>Resolution by Refutation</a:t>
            </a:r>
            <a:r>
              <a:rPr b="1" lang="en-US" sz="2200"/>
              <a:t>. </a:t>
            </a:r>
            <a:r>
              <a:rPr lang="en-US" sz="2200">
                <a:solidFill>
                  <a:srgbClr val="FF0000"/>
                </a:solidFill>
              </a:rPr>
              <a:t>Instead of proving the conclusion directly, we assume the negation of the conclusion and try to show that this assumption leads to a contradiction.</a:t>
            </a:r>
            <a:r>
              <a:rPr lang="en-US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200"/>
              <a:t>Write all sentences in CNF.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200"/>
              <a:t>Negate the desired conclusion.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200"/>
              <a:t>Apply the resolution rule until you derive a contradiction or cannot apply the rule anymore.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/>
              <a:t>If we derive a contradiction, then the original conclusion follows logically from the given clauses.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/>
              <a:t>If no further resolutions are possible, then the conclusion cannot be proved from the given clauses.</a:t>
            </a:r>
            <a:endParaRPr sz="2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 Example</a:t>
            </a:r>
            <a:endParaRPr/>
          </a:p>
        </p:txBody>
      </p:sp>
      <p:graphicFrame>
        <p:nvGraphicFramePr>
          <p:cNvPr id="550" name="Google Shape;550;p59"/>
          <p:cNvGraphicFramePr/>
          <p:nvPr/>
        </p:nvGraphicFramePr>
        <p:xfrm>
          <a:off x="685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833450"/>
                <a:gridCol w="2073275"/>
                <a:gridCol w="29606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1" name="Google Shape;551;p59"/>
          <p:cNvGraphicFramePr/>
          <p:nvPr/>
        </p:nvGraphicFramePr>
        <p:xfrm>
          <a:off x="6629400" y="270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452450"/>
                <a:gridCol w="1681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2" name="Google Shape;552;p59"/>
          <p:cNvSpPr txBox="1"/>
          <p:nvPr/>
        </p:nvSpPr>
        <p:spPr>
          <a:xfrm>
            <a:off x="6613525" y="2098675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R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 Example</a:t>
            </a:r>
            <a:endParaRPr/>
          </a:p>
        </p:txBody>
      </p:sp>
      <p:graphicFrame>
        <p:nvGraphicFramePr>
          <p:cNvPr id="559" name="Google Shape;559;p60"/>
          <p:cNvGraphicFramePr/>
          <p:nvPr/>
        </p:nvGraphicFramePr>
        <p:xfrm>
          <a:off x="685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833450"/>
                <a:gridCol w="2073275"/>
                <a:gridCol w="29606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Negated Conclusion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0" name="Google Shape;560;p60"/>
          <p:cNvGraphicFramePr/>
          <p:nvPr/>
        </p:nvGraphicFramePr>
        <p:xfrm>
          <a:off x="6629400" y="270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452450"/>
                <a:gridCol w="1681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1" name="Google Shape;561;p60"/>
          <p:cNvSpPr txBox="1"/>
          <p:nvPr/>
        </p:nvSpPr>
        <p:spPr>
          <a:xfrm>
            <a:off x="6613525" y="2098675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 Example</a:t>
            </a:r>
            <a:endParaRPr/>
          </a:p>
        </p:txBody>
      </p:sp>
      <p:graphicFrame>
        <p:nvGraphicFramePr>
          <p:cNvPr id="568" name="Google Shape;568;p61"/>
          <p:cNvGraphicFramePr/>
          <p:nvPr/>
        </p:nvGraphicFramePr>
        <p:xfrm>
          <a:off x="685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833450"/>
                <a:gridCol w="2073275"/>
                <a:gridCol w="29606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Negated Conclusion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∨ R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 Resolution Rule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9" name="Google Shape;569;p61"/>
          <p:cNvGraphicFramePr/>
          <p:nvPr/>
        </p:nvGraphicFramePr>
        <p:xfrm>
          <a:off x="6629400" y="270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452450"/>
                <a:gridCol w="1681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0" name="Google Shape;570;p61"/>
          <p:cNvSpPr txBox="1"/>
          <p:nvPr/>
        </p:nvSpPr>
        <p:spPr>
          <a:xfrm>
            <a:off x="6613525" y="2098675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R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 Example</a:t>
            </a:r>
            <a:endParaRPr/>
          </a:p>
        </p:txBody>
      </p:sp>
      <p:graphicFrame>
        <p:nvGraphicFramePr>
          <p:cNvPr id="577" name="Google Shape;577;p62"/>
          <p:cNvGraphicFramePr/>
          <p:nvPr/>
        </p:nvGraphicFramePr>
        <p:xfrm>
          <a:off x="685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833450"/>
                <a:gridCol w="2073275"/>
                <a:gridCol w="29606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Negated Conclusion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∨ R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8" name="Google Shape;578;p62"/>
          <p:cNvGraphicFramePr/>
          <p:nvPr/>
        </p:nvGraphicFramePr>
        <p:xfrm>
          <a:off x="6629400" y="270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452450"/>
                <a:gridCol w="1681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9" name="Google Shape;579;p62"/>
          <p:cNvSpPr txBox="1"/>
          <p:nvPr/>
        </p:nvSpPr>
        <p:spPr>
          <a:xfrm>
            <a:off x="6613525" y="2098675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R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 Example</a:t>
            </a:r>
            <a:endParaRPr/>
          </a:p>
        </p:txBody>
      </p:sp>
      <p:graphicFrame>
        <p:nvGraphicFramePr>
          <p:cNvPr id="586" name="Google Shape;586;p63"/>
          <p:cNvGraphicFramePr/>
          <p:nvPr/>
        </p:nvGraphicFramePr>
        <p:xfrm>
          <a:off x="685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833450"/>
                <a:gridCol w="2073275"/>
                <a:gridCol w="29606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Negated Conclusion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∨ R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7" name="Google Shape;587;p63"/>
          <p:cNvGraphicFramePr/>
          <p:nvPr/>
        </p:nvGraphicFramePr>
        <p:xfrm>
          <a:off x="6629400" y="270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452450"/>
                <a:gridCol w="1681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8" name="Google Shape;588;p63"/>
          <p:cNvSpPr txBox="1"/>
          <p:nvPr/>
        </p:nvSpPr>
        <p:spPr>
          <a:xfrm>
            <a:off x="6613525" y="2098675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R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 Example</a:t>
            </a:r>
            <a:endParaRPr/>
          </a:p>
        </p:txBody>
      </p:sp>
      <p:graphicFrame>
        <p:nvGraphicFramePr>
          <p:cNvPr id="595" name="Google Shape;595;p64"/>
          <p:cNvGraphicFramePr/>
          <p:nvPr/>
        </p:nvGraphicFramePr>
        <p:xfrm>
          <a:off x="685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833450"/>
                <a:gridCol w="2073275"/>
                <a:gridCol w="29606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Derivation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Negated Conclusion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∨ R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5,7 Contradiction!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6" name="Google Shape;596;p64"/>
          <p:cNvGraphicFramePr/>
          <p:nvPr/>
        </p:nvGraphicFramePr>
        <p:xfrm>
          <a:off x="6629400" y="270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452450"/>
                <a:gridCol w="1681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→R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7" name="Google Shape;597;p64"/>
          <p:cNvSpPr txBox="1"/>
          <p:nvPr/>
        </p:nvSpPr>
        <p:spPr>
          <a:xfrm>
            <a:off x="6613525" y="2098675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R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Resolution by Refutation Example</a:t>
            </a:r>
            <a:endParaRPr/>
          </a:p>
        </p:txBody>
      </p:sp>
      <p:graphicFrame>
        <p:nvGraphicFramePr>
          <p:cNvPr id="604" name="Google Shape;604;p65"/>
          <p:cNvGraphicFramePr/>
          <p:nvPr/>
        </p:nvGraphicFramePr>
        <p:xfrm>
          <a:off x="762000" y="18303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833450"/>
                <a:gridCol w="1147750"/>
                <a:gridCol w="1447800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2,6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5" name="Google Shape;605;p65"/>
          <p:cNvSpPr/>
          <p:nvPr/>
        </p:nvSpPr>
        <p:spPr>
          <a:xfrm>
            <a:off x="685800" y="1600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 that you could have come up with multiple ways of proving R</a:t>
            </a:r>
            <a:endParaRPr/>
          </a:p>
        </p:txBody>
      </p:sp>
      <p:graphicFrame>
        <p:nvGraphicFramePr>
          <p:cNvPr id="606" name="Google Shape;606;p65"/>
          <p:cNvGraphicFramePr/>
          <p:nvPr/>
        </p:nvGraphicFramePr>
        <p:xfrm>
          <a:off x="4648200" y="18303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{A2000D7A-97CE-4C19-89D7-C655FB050D69}</a:tableStyleId>
              </a:tblPr>
              <a:tblGrid>
                <a:gridCol w="762000"/>
                <a:gridCol w="1371600"/>
                <a:gridCol w="1524000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∨ 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 ∨ 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 ∨ R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¬Q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3F296526D7BB4EB949B2D9BCC1BDA8" ma:contentTypeVersion="3" ma:contentTypeDescription="Create a new document." ma:contentTypeScope="" ma:versionID="b4de3fe7d800b0ca999817686b165b1c">
  <xsd:schema xmlns:xsd="http://www.w3.org/2001/XMLSchema" xmlns:xs="http://www.w3.org/2001/XMLSchema" xmlns:p="http://schemas.microsoft.com/office/2006/metadata/properties" xmlns:ns2="71778b39-a39e-4048-b00f-99dfecabd0ec" targetNamespace="http://schemas.microsoft.com/office/2006/metadata/properties" ma:root="true" ma:fieldsID="ae0bbb1ef2e03af480cc0bac4dc148f2" ns2:_="">
    <xsd:import namespace="71778b39-a39e-4048-b00f-99dfecabd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78b39-a39e-4048-b00f-99dfecabd0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EF382A-2840-4393-8ECB-A15DE21D50FD}"/>
</file>

<file path=customXml/itemProps2.xml><?xml version="1.0" encoding="utf-8"?>
<ds:datastoreItem xmlns:ds="http://schemas.openxmlformats.org/officeDocument/2006/customXml" ds:itemID="{3C36B241-5BF4-4585-A42A-8E004FDC4D40}"/>
</file>

<file path=customXml/itemProps3.xml><?xml version="1.0" encoding="utf-8"?>
<ds:datastoreItem xmlns:ds="http://schemas.openxmlformats.org/officeDocument/2006/customXml" ds:itemID="{0E1D80BB-DD04-4796-A246-98A096263336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User</dc:creator>
  <dcterms:created xsi:type="dcterms:W3CDTF">2016-02-23T12:07:47Z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0x010100263F296526D7BB4EB949B2D9BCC1BDA8</vt:lpwstr>
  </property>
</Properties>
</file>