
<file path=[Content_Types].xml><?xml version="1.0" encoding="utf-8"?>
<Types xmlns="http://schemas.openxmlformats.org/package/2006/content-types">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991350" cy="9282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gEfaac5uXwSOwYg+61DUkh7WtT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8" Type="http://schemas.openxmlformats.org/officeDocument/2006/relationships/slide" Target="slides/slide2.xml"/><Relationship Id="rId21" Type="http://schemas.openxmlformats.org/officeDocument/2006/relationships/slide" Target="slides/slide15.xml"/><Relationship Id="rId3" Type="http://schemas.openxmlformats.org/officeDocument/2006/relationships/presProps" Target="presProps.xml"/><Relationship Id="rId12" Type="http://schemas.openxmlformats.org/officeDocument/2006/relationships/slide" Target="slides/slide6.xml"/><Relationship Id="rId17" Type="http://schemas.openxmlformats.org/officeDocument/2006/relationships/slide" Target="slides/slide11.xml"/><Relationship Id="rId7" Type="http://schemas.openxmlformats.org/officeDocument/2006/relationships/slide" Target="slides/slide1.xml"/><Relationship Id="rId25" Type="http://schemas.openxmlformats.org/officeDocument/2006/relationships/customXml" Target="../customXml/item3.xml"/><Relationship Id="rId20" Type="http://schemas.openxmlformats.org/officeDocument/2006/relationships/slide" Target="slides/slide14.xml"/><Relationship Id="rId2"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1" Type="http://schemas.openxmlformats.org/officeDocument/2006/relationships/theme" Target="theme/theme3.xml"/><Relationship Id="rId6" Type="http://schemas.openxmlformats.org/officeDocument/2006/relationships/notesMaster" Target="notesMasters/notesMaster1.xml"/><Relationship Id="rId24" Type="http://schemas.openxmlformats.org/officeDocument/2006/relationships/customXml" Target="../customXml/item2.xml"/><Relationship Id="rId15" Type="http://schemas.openxmlformats.org/officeDocument/2006/relationships/slide" Target="slides/slide9.xml"/><Relationship Id="rId5" Type="http://schemas.openxmlformats.org/officeDocument/2006/relationships/slideMaster" Target="slideMasters/slideMaster2.xml"/><Relationship Id="rId23" Type="http://schemas.openxmlformats.org/officeDocument/2006/relationships/customXml" Target="../customXml/item1.xml"/><Relationship Id="rId10" Type="http://schemas.openxmlformats.org/officeDocument/2006/relationships/slide" Target="slides/slide4.xml"/><Relationship Id="rId19" Type="http://schemas.openxmlformats.org/officeDocument/2006/relationships/slide" Target="slides/slide13.xml"/><Relationship Id="rId2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48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62400" y="0"/>
            <a:ext cx="3048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419600"/>
            <a:ext cx="5181600" cy="4191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39200"/>
            <a:ext cx="3048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62400" y="8839200"/>
            <a:ext cx="3048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847f91a30_0_124:notes"/>
          <p:cNvSpPr txBox="1"/>
          <p:nvPr>
            <p:ph idx="1" type="body"/>
          </p:nvPr>
        </p:nvSpPr>
        <p:spPr>
          <a:xfrm>
            <a:off x="699135" y="4408997"/>
            <a:ext cx="5593200" cy="4176900"/>
          </a:xfrm>
          <a:prstGeom prst="rect">
            <a:avLst/>
          </a:prstGeom>
          <a:noFill/>
          <a:ln>
            <a:noFill/>
          </a:ln>
        </p:spPr>
        <p:txBody>
          <a:bodyPr anchorCtr="0" anchor="t" bIns="46525" lIns="93075" spcFirstLastPara="1" rIns="93075" wrap="square" tIns="46525">
            <a:noAutofit/>
          </a:bodyPr>
          <a:lstStyle/>
          <a:p>
            <a:pPr indent="0" lvl="0" marL="0" rtl="0" algn="l">
              <a:lnSpc>
                <a:spcPct val="100000"/>
              </a:lnSpc>
              <a:spcBef>
                <a:spcPts val="0"/>
              </a:spcBef>
              <a:spcAft>
                <a:spcPts val="0"/>
              </a:spcAft>
              <a:buSzPts val="1400"/>
              <a:buNone/>
            </a:pPr>
            <a:r>
              <a:t/>
            </a:r>
            <a:endParaRPr/>
          </a:p>
        </p:txBody>
      </p:sp>
      <p:sp>
        <p:nvSpPr>
          <p:cNvPr id="177" name="Google Shape;177;g3a847f91a30_0_124:notes"/>
          <p:cNvSpPr/>
          <p:nvPr>
            <p:ph idx="2" type="sldImg"/>
          </p:nvPr>
        </p:nvSpPr>
        <p:spPr>
          <a:xfrm>
            <a:off x="1165225" y="696158"/>
            <a:ext cx="4660800" cy="3480900"/>
          </a:xfrm>
          <a:custGeom>
            <a:rect b="b" l="l" r="r" t="t"/>
            <a:pathLst>
              <a:path extrusionOk="0" h="120000" w="120000">
                <a:moveTo>
                  <a:pt x="0" y="0"/>
                </a:moveTo>
                <a:lnTo>
                  <a:pt x="120000" y="0"/>
                </a:lnTo>
                <a:lnTo>
                  <a:pt x="120000" y="120000"/>
                </a:lnTo>
                <a:lnTo>
                  <a:pt x="0" y="120000"/>
                </a:lnTo>
                <a:close/>
              </a:path>
            </a:pathLst>
          </a:custGeom>
          <a:noFill/>
          <a:ln cap="flat" cmpd="sng" w="129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2: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3: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4: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5: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5:notes"/>
          <p:cNvSpPr txBox="1"/>
          <p:nvPr>
            <p:ph idx="1" type="body"/>
          </p:nvPr>
        </p:nvSpPr>
        <p:spPr>
          <a:xfrm>
            <a:off x="914400" y="4419600"/>
            <a:ext cx="5181600" cy="4191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5:notes"/>
          <p:cNvSpPr txBox="1"/>
          <p:nvPr/>
        </p:nvSpPr>
        <p:spPr>
          <a:xfrm>
            <a:off x="3962400" y="8839200"/>
            <a:ext cx="3048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txBox="1"/>
          <p:nvPr/>
        </p:nvSpPr>
        <p:spPr>
          <a:xfrm>
            <a:off x="3962400" y="8839200"/>
            <a:ext cx="3048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220" name="Google Shape;220;p7: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7:notes"/>
          <p:cNvSpPr txBox="1"/>
          <p:nvPr>
            <p:ph idx="1" type="body"/>
          </p:nvPr>
        </p:nvSpPr>
        <p:spPr>
          <a:xfrm>
            <a:off x="914400" y="4419600"/>
            <a:ext cx="5181600" cy="4191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8: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2: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3: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4: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5: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6: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4:notes"/>
          <p:cNvSpPr/>
          <p:nvPr>
            <p:ph idx="2" type="sldImg"/>
          </p:nvPr>
        </p:nvSpPr>
        <p:spPr>
          <a:xfrm>
            <a:off x="1130300" y="685800"/>
            <a:ext cx="467360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3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6"/>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7" name="Shape 17"/>
        <p:cNvGrpSpPr/>
        <p:nvPr/>
      </p:nvGrpSpPr>
      <p:grpSpPr>
        <a:xfrm>
          <a:off x="0" y="0"/>
          <a:ext cx="0" cy="0"/>
          <a:chOff x="0" y="0"/>
          <a:chExt cx="0" cy="0"/>
        </a:xfrm>
      </p:grpSpPr>
      <p:sp>
        <p:nvSpPr>
          <p:cNvPr id="18" name="Google Shape;18;p3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39"/>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 name="Shape 20"/>
        <p:cNvGrpSpPr/>
        <p:nvPr/>
      </p:nvGrpSpPr>
      <p:grpSpPr>
        <a:xfrm>
          <a:off x="0" y="0"/>
          <a:ext cx="0" cy="0"/>
          <a:chOff x="0" y="0"/>
          <a:chExt cx="0" cy="0"/>
        </a:xfrm>
      </p:grpSpPr>
      <p:sp>
        <p:nvSpPr>
          <p:cNvPr id="21" name="Google Shape;21;p40"/>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40"/>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0"/>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 name="Shape 24"/>
        <p:cNvGrpSpPr/>
        <p:nvPr/>
      </p:nvGrpSpPr>
      <p:grpSpPr>
        <a:xfrm>
          <a:off x="0" y="0"/>
          <a:ext cx="0" cy="0"/>
          <a:chOff x="0" y="0"/>
          <a:chExt cx="0" cy="0"/>
        </a:xfrm>
      </p:grpSpPr>
      <p:sp>
        <p:nvSpPr>
          <p:cNvPr id="25" name="Google Shape;25;p4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41"/>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1"/>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42"/>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42"/>
          <p:cNvSpPr/>
          <p:nvPr>
            <p:ph idx="2" type="pic"/>
          </p:nvPr>
        </p:nvSpPr>
        <p:spPr>
          <a:xfrm>
            <a:off x="3887788" y="987425"/>
            <a:ext cx="4629150" cy="4873625"/>
          </a:xfrm>
          <a:prstGeom prst="rect">
            <a:avLst/>
          </a:prstGeom>
          <a:noFill/>
          <a:ln>
            <a:noFill/>
          </a:ln>
        </p:spPr>
      </p:sp>
      <p:sp>
        <p:nvSpPr>
          <p:cNvPr id="31" name="Google Shape;31;p42"/>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imes New Roman"/>
              <a:buNone/>
              <a:defRPr sz="1600"/>
            </a:lvl1pPr>
            <a:lvl2pPr indent="-228600" lvl="1" marL="914400" algn="l">
              <a:spcBef>
                <a:spcPts val="280"/>
              </a:spcBef>
              <a:spcAft>
                <a:spcPts val="0"/>
              </a:spcAft>
              <a:buClr>
                <a:schemeClr val="dk1"/>
              </a:buClr>
              <a:buSzPts val="1400"/>
              <a:buFont typeface="Times New Roman"/>
              <a:buNone/>
              <a:defRPr sz="1400"/>
            </a:lvl2pPr>
            <a:lvl3pPr indent="-228600" lvl="2" marL="1371600" algn="l">
              <a:spcBef>
                <a:spcPts val="240"/>
              </a:spcBef>
              <a:spcAft>
                <a:spcPts val="0"/>
              </a:spcAft>
              <a:buClr>
                <a:schemeClr val="dk1"/>
              </a:buClr>
              <a:buSzPts val="1200"/>
              <a:buFont typeface="Times New Roman"/>
              <a:buNone/>
              <a:defRPr sz="12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2" name="Google Shape;32;p42"/>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 name="Shape 33"/>
        <p:cNvGrpSpPr/>
        <p:nvPr/>
      </p:nvGrpSpPr>
      <p:grpSpPr>
        <a:xfrm>
          <a:off x="0" y="0"/>
          <a:ext cx="0" cy="0"/>
          <a:chOff x="0" y="0"/>
          <a:chExt cx="0" cy="0"/>
        </a:xfrm>
      </p:grpSpPr>
      <p:sp>
        <p:nvSpPr>
          <p:cNvPr id="34" name="Google Shape;34;p43"/>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43"/>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6" name="Google Shape;36;p43"/>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imes New Roman"/>
              <a:buNone/>
              <a:defRPr sz="1600"/>
            </a:lvl1pPr>
            <a:lvl2pPr indent="-228600" lvl="1" marL="914400" algn="l">
              <a:spcBef>
                <a:spcPts val="280"/>
              </a:spcBef>
              <a:spcAft>
                <a:spcPts val="0"/>
              </a:spcAft>
              <a:buClr>
                <a:schemeClr val="dk1"/>
              </a:buClr>
              <a:buSzPts val="1400"/>
              <a:buFont typeface="Times New Roman"/>
              <a:buNone/>
              <a:defRPr sz="1400"/>
            </a:lvl2pPr>
            <a:lvl3pPr indent="-228600" lvl="2" marL="1371600" algn="l">
              <a:spcBef>
                <a:spcPts val="240"/>
              </a:spcBef>
              <a:spcAft>
                <a:spcPts val="0"/>
              </a:spcAft>
              <a:buClr>
                <a:schemeClr val="dk1"/>
              </a:buClr>
              <a:buSzPts val="1200"/>
              <a:buFont typeface="Times New Roman"/>
              <a:buNone/>
              <a:defRPr sz="12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7" name="Google Shape;37;p43"/>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
        <p:nvSpPr>
          <p:cNvPr id="39" name="Google Shape;39;p44"/>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4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5"/>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46"/>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46"/>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46"/>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6"/>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6"/>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6"/>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4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47"/>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7"/>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7"/>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48"/>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48"/>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sz="2400"/>
            </a:lvl1pPr>
            <a:lvl2pPr indent="-228600" lvl="1" marL="914400" algn="l">
              <a:spcBef>
                <a:spcPts val="400"/>
              </a:spcBef>
              <a:spcAft>
                <a:spcPts val="0"/>
              </a:spcAft>
              <a:buClr>
                <a:schemeClr val="dk1"/>
              </a:buClr>
              <a:buSzPts val="2000"/>
              <a:buFont typeface="Times New Roman"/>
              <a:buNone/>
              <a:defRPr sz="2000"/>
            </a:lvl2pPr>
            <a:lvl3pPr indent="-228600" lvl="2" marL="1371600" algn="l">
              <a:spcBef>
                <a:spcPts val="360"/>
              </a:spcBef>
              <a:spcAft>
                <a:spcPts val="0"/>
              </a:spcAft>
              <a:buClr>
                <a:schemeClr val="dk1"/>
              </a:buClr>
              <a:buSzPts val="1800"/>
              <a:buFont typeface="Times New Roman"/>
              <a:buNone/>
              <a:defRPr sz="1800"/>
            </a:lvl3pPr>
            <a:lvl4pPr indent="-228600" lvl="3" marL="1828800" algn="l">
              <a:spcBef>
                <a:spcPts val="320"/>
              </a:spcBef>
              <a:spcAft>
                <a:spcPts val="0"/>
              </a:spcAft>
              <a:buClr>
                <a:schemeClr val="dk1"/>
              </a:buClr>
              <a:buSzPts val="1600"/>
              <a:buFont typeface="Times New Roman"/>
              <a:buNone/>
              <a:defRPr sz="1600"/>
            </a:lvl4pPr>
            <a:lvl5pPr indent="-228600" lvl="4" marL="2286000" algn="l">
              <a:spcBef>
                <a:spcPts val="320"/>
              </a:spcBef>
              <a:spcAft>
                <a:spcPts val="0"/>
              </a:spcAft>
              <a:buClr>
                <a:schemeClr val="dk1"/>
              </a:buClr>
              <a:buSzPts val="1600"/>
              <a:buFont typeface="Times New Roman"/>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58" name="Google Shape;58;p48"/>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4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4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Times New Roman"/>
              <a:buNone/>
              <a:defRPr sz="2400"/>
            </a:lvl1pPr>
            <a:lvl2pPr lvl="1" algn="ctr">
              <a:spcBef>
                <a:spcPts val="400"/>
              </a:spcBef>
              <a:spcAft>
                <a:spcPts val="0"/>
              </a:spcAft>
              <a:buClr>
                <a:schemeClr val="dk1"/>
              </a:buClr>
              <a:buSzPts val="2000"/>
              <a:buFont typeface="Times New Roman"/>
              <a:buNone/>
              <a:defRPr sz="2000"/>
            </a:lvl2pPr>
            <a:lvl3pPr lvl="2" algn="ctr">
              <a:spcBef>
                <a:spcPts val="360"/>
              </a:spcBef>
              <a:spcAft>
                <a:spcPts val="0"/>
              </a:spcAft>
              <a:buClr>
                <a:schemeClr val="dk1"/>
              </a:buClr>
              <a:buSzPts val="1800"/>
              <a:buFont typeface="Times New Roman"/>
              <a:buNone/>
              <a:defRPr sz="1800"/>
            </a:lvl3pPr>
            <a:lvl4pPr lvl="3" algn="ctr">
              <a:spcBef>
                <a:spcPts val="320"/>
              </a:spcBef>
              <a:spcAft>
                <a:spcPts val="0"/>
              </a:spcAft>
              <a:buClr>
                <a:schemeClr val="dk1"/>
              </a:buClr>
              <a:buSzPts val="1600"/>
              <a:buFont typeface="Times New Roman"/>
              <a:buNone/>
              <a:defRPr sz="1600"/>
            </a:lvl4pPr>
            <a:lvl5pPr lvl="4" algn="ctr">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2" name="Google Shape;62;p49"/>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g3a847f91a30_0_13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g3a847f91a30_0_1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72" name="Google Shape;72;g3a847f91a30_0_13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3a847f91a30_0_13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a847f91a30_0_13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5" name="Shape 75"/>
        <p:cNvGrpSpPr/>
        <p:nvPr/>
      </p:nvGrpSpPr>
      <p:grpSpPr>
        <a:xfrm>
          <a:off x="0" y="0"/>
          <a:ext cx="0" cy="0"/>
          <a:chOff x="0" y="0"/>
          <a:chExt cx="0" cy="0"/>
        </a:xfrm>
      </p:grpSpPr>
      <p:sp>
        <p:nvSpPr>
          <p:cNvPr id="76" name="Google Shape;76;g3a847f91a30_0_1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g3a847f91a30_0_14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g3a847f91a30_0_14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3a847f91a30_0_14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g3a847f91a30_0_14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81" name="Shape 81"/>
        <p:cNvGrpSpPr/>
        <p:nvPr/>
      </p:nvGrpSpPr>
      <p:grpSpPr>
        <a:xfrm>
          <a:off x="0" y="0"/>
          <a:ext cx="0" cy="0"/>
          <a:chOff x="0" y="0"/>
          <a:chExt cx="0" cy="0"/>
        </a:xfrm>
      </p:grpSpPr>
      <p:sp>
        <p:nvSpPr>
          <p:cNvPr id="82" name="Google Shape;82;g3a847f91a30_0_1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g3a847f91a30_0_14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 name="Google Shape;84;g3a847f91a30_0_147"/>
          <p:cNvSpPr txBox="1"/>
          <p:nvPr>
            <p:ph idx="2" type="body"/>
          </p:nvPr>
        </p:nvSpPr>
        <p:spPr>
          <a:xfrm>
            <a:off x="4648200" y="1600200"/>
            <a:ext cx="4038600" cy="218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g3a847f91a30_0_147"/>
          <p:cNvSpPr txBox="1"/>
          <p:nvPr>
            <p:ph idx="3" type="body"/>
          </p:nvPr>
        </p:nvSpPr>
        <p:spPr>
          <a:xfrm>
            <a:off x="4648200" y="3938588"/>
            <a:ext cx="4038600" cy="2187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g3a847f91a30_0_147"/>
          <p:cNvSpPr txBox="1"/>
          <p:nvPr>
            <p:ph idx="10" type="dt"/>
          </p:nvPr>
        </p:nvSpPr>
        <p:spPr>
          <a:xfrm>
            <a:off x="457200" y="6245225"/>
            <a:ext cx="2133600" cy="476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3a847f91a30_0_147"/>
          <p:cNvSpPr txBox="1"/>
          <p:nvPr>
            <p:ph idx="11" type="ftr"/>
          </p:nvPr>
        </p:nvSpPr>
        <p:spPr>
          <a:xfrm>
            <a:off x="3124200" y="6245225"/>
            <a:ext cx="2895600" cy="476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a847f91a30_0_147"/>
          <p:cNvSpPr txBox="1"/>
          <p:nvPr>
            <p:ph idx="12" type="sldNum"/>
          </p:nvPr>
        </p:nvSpPr>
        <p:spPr>
          <a:xfrm>
            <a:off x="6553200" y="6245225"/>
            <a:ext cx="2133600" cy="4764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89" name="Shape 89"/>
        <p:cNvGrpSpPr/>
        <p:nvPr/>
      </p:nvGrpSpPr>
      <p:grpSpPr>
        <a:xfrm>
          <a:off x="0" y="0"/>
          <a:ext cx="0" cy="0"/>
          <a:chOff x="0" y="0"/>
          <a:chExt cx="0" cy="0"/>
        </a:xfrm>
      </p:grpSpPr>
      <p:sp>
        <p:nvSpPr>
          <p:cNvPr id="90" name="Google Shape;90;g3a847f91a30_0_1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3a847f91a30_0_155"/>
          <p:cNvSpPr txBox="1"/>
          <p:nvPr>
            <p:ph idx="10" type="dt"/>
          </p:nvPr>
        </p:nvSpPr>
        <p:spPr>
          <a:xfrm>
            <a:off x="457200" y="6245225"/>
            <a:ext cx="2133600" cy="476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a847f91a30_0_155"/>
          <p:cNvSpPr txBox="1"/>
          <p:nvPr>
            <p:ph idx="11" type="ftr"/>
          </p:nvPr>
        </p:nvSpPr>
        <p:spPr>
          <a:xfrm>
            <a:off x="3124200" y="6245225"/>
            <a:ext cx="2895600" cy="476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a847f91a30_0_155"/>
          <p:cNvSpPr txBox="1"/>
          <p:nvPr>
            <p:ph idx="12" type="sldNum"/>
          </p:nvPr>
        </p:nvSpPr>
        <p:spPr>
          <a:xfrm>
            <a:off x="6553200" y="6245225"/>
            <a:ext cx="2133600" cy="4764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94" name="Shape 94"/>
        <p:cNvGrpSpPr/>
        <p:nvPr/>
      </p:nvGrpSpPr>
      <p:grpSpPr>
        <a:xfrm>
          <a:off x="0" y="0"/>
          <a:ext cx="0" cy="0"/>
          <a:chOff x="0" y="0"/>
          <a:chExt cx="0" cy="0"/>
        </a:xfrm>
      </p:grpSpPr>
      <p:sp>
        <p:nvSpPr>
          <p:cNvPr id="95" name="Google Shape;95;g3a847f91a30_0_1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3a847f91a30_0_160"/>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7" name="Google Shape;97;g3a847f91a30_0_160"/>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8" name="Google Shape;98;g3a847f91a30_0_160"/>
          <p:cNvSpPr txBox="1"/>
          <p:nvPr>
            <p:ph idx="10" type="dt"/>
          </p:nvPr>
        </p:nvSpPr>
        <p:spPr>
          <a:xfrm>
            <a:off x="457200" y="6245225"/>
            <a:ext cx="2133600" cy="476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g3a847f91a30_0_160"/>
          <p:cNvSpPr txBox="1"/>
          <p:nvPr>
            <p:ph idx="11" type="ftr"/>
          </p:nvPr>
        </p:nvSpPr>
        <p:spPr>
          <a:xfrm>
            <a:off x="3124200" y="6245225"/>
            <a:ext cx="2895600" cy="476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a847f91a30_0_160"/>
          <p:cNvSpPr txBox="1"/>
          <p:nvPr>
            <p:ph idx="12" type="sldNum"/>
          </p:nvPr>
        </p:nvSpPr>
        <p:spPr>
          <a:xfrm>
            <a:off x="6553200" y="6245225"/>
            <a:ext cx="2133600" cy="4764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101" name="Shape 101"/>
        <p:cNvGrpSpPr/>
        <p:nvPr/>
      </p:nvGrpSpPr>
      <p:grpSpPr>
        <a:xfrm>
          <a:off x="0" y="0"/>
          <a:ext cx="0" cy="0"/>
          <a:chOff x="0" y="0"/>
          <a:chExt cx="0" cy="0"/>
        </a:xfrm>
      </p:grpSpPr>
      <p:sp>
        <p:nvSpPr>
          <p:cNvPr id="102" name="Google Shape;102;g3a847f91a30_0_1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a847f91a30_0_167"/>
          <p:cNvSpPr txBox="1"/>
          <p:nvPr>
            <p:ph idx="1" type="body"/>
          </p:nvPr>
        </p:nvSpPr>
        <p:spPr>
          <a:xfrm>
            <a:off x="457200" y="1600200"/>
            <a:ext cx="4038600" cy="218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 name="Google Shape;104;g3a847f91a30_0_167"/>
          <p:cNvSpPr txBox="1"/>
          <p:nvPr>
            <p:ph idx="2" type="body"/>
          </p:nvPr>
        </p:nvSpPr>
        <p:spPr>
          <a:xfrm>
            <a:off x="4648200" y="1600200"/>
            <a:ext cx="4038600" cy="218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5" name="Google Shape;105;g3a847f91a30_0_167"/>
          <p:cNvSpPr txBox="1"/>
          <p:nvPr>
            <p:ph idx="3" type="body"/>
          </p:nvPr>
        </p:nvSpPr>
        <p:spPr>
          <a:xfrm>
            <a:off x="457200" y="3938588"/>
            <a:ext cx="4038600" cy="2187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 name="Google Shape;106;g3a847f91a30_0_167"/>
          <p:cNvSpPr txBox="1"/>
          <p:nvPr>
            <p:ph idx="4" type="body"/>
          </p:nvPr>
        </p:nvSpPr>
        <p:spPr>
          <a:xfrm>
            <a:off x="4648200" y="3938588"/>
            <a:ext cx="4038600" cy="2187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7" name="Google Shape;107;g3a847f91a30_0_167"/>
          <p:cNvSpPr txBox="1"/>
          <p:nvPr>
            <p:ph idx="10" type="dt"/>
          </p:nvPr>
        </p:nvSpPr>
        <p:spPr>
          <a:xfrm>
            <a:off x="457200" y="6245225"/>
            <a:ext cx="2133600" cy="476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a847f91a30_0_167"/>
          <p:cNvSpPr txBox="1"/>
          <p:nvPr>
            <p:ph idx="11" type="ftr"/>
          </p:nvPr>
        </p:nvSpPr>
        <p:spPr>
          <a:xfrm>
            <a:off x="3124200" y="6245225"/>
            <a:ext cx="2895600" cy="476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3a847f91a30_0_167"/>
          <p:cNvSpPr txBox="1"/>
          <p:nvPr>
            <p:ph idx="12" type="sldNum"/>
          </p:nvPr>
        </p:nvSpPr>
        <p:spPr>
          <a:xfrm>
            <a:off x="6553200" y="6245225"/>
            <a:ext cx="2133600" cy="4764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g3a847f91a30_0_1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3a847f91a30_0_17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3" name="Google Shape;113;g3a847f91a30_0_17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4" name="Google Shape;114;g3a847f91a30_0_17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g3a847f91a30_0_17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3a847f91a30_0_17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17" name="Shape 117"/>
        <p:cNvGrpSpPr/>
        <p:nvPr/>
      </p:nvGrpSpPr>
      <p:grpSpPr>
        <a:xfrm>
          <a:off x="0" y="0"/>
          <a:ext cx="0" cy="0"/>
          <a:chOff x="0" y="0"/>
          <a:chExt cx="0" cy="0"/>
        </a:xfrm>
      </p:grpSpPr>
      <p:sp>
        <p:nvSpPr>
          <p:cNvPr id="118" name="Google Shape;118;g3a847f91a30_0_1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3a847f91a30_0_183"/>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20" name="Google Shape;120;g3a847f91a30_0_183"/>
          <p:cNvSpPr txBox="1"/>
          <p:nvPr>
            <p:ph idx="2" type="body"/>
          </p:nvPr>
        </p:nvSpPr>
        <p:spPr>
          <a:xfrm>
            <a:off x="4648200" y="1600200"/>
            <a:ext cx="4038600" cy="21861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21" name="Google Shape;121;g3a847f91a30_0_183"/>
          <p:cNvSpPr txBox="1"/>
          <p:nvPr>
            <p:ph idx="3" type="body"/>
          </p:nvPr>
        </p:nvSpPr>
        <p:spPr>
          <a:xfrm>
            <a:off x="4648200" y="3938588"/>
            <a:ext cx="4038600" cy="21876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22" name="Google Shape;122;g3a847f91a30_0_183"/>
          <p:cNvSpPr txBox="1"/>
          <p:nvPr>
            <p:ph idx="10" type="dt"/>
          </p:nvPr>
        </p:nvSpPr>
        <p:spPr>
          <a:xfrm>
            <a:off x="457200" y="6245225"/>
            <a:ext cx="2133600" cy="476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g3a847f91a30_0_183"/>
          <p:cNvSpPr txBox="1"/>
          <p:nvPr>
            <p:ph idx="11" type="ftr"/>
          </p:nvPr>
        </p:nvSpPr>
        <p:spPr>
          <a:xfrm>
            <a:off x="3124200" y="6245225"/>
            <a:ext cx="2895600" cy="476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g3a847f91a30_0_183"/>
          <p:cNvSpPr txBox="1"/>
          <p:nvPr>
            <p:ph idx="12" type="sldNum"/>
          </p:nvPr>
        </p:nvSpPr>
        <p:spPr>
          <a:xfrm>
            <a:off x="6553200" y="6245225"/>
            <a:ext cx="2133600" cy="4764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1200"/>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5" name="Shape 125"/>
        <p:cNvGrpSpPr/>
        <p:nvPr/>
      </p:nvGrpSpPr>
      <p:grpSpPr>
        <a:xfrm>
          <a:off x="0" y="0"/>
          <a:ext cx="0" cy="0"/>
          <a:chOff x="0" y="0"/>
          <a:chExt cx="0" cy="0"/>
        </a:xfrm>
      </p:grpSpPr>
      <p:sp>
        <p:nvSpPr>
          <p:cNvPr id="126" name="Google Shape;126;g3a847f91a30_0_191"/>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a847f91a30_0_191"/>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28" name="Google Shape;128;g3a847f91a30_0_19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g3a847f91a30_0_19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3a847f91a30_0_19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1" name="Shape 131"/>
        <p:cNvGrpSpPr/>
        <p:nvPr/>
      </p:nvGrpSpPr>
      <p:grpSpPr>
        <a:xfrm>
          <a:off x="0" y="0"/>
          <a:ext cx="0" cy="0"/>
          <a:chOff x="0" y="0"/>
          <a:chExt cx="0" cy="0"/>
        </a:xfrm>
      </p:grpSpPr>
      <p:sp>
        <p:nvSpPr>
          <p:cNvPr id="132" name="Google Shape;132;g3a847f91a30_0_1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a847f91a30_0_19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34" name="Google Shape;134;g3a847f91a30_0_19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35" name="Google Shape;135;g3a847f91a30_0_19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36" name="Google Shape;136;g3a847f91a30_0_19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37" name="Google Shape;137;g3a847f91a30_0_19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3a847f91a30_0_19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3a847f91a30_0_19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0" name="Shape 140"/>
        <p:cNvGrpSpPr/>
        <p:nvPr/>
      </p:nvGrpSpPr>
      <p:grpSpPr>
        <a:xfrm>
          <a:off x="0" y="0"/>
          <a:ext cx="0" cy="0"/>
          <a:chOff x="0" y="0"/>
          <a:chExt cx="0" cy="0"/>
        </a:xfrm>
      </p:grpSpPr>
      <p:sp>
        <p:nvSpPr>
          <p:cNvPr id="141" name="Google Shape;141;g3a847f91a30_0_2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a847f91a30_0_20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3a847f91a30_0_20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g3a847f91a30_0_20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5" name="Shape 145"/>
        <p:cNvGrpSpPr/>
        <p:nvPr/>
      </p:nvGrpSpPr>
      <p:grpSpPr>
        <a:xfrm>
          <a:off x="0" y="0"/>
          <a:ext cx="0" cy="0"/>
          <a:chOff x="0" y="0"/>
          <a:chExt cx="0" cy="0"/>
        </a:xfrm>
      </p:grpSpPr>
      <p:sp>
        <p:nvSpPr>
          <p:cNvPr id="146" name="Google Shape;146;g3a847f91a30_0_2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g3a847f91a30_0_2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a847f91a30_0_2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9" name="Shape 149"/>
        <p:cNvGrpSpPr/>
        <p:nvPr/>
      </p:nvGrpSpPr>
      <p:grpSpPr>
        <a:xfrm>
          <a:off x="0" y="0"/>
          <a:ext cx="0" cy="0"/>
          <a:chOff x="0" y="0"/>
          <a:chExt cx="0" cy="0"/>
        </a:xfrm>
      </p:grpSpPr>
      <p:sp>
        <p:nvSpPr>
          <p:cNvPr id="150" name="Google Shape;150;g3a847f91a30_0_215"/>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g3a847f91a30_0_215"/>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52" name="Google Shape;152;g3a847f91a30_0_215"/>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53" name="Google Shape;153;g3a847f91a30_0_2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g3a847f91a30_0_2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a847f91a30_0_2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6" name="Shape 156"/>
        <p:cNvGrpSpPr/>
        <p:nvPr/>
      </p:nvGrpSpPr>
      <p:grpSpPr>
        <a:xfrm>
          <a:off x="0" y="0"/>
          <a:ext cx="0" cy="0"/>
          <a:chOff x="0" y="0"/>
          <a:chExt cx="0" cy="0"/>
        </a:xfrm>
      </p:grpSpPr>
      <p:sp>
        <p:nvSpPr>
          <p:cNvPr id="157" name="Google Shape;157;g3a847f91a30_0_2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3a847f91a30_0_222"/>
          <p:cNvSpPr/>
          <p:nvPr>
            <p:ph idx="2" type="pic"/>
          </p:nvPr>
        </p:nvSpPr>
        <p:spPr>
          <a:xfrm>
            <a:off x="1792288" y="612775"/>
            <a:ext cx="5486400" cy="4114800"/>
          </a:xfrm>
          <a:prstGeom prst="rect">
            <a:avLst/>
          </a:prstGeom>
          <a:noFill/>
          <a:ln>
            <a:noFill/>
          </a:ln>
        </p:spPr>
      </p:sp>
      <p:sp>
        <p:nvSpPr>
          <p:cNvPr id="159" name="Google Shape;159;g3a847f91a30_0_2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60" name="Google Shape;160;g3a847f91a30_0_2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g3a847f91a30_0_2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g3a847f91a30_0_2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3" name="Shape 163"/>
        <p:cNvGrpSpPr/>
        <p:nvPr/>
      </p:nvGrpSpPr>
      <p:grpSpPr>
        <a:xfrm>
          <a:off x="0" y="0"/>
          <a:ext cx="0" cy="0"/>
          <a:chOff x="0" y="0"/>
          <a:chExt cx="0" cy="0"/>
        </a:xfrm>
      </p:grpSpPr>
      <p:sp>
        <p:nvSpPr>
          <p:cNvPr id="164" name="Google Shape;164;g3a847f91a30_0_2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3a847f91a30_0_229"/>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6" name="Google Shape;166;g3a847f91a30_0_22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g3a847f91a30_0_22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3a847f91a30_0_2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9" name="Shape 169"/>
        <p:cNvGrpSpPr/>
        <p:nvPr/>
      </p:nvGrpSpPr>
      <p:grpSpPr>
        <a:xfrm>
          <a:off x="0" y="0"/>
          <a:ext cx="0" cy="0"/>
          <a:chOff x="0" y="0"/>
          <a:chExt cx="0" cy="0"/>
        </a:xfrm>
      </p:grpSpPr>
      <p:sp>
        <p:nvSpPr>
          <p:cNvPr id="170" name="Google Shape;170;g3a847f91a30_0_235"/>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g3a847f91a30_0_235"/>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2" name="Google Shape;172;g3a847f91a30_0_23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g3a847f91a30_0_23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g3a847f91a30_0_23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theme" Target="../theme/theme2.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9pPr>
          </a:lstStyle>
          <a:p/>
        </p:txBody>
      </p:sp>
      <p:sp>
        <p:nvSpPr>
          <p:cNvPr id="11" name="Google Shape;11;p3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4pPr>
            <a:lvl5pPr indent="-330200" lvl="4" marL="22860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2" name="Google Shape;12;p35"/>
          <p:cNvSpPr txBox="1"/>
          <p:nvPr>
            <p:ph idx="12" type="sldNum"/>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g3a847f91a30_0_1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g3a847f91a30_0_12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6" name="Google Shape;66;g3a847f91a30_0_12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7" name="Google Shape;67;g3a847f91a30_0_12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g3a847f91a30_0_1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en.wikipedia.org/wiki/Forward_chaining" TargetMode="External"/><Relationship Id="rId4" Type="http://schemas.openxmlformats.org/officeDocument/2006/relationships/hyperlink" Target="https://en.wikipedia.org/wiki/Backward_chaining" TargetMode="External"/><Relationship Id="rId5" Type="http://schemas.openxmlformats.org/officeDocument/2006/relationships/hyperlink" Target="https://en.wikipedia.org/wiki/Inference_engine" TargetMode="External"/><Relationship Id="rId6" Type="http://schemas.openxmlformats.org/officeDocument/2006/relationships/hyperlink" Target="https://en.wikipedia.org/wiki/Production_system_(computer_science)" TargetMode="External"/><Relationship Id="rId7" Type="http://schemas.openxmlformats.org/officeDocument/2006/relationships/hyperlink" Target="https://en.wikipedia.org/wiki/Production_system_(computer_scien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a847f91a30_0_124"/>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Artificial Intelligence</a:t>
            </a:r>
            <a:endParaRPr>
              <a:latin typeface="Arial"/>
              <a:ea typeface="Arial"/>
              <a:cs typeface="Arial"/>
              <a:sym typeface="Arial"/>
            </a:endParaRPr>
          </a:p>
        </p:txBody>
      </p:sp>
      <p:sp>
        <p:nvSpPr>
          <p:cNvPr id="180" name="Google Shape;180;g3a847f91a30_0_1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Knowledge Based Agent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
          <p:cNvSpPr txBox="1"/>
          <p:nvPr>
            <p:ph type="title"/>
          </p:nvPr>
        </p:nvSpPr>
        <p:spPr>
          <a:xfrm>
            <a:off x="685800" y="3048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Knowledge Based Agent</a:t>
            </a:r>
            <a:endParaRPr/>
          </a:p>
        </p:txBody>
      </p:sp>
      <p:sp>
        <p:nvSpPr>
          <p:cNvPr id="186" name="Google Shape;186;p1"/>
          <p:cNvSpPr txBox="1"/>
          <p:nvPr>
            <p:ph idx="1" type="body"/>
          </p:nvPr>
        </p:nvSpPr>
        <p:spPr>
          <a:xfrm>
            <a:off x="685800" y="1371600"/>
            <a:ext cx="7772400" cy="5181600"/>
          </a:xfrm>
          <a:prstGeom prst="rect">
            <a:avLst/>
          </a:prstGeom>
          <a:noFill/>
          <a:ln>
            <a:noFill/>
          </a:ln>
        </p:spPr>
        <p:txBody>
          <a:bodyPr anchorCtr="0" anchor="t" bIns="45700" lIns="91425" spcFirstLastPara="1" rIns="91425" wrap="square" tIns="45700">
            <a:noAutofit/>
          </a:bodyPr>
          <a:lstStyle/>
          <a:p>
            <a:pPr indent="-225425" lvl="0" marL="225425"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A</a:t>
            </a:r>
            <a:r>
              <a:rPr i="0" lang="en-US" sz="2400" u="none" cap="none" strike="noStrike">
                <a:solidFill>
                  <a:schemeClr val="dk1"/>
                </a:solidFill>
              </a:rPr>
              <a:t> knowledge-based agent is an AI agent that uses stored knowledge about the world to make decisions, instead of just reacting to inputs.</a:t>
            </a:r>
            <a:endParaRPr/>
          </a:p>
          <a:p>
            <a:pPr indent="-225425" lvl="0" marL="225425" marR="0" rtl="0" algn="l">
              <a:lnSpc>
                <a:spcPct val="90000"/>
              </a:lnSpc>
              <a:spcBef>
                <a:spcPts val="480"/>
              </a:spcBef>
              <a:spcAft>
                <a:spcPts val="0"/>
              </a:spcAft>
              <a:buClr>
                <a:schemeClr val="dk1"/>
              </a:buClr>
              <a:buSzPts val="2400"/>
              <a:buChar char="•"/>
            </a:pPr>
            <a:r>
              <a:rPr i="0" lang="en-US" sz="2400" u="none" cap="none" strike="noStrike">
                <a:solidFill>
                  <a:schemeClr val="dk1"/>
                </a:solidFill>
              </a:rPr>
              <a:t>A knowledge base is a set of representations of facts of the world. </a:t>
            </a:r>
            <a:endParaRPr/>
          </a:p>
          <a:p>
            <a:pPr indent="-225425" lvl="0" marL="225425" marR="0" rtl="0" algn="l">
              <a:lnSpc>
                <a:spcPct val="90000"/>
              </a:lnSpc>
              <a:spcBef>
                <a:spcPts val="480"/>
              </a:spcBef>
              <a:spcAft>
                <a:spcPts val="0"/>
              </a:spcAft>
              <a:buClr>
                <a:schemeClr val="dk1"/>
              </a:buClr>
              <a:buSzPts val="2400"/>
              <a:buFont typeface="Times New Roman"/>
              <a:buChar char="•"/>
            </a:pPr>
            <a:r>
              <a:rPr i="0" lang="en-US" sz="2400" u="none" cap="none" strike="noStrike">
                <a:solidFill>
                  <a:schemeClr val="dk1"/>
                </a:solidFill>
              </a:rPr>
              <a:t>Each individual representation is called a sentence. </a:t>
            </a:r>
            <a:endParaRPr/>
          </a:p>
          <a:p>
            <a:pPr indent="-225425" lvl="0" marL="225425" marR="0" rtl="0" algn="l">
              <a:lnSpc>
                <a:spcPct val="90000"/>
              </a:lnSpc>
              <a:spcBef>
                <a:spcPts val="480"/>
              </a:spcBef>
              <a:spcAft>
                <a:spcPts val="0"/>
              </a:spcAft>
              <a:buClr>
                <a:schemeClr val="dk1"/>
              </a:buClr>
              <a:buSzPts val="2400"/>
              <a:buFont typeface="Times New Roman"/>
              <a:buNone/>
            </a:pPr>
            <a:r>
              <a:t/>
            </a:r>
            <a:endParaRPr i="0" sz="2400" u="none" cap="none" strike="noStrike">
              <a:solidFill>
                <a:schemeClr val="dk1"/>
              </a:solidFill>
            </a:endParaRPr>
          </a:p>
          <a:p>
            <a:pPr indent="-225425" lvl="0" marL="225425" marR="0" rtl="0" algn="l">
              <a:lnSpc>
                <a:spcPct val="90000"/>
              </a:lnSpc>
              <a:spcBef>
                <a:spcPts val="480"/>
              </a:spcBef>
              <a:spcAft>
                <a:spcPts val="0"/>
              </a:spcAft>
              <a:buClr>
                <a:schemeClr val="dk1"/>
              </a:buClr>
              <a:buSzPts val="2400"/>
              <a:buFont typeface="Times New Roman"/>
              <a:buChar char="•"/>
            </a:pPr>
            <a:r>
              <a:rPr i="0" lang="en-US" sz="2400" u="none" cap="none" strike="noStrike">
                <a:solidFill>
                  <a:schemeClr val="dk1"/>
                </a:solidFill>
              </a:rPr>
              <a:t>The sentences are expressed in a  knowledge representation language. </a:t>
            </a:r>
            <a:endParaRPr/>
          </a:p>
          <a:p>
            <a:pPr indent="-225425" lvl="0" marL="225425" marR="0" rtl="0" algn="l">
              <a:lnSpc>
                <a:spcPct val="90000"/>
              </a:lnSpc>
              <a:spcBef>
                <a:spcPts val="480"/>
              </a:spcBef>
              <a:spcAft>
                <a:spcPts val="0"/>
              </a:spcAft>
              <a:buClr>
                <a:schemeClr val="dk1"/>
              </a:buClr>
              <a:buSzPts val="2400"/>
              <a:buFont typeface="Times New Roman"/>
              <a:buChar char="•"/>
            </a:pPr>
            <a:r>
              <a:rPr i="0" lang="en-US" sz="2400" u="none" cap="none" strike="noStrike">
                <a:solidFill>
                  <a:schemeClr val="dk1"/>
                </a:solidFill>
              </a:rPr>
              <a:t>The agent operates as follo</a:t>
            </a:r>
            <a:r>
              <a:rPr b="0" i="0" lang="en-US" sz="2400" u="none" cap="none" strike="noStrike">
                <a:solidFill>
                  <a:schemeClr val="dk1"/>
                </a:solidFill>
                <a:latin typeface="Times New Roman"/>
                <a:ea typeface="Times New Roman"/>
                <a:cs typeface="Times New Roman"/>
                <a:sym typeface="Times New Roman"/>
              </a:rPr>
              <a:t>ws: </a:t>
            </a:r>
            <a:endParaRPr/>
          </a:p>
          <a:p>
            <a:pPr indent="-227012" lvl="1" marL="566737" marR="0" rtl="0" algn="l">
              <a:lnSpc>
                <a:spcPct val="9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It TELLs the knowledge base what it perceives. </a:t>
            </a:r>
            <a:endParaRPr/>
          </a:p>
          <a:p>
            <a:pPr indent="-227012" lvl="1" marL="566737" marR="0" rtl="0" algn="l">
              <a:lnSpc>
                <a:spcPct val="9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It ASKs the knowledge base what action it should perform.</a:t>
            </a:r>
            <a:endParaRPr/>
          </a:p>
          <a:p>
            <a:pPr indent="-227012" lvl="1" marL="566737" marR="0" rtl="0" algn="l">
              <a:lnSpc>
                <a:spcPct val="9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It performs the chosen action. </a:t>
            </a:r>
            <a:endParaRPr/>
          </a:p>
        </p:txBody>
      </p:sp>
      <p:sp>
        <p:nvSpPr>
          <p:cNvPr id="187" name="Google Shape;187;p1"/>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
        <p:nvSpPr>
          <p:cNvPr id="193" name="Google Shape;193;p2"/>
          <p:cNvSpPr txBox="1"/>
          <p:nvPr>
            <p:ph type="title"/>
          </p:nvPr>
        </p:nvSpPr>
        <p:spPr>
          <a:xfrm>
            <a:off x="685800" y="6096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The Wumpus World environment </a:t>
            </a:r>
            <a:endParaRPr/>
          </a:p>
        </p:txBody>
      </p:sp>
      <p:sp>
        <p:nvSpPr>
          <p:cNvPr id="194" name="Google Shape;194;p2"/>
          <p:cNvSpPr txBox="1"/>
          <p:nvPr>
            <p:ph idx="1" type="body"/>
          </p:nvPr>
        </p:nvSpPr>
        <p:spPr>
          <a:xfrm>
            <a:off x="685800" y="1447800"/>
            <a:ext cx="7772400" cy="4648200"/>
          </a:xfrm>
          <a:prstGeom prst="rect">
            <a:avLst/>
          </a:prstGeom>
          <a:noFill/>
          <a:ln>
            <a:noFill/>
          </a:ln>
        </p:spPr>
        <p:txBody>
          <a:bodyPr anchorCtr="0" anchor="t" bIns="45700" lIns="91425" spcFirstLastPara="1" rIns="91425" wrap="square" tIns="45700">
            <a:noAutofit/>
          </a:bodyPr>
          <a:lstStyle/>
          <a:p>
            <a:pPr indent="-225425" lvl="0" marL="225425"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Wumpus computer game.</a:t>
            </a:r>
            <a:endParaRPr/>
          </a:p>
          <a:p>
            <a:pPr indent="-225425" lvl="0" marL="225425"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agent explores a cave consisting of rooms connected by passageways. </a:t>
            </a:r>
            <a:endParaRPr/>
          </a:p>
          <a:p>
            <a:pPr indent="-225425" lvl="0" marL="225425"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Lurking somewhere in the cave is the Wumpus, a beast that eats any agent that enters its room. </a:t>
            </a:r>
            <a:endParaRPr/>
          </a:p>
          <a:p>
            <a:pPr indent="-225425" lvl="0" marL="225425"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Some rooms contain bottomless pits that trap any agent that wanders into the room. </a:t>
            </a:r>
            <a:endParaRPr/>
          </a:p>
          <a:p>
            <a:pPr indent="-225425" lvl="0" marL="225425"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Occasionally, there is a heap of gold in a room.</a:t>
            </a:r>
            <a:endParaRPr/>
          </a:p>
          <a:p>
            <a:pPr indent="-225425" lvl="0" marL="225425"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goal is to collect the gold and exit the world without being eaten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
        <p:nvSpPr>
          <p:cNvPr id="200" name="Google Shape;200;p3"/>
          <p:cNvSpPr txBox="1"/>
          <p:nvPr>
            <p:ph type="title"/>
          </p:nvPr>
        </p:nvSpPr>
        <p:spPr>
          <a:xfrm>
            <a:off x="7620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rPr>
              <a:t>A typical Wumpus world </a:t>
            </a:r>
            <a:endParaRPr b="0"/>
          </a:p>
        </p:txBody>
      </p:sp>
      <p:sp>
        <p:nvSpPr>
          <p:cNvPr id="201" name="Google Shape;201;p3"/>
          <p:cNvSpPr txBox="1"/>
          <p:nvPr>
            <p:ph idx="1" type="body"/>
          </p:nvPr>
        </p:nvSpPr>
        <p:spPr>
          <a:xfrm>
            <a:off x="381000" y="1981200"/>
            <a:ext cx="2895600" cy="4495800"/>
          </a:xfrm>
          <a:prstGeom prst="rect">
            <a:avLst/>
          </a:prstGeom>
          <a:noFill/>
          <a:ln>
            <a:noFill/>
          </a:ln>
        </p:spPr>
        <p:txBody>
          <a:bodyPr anchorCtr="0" anchor="t" bIns="45700" lIns="91425" spcFirstLastPara="1" rIns="91425" wrap="square" tIns="45700">
            <a:noAutofit/>
          </a:bodyPr>
          <a:lstStyle/>
          <a:p>
            <a:pPr indent="-225425" lvl="0" marL="225425"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agent always starts in the field [1,1]. </a:t>
            </a:r>
            <a:endParaRPr/>
          </a:p>
          <a:p>
            <a:pPr indent="-225425" lvl="0" marL="225425"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The task of the agent is to find the gold, return to the field [1,1] and climb out of the cave. </a:t>
            </a:r>
            <a:endParaRPr/>
          </a:p>
        </p:txBody>
      </p:sp>
      <p:pic>
        <p:nvPicPr>
          <p:cNvPr descr="img2" id="202" name="Google Shape;202;p3"/>
          <p:cNvPicPr preferRelativeResize="0"/>
          <p:nvPr/>
        </p:nvPicPr>
        <p:blipFill rotWithShape="1">
          <a:blip r:embed="rId3">
            <a:alphaModFix/>
          </a:blip>
          <a:srcRect b="0" l="0" r="0" t="0"/>
          <a:stretch/>
        </p:blipFill>
        <p:spPr>
          <a:xfrm>
            <a:off x="3276600" y="1306512"/>
            <a:ext cx="5486400" cy="53165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
        <p:nvSpPr>
          <p:cNvPr id="208" name="Google Shape;208;p4"/>
          <p:cNvSpPr txBox="1"/>
          <p:nvPr>
            <p:ph type="title"/>
          </p:nvPr>
        </p:nvSpPr>
        <p:spPr>
          <a:xfrm>
            <a:off x="762000" y="228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Agent in a Wumpus world: Percepts </a:t>
            </a:r>
            <a:endParaRPr/>
          </a:p>
        </p:txBody>
      </p:sp>
      <p:sp>
        <p:nvSpPr>
          <p:cNvPr id="209" name="Google Shape;209;p4"/>
          <p:cNvSpPr txBox="1"/>
          <p:nvPr>
            <p:ph idx="1" type="body"/>
          </p:nvPr>
        </p:nvSpPr>
        <p:spPr>
          <a:xfrm>
            <a:off x="609600" y="1219200"/>
            <a:ext cx="8229600" cy="5105400"/>
          </a:xfrm>
          <a:prstGeom prst="rect">
            <a:avLst/>
          </a:prstGeom>
          <a:noFill/>
          <a:ln>
            <a:noFill/>
          </a:ln>
        </p:spPr>
        <p:txBody>
          <a:bodyPr anchorCtr="0" anchor="t" bIns="45700" lIns="91425" spcFirstLastPara="1" rIns="91425" wrap="square" tIns="45700">
            <a:normAutofit/>
          </a:bodyPr>
          <a:lstStyle/>
          <a:p>
            <a:pPr indent="-225425" lvl="0" marL="225425" rtl="0" algn="l">
              <a:lnSpc>
                <a:spcPct val="9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agent perceives </a:t>
            </a:r>
            <a:endParaRPr/>
          </a:p>
          <a:p>
            <a:pPr indent="-227012" lvl="1" marL="566737"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stench in the square containing the wumpus and in the adjacent squares (not diagonally) </a:t>
            </a:r>
            <a:endParaRPr/>
          </a:p>
          <a:p>
            <a:pPr indent="-227012" lvl="1" marL="566737"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breeze in the squares adjacent to a pit</a:t>
            </a:r>
            <a:endParaRPr/>
          </a:p>
          <a:p>
            <a:pPr indent="-227012" lvl="1" marL="566737"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glitter in the square where the gold is</a:t>
            </a:r>
            <a:endParaRPr/>
          </a:p>
          <a:p>
            <a:pPr indent="-227012" lvl="1" marL="566737"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bump, if it walks into a wall</a:t>
            </a:r>
            <a:endParaRPr/>
          </a:p>
          <a:p>
            <a:pPr indent="-227012" lvl="1" marL="566737"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woeful scream everywhere in the cave, if the wumpus is killed</a:t>
            </a:r>
            <a:endParaRPr b="0" i="0" sz="2000" u="none">
              <a:solidFill>
                <a:schemeClr val="dk1"/>
              </a:solidFill>
              <a:latin typeface="Times New Roman"/>
              <a:ea typeface="Times New Roman"/>
              <a:cs typeface="Times New Roman"/>
              <a:sym typeface="Times New Roman"/>
            </a:endParaRPr>
          </a:p>
          <a:p>
            <a:pPr indent="-225425" lvl="0" marL="225425"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percepts will be given as a five-symbol list: If there is a stench, and a breeze, but no glitter, no bump, and no scream, the percept is  </a:t>
            </a:r>
            <a:endParaRPr/>
          </a:p>
          <a:p>
            <a:pPr indent="-227012" lvl="1" marL="566737" rtl="0" algn="l">
              <a:lnSpc>
                <a:spcPct val="9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[Stench, Breeze, None, None, None]</a:t>
            </a:r>
            <a:r>
              <a:rPr b="0" i="0" lang="en-US" sz="2000" u="none">
                <a:solidFill>
                  <a:schemeClr val="dk1"/>
                </a:solidFill>
                <a:latin typeface="Times New Roman"/>
                <a:ea typeface="Times New Roman"/>
                <a:cs typeface="Times New Roman"/>
                <a:sym typeface="Times New Roman"/>
              </a:rPr>
              <a:t> </a:t>
            </a:r>
            <a:endParaRPr/>
          </a:p>
          <a:p>
            <a:pPr indent="-225425" lvl="0" marL="225425"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agent can not perceive its own location.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5"/>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
        <p:nvSpPr>
          <p:cNvPr id="216" name="Google Shape;216;p5"/>
          <p:cNvSpPr txBox="1"/>
          <p:nvPr>
            <p:ph type="title"/>
          </p:nvPr>
        </p:nvSpPr>
        <p:spPr>
          <a:xfrm>
            <a:off x="685800" y="609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rPr>
              <a:t>Wumpus actions</a:t>
            </a:r>
            <a:endParaRPr b="0"/>
          </a:p>
        </p:txBody>
      </p:sp>
      <p:sp>
        <p:nvSpPr>
          <p:cNvPr id="217" name="Google Shape;217;p5"/>
          <p:cNvSpPr txBox="1"/>
          <p:nvPr>
            <p:ph idx="1" type="body"/>
          </p:nvPr>
        </p:nvSpPr>
        <p:spPr>
          <a:xfrm>
            <a:off x="762000" y="1524000"/>
            <a:ext cx="7772400" cy="4114800"/>
          </a:xfrm>
          <a:prstGeom prst="rect">
            <a:avLst/>
          </a:prstGeom>
          <a:noFill/>
          <a:ln>
            <a:noFill/>
          </a:ln>
        </p:spPr>
        <p:txBody>
          <a:bodyPr anchorCtr="0" anchor="t" bIns="45700" lIns="91425" spcFirstLastPara="1" rIns="91425" wrap="square" tIns="45700">
            <a:normAutofit/>
          </a:bodyPr>
          <a:lstStyle/>
          <a:p>
            <a:pPr indent="-225425" lvl="0" marL="225425" rtl="0" algn="l">
              <a:lnSpc>
                <a:spcPct val="90000"/>
              </a:lnSpc>
              <a:spcBef>
                <a:spcPts val="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go forward </a:t>
            </a:r>
            <a:endParaRPr/>
          </a:p>
          <a:p>
            <a:pPr indent="-225425" lvl="0" marL="225425" rtl="0" algn="l">
              <a:lnSpc>
                <a:spcPct val="9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turn right</a:t>
            </a:r>
            <a:r>
              <a:rPr b="0" i="0" lang="en-US" sz="2200" u="none">
                <a:solidFill>
                  <a:schemeClr val="dk1"/>
                </a:solidFill>
                <a:latin typeface="Times New Roman"/>
                <a:ea typeface="Times New Roman"/>
                <a:cs typeface="Times New Roman"/>
                <a:sym typeface="Times New Roman"/>
              </a:rPr>
              <a:t> 90 degrees</a:t>
            </a:r>
            <a:endParaRPr/>
          </a:p>
          <a:p>
            <a:pPr indent="-225425" lvl="0" marL="225425" rtl="0" algn="l">
              <a:lnSpc>
                <a:spcPct val="9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turn left</a:t>
            </a:r>
            <a:r>
              <a:rPr b="0" i="0" lang="en-US" sz="2200" u="none">
                <a:solidFill>
                  <a:schemeClr val="dk1"/>
                </a:solidFill>
                <a:latin typeface="Times New Roman"/>
                <a:ea typeface="Times New Roman"/>
                <a:cs typeface="Times New Roman"/>
                <a:sym typeface="Times New Roman"/>
              </a:rPr>
              <a:t> 90 degrees</a:t>
            </a:r>
            <a:endParaRPr/>
          </a:p>
          <a:p>
            <a:pPr indent="-225425" lvl="0" marL="225425" rtl="0" algn="l">
              <a:lnSpc>
                <a:spcPct val="9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grab</a:t>
            </a:r>
            <a:r>
              <a:rPr b="0" i="0" lang="en-US" sz="2200" u="none">
                <a:solidFill>
                  <a:schemeClr val="dk1"/>
                </a:solidFill>
                <a:latin typeface="Times New Roman"/>
                <a:ea typeface="Times New Roman"/>
                <a:cs typeface="Times New Roman"/>
                <a:sym typeface="Times New Roman"/>
              </a:rPr>
              <a:t> means pick up an object that is in the same square as the agent</a:t>
            </a:r>
            <a:endParaRPr/>
          </a:p>
          <a:p>
            <a:pPr indent="-225425" lvl="0" marL="225425" rtl="0" algn="l">
              <a:lnSpc>
                <a:spcPct val="9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shoot</a:t>
            </a:r>
            <a:r>
              <a:rPr b="0" i="0" lang="en-US" sz="2200" u="none">
                <a:solidFill>
                  <a:schemeClr val="dk1"/>
                </a:solidFill>
                <a:latin typeface="Times New Roman"/>
                <a:ea typeface="Times New Roman"/>
                <a:cs typeface="Times New Roman"/>
                <a:sym typeface="Times New Roman"/>
              </a:rPr>
              <a:t> means fire an arrow in a straight line in the direction the agent is looking. The arrow continues until it either hits and kills the wumpus or hits the wall. The agent has only one arrow. Only the first shot has any effect. </a:t>
            </a:r>
            <a:endParaRPr/>
          </a:p>
          <a:p>
            <a:pPr indent="-225425" lvl="0" marL="225425" rtl="0" algn="l">
              <a:lnSpc>
                <a:spcPct val="9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climb</a:t>
            </a:r>
            <a:r>
              <a:rPr b="0" i="0" lang="en-US" sz="2200" u="none">
                <a:solidFill>
                  <a:schemeClr val="dk1"/>
                </a:solidFill>
                <a:latin typeface="Times New Roman"/>
                <a:ea typeface="Times New Roman"/>
                <a:cs typeface="Times New Roman"/>
                <a:sym typeface="Times New Roman"/>
              </a:rPr>
              <a:t> is used to leave the cave. Only effective in start field. </a:t>
            </a:r>
            <a:endParaRPr/>
          </a:p>
          <a:p>
            <a:pPr indent="-225425" lvl="0" marL="225425" rtl="0" algn="l">
              <a:lnSpc>
                <a:spcPct val="9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die</a:t>
            </a:r>
            <a:r>
              <a:rPr b="0" i="0" lang="en-US" sz="2200" u="none">
                <a:solidFill>
                  <a:schemeClr val="dk1"/>
                </a:solidFill>
                <a:latin typeface="Times New Roman"/>
                <a:ea typeface="Times New Roman"/>
                <a:cs typeface="Times New Roman"/>
                <a:sym typeface="Times New Roman"/>
              </a:rPr>
              <a:t>, if the agent enters a square with a pit or a live wumpus. (No take-backs!)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rPr>
              <a:t>Wumpus world characterization</a:t>
            </a:r>
            <a:endParaRPr b="0"/>
          </a:p>
        </p:txBody>
      </p:sp>
      <p:sp>
        <p:nvSpPr>
          <p:cNvPr id="224" name="Google Shape;224;p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Fully Observable</a:t>
            </a:r>
            <a:r>
              <a:rPr b="0" i="0" lang="en-US" sz="2800" u="none">
                <a:solidFill>
                  <a:schemeClr val="dk1"/>
                </a:solidFill>
                <a:latin typeface="Times New Roman"/>
                <a:ea typeface="Times New Roman"/>
                <a:cs typeface="Times New Roman"/>
                <a:sym typeface="Times New Roman"/>
              </a:rPr>
              <a:t> No – only </a:t>
            </a:r>
            <a:r>
              <a:rPr b="0" i="0" lang="en-US" sz="2800" u="none">
                <a:solidFill>
                  <a:schemeClr val="accent2"/>
                </a:solidFill>
                <a:latin typeface="Times New Roman"/>
                <a:ea typeface="Times New Roman"/>
                <a:cs typeface="Times New Roman"/>
                <a:sym typeface="Times New Roman"/>
              </a:rPr>
              <a:t>local</a:t>
            </a:r>
            <a:r>
              <a:rPr b="0" i="0" lang="en-US" sz="2800" u="none">
                <a:solidFill>
                  <a:schemeClr val="dk1"/>
                </a:solidFill>
                <a:latin typeface="Times New Roman"/>
                <a:ea typeface="Times New Roman"/>
                <a:cs typeface="Times New Roman"/>
                <a:sym typeface="Times New Roman"/>
              </a:rPr>
              <a:t> perception</a:t>
            </a:r>
            <a:endParaRPr/>
          </a:p>
          <a:p>
            <a:pPr indent="-342900" lvl="0" marL="34290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Deterministic </a:t>
            </a:r>
            <a:r>
              <a:rPr b="0" i="0" lang="en-US" sz="2800" u="none">
                <a:solidFill>
                  <a:schemeClr val="dk1"/>
                </a:solidFill>
                <a:latin typeface="Times New Roman"/>
                <a:ea typeface="Times New Roman"/>
                <a:cs typeface="Times New Roman"/>
                <a:sym typeface="Times New Roman"/>
              </a:rPr>
              <a:t>Yes – outcomes exactly specified</a:t>
            </a:r>
            <a:endParaRPr/>
          </a:p>
          <a:p>
            <a:pPr indent="-342900" lvl="0" marL="34290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Episodic</a:t>
            </a:r>
            <a:r>
              <a:rPr b="0" i="0" lang="en-US" sz="2800" u="none">
                <a:solidFill>
                  <a:schemeClr val="dk1"/>
                </a:solidFill>
                <a:latin typeface="Times New Roman"/>
                <a:ea typeface="Times New Roman"/>
                <a:cs typeface="Times New Roman"/>
                <a:sym typeface="Times New Roman"/>
              </a:rPr>
              <a:t> No – sequential at the level of actions</a:t>
            </a:r>
            <a:endParaRPr/>
          </a:p>
          <a:p>
            <a:pPr indent="-342900" lvl="0" marL="34290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Static</a:t>
            </a:r>
            <a:r>
              <a:rPr b="0" i="0" lang="en-US" sz="2800" u="none">
                <a:solidFill>
                  <a:schemeClr val="dk1"/>
                </a:solidFill>
                <a:latin typeface="Times New Roman"/>
                <a:ea typeface="Times New Roman"/>
                <a:cs typeface="Times New Roman"/>
                <a:sym typeface="Times New Roman"/>
              </a:rPr>
              <a:t>  Yes – Wumpus and Pits do not move</a:t>
            </a:r>
            <a:endParaRPr/>
          </a:p>
          <a:p>
            <a:pPr indent="-342900" lvl="0" marL="34290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Discrete</a:t>
            </a:r>
            <a:r>
              <a:rPr b="0" i="0" lang="en-US" sz="2800" u="none">
                <a:solidFill>
                  <a:schemeClr val="dk1"/>
                </a:solidFill>
                <a:latin typeface="Times New Roman"/>
                <a:ea typeface="Times New Roman"/>
                <a:cs typeface="Times New Roman"/>
                <a:sym typeface="Times New Roman"/>
              </a:rPr>
              <a:t> Yes</a:t>
            </a:r>
            <a:endParaRPr/>
          </a:p>
          <a:p>
            <a:pPr indent="-342900" lvl="0" marL="34290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Single-agent?</a:t>
            </a:r>
            <a:r>
              <a:rPr b="0" i="0" lang="en-US" sz="2800" u="none">
                <a:solidFill>
                  <a:schemeClr val="dk1"/>
                </a:solidFill>
                <a:latin typeface="Times New Roman"/>
                <a:ea typeface="Times New Roman"/>
                <a:cs typeface="Times New Roman"/>
                <a:sym typeface="Times New Roman"/>
              </a:rPr>
              <a:t> Yes – Wumpus is essentially a natural feature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8"/>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
        <p:nvSpPr>
          <p:cNvPr id="230" name="Google Shape;230;p8"/>
          <p:cNvSpPr txBox="1"/>
          <p:nvPr>
            <p:ph type="title"/>
          </p:nvPr>
        </p:nvSpPr>
        <p:spPr>
          <a:xfrm>
            <a:off x="7620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1" i="0" lang="en-US" sz="4000" u="none">
                <a:solidFill>
                  <a:schemeClr val="dk2"/>
                </a:solidFill>
                <a:latin typeface="Times New Roman"/>
                <a:ea typeface="Times New Roman"/>
                <a:cs typeface="Times New Roman"/>
                <a:sym typeface="Times New Roman"/>
              </a:rPr>
              <a:t>A typical Wumpus world </a:t>
            </a:r>
            <a:endParaRPr/>
          </a:p>
        </p:txBody>
      </p:sp>
      <p:sp>
        <p:nvSpPr>
          <p:cNvPr id="231" name="Google Shape;231;p8"/>
          <p:cNvSpPr txBox="1"/>
          <p:nvPr>
            <p:ph idx="1" type="body"/>
          </p:nvPr>
        </p:nvSpPr>
        <p:spPr>
          <a:xfrm>
            <a:off x="381000" y="1981200"/>
            <a:ext cx="2895600" cy="4495800"/>
          </a:xfrm>
          <a:prstGeom prst="rect">
            <a:avLst/>
          </a:prstGeom>
          <a:noFill/>
          <a:ln>
            <a:noFill/>
          </a:ln>
        </p:spPr>
        <p:txBody>
          <a:bodyPr anchorCtr="0" anchor="t" bIns="45700" lIns="91425" spcFirstLastPara="1" rIns="91425" wrap="square" tIns="45700">
            <a:noAutofit/>
          </a:bodyPr>
          <a:lstStyle/>
          <a:p>
            <a:pPr indent="-225425" lvl="0" marL="225425"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agent always starts in the field [1,1]. </a:t>
            </a:r>
            <a:endParaRPr/>
          </a:p>
          <a:p>
            <a:pPr indent="-225425" lvl="0" marL="225425"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The task of the agent is to find the gold, return to the field [1,1] and climb out of the cave. </a:t>
            </a:r>
            <a:endParaRPr/>
          </a:p>
        </p:txBody>
      </p:sp>
      <p:pic>
        <p:nvPicPr>
          <p:cNvPr descr="img2" id="232" name="Google Shape;232;p8"/>
          <p:cNvPicPr preferRelativeResize="0"/>
          <p:nvPr/>
        </p:nvPicPr>
        <p:blipFill rotWithShape="1">
          <a:blip r:embed="rId3">
            <a:alphaModFix/>
          </a:blip>
          <a:srcRect b="0" l="0" r="0" t="0"/>
          <a:stretch/>
        </p:blipFill>
        <p:spPr>
          <a:xfrm>
            <a:off x="3276600" y="1306512"/>
            <a:ext cx="5486400" cy="53165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The Wumpus agent’s first step</a:t>
            </a:r>
            <a:endParaRPr/>
          </a:p>
        </p:txBody>
      </p:sp>
      <p:pic>
        <p:nvPicPr>
          <p:cNvPr descr="img3" id="238" name="Google Shape;238;p21"/>
          <p:cNvPicPr preferRelativeResize="0"/>
          <p:nvPr/>
        </p:nvPicPr>
        <p:blipFill rotWithShape="1">
          <a:blip r:embed="rId3">
            <a:alphaModFix/>
          </a:blip>
          <a:srcRect b="0" l="0" r="0" t="0"/>
          <a:stretch/>
        </p:blipFill>
        <p:spPr>
          <a:xfrm>
            <a:off x="457200" y="2317750"/>
            <a:ext cx="8305800" cy="3670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Later</a:t>
            </a:r>
            <a:endParaRPr/>
          </a:p>
        </p:txBody>
      </p:sp>
      <p:pic>
        <p:nvPicPr>
          <p:cNvPr descr="img4" id="244" name="Google Shape;244;p22"/>
          <p:cNvPicPr preferRelativeResize="0"/>
          <p:nvPr/>
        </p:nvPicPr>
        <p:blipFill rotWithShape="1">
          <a:blip r:embed="rId3">
            <a:alphaModFix/>
          </a:blip>
          <a:srcRect b="0" l="0" r="0" t="0"/>
          <a:stretch/>
        </p:blipFill>
        <p:spPr>
          <a:xfrm>
            <a:off x="381000" y="2438400"/>
            <a:ext cx="8610600" cy="37576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0" lang="en-US"/>
              <a:t>Logical Equivalences</a:t>
            </a:r>
            <a:endParaRPr b="0" sz="4000">
              <a:solidFill>
                <a:schemeClr val="dk2"/>
              </a:solidFill>
            </a:endParaRPr>
          </a:p>
        </p:txBody>
      </p:sp>
      <p:sp>
        <p:nvSpPr>
          <p:cNvPr id="250" name="Google Shape;250;p2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73025" lvl="0" marL="225425" marR="0" rtl="0" algn="l">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51" name="Google Shape;251;p23"/>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pic>
        <p:nvPicPr>
          <p:cNvPr id="252" name="Google Shape;252;p23"/>
          <p:cNvPicPr preferRelativeResize="0"/>
          <p:nvPr/>
        </p:nvPicPr>
        <p:blipFill rotWithShape="1">
          <a:blip r:embed="rId3">
            <a:alphaModFix/>
          </a:blip>
          <a:srcRect b="0" l="0" r="0" t="0"/>
          <a:stretch/>
        </p:blipFill>
        <p:spPr>
          <a:xfrm>
            <a:off x="381000" y="1676400"/>
            <a:ext cx="8199437" cy="43068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677862" y="134937"/>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Proving no pit in [1,2]</a:t>
            </a:r>
            <a:endParaRPr/>
          </a:p>
        </p:txBody>
      </p:sp>
      <p:sp>
        <p:nvSpPr>
          <p:cNvPr id="258" name="Google Shape;258;p2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73025" lvl="0" marL="225425" marR="0" rtl="0" algn="l">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pic>
        <p:nvPicPr>
          <p:cNvPr id="259" name="Google Shape;259;p24"/>
          <p:cNvPicPr preferRelativeResize="0"/>
          <p:nvPr/>
        </p:nvPicPr>
        <p:blipFill rotWithShape="1">
          <a:blip r:embed="rId3">
            <a:alphaModFix/>
          </a:blip>
          <a:srcRect b="0" l="0" r="0" t="0"/>
          <a:stretch/>
        </p:blipFill>
        <p:spPr>
          <a:xfrm>
            <a:off x="339725" y="896937"/>
            <a:ext cx="7805737" cy="3862387"/>
          </a:xfrm>
          <a:prstGeom prst="rect">
            <a:avLst/>
          </a:prstGeom>
          <a:noFill/>
          <a:ln>
            <a:noFill/>
          </a:ln>
        </p:spPr>
      </p:pic>
      <p:pic>
        <p:nvPicPr>
          <p:cNvPr descr="img3" id="260" name="Google Shape;260;p24"/>
          <p:cNvPicPr preferRelativeResize="0"/>
          <p:nvPr/>
        </p:nvPicPr>
        <p:blipFill rotWithShape="1">
          <a:blip r:embed="rId4">
            <a:alphaModFix/>
          </a:blip>
          <a:srcRect b="0" l="41284" r="0" t="0"/>
          <a:stretch/>
        </p:blipFill>
        <p:spPr>
          <a:xfrm>
            <a:off x="5087937" y="4127500"/>
            <a:ext cx="3352800" cy="2524125"/>
          </a:xfrm>
          <a:prstGeom prst="rect">
            <a:avLst/>
          </a:prstGeom>
          <a:noFill/>
          <a:ln>
            <a:noFill/>
          </a:ln>
        </p:spPr>
      </p:pic>
      <p:pic>
        <p:nvPicPr>
          <p:cNvPr id="261" name="Google Shape;261;p24"/>
          <p:cNvPicPr preferRelativeResize="0"/>
          <p:nvPr/>
        </p:nvPicPr>
        <p:blipFill rotWithShape="1">
          <a:blip r:embed="rId5">
            <a:alphaModFix/>
          </a:blip>
          <a:srcRect b="0" l="0" r="0" t="0"/>
          <a:stretch/>
        </p:blipFill>
        <p:spPr>
          <a:xfrm>
            <a:off x="296862" y="5399087"/>
            <a:ext cx="5180012" cy="1219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73025" lvl="0" marL="225425" marR="0" rtl="0" algn="l">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pic>
        <p:nvPicPr>
          <p:cNvPr id="267" name="Google Shape;267;p25"/>
          <p:cNvPicPr preferRelativeResize="0"/>
          <p:nvPr/>
        </p:nvPicPr>
        <p:blipFill rotWithShape="1">
          <a:blip r:embed="rId3">
            <a:alphaModFix/>
          </a:blip>
          <a:srcRect b="0" l="0" r="0" t="0"/>
          <a:stretch/>
        </p:blipFill>
        <p:spPr>
          <a:xfrm>
            <a:off x="669925" y="1524000"/>
            <a:ext cx="7864475" cy="4114800"/>
          </a:xfrm>
          <a:prstGeom prst="rect">
            <a:avLst/>
          </a:prstGeom>
          <a:noFill/>
          <a:ln>
            <a:noFill/>
          </a:ln>
        </p:spPr>
      </p:pic>
      <p:sp>
        <p:nvSpPr>
          <p:cNvPr id="268" name="Google Shape;268;p25"/>
          <p:cNvSpPr txBox="1"/>
          <p:nvPr>
            <p:ph type="title"/>
          </p:nvPr>
        </p:nvSpPr>
        <p:spPr>
          <a:xfrm>
            <a:off x="677862" y="134937"/>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Proving no pit in [1,2]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73025" lvl="0" marL="225425" marR="0" rtl="0" algn="l">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pic>
        <p:nvPicPr>
          <p:cNvPr id="274" name="Google Shape;274;p26"/>
          <p:cNvPicPr preferRelativeResize="0"/>
          <p:nvPr/>
        </p:nvPicPr>
        <p:blipFill rotWithShape="1">
          <a:blip r:embed="rId3">
            <a:alphaModFix/>
          </a:blip>
          <a:srcRect b="0" l="0" r="0" t="0"/>
          <a:stretch/>
        </p:blipFill>
        <p:spPr>
          <a:xfrm>
            <a:off x="7937" y="762000"/>
            <a:ext cx="6781800" cy="4662487"/>
          </a:xfrm>
          <a:prstGeom prst="rect">
            <a:avLst/>
          </a:prstGeom>
          <a:noFill/>
          <a:ln>
            <a:noFill/>
          </a:ln>
        </p:spPr>
      </p:pic>
      <p:pic>
        <p:nvPicPr>
          <p:cNvPr descr="img4" id="275" name="Google Shape;275;p26"/>
          <p:cNvPicPr preferRelativeResize="0"/>
          <p:nvPr/>
        </p:nvPicPr>
        <p:blipFill rotWithShape="1">
          <a:blip r:embed="rId4">
            <a:alphaModFix/>
          </a:blip>
          <a:srcRect b="0" l="0" r="41592" t="0"/>
          <a:stretch/>
        </p:blipFill>
        <p:spPr>
          <a:xfrm>
            <a:off x="6773862" y="4171950"/>
            <a:ext cx="3352800" cy="2505075"/>
          </a:xfrm>
          <a:prstGeom prst="rect">
            <a:avLst/>
          </a:prstGeom>
          <a:noFill/>
          <a:ln>
            <a:noFill/>
          </a:ln>
        </p:spPr>
      </p:pic>
      <p:sp>
        <p:nvSpPr>
          <p:cNvPr id="276" name="Google Shape;276;p26"/>
          <p:cNvSpPr txBox="1"/>
          <p:nvPr>
            <p:ph type="title"/>
          </p:nvPr>
        </p:nvSpPr>
        <p:spPr>
          <a:xfrm>
            <a:off x="677862" y="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Proving pit in [3,1]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References</a:t>
            </a:r>
            <a:endParaRPr/>
          </a:p>
        </p:txBody>
      </p:sp>
      <p:sp>
        <p:nvSpPr>
          <p:cNvPr id="282" name="Google Shape;282;p3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225425" lvl="0" marL="225425"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Chapter 7, Artificial Intelligence, A modern approach by Russell Norvig (3</a:t>
            </a:r>
            <a:r>
              <a:rPr b="0" baseline="30000" i="0" lang="en-US" sz="2400" u="none">
                <a:solidFill>
                  <a:schemeClr val="dk1"/>
                </a:solidFill>
                <a:latin typeface="Times New Roman"/>
                <a:ea typeface="Times New Roman"/>
                <a:cs typeface="Times New Roman"/>
                <a:sym typeface="Times New Roman"/>
              </a:rPr>
              <a:t>rd</a:t>
            </a:r>
            <a:r>
              <a:rPr b="0" i="0" lang="en-US" sz="2400" u="none">
                <a:solidFill>
                  <a:schemeClr val="dk1"/>
                </a:solidFill>
                <a:latin typeface="Times New Roman"/>
                <a:ea typeface="Times New Roman"/>
                <a:cs typeface="Times New Roman"/>
                <a:sym typeface="Times New Roman"/>
              </a:rPr>
              <a:t> Edition)</a:t>
            </a:r>
            <a:endParaRPr/>
          </a:p>
          <a:p>
            <a:pPr indent="-225425" lvl="0" marL="225425" marR="0" rtl="0" algn="l">
              <a:lnSpc>
                <a:spcPct val="100000"/>
              </a:lnSpc>
              <a:spcBef>
                <a:spcPts val="480"/>
              </a:spcBef>
              <a:spcAft>
                <a:spcPts val="0"/>
              </a:spcAft>
              <a:buClr>
                <a:schemeClr val="dk1"/>
              </a:buClr>
              <a:buSzPts val="2400"/>
              <a:buFont typeface="Times New Roman"/>
              <a:buChar char="•"/>
            </a:pPr>
            <a:r>
              <a:rPr b="0" i="0" lang="en-US" sz="24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https://en.wikipedia.org/wiki/Forward_chaining</a:t>
            </a:r>
            <a:endParaRPr/>
          </a:p>
          <a:p>
            <a:pPr indent="-225425" lvl="0" marL="225425" marR="0" rtl="0" algn="l">
              <a:lnSpc>
                <a:spcPct val="100000"/>
              </a:lnSpc>
              <a:spcBef>
                <a:spcPts val="480"/>
              </a:spcBef>
              <a:spcAft>
                <a:spcPts val="0"/>
              </a:spcAft>
              <a:buClr>
                <a:schemeClr val="dk1"/>
              </a:buClr>
              <a:buSzPts val="2400"/>
              <a:buFont typeface="Times New Roman"/>
              <a:buChar char="•"/>
            </a:pPr>
            <a:r>
              <a:rPr b="0" i="0" lang="en-US" sz="24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https://en.wikipedia.org/wiki/Backward_chaining</a:t>
            </a:r>
            <a:endParaRPr/>
          </a:p>
          <a:p>
            <a:pPr indent="-225425" lvl="0" marL="225425" marR="0" rtl="0" algn="l">
              <a:lnSpc>
                <a:spcPct val="100000"/>
              </a:lnSpc>
              <a:spcBef>
                <a:spcPts val="480"/>
              </a:spcBef>
              <a:spcAft>
                <a:spcPts val="0"/>
              </a:spcAft>
              <a:buClr>
                <a:schemeClr val="dk1"/>
              </a:buClr>
              <a:buSzPts val="2400"/>
              <a:buFont typeface="Times New Roman"/>
              <a:buChar char="•"/>
            </a:pPr>
            <a:r>
              <a:rPr b="0" i="0" lang="en-US" sz="24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https://en.wikipedia.org/wiki/Inference_engine</a:t>
            </a:r>
            <a:br>
              <a:rPr b="0" i="0" lang="en-US" sz="2400" u="none">
                <a:solidFill>
                  <a:schemeClr val="dk1"/>
                </a:solidFill>
                <a:latin typeface="Times New Roman"/>
                <a:ea typeface="Times New Roman"/>
                <a:cs typeface="Times New Roman"/>
                <a:sym typeface="Times New Roman"/>
              </a:rPr>
            </a:br>
            <a:r>
              <a:rPr b="0" i="0" lang="en-US" sz="24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https://en.wikipedia.org/wiki/Production_system_(computer_science)</a:t>
            </a:r>
            <a:endParaRPr/>
          </a:p>
          <a:p>
            <a:pPr indent="-73025" lvl="0" marL="225425" marR="0" rtl="0" algn="l">
              <a:spcBef>
                <a:spcPts val="480"/>
              </a:spcBef>
              <a:spcAft>
                <a:spcPts val="0"/>
              </a:spcAft>
              <a:buClr>
                <a:schemeClr val="dk1"/>
              </a:buClr>
              <a:buSzPts val="2400"/>
              <a:buFont typeface="Times New Roman"/>
              <a:buNone/>
            </a:pPr>
            <a:r>
              <a:t/>
            </a:r>
            <a:endParaRPr b="0" i="0" sz="2400" u="sng">
              <a:solidFill>
                <a:schemeClr val="dk1"/>
              </a:solidFill>
              <a:latin typeface="Times New Roman"/>
              <a:ea typeface="Times New Roman"/>
              <a:cs typeface="Times New Roman"/>
              <a:sym typeface="Times New Roman"/>
              <a:hlinkClick r:id="rId7">
                <a:extLst>
                  <a:ext uri="{A12FA001-AC4F-418D-AE19-62706E023703}">
                    <ahyp:hlinkClr val="tx"/>
                  </a:ext>
                </a:extLst>
              </a:hlinkClick>
            </a:endParaRPr>
          </a:p>
        </p:txBody>
      </p:sp>
      <p:sp>
        <p:nvSpPr>
          <p:cNvPr id="283" name="Google Shape;283;p34"/>
          <p:cNvSpPr txBox="1"/>
          <p:nvPr/>
        </p:nvSpPr>
        <p:spPr>
          <a:xfrm>
            <a:off x="7239000" y="6553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Times New Roman"/>
              <a:buNone/>
            </a:pP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ank Presentation.pot">
  <a:themeElements>
    <a:clrScheme name="Blank Presentation.pot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3" ma:contentTypeDescription="Create a new document." ma:contentTypeScope="" ma:versionID="b4de3fe7d800b0ca999817686b165b1c">
  <xsd:schema xmlns:xsd="http://www.w3.org/2001/XMLSchema" xmlns:xs="http://www.w3.org/2001/XMLSchema" xmlns:p="http://schemas.microsoft.com/office/2006/metadata/properties" xmlns:ns2="71778b39-a39e-4048-b00f-99dfecabd0ec" targetNamespace="http://schemas.microsoft.com/office/2006/metadata/properties" ma:root="true" ma:fieldsID="ae0bbb1ef2e03af480cc0bac4dc148f2" ns2:_="">
    <xsd:import namespace="71778b39-a39e-4048-b00f-99dfecabd0e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78b39-a39e-4048-b00f-99dfecabd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A67B4ED-7EC1-4887-9E5B-C341522311EA}"/>
</file>

<file path=customXml/itemProps2.xml><?xml version="1.0" encoding="utf-8"?>
<ds:datastoreItem xmlns:ds="http://schemas.openxmlformats.org/officeDocument/2006/customXml" ds:itemID="{DA6D1A70-ACC0-41FD-B941-5A75AA3D485F}"/>
</file>

<file path=customXml/itemProps3.xml><?xml version="1.0" encoding="utf-8"?>
<ds:datastoreItem xmlns:ds="http://schemas.openxmlformats.org/officeDocument/2006/customXml" ds:itemID="{AE86921F-84DA-4FA7-925C-8779B88C9E13}"/>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terms:created xsi:type="dcterms:W3CDTF">1998-02-17T02:50:39Z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3" name="TemplateType">
    <vt:i4>1</vt:i4>
  </property>
  <property fmtid="{D5CDD505-2E9C-101B-9397-08002B2CF9AE}" pid="4" name="GraphicType">
    <vt:i4>1</vt:i4>
  </property>
  <property fmtid="{D5CDD505-2E9C-101B-9397-08002B2CF9AE}" pid="5" name="Compression">
    <vt:i4>100</vt:i4>
  </property>
  <property fmtid="{D5CDD505-2E9C-101B-9397-08002B2CF9AE}" pid="6" name="ScreenSize">
    <vt:i4>1</vt:i4>
  </property>
  <property fmtid="{D5CDD505-2E9C-101B-9397-08002B2CF9AE}" pid="7" name="ScreenUsage">
    <vt:i4>2</vt:i4>
  </property>
  <property fmtid="{D5CDD505-2E9C-101B-9397-08002B2CF9AE}" pid="8" name="MailAddress">
    <vt:lpwstr>finin@umbc.edu</vt:lpwstr>
  </property>
  <property fmtid="{D5CDD505-2E9C-101B-9397-08002B2CF9AE}" pid="9" name="HomePage">
    <vt:lpwstr>http://umbc.edu/~finin</vt:lpwstr>
  </property>
  <property fmtid="{D5CDD505-2E9C-101B-9397-08002B2CF9AE}" pid="10" name="Other">
    <vt:lpwstr/>
  </property>
  <property fmtid="{D5CDD505-2E9C-101B-9397-08002B2CF9AE}" pid="11" name="DownloadOriginal">
    <vt:bool>false</vt:bool>
  </property>
  <property fmtid="{D5CDD505-2E9C-101B-9397-08002B2CF9AE}" pid="12" name="DownloadIEButton">
    <vt:bool>false</vt:bool>
  </property>
  <property fmtid="{D5CDD505-2E9C-101B-9397-08002B2CF9AE}" pid="13" name="UseBrowserColor">
    <vt:bool>true</vt:bool>
  </property>
  <property fmtid="{D5CDD505-2E9C-101B-9397-08002B2CF9AE}" pid="14" name="BackColor">
    <vt:i4>15132390</vt:i4>
  </property>
  <property fmtid="{D5CDD505-2E9C-101B-9397-08002B2CF9AE}" pid="15" name="TextColor">
    <vt:i4>0</vt:i4>
  </property>
  <property fmtid="{D5CDD505-2E9C-101B-9397-08002B2CF9AE}" pid="16" name="LinkColor">
    <vt:i4>16711782</vt:i4>
  </property>
  <property fmtid="{D5CDD505-2E9C-101B-9397-08002B2CF9AE}" pid="17" name="VisitedColor">
    <vt:i4>10040268</vt:i4>
  </property>
  <property fmtid="{D5CDD505-2E9C-101B-9397-08002B2CF9AE}" pid="18" name="TransparentButton">
    <vt:i4>0</vt:i4>
  </property>
  <property fmtid="{D5CDD505-2E9C-101B-9397-08002B2CF9AE}" pid="19" name="ButtonType">
    <vt:i4>3</vt:i4>
  </property>
  <property fmtid="{D5CDD505-2E9C-101B-9397-08002B2CF9AE}" pid="20" name="ShowNotes">
    <vt:bool>false</vt:bool>
  </property>
  <property fmtid="{D5CDD505-2E9C-101B-9397-08002B2CF9AE}" pid="21" name="NavBtnPos">
    <vt:i4>1</vt:i4>
  </property>
  <property fmtid="{D5CDD505-2E9C-101B-9397-08002B2CF9AE}" pid="22" name="OutputDir">
    <vt:lpwstr>C:\Users\finin\teaching\AI\RN\</vt:lpwstr>
  </property>
  <property fmtid="{D5CDD505-2E9C-101B-9397-08002B2CF9AE}" pid="23" name="ContentTypeId">
    <vt:lpwstr>0x010100263F296526D7BB4EB949B2D9BCC1BDA8</vt:lpwstr>
  </property>
</Properties>
</file>