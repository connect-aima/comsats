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34.xml" ContentType="application/vnd.openxmlformats-officedocument.presentationml.slide+xml"/>
  <Override PartName="/ppt/slides/slide1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7.xml" ContentType="application/vnd.openxmlformats-officedocument.presentationml.slide+xml"/>
  <Override PartName="/ppt/slides/slide1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18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27.xml" ContentType="application/vnd.openxmlformats-officedocument.presentationml.slide+xml"/>
  <Override PartName="/ppt/slides/slide29.xml" ContentType="application/vnd.openxmlformats-officedocument.presentationml.slide+xml"/>
  <Override PartName="/ppt/slides/slide25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6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82" r:id="rId35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7" roundtripDataSignature="AMtx7mgUNuOM9rDP0K4pkPU34wtBSDuh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67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ustomXml" Target="../customXml/item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customschemas.google.com/relationships/presentationmetadata" Target="meta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ustomXml" Target="../customXml/item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36" name="Google Shape;13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" name="Google Shape;13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167" name="Google Shape;16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8" name="Google Shape;16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182" name="Google Shape;18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3" name="Google Shape;18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204" name="Google Shape;20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5" name="Google Shape;205;p1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a84b4383f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a84b4383f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g3a84b4383f5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225" name="Google Shape;22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6" name="Google Shape;226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a7456e3f3b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a7456e3f3b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g3a7456e3f3b_0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6389811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5483704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1235907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7096516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441392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5476353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736484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9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1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1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32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3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33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33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33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6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36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7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7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7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8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9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9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Artificial Intelligence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/>
              <a:t>First Order Logic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>
            <a:spLocks noGrp="1"/>
          </p:cNvSpPr>
          <p:nvPr>
            <p:ph type="title"/>
          </p:nvPr>
        </p:nvSpPr>
        <p:spPr>
          <a:xfrm>
            <a:off x="457200" y="274648"/>
            <a:ext cx="8229600" cy="9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Limitation of Propositional Logic</a:t>
            </a:r>
            <a:endParaRPr/>
          </a:p>
        </p:txBody>
      </p:sp>
      <p:sp>
        <p:nvSpPr>
          <p:cNvPr id="95" name="Google Shape;95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342900" marR="0" lvl="0" indent="-29718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100000"/>
              <a:buChar char="•"/>
            </a:pPr>
            <a:r>
              <a:rPr lang="en-US" sz="3200"/>
              <a:t>The</a:t>
            </a:r>
            <a:r>
              <a:rPr lang="en-US"/>
              <a:t> facts:</a:t>
            </a:r>
            <a:endParaRPr/>
          </a:p>
          <a:p>
            <a:pPr marL="742950" lvl="1" indent="-245744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 “peter is a man”, “paul is a man”, “john is a man” can be symbolized by P, Q and R respectively in propositional logic,</a:t>
            </a:r>
            <a:endParaRPr/>
          </a:p>
          <a:p>
            <a:pPr marL="342900" lvl="0" indent="-297180" algn="l" rtl="0">
              <a:spcBef>
                <a:spcPts val="64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lang="en-US">
                <a:solidFill>
                  <a:srgbClr val="FF0000"/>
                </a:solidFill>
              </a:rPr>
              <a:t>Can’t draw any conclusions about similarities between P, Q and R.</a:t>
            </a:r>
            <a:endParaRPr>
              <a:solidFill>
                <a:srgbClr val="FF0000"/>
              </a:solidFill>
            </a:endParaRPr>
          </a:p>
          <a:p>
            <a:pPr marL="342900" lvl="0" indent="-29718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Better to represent these facts as – MAN(peter), MAN(paul) and MAN(john).</a:t>
            </a:r>
            <a:endParaRPr/>
          </a:p>
          <a:p>
            <a:pPr marL="342900" lvl="0" indent="0" algn="l" rtl="0">
              <a:spcBef>
                <a:spcPts val="640"/>
              </a:spcBef>
              <a:spcAft>
                <a:spcPts val="0"/>
              </a:spcAft>
              <a:buNone/>
            </a:pPr>
            <a:endParaRPr/>
          </a:p>
          <a:p>
            <a:pPr marL="342900" lvl="0" indent="-38608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lang="en-US">
                <a:solidFill>
                  <a:srgbClr val="FF0000"/>
                </a:solidFill>
              </a:rPr>
              <a:t>Even more difficult to represent sentences like “All men are mortal” in propositional logic.</a:t>
            </a:r>
            <a:endParaRPr>
              <a:solidFill>
                <a:srgbClr val="FF0000"/>
              </a:solidFill>
            </a:endParaRPr>
          </a:p>
          <a:p>
            <a:pPr marL="45720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2800"/>
              <a:t>– Such sentences really need quantification.</a:t>
            </a:r>
            <a:endParaRPr sz="2800"/>
          </a:p>
          <a:p>
            <a:pPr marL="342900" lvl="0" indent="-386080" algn="l" rtl="0">
              <a:spcBef>
                <a:spcPts val="64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In Predicate Logic, these limitations are removed to great extent.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"/>
          <p:cNvSpPr txBox="1">
            <a:spLocks noGrp="1"/>
          </p:cNvSpPr>
          <p:nvPr>
            <p:ph type="title"/>
          </p:nvPr>
        </p:nvSpPr>
        <p:spPr>
          <a:xfrm>
            <a:off x="457200" y="762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First-order logic (FOL)</a:t>
            </a:r>
            <a:endParaRPr/>
          </a:p>
        </p:txBody>
      </p:sp>
      <p:sp>
        <p:nvSpPr>
          <p:cNvPr id="101" name="Google Shape;101;p4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8458200" cy="58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While  propositional logic assumes the world contains </a:t>
            </a:r>
            <a:r>
              <a:rPr lang="en-US" sz="2200">
                <a:solidFill>
                  <a:srgbClr val="FF0000"/>
                </a:solidFill>
              </a:rPr>
              <a:t>facts</a:t>
            </a:r>
            <a:r>
              <a:rPr lang="en-US" sz="2200"/>
              <a:t>, that are true or false. 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First-order logic assumes the world contains: 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>
                <a:solidFill>
                  <a:srgbClr val="FF0000"/>
                </a:solidFill>
              </a:rPr>
              <a:t>Objects:</a:t>
            </a:r>
            <a:r>
              <a:rPr lang="en-US" sz="2200"/>
              <a:t> </a:t>
            </a:r>
            <a:r>
              <a:rPr lang="en-US" sz="2200">
                <a:solidFill>
                  <a:srgbClr val="FF0000"/>
                </a:solidFill>
              </a:rPr>
              <a:t>referred using noun phrases e.g. people, houses, numbers, colors, baseball games, wars, …</a:t>
            </a:r>
            <a:r>
              <a:rPr lang="en-US" sz="2200"/>
              <a:t> 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rgbClr val="FF0000"/>
              </a:buClr>
              <a:buSzPts val="2200"/>
              <a:buChar char="–"/>
            </a:pPr>
            <a:r>
              <a:rPr lang="en-US" sz="2200">
                <a:solidFill>
                  <a:srgbClr val="FF0000"/>
                </a:solidFill>
              </a:rPr>
              <a:t>Relations between objects: referred using verb phrases e.g. red, round, prime, brother of, bigger than, part of, comes between, …</a:t>
            </a:r>
            <a:endParaRPr>
              <a:solidFill>
                <a:srgbClr val="FF0000"/>
              </a:solidFill>
            </a:endParaRPr>
          </a:p>
          <a:p>
            <a:pPr marL="342900" lvl="0" indent="-3429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>
                <a:solidFill>
                  <a:srgbClr val="FF0000"/>
                </a:solidFill>
              </a:rPr>
              <a:t>Some relations are properties:</a:t>
            </a:r>
            <a:r>
              <a:rPr lang="en-US" sz="2200"/>
              <a:t> they state some fact about a single object: </a:t>
            </a:r>
            <a:endParaRPr/>
          </a:p>
          <a:p>
            <a:pPr marL="742950" lvl="1" indent="-28575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round(ball), prime(7). </a:t>
            </a:r>
            <a:endParaRPr/>
          </a:p>
          <a:p>
            <a:pPr marL="342900" lvl="0" indent="-342900" algn="l" rtl="0">
              <a:spcBef>
                <a:spcPts val="440"/>
              </a:spcBef>
              <a:spcAft>
                <a:spcPts val="0"/>
              </a:spcAft>
              <a:buClr>
                <a:srgbClr val="FF0000"/>
              </a:buClr>
              <a:buSzPts val="2200"/>
              <a:buChar char="•"/>
            </a:pPr>
            <a:r>
              <a:rPr lang="en-US" sz="2200">
                <a:solidFill>
                  <a:srgbClr val="FF0000"/>
                </a:solidFill>
              </a:rPr>
              <a:t>Relations also state facts about two objects:</a:t>
            </a:r>
            <a:endParaRPr>
              <a:solidFill>
                <a:srgbClr val="FF0000"/>
              </a:solidFill>
            </a:endParaRPr>
          </a:p>
          <a:p>
            <a:pPr marL="742950" lvl="1" indent="-28575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married(john,mary), largerthan(3,2).</a:t>
            </a:r>
            <a:endParaRPr/>
          </a:p>
          <a:p>
            <a:pPr marL="342900" lvl="0" indent="-3429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>
                <a:solidFill>
                  <a:srgbClr val="FF0000"/>
                </a:solidFill>
              </a:rPr>
              <a:t>Some relations are functions: their value is another object:</a:t>
            </a:r>
            <a:endParaRPr>
              <a:solidFill>
                <a:srgbClr val="FF0000"/>
              </a:solidFill>
            </a:endParaRPr>
          </a:p>
          <a:p>
            <a:pPr marL="742950" lvl="1" indent="-28575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plus(2,3), father(dan).</a:t>
            </a:r>
            <a:endParaRPr/>
          </a:p>
          <a:p>
            <a:pPr marL="742950" lvl="1" indent="-14605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endParaRPr sz="2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"/>
          <p:cNvSpPr txBox="1">
            <a:spLocks noGrp="1"/>
          </p:cNvSpPr>
          <p:nvPr>
            <p:ph type="title"/>
          </p:nvPr>
        </p:nvSpPr>
        <p:spPr>
          <a:xfrm>
            <a:off x="457200" y="76200"/>
            <a:ext cx="8229600" cy="71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FOL Examples</a:t>
            </a:r>
            <a:endParaRPr/>
          </a:p>
        </p:txBody>
      </p:sp>
      <p:sp>
        <p:nvSpPr>
          <p:cNvPr id="107" name="Google Shape;107;p5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8229600" cy="57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“One plus two equals three.”</a:t>
            </a:r>
            <a:br>
              <a:rPr lang="en-US"/>
            </a:br>
            <a:r>
              <a:rPr lang="en-US" sz="2700" b="1" u="sng"/>
              <a:t>Objects: </a:t>
            </a:r>
            <a:r>
              <a:rPr lang="en-US"/>
              <a:t>one, two, three; </a:t>
            </a:r>
            <a:endParaRPr/>
          </a:p>
          <a:p>
            <a:pPr marL="457200" lvl="1" indent="0" algn="l" rtl="0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u="sng"/>
              <a:t>Function:</a:t>
            </a:r>
            <a:r>
              <a:rPr lang="en-US"/>
              <a:t> plus. (“One plus two” is a name for the object that is obtained by applying the function “plus” to the objects “one” and </a:t>
            </a:r>
            <a:br>
              <a:rPr lang="en-US"/>
            </a:br>
            <a:r>
              <a:rPr lang="en-US"/>
              <a:t>“two.”</a:t>
            </a:r>
            <a:endParaRPr/>
          </a:p>
          <a:p>
            <a:pPr marL="457200" lvl="1" indent="0" algn="l" rtl="0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700" b="1" u="sng"/>
              <a:t>Relation: </a:t>
            </a:r>
            <a:r>
              <a:rPr lang="en-US"/>
              <a:t>equals; </a:t>
            </a:r>
            <a:r>
              <a:rPr lang="en-US">
                <a:solidFill>
                  <a:srgbClr val="FF0000"/>
                </a:solidFill>
              </a:rPr>
              <a:t>equals( plus(one, two), three )</a:t>
            </a:r>
            <a:endParaRPr/>
          </a:p>
          <a:p>
            <a:pPr marL="457200" lvl="1" indent="0" algn="l" rtl="0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457200" lvl="1" indent="0" algn="l" rtl="0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“Squares neighboring the wumpus are smelly.”</a:t>
            </a:r>
            <a:br>
              <a:rPr lang="en-US"/>
            </a:br>
            <a:r>
              <a:rPr lang="en-US" b="1" u="sng"/>
              <a:t>Objects: </a:t>
            </a:r>
            <a:r>
              <a:rPr lang="en-US"/>
              <a:t>wumpus, squares; </a:t>
            </a:r>
            <a:endParaRPr/>
          </a:p>
          <a:p>
            <a:pPr marL="457200" lvl="1" indent="0" algn="l" rtl="0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u="sng"/>
              <a:t>Property:</a:t>
            </a:r>
            <a:r>
              <a:rPr lang="en-US"/>
              <a:t> smelly; </a:t>
            </a:r>
            <a:r>
              <a:rPr lang="en-US">
                <a:solidFill>
                  <a:srgbClr val="FF0000"/>
                </a:solidFill>
              </a:rPr>
              <a:t>Smelly(x)</a:t>
            </a:r>
            <a:endParaRPr/>
          </a:p>
          <a:p>
            <a:pPr marL="457200" lvl="1" indent="0" algn="l" rtl="0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u="sng"/>
              <a:t>Relation:</a:t>
            </a:r>
            <a:r>
              <a:rPr lang="en-US"/>
              <a:t> neighboring. </a:t>
            </a:r>
            <a:r>
              <a:rPr lang="en-US">
                <a:solidFill>
                  <a:srgbClr val="FF0000"/>
                </a:solidFill>
              </a:rPr>
              <a:t>Neighbor(x, wumpus) → Smelly(x)</a:t>
            </a:r>
            <a:endParaRPr>
              <a:solidFill>
                <a:srgbClr val="FF0000"/>
              </a:solidFill>
            </a:endParaRPr>
          </a:p>
          <a:p>
            <a:pPr marL="0" lvl="1" indent="0" algn="l" rtl="0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457200" lvl="1" indent="0" algn="l" rtl="0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“Evil King John ruled England in 1200.”</a:t>
            </a:r>
            <a:br>
              <a:rPr lang="en-US"/>
            </a:br>
            <a:r>
              <a:rPr lang="en-US" b="1" u="sng"/>
              <a:t>Objects: </a:t>
            </a:r>
            <a:r>
              <a:rPr lang="en-US"/>
              <a:t>John, England, 1200; </a:t>
            </a:r>
            <a:endParaRPr/>
          </a:p>
          <a:p>
            <a:pPr marL="457200" lvl="1" indent="0" algn="l" rtl="0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u="sng"/>
              <a:t>Relation:</a:t>
            </a:r>
            <a:r>
              <a:rPr lang="en-US"/>
              <a:t> ruled; </a:t>
            </a:r>
            <a:r>
              <a:rPr lang="en-US">
                <a:solidFill>
                  <a:srgbClr val="FF0000"/>
                </a:solidFill>
              </a:rPr>
              <a:t>ruled(john, england, 1200)</a:t>
            </a:r>
            <a:endParaRPr>
              <a:solidFill>
                <a:srgbClr val="FF0000"/>
              </a:solidFill>
            </a:endParaRPr>
          </a:p>
          <a:p>
            <a:pPr marL="457200" lvl="1" indent="0" algn="l" rtl="0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u="sng"/>
              <a:t>Properties:</a:t>
            </a:r>
            <a:r>
              <a:rPr lang="en-US"/>
              <a:t> evil, king </a:t>
            </a:r>
            <a:r>
              <a:rPr lang="en-US">
                <a:solidFill>
                  <a:srgbClr val="FF0000"/>
                </a:solidFill>
              </a:rPr>
              <a:t>evil(john), king(john)</a:t>
            </a:r>
            <a:r>
              <a:rPr lang="en-US"/>
              <a:t/>
            </a:r>
            <a:br>
              <a:rPr lang="en-US"/>
            </a:b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868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Objects, Relations and Functions</a:t>
            </a:r>
            <a:endParaRPr/>
          </a:p>
        </p:txBody>
      </p:sp>
      <p:sp>
        <p:nvSpPr>
          <p:cNvPr id="113" name="Google Shape;113;p6"/>
          <p:cNvSpPr txBox="1">
            <a:spLocks noGrp="1"/>
          </p:cNvSpPr>
          <p:nvPr>
            <p:ph type="body" idx="1"/>
          </p:nvPr>
        </p:nvSpPr>
        <p:spPr>
          <a:xfrm>
            <a:off x="457200" y="1066800"/>
            <a:ext cx="8229600" cy="5059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Identify objects, relations and functions in the following model.</a:t>
            </a:r>
            <a:endParaRPr/>
          </a:p>
        </p:txBody>
      </p:sp>
      <p:pic>
        <p:nvPicPr>
          <p:cNvPr id="114" name="Google Shape;114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6075" y="1633675"/>
            <a:ext cx="7282801" cy="468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"/>
          <p:cNvSpPr txBox="1">
            <a:spLocks noGrp="1"/>
          </p:cNvSpPr>
          <p:nvPr>
            <p:ph type="title"/>
          </p:nvPr>
        </p:nvSpPr>
        <p:spPr>
          <a:xfrm>
            <a:off x="457200" y="76200"/>
            <a:ext cx="8229600" cy="71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Objects, Relations, Functions</a:t>
            </a:r>
            <a:endParaRPr/>
          </a:p>
        </p:txBody>
      </p:sp>
      <p:sp>
        <p:nvSpPr>
          <p:cNvPr id="120" name="Google Shape;120;p7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8229600" cy="57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342900" lvl="0" indent="-32766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Objects:</a:t>
            </a:r>
            <a:endParaRPr/>
          </a:p>
          <a:p>
            <a:pPr marL="742950" lvl="1" indent="-272414" algn="l" rtl="0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Richard </a:t>
            </a:r>
            <a:endParaRPr/>
          </a:p>
          <a:p>
            <a:pPr marL="742950" lvl="1" indent="-272414" algn="l" rtl="0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John</a:t>
            </a:r>
            <a:endParaRPr/>
          </a:p>
          <a:p>
            <a:pPr marL="742950" lvl="1" indent="-272414" algn="l" rtl="0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Richard’s Left Leg,</a:t>
            </a:r>
            <a:endParaRPr/>
          </a:p>
          <a:p>
            <a:pPr marL="742950" lvl="1" indent="-272414" algn="l" rtl="0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John’s Left Leg</a:t>
            </a:r>
            <a:endParaRPr/>
          </a:p>
          <a:p>
            <a:pPr marL="742950" lvl="1" indent="-272414" algn="l" rtl="0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Crown </a:t>
            </a:r>
            <a:endParaRPr/>
          </a:p>
          <a:p>
            <a:pPr marL="342900" lvl="0" indent="-327660" algn="l" rtl="0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Relations:</a:t>
            </a:r>
            <a:endParaRPr/>
          </a:p>
          <a:p>
            <a:pPr marL="742950" lvl="1" indent="-272414" algn="l" rtl="0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Brothers (Richard, John ) </a:t>
            </a:r>
            <a:endParaRPr/>
          </a:p>
          <a:p>
            <a:pPr marL="742950" lvl="1" indent="-272414" algn="l" rtl="0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onhead(Crown, John)</a:t>
            </a:r>
            <a:endParaRPr/>
          </a:p>
          <a:p>
            <a:pPr marL="742950" marR="0" lvl="1" indent="-272414" algn="l" rtl="0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SzPct val="100000"/>
              <a:buChar char="–"/>
            </a:pPr>
            <a:r>
              <a:rPr lang="en-US"/>
              <a:t>Properties</a:t>
            </a:r>
            <a:endParaRPr/>
          </a:p>
          <a:p>
            <a:pPr marL="1143000" lvl="2" indent="-252094" algn="l" rtl="0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16666"/>
              <a:buChar char="•"/>
            </a:pPr>
            <a:r>
              <a:rPr lang="en-US"/>
              <a:t>Person (Richard)</a:t>
            </a:r>
            <a:endParaRPr/>
          </a:p>
          <a:p>
            <a:pPr marL="1143000" lvl="2" indent="-252094" algn="l" rtl="0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16666"/>
              <a:buChar char="•"/>
            </a:pPr>
            <a:r>
              <a:rPr lang="en-US"/>
              <a:t>King (John)</a:t>
            </a:r>
            <a:endParaRPr/>
          </a:p>
          <a:p>
            <a:pPr marL="1143000" lvl="2" indent="-252094" algn="l" rtl="0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16666"/>
              <a:buChar char="•"/>
            </a:pPr>
            <a:r>
              <a:rPr lang="en-US"/>
              <a:t>Crown(Crown)</a:t>
            </a:r>
            <a:endParaRPr/>
          </a:p>
          <a:p>
            <a:pPr marL="342900" lvl="0" indent="-327660" algn="l" rtl="0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Functions:</a:t>
            </a:r>
            <a:endParaRPr/>
          </a:p>
          <a:p>
            <a:pPr marL="742950" lvl="1" indent="-272414" algn="l" rtl="0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LeftLeg(John)</a:t>
            </a:r>
            <a:endParaRPr/>
          </a:p>
          <a:p>
            <a:pPr marL="742950" lvl="1" indent="-272414" algn="l" rtl="0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LeftLeg(Richard)</a:t>
            </a:r>
            <a:br>
              <a:rPr lang="en-US"/>
            </a:b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"/>
          <p:cNvSpPr txBox="1">
            <a:spLocks noGrp="1"/>
          </p:cNvSpPr>
          <p:nvPr>
            <p:ph type="title"/>
          </p:nvPr>
        </p:nvSpPr>
        <p:spPr>
          <a:xfrm>
            <a:off x="457200" y="274648"/>
            <a:ext cx="8229600" cy="9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Atomic Sentences</a:t>
            </a:r>
            <a:endParaRPr/>
          </a:p>
        </p:txBody>
      </p:sp>
      <p:sp>
        <p:nvSpPr>
          <p:cNvPr id="126" name="Google Shape;126;p8"/>
          <p:cNvSpPr txBox="1">
            <a:spLocks noGrp="1"/>
          </p:cNvSpPr>
          <p:nvPr>
            <p:ph type="body" idx="1"/>
          </p:nvPr>
        </p:nvSpPr>
        <p:spPr>
          <a:xfrm>
            <a:off x="457200" y="1296599"/>
            <a:ext cx="8229600" cy="52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342900" lvl="0" indent="-356552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-US" sz="2600">
                <a:solidFill>
                  <a:srgbClr val="000000"/>
                </a:solidFill>
              </a:rPr>
              <a:t>We can combine objects and predicate symbols (relation/property) to make atomic sentences that state facts. </a:t>
            </a:r>
            <a:endParaRPr sz="2600">
              <a:solidFill>
                <a:srgbClr val="000000"/>
              </a:solidFill>
            </a:endParaRPr>
          </a:p>
          <a:p>
            <a:pPr marL="3429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>
              <a:solidFill>
                <a:srgbClr val="FF0000"/>
              </a:solidFill>
            </a:endParaRPr>
          </a:p>
          <a:p>
            <a:pPr marL="342900" lvl="0" indent="-356552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lang="en-US" sz="2600">
                <a:solidFill>
                  <a:srgbClr val="FF0000"/>
                </a:solidFill>
              </a:rPr>
              <a:t>An atomic sentence (or atom for short) is formed from a predicate symbol optionally followed by a parenthesized list of terms, such as</a:t>
            </a:r>
            <a:endParaRPr sz="2600">
              <a:solidFill>
                <a:srgbClr val="FF0000"/>
              </a:solidFill>
            </a:endParaRPr>
          </a:p>
          <a:p>
            <a:pPr marL="3429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>
              <a:solidFill>
                <a:srgbClr val="FF0000"/>
              </a:solidFill>
            </a:endParaRPr>
          </a:p>
          <a:p>
            <a:pPr marL="742950" lvl="1" indent="-299402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–"/>
            </a:pPr>
            <a:r>
              <a:rPr lang="en-US" sz="2600">
                <a:solidFill>
                  <a:srgbClr val="FF0000"/>
                </a:solidFill>
              </a:rPr>
              <a:t>Brother(Richard,John).</a:t>
            </a:r>
            <a:endParaRPr sz="2600">
              <a:solidFill>
                <a:srgbClr val="FF0000"/>
              </a:solidFill>
            </a:endParaRPr>
          </a:p>
          <a:p>
            <a:pPr marL="3429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>
              <a:solidFill>
                <a:srgbClr val="FF0000"/>
              </a:solidFill>
            </a:endParaRPr>
          </a:p>
          <a:p>
            <a:pPr marL="342900" lvl="0" indent="-318135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lang="en-US" sz="2600">
                <a:solidFill>
                  <a:srgbClr val="FF0000"/>
                </a:solidFill>
              </a:rPr>
              <a:t>An atomic sentence is true</a:t>
            </a:r>
            <a:r>
              <a:rPr lang="en-US" sz="2600" b="1">
                <a:solidFill>
                  <a:srgbClr val="FF0000"/>
                </a:solidFill>
              </a:rPr>
              <a:t> </a:t>
            </a:r>
            <a:r>
              <a:rPr lang="en-US" sz="2600">
                <a:solidFill>
                  <a:srgbClr val="FF0000"/>
                </a:solidFill>
              </a:rPr>
              <a:t>in a given model if the relation referred to by the predicate symbol holds among the objects referred to by the arguments. </a:t>
            </a:r>
            <a:endParaRPr/>
          </a:p>
          <a:p>
            <a:pPr marL="742950" lvl="1" indent="-260984" algn="l" rtl="0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sz="2600"/>
              <a:t>LargerThan(2,3) (means 2&gt;3) is false.</a:t>
            </a:r>
            <a:endParaRPr/>
          </a:p>
          <a:p>
            <a:pPr marL="742950" lvl="1" indent="-259080" algn="l" rtl="0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7692"/>
              <a:buChar char="–"/>
            </a:pPr>
            <a:r>
              <a:rPr lang="en-US" sz="2600"/>
              <a:t>Brother(Richard, John) is true. </a:t>
            </a:r>
            <a:endParaRPr sz="2600"/>
          </a:p>
          <a:p>
            <a:pPr marL="742950" lvl="0" indent="0" algn="l" rtl="0">
              <a:spcBef>
                <a:spcPts val="518"/>
              </a:spcBef>
              <a:spcAft>
                <a:spcPts val="0"/>
              </a:spcAft>
              <a:buNone/>
            </a:pPr>
            <a:endParaRPr sz="2600"/>
          </a:p>
          <a:p>
            <a:pPr marL="342900" lvl="0" indent="-356552" algn="l" rtl="0">
              <a:spcBef>
                <a:spcPts val="481"/>
              </a:spcBef>
              <a:spcAft>
                <a:spcPts val="0"/>
              </a:spcAft>
              <a:buSzPct val="100000"/>
              <a:buChar char="•"/>
            </a:pPr>
            <a:r>
              <a:rPr lang="en-US" sz="2600"/>
              <a:t>We usually follow the argument-ordering convention that is read as “ x is a P of y”.</a:t>
            </a:r>
            <a:endParaRPr sz="2600"/>
          </a:p>
          <a:p>
            <a:pPr marL="342900" lvl="0" indent="-318135" algn="l" rtl="0">
              <a:spcBef>
                <a:spcPts val="66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600"/>
              <a:t>For example. Married(Father(Richard), Mother(John)) states that Richard the Lionheart’s father is married to King John’s mother.</a:t>
            </a:r>
            <a:endParaRPr sz="2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Complex Sentences</a:t>
            </a:r>
            <a:endParaRPr/>
          </a:p>
        </p:txBody>
      </p:sp>
      <p:sp>
        <p:nvSpPr>
          <p:cNvPr id="132" name="Google Shape;132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Complex sentences are made from atomic sentences using connectives. </a:t>
            </a:r>
            <a:endParaRPr/>
          </a:p>
          <a:p>
            <a:pPr marL="742950" lvl="1" indent="-28575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¬S, S1 ∧ S2, S1 ∨ S2, S1 ⇒ S2, S1 ⇔ S2</a:t>
            </a:r>
            <a:endParaRPr/>
          </a:p>
          <a:p>
            <a:pPr marL="342900" lvl="1" indent="-3429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/>
              <a:t>For Example,</a:t>
            </a:r>
            <a:endParaRPr/>
          </a:p>
          <a:p>
            <a:pPr marL="742950" lvl="1" indent="-28575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sibling(kingJohn, richard) ⇒ sibling(richard, kingJohn)</a:t>
            </a:r>
            <a:endParaRPr/>
          </a:p>
        </p:txBody>
      </p:sp>
      <p:pic>
        <p:nvPicPr>
          <p:cNvPr id="133" name="Google Shape;133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4038600"/>
            <a:ext cx="6203036" cy="15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Complex Sentences</a:t>
            </a:r>
            <a:endParaRPr/>
          </a:p>
        </p:txBody>
      </p:sp>
      <p:sp>
        <p:nvSpPr>
          <p:cNvPr id="140" name="Google Shape;140;p10"/>
          <p:cNvSpPr txBox="1">
            <a:spLocks noGrp="1"/>
          </p:cNvSpPr>
          <p:nvPr>
            <p:ph type="body" idx="1"/>
          </p:nvPr>
        </p:nvSpPr>
        <p:spPr>
          <a:xfrm>
            <a:off x="457200" y="1447800"/>
            <a:ext cx="82296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We make complex sentences with connectives (just like in propositional logic).</a:t>
            </a: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endParaRPr/>
          </a:p>
        </p:txBody>
      </p:sp>
      <p:pic>
        <p:nvPicPr>
          <p:cNvPr id="141" name="Google Shape;141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2667000"/>
            <a:ext cx="7239000" cy="4159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2" name="Google Shape;142;p10"/>
          <p:cNvCxnSpPr/>
          <p:nvPr/>
        </p:nvCxnSpPr>
        <p:spPr>
          <a:xfrm rot="10800000">
            <a:off x="1371600" y="2971800"/>
            <a:ext cx="0" cy="457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3" name="Google Shape;143;p10"/>
          <p:cNvSpPr txBox="1"/>
          <p:nvPr/>
        </p:nvSpPr>
        <p:spPr>
          <a:xfrm>
            <a:off x="974725" y="3389313"/>
            <a:ext cx="933450" cy="64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binary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relation</a:t>
            </a:r>
            <a:endParaRPr/>
          </a:p>
        </p:txBody>
      </p:sp>
      <p:cxnSp>
        <p:nvCxnSpPr>
          <p:cNvPr id="144" name="Google Shape;144;p10"/>
          <p:cNvCxnSpPr/>
          <p:nvPr/>
        </p:nvCxnSpPr>
        <p:spPr>
          <a:xfrm rot="10800000">
            <a:off x="2514600" y="2971800"/>
            <a:ext cx="0" cy="457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5" name="Google Shape;145;p10"/>
          <p:cNvSpPr txBox="1"/>
          <p:nvPr/>
        </p:nvSpPr>
        <p:spPr>
          <a:xfrm>
            <a:off x="2117725" y="3389313"/>
            <a:ext cx="9842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</a:t>
            </a:r>
            <a:endParaRPr/>
          </a:p>
        </p:txBody>
      </p:sp>
      <p:cxnSp>
        <p:nvCxnSpPr>
          <p:cNvPr id="146" name="Google Shape;146;p10"/>
          <p:cNvCxnSpPr/>
          <p:nvPr/>
        </p:nvCxnSpPr>
        <p:spPr>
          <a:xfrm flipH="1">
            <a:off x="6400800" y="2362200"/>
            <a:ext cx="152400" cy="38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7" name="Google Shape;147;p10"/>
          <p:cNvSpPr txBox="1"/>
          <p:nvPr/>
        </p:nvSpPr>
        <p:spPr>
          <a:xfrm>
            <a:off x="6553200" y="2057400"/>
            <a:ext cx="10223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property</a:t>
            </a:r>
            <a:endParaRPr/>
          </a:p>
        </p:txBody>
      </p:sp>
      <p:sp>
        <p:nvSpPr>
          <p:cNvPr id="148" name="Google Shape;148;p10"/>
          <p:cNvSpPr txBox="1"/>
          <p:nvPr/>
        </p:nvSpPr>
        <p:spPr>
          <a:xfrm>
            <a:off x="4191000" y="4191000"/>
            <a:ext cx="9080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objects</a:t>
            </a:r>
            <a:endParaRPr/>
          </a:p>
        </p:txBody>
      </p:sp>
      <p:cxnSp>
        <p:nvCxnSpPr>
          <p:cNvPr id="149" name="Google Shape;149;p10"/>
          <p:cNvCxnSpPr/>
          <p:nvPr/>
        </p:nvCxnSpPr>
        <p:spPr>
          <a:xfrm rot="10800000">
            <a:off x="3810000" y="2971800"/>
            <a:ext cx="609600" cy="1219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0" name="Google Shape;150;p10"/>
          <p:cNvCxnSpPr/>
          <p:nvPr/>
        </p:nvCxnSpPr>
        <p:spPr>
          <a:xfrm rot="10800000" flipH="1">
            <a:off x="4572000" y="2971800"/>
            <a:ext cx="228600" cy="1219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1" name="Google Shape;151;p10"/>
          <p:cNvCxnSpPr/>
          <p:nvPr/>
        </p:nvCxnSpPr>
        <p:spPr>
          <a:xfrm rot="10800000" flipH="1">
            <a:off x="4724400" y="3048000"/>
            <a:ext cx="2514600" cy="1143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2" name="Google Shape;152;p10"/>
          <p:cNvCxnSpPr/>
          <p:nvPr/>
        </p:nvCxnSpPr>
        <p:spPr>
          <a:xfrm rot="10800000" flipH="1">
            <a:off x="1447800" y="3048000"/>
            <a:ext cx="4038600" cy="2362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3" name="Google Shape;153;p10"/>
          <p:cNvSpPr txBox="1"/>
          <p:nvPr/>
        </p:nvSpPr>
        <p:spPr>
          <a:xfrm>
            <a:off x="609600" y="5334000"/>
            <a:ext cx="13906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connectives</a:t>
            </a:r>
            <a:endParaRPr/>
          </a:p>
        </p:txBody>
      </p:sp>
      <p:cxnSp>
        <p:nvCxnSpPr>
          <p:cNvPr id="154" name="Google Shape;154;p10"/>
          <p:cNvCxnSpPr/>
          <p:nvPr/>
        </p:nvCxnSpPr>
        <p:spPr>
          <a:xfrm rot="10800000">
            <a:off x="914400" y="3048000"/>
            <a:ext cx="76200" cy="2209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1"/>
          <p:cNvSpPr txBox="1">
            <a:spLocks noGrp="1"/>
          </p:cNvSpPr>
          <p:nvPr>
            <p:ph type="title"/>
          </p:nvPr>
        </p:nvSpPr>
        <p:spPr>
          <a:xfrm>
            <a:off x="457200" y="76200"/>
            <a:ext cx="82296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Quantification</a:t>
            </a:r>
            <a:endParaRPr/>
          </a:p>
        </p:txBody>
      </p:sp>
      <p:sp>
        <p:nvSpPr>
          <p:cNvPr id="160" name="Google Shape;160;p11"/>
          <p:cNvSpPr txBox="1">
            <a:spLocks noGrp="1"/>
          </p:cNvSpPr>
          <p:nvPr>
            <p:ph type="body" idx="1"/>
          </p:nvPr>
        </p:nvSpPr>
        <p:spPr>
          <a:xfrm>
            <a:off x="457200" y="868361"/>
            <a:ext cx="8229600" cy="2484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round(ball) is true or false because we give it a single argument (ball). </a:t>
            </a:r>
            <a:endParaRPr/>
          </a:p>
          <a:p>
            <a:pPr marL="342900" lvl="0" indent="-3429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We can be much more flexible if we allow variables which can take on values in a domain. e.g. X, Y, Z etc. </a:t>
            </a:r>
            <a:endParaRPr/>
          </a:p>
          <a:p>
            <a:pPr marL="342900" lvl="0" indent="-3429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To construct logical sentences we need a quantifier to make it true or false.</a:t>
            </a:r>
            <a:endParaRPr/>
          </a:p>
        </p:txBody>
      </p:sp>
      <p:sp>
        <p:nvSpPr>
          <p:cNvPr id="161" name="Google Shape;161;p11"/>
          <p:cNvSpPr txBox="1"/>
          <p:nvPr/>
        </p:nvSpPr>
        <p:spPr>
          <a:xfrm>
            <a:off x="592600" y="3044225"/>
            <a:ext cx="8229600" cy="14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279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the following true or false?</a:t>
            </a:r>
            <a:endParaRPr sz="2200"/>
          </a:p>
          <a:p>
            <a:pPr marL="342900" marR="0" lvl="0" indent="-2794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make it true or false we use 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Google Shape;162;p11"/>
          <p:cNvPicPr preferRelativeResize="0"/>
          <p:nvPr/>
        </p:nvPicPr>
        <p:blipFill rotWithShape="1">
          <a:blip r:embed="rId3">
            <a:alphaModFix/>
          </a:blip>
          <a:srcRect l="-1" r="47031"/>
          <a:stretch/>
        </p:blipFill>
        <p:spPr>
          <a:xfrm>
            <a:off x="4427593" y="3054941"/>
            <a:ext cx="1142999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0" y="3534000"/>
            <a:ext cx="1277201" cy="4340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6376" y="4275651"/>
            <a:ext cx="8499001" cy="162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Universal Quantification ∀</a:t>
            </a:r>
            <a:endParaRPr/>
          </a:p>
        </p:txBody>
      </p:sp>
      <p:sp>
        <p:nvSpPr>
          <p:cNvPr id="171" name="Google Shape;171;p12"/>
          <p:cNvSpPr txBox="1">
            <a:spLocks noGrp="1"/>
          </p:cNvSpPr>
          <p:nvPr>
            <p:ph type="body" idx="1"/>
          </p:nvPr>
        </p:nvSpPr>
        <p:spPr>
          <a:xfrm>
            <a:off x="609600" y="1143000"/>
            <a:ext cx="7848600" cy="55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∀  means “for all”</a:t>
            </a:r>
            <a:endParaRPr/>
          </a:p>
          <a:p>
            <a:pPr marL="342900" lvl="0" indent="-215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/>
          </a:p>
          <a:p>
            <a:pPr marL="34290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Allows us to make statements about all objects in the domain of discourse that have certain properties</a:t>
            </a:r>
            <a:endParaRPr/>
          </a:p>
          <a:p>
            <a:pPr marL="342900" lvl="0" indent="-215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/>
          </a:p>
          <a:p>
            <a:pPr marL="34290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Can now state general rules:</a:t>
            </a:r>
            <a:endParaRPr/>
          </a:p>
          <a:p>
            <a:pPr marL="342900" lvl="0" indent="-215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/>
          </a:p>
          <a:p>
            <a:pPr marL="74295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/>
              <a:t>∀ x  king(x) =&gt; person(x)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/>
          </a:p>
          <a:p>
            <a:pPr marL="74295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/>
              <a:t>∀ x  person(x) =&gt; hasHead(x)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/>
              <a:t>                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∀"/>
            </a:pPr>
            <a:r>
              <a:rPr lang="en-US" sz="1800"/>
              <a:t>i  integer(i) =&gt; integer(plus(i,1))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/>
          </a:p>
          <a:p>
            <a:pPr marL="74295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/>
              <a:t>Note that 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∀"/>
            </a:pPr>
            <a:r>
              <a:rPr lang="en-US" sz="1800"/>
              <a:t>x  king(x) ∧ person(x)   is not correct!  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/>
              <a:t>This would imply that all objects x are Kings and are People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/>
          </a:p>
          <a:p>
            <a:pPr marL="74295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/>
              <a:t>∀ x  king(x) =&gt; person(x) is the correct way to say this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Why to use IMPLIES connective with universal Quantification </a:t>
            </a:r>
            <a:endParaRPr/>
          </a:p>
        </p:txBody>
      </p:sp>
      <p:sp>
        <p:nvSpPr>
          <p:cNvPr id="177" name="Google Shape;177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For example the sentence states:</a:t>
            </a:r>
            <a:endParaRPr/>
          </a:p>
          <a:p>
            <a:pPr marL="742950" lvl="1" indent="-285750" algn="l" rtl="0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∀ x  king(x) =&gt; person(x)</a:t>
            </a:r>
            <a:endParaRPr/>
          </a:p>
          <a:p>
            <a:pPr marL="342900" lvl="0" indent="-342900" algn="l" rtl="0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It should be true for all values of x</a:t>
            </a:r>
            <a:endParaRPr/>
          </a:p>
          <a:p>
            <a:pPr marL="342900" lvl="0" indent="-170180" algn="l" rtl="0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342900" lvl="0" indent="-170180" algn="l" rtl="0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342900" lvl="0" indent="-170180" algn="l" rtl="0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342900" lvl="0" indent="-170180" algn="l" rtl="0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342900" lvl="0" indent="-342900" algn="l" rtl="0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Looking at the truth table of =&gt; states that it would be true when both premises are true or when premise of the sentence is false, so the =&gt; is a perfect symbol to be used with universal quantification.</a:t>
            </a:r>
            <a:endParaRPr/>
          </a:p>
          <a:p>
            <a:pPr marL="342900" lvl="0" indent="-170180" algn="l" rtl="0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  <p:pic>
        <p:nvPicPr>
          <p:cNvPr id="178" name="Google Shape;178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2971800"/>
            <a:ext cx="2537564" cy="1350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99564" y="2971800"/>
            <a:ext cx="5895280" cy="13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Existential Quantification </a:t>
            </a:r>
            <a:r>
              <a:rPr lang="en-US" sz="2400"/>
              <a:t>∃</a:t>
            </a:r>
            <a:endParaRPr/>
          </a:p>
        </p:txBody>
      </p:sp>
      <p:sp>
        <p:nvSpPr>
          <p:cNvPr id="186" name="Google Shape;186;p14"/>
          <p:cNvSpPr txBox="1">
            <a:spLocks noGrp="1"/>
          </p:cNvSpPr>
          <p:nvPr>
            <p:ph type="body" idx="1"/>
          </p:nvPr>
        </p:nvSpPr>
        <p:spPr>
          <a:xfrm>
            <a:off x="609600" y="1143000"/>
            <a:ext cx="7848600" cy="54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900"/>
              <a:t>∃</a:t>
            </a:r>
            <a:r>
              <a:rPr lang="en-US" sz="1900"/>
              <a:t> </a:t>
            </a:r>
            <a:r>
              <a:rPr lang="en-US" sz="2600"/>
              <a:t>x means “there exists an x such that….”  (at least one object x)</a:t>
            </a:r>
            <a:endParaRPr/>
          </a:p>
          <a:p>
            <a:pPr marL="342900" lvl="0" indent="-202565" algn="l" rtl="0">
              <a:lnSpc>
                <a:spcPct val="90000"/>
              </a:lnSpc>
              <a:spcBef>
                <a:spcPts val="44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600"/>
          </a:p>
          <a:p>
            <a:pPr marL="342900" lvl="0" indent="-342900" algn="l" rtl="0">
              <a:lnSpc>
                <a:spcPct val="90000"/>
              </a:lnSpc>
              <a:spcBef>
                <a:spcPts val="44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600"/>
              <a:t>Allows us to make statements about some object without naming it.</a:t>
            </a:r>
            <a:endParaRPr/>
          </a:p>
          <a:p>
            <a:pPr marL="342900" lvl="0" indent="-202565" algn="l" rtl="0">
              <a:lnSpc>
                <a:spcPct val="90000"/>
              </a:lnSpc>
              <a:spcBef>
                <a:spcPts val="44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600"/>
          </a:p>
          <a:p>
            <a:pPr marL="342900" lvl="0" indent="-342900" algn="l" rtl="0">
              <a:lnSpc>
                <a:spcPct val="90000"/>
              </a:lnSpc>
              <a:spcBef>
                <a:spcPts val="44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600"/>
              <a:t>Examples:</a:t>
            </a:r>
            <a:endParaRPr sz="1900"/>
          </a:p>
          <a:p>
            <a:pPr marL="342900" lvl="0" indent="-240347" algn="l" rtl="0">
              <a:lnSpc>
                <a:spcPct val="90000"/>
              </a:lnSpc>
              <a:spcBef>
                <a:spcPts val="323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1900"/>
          </a:p>
          <a:p>
            <a:pPr marL="742950" lvl="1" indent="-285750" algn="l" rtl="0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3500"/>
              <a:t>∃</a:t>
            </a:r>
            <a:r>
              <a:rPr lang="en-US" sz="1700"/>
              <a:t> </a:t>
            </a:r>
            <a:r>
              <a:rPr lang="en-US" sz="2100"/>
              <a:t>x   King(x) </a:t>
            </a:r>
            <a:endParaRPr sz="1700"/>
          </a:p>
          <a:p>
            <a:pPr marL="742950" lvl="1" indent="-285750" algn="l" rtl="0">
              <a:lnSpc>
                <a:spcPct val="90000"/>
              </a:lnSpc>
              <a:spcBef>
                <a:spcPts val="289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1700"/>
          </a:p>
          <a:p>
            <a:pPr marL="742950" lvl="1" indent="-285750" algn="l" rtl="0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3500"/>
              <a:t>∃</a:t>
            </a:r>
            <a:r>
              <a:rPr lang="en-US" sz="1700"/>
              <a:t> </a:t>
            </a:r>
            <a:r>
              <a:rPr lang="en-US" sz="2100"/>
              <a:t>x   Lives_in(John, Castle(x))</a:t>
            </a:r>
            <a:endParaRPr sz="1700"/>
          </a:p>
          <a:p>
            <a:pPr marL="742950" lvl="1" indent="-285750" algn="l" rtl="0">
              <a:lnSpc>
                <a:spcPct val="90000"/>
              </a:lnSpc>
              <a:spcBef>
                <a:spcPts val="289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1700"/>
          </a:p>
          <a:p>
            <a:pPr marL="742950" lvl="1" indent="-285750" algn="l" rtl="0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3500"/>
              <a:t>∃</a:t>
            </a:r>
            <a:r>
              <a:rPr lang="en-US" sz="1700"/>
              <a:t> </a:t>
            </a:r>
            <a:r>
              <a:rPr lang="en-US" sz="2100"/>
              <a:t>i    Integer(i) ∧  GreaterThan(i,0)</a:t>
            </a:r>
            <a:endParaRPr sz="1700"/>
          </a:p>
          <a:p>
            <a:pPr marL="742950" lvl="1" indent="-285750" algn="l" rtl="0">
              <a:lnSpc>
                <a:spcPct val="90000"/>
              </a:lnSpc>
              <a:spcBef>
                <a:spcPts val="289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1700"/>
              <a:t>                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en-US" sz="2400"/>
              <a:t>Note that ∧ is the natural connective to use with </a:t>
            </a:r>
            <a:r>
              <a:rPr lang="en-US" sz="3500"/>
              <a:t>∃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289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endParaRPr sz="1700"/>
          </a:p>
          <a:p>
            <a:pPr marL="742950" lvl="1" indent="-285750" algn="l" rtl="0">
              <a:lnSpc>
                <a:spcPct val="90000"/>
              </a:lnSpc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en-US" sz="2400"/>
              <a:t>and =&gt; is the natural connective to use with ∀ 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endParaRPr sz="2400"/>
          </a:p>
          <a:p>
            <a:pPr marL="742950" lvl="1" indent="-285750" algn="l" rtl="0">
              <a:lnSpc>
                <a:spcPct val="90000"/>
              </a:lnSpc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endParaRPr sz="2400"/>
          </a:p>
          <a:p>
            <a:pPr marL="342900" lvl="0" indent="-256540" algn="l" rtl="0">
              <a:lnSpc>
                <a:spcPct val="90000"/>
              </a:lnSpc>
              <a:spcBef>
                <a:spcPts val="27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1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Why to use AND connective with Existential Quantification </a:t>
            </a:r>
            <a:endParaRPr/>
          </a:p>
        </p:txBody>
      </p:sp>
      <p:sp>
        <p:nvSpPr>
          <p:cNvPr id="192" name="Google Shape;192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3820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For example the sentence states:</a:t>
            </a:r>
            <a:endParaRPr/>
          </a:p>
          <a:p>
            <a:pPr marL="342900" lvl="0" indent="-18542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342900" lvl="0" indent="-34290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For above statement to be true, at least one of the statements should be true.</a:t>
            </a:r>
            <a:endParaRPr/>
          </a:p>
          <a:p>
            <a:pPr marL="342900" lvl="0" indent="-18542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342900" lvl="0" indent="-18542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342900" lvl="0" indent="-18542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342900" lvl="0" indent="-34290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An implication is true even if the </a:t>
            </a:r>
            <a:r>
              <a:rPr lang="en-US" i="1"/>
              <a:t>premise is false</a:t>
            </a:r>
            <a:r>
              <a:rPr lang="en-US"/>
              <a:t>. So if Richard the Lionheart is not a crown, even then the first assertion is true and the existential is satisfied. So, an existentially quantified implication sentence is also true whenever </a:t>
            </a:r>
            <a:r>
              <a:rPr lang="en-US" i="1"/>
              <a:t>any </a:t>
            </a:r>
            <a:r>
              <a:rPr lang="en-US"/>
              <a:t>object fails to satisfy the premise; hence such sentences really do not say much at all. So AND appears to be the more natural connective used with existential quantifier.</a:t>
            </a:r>
            <a:endParaRPr/>
          </a:p>
        </p:txBody>
      </p:sp>
      <p:pic>
        <p:nvPicPr>
          <p:cNvPr id="193" name="Google Shape;193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5400" y="1905000"/>
            <a:ext cx="4419600" cy="3276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" y="3153420"/>
            <a:ext cx="7010400" cy="899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Why to use AND connective with Existential Quantification </a:t>
            </a:r>
            <a:endParaRPr/>
          </a:p>
        </p:txBody>
      </p:sp>
      <p:pic>
        <p:nvPicPr>
          <p:cNvPr id="200" name="Google Shape;200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3400" y="2086244"/>
            <a:ext cx="5715000" cy="504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" y="3505200"/>
            <a:ext cx="8165025" cy="175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Syntax of FOL: Basic elements</a:t>
            </a:r>
            <a:endParaRPr/>
          </a:p>
        </p:txBody>
      </p:sp>
      <p:sp>
        <p:nvSpPr>
          <p:cNvPr id="208" name="Google Shape;208;p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Constants		kingjohn, 2, uci,... </a:t>
            </a:r>
            <a:endParaRPr/>
          </a:p>
          <a:p>
            <a:pPr marL="342900" lvl="0" indent="-1905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/>
          </a:p>
          <a:p>
            <a:pPr marL="34290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Predicates		brother,...</a:t>
            </a:r>
            <a:endParaRPr/>
          </a:p>
          <a:p>
            <a:pPr marL="342900" lvl="0" indent="-1905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/>
          </a:p>
          <a:p>
            <a:pPr marL="34290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Functions		Sqrt, ...</a:t>
            </a:r>
            <a:endParaRPr/>
          </a:p>
          <a:p>
            <a:pPr marL="342900" lvl="0" indent="-1905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/>
          </a:p>
          <a:p>
            <a:pPr marL="34290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Variables		x, y, a, b,...</a:t>
            </a:r>
            <a:endParaRPr/>
          </a:p>
          <a:p>
            <a:pPr marL="342900" lvl="0" indent="-1905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/>
          </a:p>
          <a:p>
            <a:pPr marL="34290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Connectives	¬, ⇒, ∧, ∨, ⇔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/>
          </a:p>
          <a:p>
            <a:pPr marL="34290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Quantifiers  	∀, ∃  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8"/>
          <p:cNvSpPr txBox="1">
            <a:spLocks noGrp="1"/>
          </p:cNvSpPr>
          <p:nvPr>
            <p:ph type="title"/>
          </p:nvPr>
        </p:nvSpPr>
        <p:spPr>
          <a:xfrm>
            <a:off x="457200" y="274647"/>
            <a:ext cx="8229600" cy="8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Nested Quantifiers</a:t>
            </a:r>
            <a:endParaRPr/>
          </a:p>
        </p:txBody>
      </p:sp>
      <p:sp>
        <p:nvSpPr>
          <p:cNvPr id="214" name="Google Shape;214;p18"/>
          <p:cNvSpPr txBox="1">
            <a:spLocks noGrp="1"/>
          </p:cNvSpPr>
          <p:nvPr>
            <p:ph type="body" idx="1"/>
          </p:nvPr>
        </p:nvSpPr>
        <p:spPr>
          <a:xfrm>
            <a:off x="457200" y="1264450"/>
            <a:ext cx="8229600" cy="48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lang="en-US" sz="2400">
                <a:solidFill>
                  <a:srgbClr val="FF0000"/>
                </a:solidFill>
              </a:rPr>
              <a:t>Nested quantifiers occur when you have more than one quantifier in a formula, and one is inside the scope of another.</a:t>
            </a:r>
            <a:endParaRPr sz="2400">
              <a:solidFill>
                <a:srgbClr val="FF0000"/>
              </a:solidFill>
            </a:endParaRPr>
          </a:p>
          <a:p>
            <a:pPr marL="342900" lvl="0" indent="-3429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Simplest case is where the quantifiers are of the same type. </a:t>
            </a:r>
            <a:endParaRPr/>
          </a:p>
          <a:p>
            <a:pPr marL="742950" lvl="1" indent="-28575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Brothers are siblings </a:t>
            </a:r>
            <a:endParaRPr/>
          </a:p>
          <a:p>
            <a:pPr marL="1143000" lvl="2" indent="-2286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∀ x ∀ y Brother(x, y) ⇒ Sibling(x, y) . </a:t>
            </a:r>
            <a:endParaRPr sz="2200"/>
          </a:p>
          <a:p>
            <a:pPr marL="1143000" lvl="0" indent="0" algn="l" rtl="0">
              <a:spcBef>
                <a:spcPts val="440"/>
              </a:spcBef>
              <a:spcAft>
                <a:spcPts val="0"/>
              </a:spcAft>
              <a:buNone/>
            </a:pPr>
            <a:endParaRPr sz="2200"/>
          </a:p>
          <a:p>
            <a:pPr marL="342900" lvl="0" indent="-3429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We will have mixtures, for example, </a:t>
            </a:r>
            <a:endParaRPr/>
          </a:p>
          <a:p>
            <a:pPr marL="742950" lvl="1" indent="-28575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Everyone loves someone </a:t>
            </a:r>
            <a:endParaRPr/>
          </a:p>
          <a:p>
            <a:pPr marL="1143000" lvl="2" indent="-2286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∀x. ∃y. loves(x,y) </a:t>
            </a:r>
            <a:endParaRPr/>
          </a:p>
          <a:p>
            <a:pPr marL="742950" lvl="1" indent="-28575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There is someone who is loved by everyone </a:t>
            </a:r>
            <a:endParaRPr sz="2400"/>
          </a:p>
          <a:p>
            <a:pPr marL="1143000" lvl="2" indent="-2286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∃y. ∀x. loves(x,y) 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a84b4383f5_0_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 Morgan’s Law</a:t>
            </a:r>
            <a:endParaRPr/>
          </a:p>
        </p:txBody>
      </p:sp>
      <p:sp>
        <p:nvSpPr>
          <p:cNvPr id="221" name="Google Shape;221;g3a84b4383f5_0_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1657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457200" lvl="0" indent="-308610" algn="l" rtl="0">
              <a:spcBef>
                <a:spcPts val="360"/>
              </a:spcBef>
              <a:spcAft>
                <a:spcPts val="0"/>
              </a:spcAft>
              <a:buSzPct val="56250"/>
              <a:buChar char="•"/>
            </a:pPr>
            <a:r>
              <a:rPr lang="en-US"/>
              <a:t>Because universal quantifier is really a conjunction over the universe of objects and existential quantifier is a disjunction, it should not be surprising that they obey De Morgan’s rules. </a:t>
            </a:r>
            <a:endParaRPr/>
          </a:p>
          <a:p>
            <a:pPr marL="457200" lvl="0" indent="-308610" algn="l" rtl="0">
              <a:spcBef>
                <a:spcPts val="0"/>
              </a:spcBef>
              <a:spcAft>
                <a:spcPts val="0"/>
              </a:spcAft>
              <a:buSzPct val="56250"/>
              <a:buChar char="•"/>
            </a:pPr>
            <a:r>
              <a:rPr lang="en-US"/>
              <a:t>The De Morgan rules for quantified and unquantified sentences are as follows:</a:t>
            </a:r>
            <a:endParaRPr/>
          </a:p>
        </p:txBody>
      </p:sp>
      <p:pic>
        <p:nvPicPr>
          <p:cNvPr id="222" name="Google Shape;222;g3a84b4383f5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3675" y="3551650"/>
            <a:ext cx="7933125" cy="20601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9"/>
          <p:cNvSpPr txBox="1">
            <a:spLocks noGrp="1"/>
          </p:cNvSpPr>
          <p:nvPr>
            <p:ph type="title"/>
          </p:nvPr>
        </p:nvSpPr>
        <p:spPr>
          <a:xfrm>
            <a:off x="152400" y="76200"/>
            <a:ext cx="8686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Quantifier Duality</a:t>
            </a:r>
            <a:endParaRPr/>
          </a:p>
        </p:txBody>
      </p:sp>
      <p:sp>
        <p:nvSpPr>
          <p:cNvPr id="229" name="Google Shape;229;p19"/>
          <p:cNvSpPr txBox="1">
            <a:spLocks noGrp="1"/>
          </p:cNvSpPr>
          <p:nvPr>
            <p:ph type="body" idx="1"/>
          </p:nvPr>
        </p:nvSpPr>
        <p:spPr>
          <a:xfrm>
            <a:off x="457200" y="1143001"/>
            <a:ext cx="8229600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342900" lvl="0" indent="-332422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91666"/>
              <a:buChar char="•"/>
            </a:pPr>
            <a:r>
              <a:rPr lang="en-US" sz="2400">
                <a:solidFill>
                  <a:srgbClr val="FF0000"/>
                </a:solidFill>
              </a:rPr>
              <a:t>Quantifier duality is a logical principle that relates universal (∀) and existential (∃) quantifiers through negation. You can rewrite one quantifier in terms of the other using ¬ (negation)</a:t>
            </a:r>
            <a:endParaRPr>
              <a:solidFill>
                <a:srgbClr val="FF0000"/>
              </a:solidFill>
            </a:endParaRPr>
          </a:p>
          <a:p>
            <a:pPr marL="342900" lvl="0" indent="-33147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400"/>
              <a:t>Asserting that everyone dislikes parsnips is the same as asserting there does not exist someone who likes them, and vice versa: </a:t>
            </a:r>
            <a:endParaRPr sz="1600"/>
          </a:p>
        </p:txBody>
      </p:sp>
      <p:pic>
        <p:nvPicPr>
          <p:cNvPr id="230" name="Google Shape;230;p19"/>
          <p:cNvPicPr preferRelativeResize="0"/>
          <p:nvPr/>
        </p:nvPicPr>
        <p:blipFill rotWithShape="1">
          <a:blip r:embed="rId3">
            <a:alphaModFix/>
          </a:blip>
          <a:srcRect t="29166"/>
          <a:stretch/>
        </p:blipFill>
        <p:spPr>
          <a:xfrm>
            <a:off x="424841" y="4800600"/>
            <a:ext cx="8561882" cy="12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9"/>
          <p:cNvSpPr/>
          <p:nvPr/>
        </p:nvSpPr>
        <p:spPr>
          <a:xfrm>
            <a:off x="647700" y="3810000"/>
            <a:ext cx="769620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“Everyone likes ice cream” means that there is no one who does not like ice cream:</a:t>
            </a:r>
            <a:endParaRPr/>
          </a:p>
        </p:txBody>
      </p:sp>
      <p:pic>
        <p:nvPicPr>
          <p:cNvPr id="232" name="Google Shape;232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7700" y="3344219"/>
            <a:ext cx="7886702" cy="3585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Nested Quantifiers</a:t>
            </a:r>
            <a:endParaRPr/>
          </a:p>
        </p:txBody>
      </p:sp>
      <p:pic>
        <p:nvPicPr>
          <p:cNvPr id="238" name="Google Shape;238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1" y="1752601"/>
            <a:ext cx="8392720" cy="426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a7456e3f3b_0_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FOL Translation</a:t>
            </a:r>
            <a:endParaRPr/>
          </a:p>
        </p:txBody>
      </p:sp>
      <p:sp>
        <p:nvSpPr>
          <p:cNvPr id="245" name="Google Shape;245;g3a7456e3f3b_0_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457200" lvl="0" indent="-35771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ct val="81985"/>
              <a:buChar char="•"/>
            </a:pPr>
            <a:r>
              <a:rPr lang="en-US"/>
              <a:t>"∀x∃yFather(x,y)",</a:t>
            </a:r>
            <a:endParaRPr/>
          </a:p>
          <a:p>
            <a:pPr marL="914400" lvl="1" indent="-31718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285"/>
              <a:buChar char="–"/>
            </a:pPr>
            <a:r>
              <a:rPr lang="en-US"/>
              <a:t>Everyone is the father of someone.</a:t>
            </a:r>
            <a:endParaRPr/>
          </a:p>
          <a:p>
            <a:pPr marL="457200" lvl="0" indent="-35771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81985"/>
              <a:buChar char="•"/>
            </a:pPr>
            <a:r>
              <a:rPr lang="en-US"/>
              <a:t>"∀x∀yFather(x,y)",</a:t>
            </a:r>
            <a:endParaRPr/>
          </a:p>
          <a:p>
            <a:pPr marL="914400" lvl="1" indent="-31718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285"/>
              <a:buChar char="–"/>
            </a:pPr>
            <a:r>
              <a:rPr lang="en-US"/>
              <a:t>Everyone has everyone as a father.</a:t>
            </a:r>
            <a:endParaRPr/>
          </a:p>
          <a:p>
            <a:pPr marL="457200" lvl="0" indent="-35771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81985"/>
              <a:buChar char="•"/>
            </a:pPr>
            <a:r>
              <a:rPr lang="en-US"/>
              <a:t>"∃y∀xFather(x,y)",</a:t>
            </a:r>
            <a:endParaRPr/>
          </a:p>
          <a:p>
            <a:pPr marL="914400" lvl="1" indent="-31718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285"/>
              <a:buChar char="–"/>
            </a:pPr>
            <a:r>
              <a:rPr lang="en-US"/>
              <a:t>There is a person who has everyone as a father.</a:t>
            </a:r>
            <a:endParaRPr/>
          </a:p>
          <a:p>
            <a:pPr marL="457200" lvl="0" indent="-35771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81985"/>
              <a:buChar char="•"/>
            </a:pPr>
            <a:r>
              <a:rPr lang="en-US"/>
              <a:t>"∃y∃xFather(x,y)","</a:t>
            </a:r>
            <a:endParaRPr/>
          </a:p>
          <a:p>
            <a:pPr marL="914400" lvl="1" indent="-31718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285"/>
              <a:buChar char="–"/>
            </a:pPr>
            <a:r>
              <a:rPr lang="en-US"/>
              <a:t>There is a person who has a father. (i.e., There exists a father-child relationship.)"</a:t>
            </a:r>
            <a:endParaRPr/>
          </a:p>
          <a:p>
            <a:pPr marL="457200" lvl="0" indent="-35771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81985"/>
              <a:buChar char="•"/>
            </a:pPr>
            <a:r>
              <a:rPr lang="en-US"/>
              <a:t>"∃x∀yFather(x,y)",</a:t>
            </a:r>
            <a:endParaRPr/>
          </a:p>
          <a:p>
            <a:pPr marL="914400" lvl="1" indent="-31718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285"/>
              <a:buChar char="–"/>
            </a:pPr>
            <a:r>
              <a:rPr lang="en-US"/>
              <a:t>There is a person who is the father of everyone.</a:t>
            </a:r>
            <a:endParaRPr/>
          </a:p>
          <a:p>
            <a:pPr marL="457200" lvl="0" indent="-35771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81985"/>
              <a:buChar char="•"/>
            </a:pPr>
            <a:r>
              <a:rPr lang="en-US"/>
              <a:t>"∀y∃xFather(x,y)",</a:t>
            </a:r>
            <a:endParaRPr/>
          </a:p>
          <a:p>
            <a:pPr marL="914400" lvl="1" indent="-31718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285"/>
              <a:buChar char="–"/>
            </a:pPr>
            <a:r>
              <a:rPr lang="en-US"/>
              <a:t>Everyone has a father.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Writing FOL</a:t>
            </a:r>
            <a:endParaRPr/>
          </a:p>
        </p:txBody>
      </p:sp>
      <p:sp>
        <p:nvSpPr>
          <p:cNvPr id="251" name="Google Shape;251;p2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/>
              <a:t>Jane is a tall surveyor </a:t>
            </a:r>
            <a:endParaRPr/>
          </a:p>
          <a:p>
            <a:pPr marL="742950" lvl="1" indent="-28575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tall(jane) ˄ surveyor(jane)  </a:t>
            </a:r>
            <a:endParaRPr/>
          </a:p>
          <a:p>
            <a:pPr marL="342900" lvl="0" indent="-3429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Cats are mammals </a:t>
            </a:r>
            <a:endParaRPr/>
          </a:p>
          <a:p>
            <a:pPr marL="742950" lvl="1" indent="-28575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∀ x cat(x) → mammal(x)</a:t>
            </a:r>
            <a:endParaRPr/>
          </a:p>
          <a:p>
            <a:pPr marL="342900" lvl="1" indent="-3429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/>
              <a:t>Everybody has a father</a:t>
            </a:r>
            <a:endParaRPr/>
          </a:p>
          <a:p>
            <a:pPr marL="742950" lvl="2" indent="-3429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∀ x. ∃ y. father(y,x)</a:t>
            </a:r>
            <a:endParaRPr/>
          </a:p>
          <a:p>
            <a:pPr marL="342900" lvl="1" indent="-3429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/>
              <a:t>Everybody has a father and a mother </a:t>
            </a:r>
            <a:endParaRPr/>
          </a:p>
          <a:p>
            <a:pPr marL="742950" lvl="2" indent="-3429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∀ x. ∃ yz. father(y,x) ˄ mother(z,x) </a:t>
            </a:r>
            <a:endParaRPr/>
          </a:p>
          <a:p>
            <a:pPr marL="742950" lvl="1" indent="-1079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Writing FOL</a:t>
            </a:r>
            <a:endParaRPr/>
          </a:p>
        </p:txBody>
      </p:sp>
      <p:sp>
        <p:nvSpPr>
          <p:cNvPr id="257" name="Google Shape;257;p2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Translate following sentences into First Order Logic</a:t>
            </a:r>
            <a:endParaRPr/>
          </a:p>
          <a:p>
            <a:pPr marL="742950" lvl="1" indent="-28575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Lucy is a professor</a:t>
            </a:r>
            <a:endParaRPr/>
          </a:p>
          <a:p>
            <a:pPr marL="742950" lvl="1" indent="-28575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All professors are people.</a:t>
            </a:r>
            <a:endParaRPr/>
          </a:p>
          <a:p>
            <a:pPr marL="742950" lvl="1" indent="-28575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Fuchs is the dean.</a:t>
            </a:r>
            <a:endParaRPr/>
          </a:p>
          <a:p>
            <a:pPr marL="742950" lvl="1" indent="-28575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Deans are professors.</a:t>
            </a:r>
            <a:endParaRPr/>
          </a:p>
          <a:p>
            <a:pPr marL="742950" lvl="1" indent="-28575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Everyone is a friend of someone.</a:t>
            </a:r>
            <a:endParaRPr/>
          </a:p>
          <a:p>
            <a:pPr marL="742950" lvl="1" indent="-28575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Lucy criticized Fuchs.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Writing FOL</a:t>
            </a:r>
            <a:endParaRPr/>
          </a:p>
        </p:txBody>
      </p:sp>
      <p:sp>
        <p:nvSpPr>
          <p:cNvPr id="263" name="Google Shape;263;p23"/>
          <p:cNvSpPr txBox="1">
            <a:spLocks noGrp="1"/>
          </p:cNvSpPr>
          <p:nvPr>
            <p:ph type="body" idx="1"/>
          </p:nvPr>
        </p:nvSpPr>
        <p:spPr>
          <a:xfrm>
            <a:off x="457200" y="1600201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is-prof(lucy)</a:t>
            </a:r>
            <a:endParaRPr/>
          </a:p>
          <a:p>
            <a:pPr marL="342900" lvl="0" indent="-3429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ꓯx ( is-prof(x) → is-person(x) )</a:t>
            </a:r>
            <a:endParaRPr/>
          </a:p>
          <a:p>
            <a:pPr marL="342900" lvl="0" indent="-3429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is-dean(fuchs)</a:t>
            </a:r>
            <a:endParaRPr/>
          </a:p>
          <a:p>
            <a:pPr marL="342900" lvl="0" indent="-3429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ꓯx (is-dean(x) → is-prof(x))</a:t>
            </a:r>
            <a:endParaRPr/>
          </a:p>
          <a:p>
            <a:pPr marL="342900" lvl="0" indent="-3429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ꓯx ∃ y (is-friend-of (x, y))</a:t>
            </a:r>
            <a:endParaRPr/>
          </a:p>
          <a:p>
            <a:pPr marL="342900" lvl="0" indent="-3429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criticize(lucy,fuchs)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Exercise.</a:t>
            </a:r>
            <a:endParaRPr/>
          </a:p>
        </p:txBody>
      </p:sp>
      <p:sp>
        <p:nvSpPr>
          <p:cNvPr id="269" name="Google Shape;269;p2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Translate the following sentences into First Order Logic.</a:t>
            </a:r>
            <a:endParaRPr/>
          </a:p>
          <a:p>
            <a:pPr marL="74295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/>
              <a:t>Every gardener likes the sun.</a:t>
            </a:r>
            <a:endParaRPr/>
          </a:p>
          <a:p>
            <a:pPr marL="74295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/>
              <a:t>You can fool some of the people all of the time.</a:t>
            </a:r>
            <a:endParaRPr/>
          </a:p>
          <a:p>
            <a:pPr marL="74295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/>
              <a:t>You can fool all of the people some of the time.</a:t>
            </a:r>
            <a:endParaRPr/>
          </a:p>
          <a:p>
            <a:pPr marL="74295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/>
              <a:t>All purple mushrooms are poisonous.</a:t>
            </a:r>
            <a:endParaRPr/>
          </a:p>
          <a:p>
            <a:pPr marL="74295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/>
              <a:t>No purple mushroom is poisonous.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Solution</a:t>
            </a:r>
            <a:endParaRPr/>
          </a:p>
        </p:txBody>
      </p:sp>
      <p:sp>
        <p:nvSpPr>
          <p:cNvPr id="275" name="Google Shape;275;p2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  <p:pic>
        <p:nvPicPr>
          <p:cNvPr id="276" name="Google Shape;276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1600" y="1496203"/>
            <a:ext cx="6324600" cy="46602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FOL Rules of Inference</a:t>
            </a:r>
            <a:endParaRPr/>
          </a:p>
        </p:txBody>
      </p:sp>
      <p:sp>
        <p:nvSpPr>
          <p:cNvPr id="95" name="Google Shape;95;p2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</a:pPr>
            <a:r>
              <a:rPr lang="en-US" dirty="0"/>
              <a:t/>
            </a:r>
            <a:br>
              <a:rPr lang="en-US" dirty="0"/>
            </a:b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484225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>
            <a:spLocks noGrp="1"/>
          </p:cNvSpPr>
          <p:nvPr>
            <p:ph type="title"/>
          </p:nvPr>
        </p:nvSpPr>
        <p:spPr>
          <a:xfrm>
            <a:off x="457200" y="76200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000"/>
              <a:t>Universal Instantiation (UI)</a:t>
            </a:r>
            <a:endParaRPr/>
          </a:p>
        </p:txBody>
      </p:sp>
      <p:sp>
        <p:nvSpPr>
          <p:cNvPr id="101" name="Google Shape;101;p3"/>
          <p:cNvSpPr txBox="1">
            <a:spLocks noGrp="1"/>
          </p:cNvSpPr>
          <p:nvPr>
            <p:ph type="body" idx="1"/>
          </p:nvPr>
        </p:nvSpPr>
        <p:spPr>
          <a:xfrm>
            <a:off x="457200" y="715962"/>
            <a:ext cx="8229600" cy="6218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600" dirty="0">
                <a:solidFill>
                  <a:srgbClr val="FF0000"/>
                </a:solidFill>
              </a:rPr>
              <a:t>The rule of Universal Instantiation (UI) states that we can infer any sentence obtained by substituting the ground term (a term without variables) for the variable</a:t>
            </a:r>
            <a:r>
              <a:rPr lang="en-US" sz="2600" dirty="0"/>
              <a:t>. </a:t>
            </a:r>
            <a:endParaRPr dirty="0"/>
          </a:p>
          <a:p>
            <a:pPr marL="342900" lvl="0" indent="-342900" algn="l" rtl="0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600" dirty="0"/>
              <a:t>To write out the inference rule formally, we use the notion of </a:t>
            </a:r>
            <a:r>
              <a:rPr lang="en-US" sz="2600" b="1" dirty="0"/>
              <a:t>substitutions. </a:t>
            </a:r>
            <a:r>
              <a:rPr lang="en-US" sz="2600" dirty="0"/>
              <a:t>Let </a:t>
            </a:r>
            <a:r>
              <a:rPr lang="en-US" sz="2600" dirty="0" err="1"/>
              <a:t>SubSt</a:t>
            </a:r>
            <a:r>
              <a:rPr lang="en-US" sz="2600" dirty="0"/>
              <a:t>(θ, α) denote the result of applying the substitution θ to the sentence α. Then the rule is written:				</a:t>
            </a:r>
            <a:r>
              <a:rPr lang="en-US" sz="2400" dirty="0"/>
              <a:t>      </a:t>
            </a:r>
            <a:r>
              <a:rPr lang="en-US" sz="2400" dirty="0" smtClean="0"/>
              <a:t>∀</a:t>
            </a:r>
            <a:r>
              <a:rPr lang="en-US" sz="2400" i="1" dirty="0"/>
              <a:t>v</a:t>
            </a:r>
            <a:r>
              <a:rPr lang="en-US" sz="2400" dirty="0"/>
              <a:t> α</a:t>
            </a:r>
            <a:br>
              <a:rPr lang="en-US" sz="2400" dirty="0"/>
            </a:br>
            <a:r>
              <a:rPr lang="en-US" sz="2400" dirty="0"/>
              <a:t>			</a:t>
            </a:r>
            <a:r>
              <a:rPr lang="en-US" sz="2400" dirty="0" smtClean="0"/>
              <a:t>	</a:t>
            </a:r>
            <a:r>
              <a:rPr lang="en-US" sz="2400" dirty="0" err="1" smtClean="0"/>
              <a:t>Subst</a:t>
            </a:r>
            <a:r>
              <a:rPr lang="en-US" sz="2400" dirty="0"/>
              <a:t>({v/g}, α)</a:t>
            </a:r>
            <a:endParaRPr dirty="0"/>
          </a:p>
          <a:p>
            <a:pPr marL="342900" lvl="0" indent="-342900" algn="l" rtl="0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400" dirty="0"/>
              <a:t>	for any variable </a:t>
            </a:r>
            <a:r>
              <a:rPr lang="en-US" sz="2400" i="1" dirty="0"/>
              <a:t>v</a:t>
            </a:r>
            <a:r>
              <a:rPr lang="en-US" sz="2400" dirty="0"/>
              <a:t> and ground term. </a:t>
            </a:r>
            <a:r>
              <a:rPr lang="en-US" sz="2600" dirty="0"/>
              <a:t>For example, the three sentences given earlier are obtained with the substitutions {x/John}, {x/Richard}, and {x/Father(John)}. 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> </a:t>
            </a:r>
            <a:r>
              <a:rPr lang="en-US" sz="2000" i="1" dirty="0"/>
              <a:t>g</a:t>
            </a:r>
            <a:r>
              <a:rPr lang="en-US" sz="2000" dirty="0"/>
              <a:t/>
            </a:r>
            <a:br>
              <a:rPr lang="en-US" sz="2000" dirty="0"/>
            </a:br>
            <a:endParaRPr dirty="0"/>
          </a:p>
          <a:p>
            <a:pPr marL="342900" lvl="0" indent="-342900" algn="l" rtl="0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000" dirty="0"/>
              <a:t>E.g., ∀x </a:t>
            </a:r>
            <a:r>
              <a:rPr lang="en-US" sz="2000" i="1" dirty="0"/>
              <a:t>King</a:t>
            </a:r>
            <a:r>
              <a:rPr lang="en-US" sz="2000" dirty="0"/>
              <a:t>(</a:t>
            </a:r>
            <a:r>
              <a:rPr lang="en-US" sz="2000" i="1" dirty="0"/>
              <a:t>x</a:t>
            </a:r>
            <a:r>
              <a:rPr lang="en-US" sz="2000" dirty="0"/>
              <a:t>) ∧ </a:t>
            </a:r>
            <a:r>
              <a:rPr lang="en-US" sz="2000" i="1" dirty="0"/>
              <a:t>Greedy</a:t>
            </a:r>
            <a:r>
              <a:rPr lang="en-US" sz="2000" dirty="0"/>
              <a:t>(</a:t>
            </a:r>
            <a:r>
              <a:rPr lang="en-US" sz="2000" i="1" dirty="0"/>
              <a:t>x</a:t>
            </a:r>
            <a:r>
              <a:rPr lang="en-US" sz="2000" dirty="0"/>
              <a:t>) ⇒ </a:t>
            </a:r>
            <a:r>
              <a:rPr lang="en-US" sz="2000" i="1" dirty="0"/>
              <a:t>Evil</a:t>
            </a:r>
            <a:r>
              <a:rPr lang="en-US" sz="2000" dirty="0"/>
              <a:t>(</a:t>
            </a:r>
            <a:r>
              <a:rPr lang="en-US" sz="2000" i="1" dirty="0"/>
              <a:t>x</a:t>
            </a:r>
            <a:r>
              <a:rPr lang="en-US" sz="2000" dirty="0"/>
              <a:t>) yields:</a:t>
            </a:r>
            <a:endParaRPr dirty="0"/>
          </a:p>
          <a:p>
            <a:pPr marL="742950" lvl="1" indent="-285750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1800" i="1" dirty="0"/>
              <a:t>King</a:t>
            </a:r>
            <a:r>
              <a:rPr lang="en-US" sz="1800" dirty="0"/>
              <a:t>(</a:t>
            </a:r>
            <a:r>
              <a:rPr lang="en-US" sz="1800" i="1" dirty="0"/>
              <a:t>John</a:t>
            </a:r>
            <a:r>
              <a:rPr lang="en-US" sz="1800" dirty="0"/>
              <a:t>) ∧ </a:t>
            </a:r>
            <a:r>
              <a:rPr lang="en-US" sz="1800" i="1" dirty="0"/>
              <a:t>Greedy</a:t>
            </a:r>
            <a:r>
              <a:rPr lang="en-US" sz="1800" dirty="0"/>
              <a:t>(</a:t>
            </a:r>
            <a:r>
              <a:rPr lang="en-US" sz="1800" i="1" dirty="0"/>
              <a:t>John</a:t>
            </a:r>
            <a:r>
              <a:rPr lang="en-US" sz="1800" dirty="0"/>
              <a:t>) ⇒  </a:t>
            </a:r>
            <a:r>
              <a:rPr lang="en-US" sz="1800" i="1" dirty="0"/>
              <a:t>Evil</a:t>
            </a:r>
            <a:r>
              <a:rPr lang="en-US" sz="1800" dirty="0"/>
              <a:t>(</a:t>
            </a:r>
            <a:r>
              <a:rPr lang="en-US" sz="1800" i="1" dirty="0"/>
              <a:t>John</a:t>
            </a:r>
            <a:r>
              <a:rPr lang="en-US" sz="1800" dirty="0"/>
              <a:t>)</a:t>
            </a:r>
            <a:endParaRPr dirty="0"/>
          </a:p>
          <a:p>
            <a:pPr marL="742950" lvl="1" indent="-285750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1800" i="1" dirty="0"/>
              <a:t>King</a:t>
            </a:r>
            <a:r>
              <a:rPr lang="en-US" sz="1800" dirty="0"/>
              <a:t>(</a:t>
            </a:r>
            <a:r>
              <a:rPr lang="en-US" sz="1800" i="1" dirty="0"/>
              <a:t>Richard</a:t>
            </a:r>
            <a:r>
              <a:rPr lang="en-US" sz="1800" dirty="0"/>
              <a:t>) ∧ </a:t>
            </a:r>
            <a:r>
              <a:rPr lang="en-US" sz="1800" i="1" dirty="0"/>
              <a:t>Greedy</a:t>
            </a:r>
            <a:r>
              <a:rPr lang="en-US" sz="1800" dirty="0"/>
              <a:t>(</a:t>
            </a:r>
            <a:r>
              <a:rPr lang="en-US" sz="1800" i="1" dirty="0"/>
              <a:t>Richard</a:t>
            </a:r>
            <a:r>
              <a:rPr lang="en-US" sz="1800" dirty="0"/>
              <a:t>) ⇒ </a:t>
            </a:r>
            <a:r>
              <a:rPr lang="en-US" sz="1800" i="1" dirty="0"/>
              <a:t>Evil</a:t>
            </a:r>
            <a:r>
              <a:rPr lang="en-US" sz="1800" dirty="0"/>
              <a:t>(</a:t>
            </a:r>
            <a:r>
              <a:rPr lang="en-US" sz="1800" i="1" dirty="0"/>
              <a:t>Richard</a:t>
            </a:r>
            <a:r>
              <a:rPr lang="en-US" sz="1800" dirty="0"/>
              <a:t>)</a:t>
            </a:r>
            <a:endParaRPr dirty="0"/>
          </a:p>
          <a:p>
            <a:pPr marL="742950" lvl="1" indent="-285750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1800" i="1" dirty="0"/>
              <a:t>King</a:t>
            </a:r>
            <a:r>
              <a:rPr lang="en-US" sz="1800" dirty="0"/>
              <a:t>(</a:t>
            </a:r>
            <a:r>
              <a:rPr lang="en-US" sz="1800" i="1" dirty="0"/>
              <a:t>Father</a:t>
            </a:r>
            <a:r>
              <a:rPr lang="en-US" sz="1800" dirty="0"/>
              <a:t>(</a:t>
            </a:r>
            <a:r>
              <a:rPr lang="en-US" sz="1800" i="1" dirty="0"/>
              <a:t>John</a:t>
            </a:r>
            <a:r>
              <a:rPr lang="en-US" sz="1800" dirty="0"/>
              <a:t>)) ∧ </a:t>
            </a:r>
            <a:r>
              <a:rPr lang="en-US" sz="1800" i="1" dirty="0"/>
              <a:t>Greedy</a:t>
            </a:r>
            <a:r>
              <a:rPr lang="en-US" sz="1800" dirty="0"/>
              <a:t>(</a:t>
            </a:r>
            <a:r>
              <a:rPr lang="en-US" sz="1800" i="1" dirty="0"/>
              <a:t>Father</a:t>
            </a:r>
            <a:r>
              <a:rPr lang="en-US" sz="1800" dirty="0"/>
              <a:t>(</a:t>
            </a:r>
            <a:r>
              <a:rPr lang="en-US" sz="1800" i="1" dirty="0"/>
              <a:t>John</a:t>
            </a:r>
            <a:r>
              <a:rPr lang="en-US" sz="1800" dirty="0"/>
              <a:t>)) ⇒ </a:t>
            </a:r>
            <a:r>
              <a:rPr lang="en-US" sz="1800" i="1" dirty="0"/>
              <a:t>Evil</a:t>
            </a:r>
            <a:r>
              <a:rPr lang="en-US" sz="1800" dirty="0"/>
              <a:t>(</a:t>
            </a:r>
            <a:r>
              <a:rPr lang="en-US" sz="1800" i="1" dirty="0"/>
              <a:t>Father</a:t>
            </a:r>
            <a:r>
              <a:rPr lang="en-US" sz="1800" dirty="0"/>
              <a:t>(</a:t>
            </a:r>
            <a:r>
              <a:rPr lang="en-US" sz="1800" i="1" dirty="0"/>
              <a:t>John</a:t>
            </a:r>
            <a:r>
              <a:rPr lang="en-US" sz="1800" dirty="0"/>
              <a:t>))</a:t>
            </a:r>
            <a:endParaRPr dirty="0"/>
          </a:p>
          <a:p>
            <a:pPr marL="742950" lvl="1" indent="-285750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1800" dirty="0"/>
              <a:t>.</a:t>
            </a:r>
            <a:endParaRPr dirty="0"/>
          </a:p>
          <a:p>
            <a:pPr marL="742950" lvl="1" indent="-285750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1800" dirty="0"/>
              <a:t>.</a:t>
            </a:r>
            <a:endParaRPr dirty="0"/>
          </a:p>
        </p:txBody>
      </p:sp>
      <p:cxnSp>
        <p:nvCxnSpPr>
          <p:cNvPr id="102" name="Google Shape;102;p3"/>
          <p:cNvCxnSpPr/>
          <p:nvPr/>
        </p:nvCxnSpPr>
        <p:spPr>
          <a:xfrm>
            <a:off x="3962400" y="3124200"/>
            <a:ext cx="1905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2283530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Existential instantiation (EI)</a:t>
            </a:r>
            <a:endParaRPr/>
          </a:p>
        </p:txBody>
      </p:sp>
      <p:sp>
        <p:nvSpPr>
          <p:cNvPr id="108" name="Google Shape;108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34290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400"/>
              <a:t>In the rule for </a:t>
            </a:r>
            <a:r>
              <a:rPr lang="en-US" sz="2400" b="1"/>
              <a:t>Existential Instantiation</a:t>
            </a:r>
            <a:r>
              <a:rPr lang="en-US" sz="2400"/>
              <a:t>, the variable is replaced by a single </a:t>
            </a:r>
            <a:r>
              <a:rPr lang="en-US" sz="2400" i="1"/>
              <a:t>new constant symbol</a:t>
            </a:r>
            <a:r>
              <a:rPr lang="en-US" sz="2400"/>
              <a:t>. 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400"/>
              <a:t>For any sentence α, variable </a:t>
            </a:r>
            <a:r>
              <a:rPr lang="en-US" sz="2400" i="1"/>
              <a:t>v</a:t>
            </a:r>
            <a:r>
              <a:rPr lang="en-US" sz="2400"/>
              <a:t>, and constant symbol </a:t>
            </a:r>
            <a:r>
              <a:rPr lang="en-US" sz="2400" i="1"/>
              <a:t>k </a:t>
            </a:r>
            <a:r>
              <a:rPr lang="en-US" sz="2400"/>
              <a:t>that does </a:t>
            </a:r>
            <a:r>
              <a:rPr lang="en-US" sz="2400">
                <a:solidFill>
                  <a:srgbClr val="FF0000"/>
                </a:solidFill>
              </a:rPr>
              <a:t>not</a:t>
            </a:r>
            <a:r>
              <a:rPr lang="en-US" sz="2400"/>
              <a:t> appear elsewhere in the knowledge base:</a:t>
            </a:r>
            <a:endParaRPr/>
          </a:p>
          <a:p>
            <a:pPr marL="342900" lvl="0" indent="-342900" algn="ctr" rtl="0">
              <a:lnSpc>
                <a:spcPct val="8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2400"/>
              <a:t>∃</a:t>
            </a:r>
            <a:r>
              <a:rPr lang="en-US" sz="2400" i="1"/>
              <a:t>v</a:t>
            </a:r>
            <a:r>
              <a:rPr lang="en-US" sz="2400"/>
              <a:t> α</a:t>
            </a:r>
            <a:endParaRPr sz="2400"/>
          </a:p>
          <a:p>
            <a:pPr marL="342900" lvl="0" indent="-342900" algn="ctr" rtl="0">
              <a:lnSpc>
                <a:spcPct val="8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2400"/>
              <a:t>Subst({v/k}, α)</a:t>
            </a:r>
            <a:br>
              <a:rPr lang="en-US" sz="2400"/>
            </a:br>
            <a:endParaRPr/>
          </a:p>
          <a:p>
            <a:pPr marL="2057400" lvl="4" indent="-134620" algn="l" rtl="0">
              <a:lnSpc>
                <a:spcPct val="80000"/>
              </a:lnSpc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1600"/>
          </a:p>
          <a:p>
            <a:pPr marL="342900" lvl="0" indent="-342900" algn="l" rtl="0">
              <a:lnSpc>
                <a:spcPct val="8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400"/>
              <a:t>E.g., ∃</a:t>
            </a:r>
            <a:r>
              <a:rPr lang="en-US" sz="2400" i="1"/>
              <a:t>x</a:t>
            </a:r>
            <a:r>
              <a:rPr lang="en-US" sz="2400"/>
              <a:t> </a:t>
            </a:r>
            <a:r>
              <a:rPr lang="en-US" sz="2400" i="1"/>
              <a:t>Crown</a:t>
            </a:r>
            <a:r>
              <a:rPr lang="en-US" sz="2400"/>
              <a:t>(</a:t>
            </a:r>
            <a:r>
              <a:rPr lang="en-US" sz="2400" i="1"/>
              <a:t>x</a:t>
            </a:r>
            <a:r>
              <a:rPr lang="en-US" sz="2400"/>
              <a:t>) ∧ </a:t>
            </a:r>
            <a:r>
              <a:rPr lang="en-US" sz="2400" i="1"/>
              <a:t>OnHead</a:t>
            </a:r>
            <a:r>
              <a:rPr lang="en-US" sz="2400"/>
              <a:t>(</a:t>
            </a:r>
            <a:r>
              <a:rPr lang="en-US" sz="2400" i="1"/>
              <a:t>x,John</a:t>
            </a:r>
            <a:r>
              <a:rPr lang="en-US" sz="2400"/>
              <a:t>) yields:</a:t>
            </a:r>
            <a:endParaRPr/>
          </a:p>
          <a:p>
            <a:pPr marL="2057400" lvl="4" indent="-87629" algn="l" rtl="0">
              <a:lnSpc>
                <a:spcPct val="8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400"/>
          </a:p>
          <a:p>
            <a:pPr marL="342900" lvl="0" indent="-342900" algn="ctr" rtl="0">
              <a:lnSpc>
                <a:spcPct val="8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2400" i="1"/>
              <a:t>Crown</a:t>
            </a:r>
            <a:r>
              <a:rPr lang="en-US" sz="2400"/>
              <a:t>(</a:t>
            </a:r>
            <a:r>
              <a:rPr lang="en-US" sz="2400" i="1"/>
              <a:t>C</a:t>
            </a:r>
            <a:r>
              <a:rPr lang="en-US" sz="2400" i="1" baseline="-25000"/>
              <a:t>1</a:t>
            </a:r>
            <a:r>
              <a:rPr lang="en-US" sz="2400"/>
              <a:t>) ∧ </a:t>
            </a:r>
            <a:r>
              <a:rPr lang="en-US" sz="2400" i="1"/>
              <a:t>OnHead</a:t>
            </a:r>
            <a:r>
              <a:rPr lang="en-US" sz="2400"/>
              <a:t>(</a:t>
            </a:r>
            <a:r>
              <a:rPr lang="en-US" sz="2400" i="1"/>
              <a:t>C</a:t>
            </a:r>
            <a:r>
              <a:rPr lang="en-US" sz="2400" i="1" baseline="-25000"/>
              <a:t>1</a:t>
            </a:r>
            <a:r>
              <a:rPr lang="en-US" sz="2400" i="1"/>
              <a:t>,John</a:t>
            </a:r>
            <a:r>
              <a:rPr lang="en-US" sz="2400"/>
              <a:t>)</a:t>
            </a:r>
            <a:endParaRPr/>
          </a:p>
          <a:p>
            <a:pPr marL="342900" lvl="0" indent="-342900" algn="ctr" rtl="0">
              <a:lnSpc>
                <a:spcPct val="8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400"/>
          </a:p>
          <a:p>
            <a:pPr marL="342900" lvl="0" indent="-342900" algn="l" rtl="0">
              <a:lnSpc>
                <a:spcPct val="8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400"/>
              <a:t>	provided </a:t>
            </a:r>
            <a:r>
              <a:rPr lang="en-US" sz="2400" i="1"/>
              <a:t>C</a:t>
            </a:r>
            <a:r>
              <a:rPr lang="en-US" sz="2400" i="1" baseline="-25000"/>
              <a:t>1</a:t>
            </a:r>
            <a:r>
              <a:rPr lang="en-US" sz="2400"/>
              <a:t> is a new constant symbol, called a </a:t>
            </a:r>
            <a:r>
              <a:rPr lang="en-US" sz="2400">
                <a:solidFill>
                  <a:schemeClr val="accent2"/>
                </a:solidFill>
              </a:rPr>
              <a:t>Skolem constant. </a:t>
            </a:r>
            <a:r>
              <a:rPr lang="en-US" sz="2400"/>
              <a:t>Existential Instantiation is a special case of a more general process called </a:t>
            </a:r>
            <a:r>
              <a:rPr lang="en-US" sz="2400" b="1"/>
              <a:t>Skolemization.</a:t>
            </a:r>
            <a:r>
              <a:rPr lang="en-US" sz="2400"/>
              <a:t> </a:t>
            </a:r>
            <a:r>
              <a:rPr lang="en-US" sz="2800"/>
              <a:t/>
            </a:r>
            <a:br>
              <a:rPr lang="en-US" sz="2800"/>
            </a:br>
            <a:r>
              <a:rPr lang="en-US" sz="2800"/>
              <a:t> </a:t>
            </a:r>
            <a:br>
              <a:rPr lang="en-US" sz="2800"/>
            </a:br>
            <a:endParaRPr/>
          </a:p>
        </p:txBody>
      </p:sp>
      <p:cxnSp>
        <p:nvCxnSpPr>
          <p:cNvPr id="109" name="Google Shape;109;p4"/>
          <p:cNvCxnSpPr/>
          <p:nvPr/>
        </p:nvCxnSpPr>
        <p:spPr>
          <a:xfrm>
            <a:off x="3352800" y="2971800"/>
            <a:ext cx="2209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8883680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/>
          <p:cNvSpPr txBox="1">
            <a:spLocks noGrp="1"/>
          </p:cNvSpPr>
          <p:nvPr>
            <p:ph type="title"/>
          </p:nvPr>
        </p:nvSpPr>
        <p:spPr>
          <a:xfrm>
            <a:off x="457200" y="76200"/>
            <a:ext cx="822960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Unification</a:t>
            </a:r>
            <a:endParaRPr/>
          </a:p>
        </p:txBody>
      </p:sp>
      <p:sp>
        <p:nvSpPr>
          <p:cNvPr id="116" name="Google Shape;116;p5"/>
          <p:cNvSpPr txBox="1"/>
          <p:nvPr/>
        </p:nvSpPr>
        <p:spPr>
          <a:xfrm>
            <a:off x="457200" y="732020"/>
            <a:ext cx="8229600" cy="5851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42900" marR="0" lvl="0" indent="-20193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Unification is the process of finding all legal substitutions.</a:t>
            </a:r>
            <a:endParaRPr/>
          </a:p>
          <a:p>
            <a:pPr marL="342900" marR="0" lvl="0" indent="-342900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can get the inference immediately if we can find a substitution θ such that </a:t>
            </a:r>
            <a:r>
              <a:rPr lang="en-US" sz="24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King(x) 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lang="en-US" sz="24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Greedy(John) 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match </a:t>
            </a:r>
            <a:r>
              <a:rPr lang="en-US" sz="24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King(John)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 sz="24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Greedy(y)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057400" marR="0" lvl="4" indent="-87629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θ = {x/John,y/John}</a:t>
            </a:r>
            <a:endParaRPr/>
          </a:p>
          <a:p>
            <a:pPr marL="342900" marR="0" lvl="0" indent="-342900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∀x,y,z ((parent(x,y) </a:t>
            </a: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∧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parent(y,z)) ⇒ grandparent(x,z))</a:t>
            </a:r>
            <a:endParaRPr/>
          </a:p>
          <a:p>
            <a:pPr marL="342900" marR="0" lvl="0" indent="-342900" algn="l" rtl="0">
              <a:spcBef>
                <a:spcPts val="444"/>
              </a:spcBef>
              <a:spcAft>
                <a:spcPts val="0"/>
              </a:spcAft>
              <a:buClr>
                <a:srgbClr val="A50021"/>
              </a:buClr>
              <a:buSzPct val="1000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A50021"/>
                </a:solidFill>
                <a:latin typeface="Calibri"/>
                <a:ea typeface="Calibri"/>
                <a:cs typeface="Calibri"/>
                <a:sym typeface="Calibri"/>
              </a:rPr>
              <a:t>parent(james, john), parent(james, richard), parent(harry, james)</a:t>
            </a:r>
            <a:endParaRPr sz="2400" b="0" i="0" u="none" strike="noStrike" cap="none">
              <a:solidFill>
                <a:srgbClr val="A500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spcBef>
                <a:spcPts val="444"/>
              </a:spcBef>
              <a:spcAft>
                <a:spcPts val="0"/>
              </a:spcAft>
              <a:buNone/>
            </a:pPr>
            <a:endParaRPr sz="2400">
              <a:solidFill>
                <a:srgbClr val="A500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can derive:</a:t>
            </a:r>
            <a:endParaRPr/>
          </a:p>
          <a:p>
            <a:pPr marL="742950" marR="0" lvl="1" indent="-285750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–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Grandparent(harry, john), bindings:</a:t>
            </a:r>
            <a:b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{x/harry,y/james,z/john}</a:t>
            </a:r>
            <a:endParaRPr/>
          </a:p>
          <a:p>
            <a:pPr marL="742950" marR="0" lvl="1" indent="-285750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–"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Grandparent(harry, richard), bindings:</a:t>
            </a:r>
            <a:b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{x/harry,y/james,z/richard}</a:t>
            </a:r>
            <a:endParaRPr/>
          </a:p>
          <a:p>
            <a:pPr marL="342900" marR="0" lvl="0" indent="-342900" algn="l" rtl="0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  <a:p>
            <a:pPr marL="2057400" marR="0" lvl="4" indent="-146367" algn="l" rtl="0">
              <a:spcBef>
                <a:spcPts val="259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1400" b="0" i="0" u="none" strike="noStrike" cap="none">
              <a:solidFill>
                <a:srgbClr val="CC0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210513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9"/>
          <p:cNvSpPr txBox="1">
            <a:spLocks noGrp="1"/>
          </p:cNvSpPr>
          <p:nvPr>
            <p:ph type="title"/>
          </p:nvPr>
        </p:nvSpPr>
        <p:spPr>
          <a:xfrm>
            <a:off x="457200" y="-1374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Conversion to CNF</a:t>
            </a:r>
            <a:endParaRPr/>
          </a:p>
        </p:txBody>
      </p:sp>
      <p:pic>
        <p:nvPicPr>
          <p:cNvPr id="211" name="Google Shape;211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5800" y="1676230"/>
            <a:ext cx="6629400" cy="3811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5800" y="2133600"/>
            <a:ext cx="7315200" cy="785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1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1703" y="3124200"/>
            <a:ext cx="8229600" cy="1250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1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5652" y="4495800"/>
            <a:ext cx="8153400" cy="1513942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9"/>
          <p:cNvSpPr/>
          <p:nvPr/>
        </p:nvSpPr>
        <p:spPr>
          <a:xfrm>
            <a:off x="701702" y="1088925"/>
            <a:ext cx="7832697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Everyone who loves all animals is loved by someone</a:t>
            </a:r>
            <a: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br>
              <a:rPr lang="en-US"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298231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Conversion to CNF</a:t>
            </a:r>
            <a:endParaRPr/>
          </a:p>
        </p:txBody>
      </p:sp>
      <p:sp>
        <p:nvSpPr>
          <p:cNvPr id="221" name="Google Shape;221;p2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  <a:p>
            <a:pPr marL="609600" lvl="0" indent="-6096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 startAt="3"/>
            </a:pPr>
            <a:r>
              <a:rPr lang="en-US" sz="2000"/>
              <a:t>Resolving existential instantiation: </a:t>
            </a:r>
            <a:r>
              <a:rPr lang="en-US" sz="1800"/>
              <a:t>Each existential variable is replaced by a </a:t>
            </a:r>
            <a:r>
              <a:rPr lang="en-US" sz="1800">
                <a:solidFill>
                  <a:schemeClr val="accent2"/>
                </a:solidFill>
              </a:rPr>
              <a:t>constant. </a:t>
            </a:r>
            <a:r>
              <a:rPr lang="en-US" sz="1800"/>
              <a:t/>
            </a:r>
            <a:br>
              <a:rPr lang="en-US" sz="1800"/>
            </a:br>
            <a:endParaRPr/>
          </a:p>
          <a:p>
            <a:pPr marL="990600" lvl="1" indent="-5334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/>
              <a:t> ∀x [</a:t>
            </a:r>
            <a:r>
              <a:rPr lang="en-US" sz="1800" i="1"/>
              <a:t>Animal</a:t>
            </a:r>
            <a:r>
              <a:rPr lang="en-US" sz="1800"/>
              <a:t>(</a:t>
            </a:r>
            <a:r>
              <a:rPr lang="en-US" sz="1800" i="1"/>
              <a:t>A</a:t>
            </a:r>
            <a:r>
              <a:rPr lang="en-US" sz="1800"/>
              <a:t>) ∧ ¬</a:t>
            </a:r>
            <a:r>
              <a:rPr lang="en-US" sz="1800" i="1"/>
              <a:t>Loves</a:t>
            </a:r>
            <a:r>
              <a:rPr lang="en-US" sz="1800"/>
              <a:t>(</a:t>
            </a:r>
            <a:r>
              <a:rPr lang="en-US" sz="1800" i="1"/>
              <a:t>x,A</a:t>
            </a:r>
            <a:r>
              <a:rPr lang="en-US" sz="1800"/>
              <a:t>)] ∨ </a:t>
            </a:r>
            <a:r>
              <a:rPr lang="en-US" sz="1800" i="1"/>
              <a:t>Loves</a:t>
            </a:r>
            <a:r>
              <a:rPr lang="en-US" sz="1800"/>
              <a:t>(</a:t>
            </a:r>
            <a:r>
              <a:rPr lang="en-US" sz="1800" i="1"/>
              <a:t>B</a:t>
            </a:r>
            <a:r>
              <a:rPr lang="en-US" sz="1800"/>
              <a:t>,</a:t>
            </a:r>
            <a:r>
              <a:rPr lang="en-US" sz="1800" i="1"/>
              <a:t>x</a:t>
            </a:r>
            <a:r>
              <a:rPr lang="en-US" sz="1800"/>
              <a:t>)</a:t>
            </a:r>
            <a:endParaRPr/>
          </a:p>
          <a:p>
            <a:pPr marL="2209800" lvl="4" indent="-292100" algn="l" rtl="0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sz="1400"/>
          </a:p>
          <a:p>
            <a:pPr marL="609600" lvl="0" indent="-6096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 startAt="5"/>
            </a:pPr>
            <a:r>
              <a:rPr lang="en-US" sz="2000"/>
              <a:t>Drop universal quantifiers:</a:t>
            </a:r>
            <a:endParaRPr/>
          </a:p>
          <a:p>
            <a:pPr marL="990600" lvl="1" indent="-5334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/>
              <a:t> [</a:t>
            </a:r>
            <a:r>
              <a:rPr lang="en-US" sz="1800" i="1"/>
              <a:t>Animal</a:t>
            </a:r>
            <a:r>
              <a:rPr lang="en-US" sz="1800"/>
              <a:t>(</a:t>
            </a:r>
            <a:r>
              <a:rPr lang="en-US" sz="1800" i="1"/>
              <a:t>A</a:t>
            </a:r>
            <a:r>
              <a:rPr lang="en-US" sz="1800"/>
              <a:t>) ∧ ¬</a:t>
            </a:r>
            <a:r>
              <a:rPr lang="en-US" sz="1800" i="1"/>
              <a:t>Loves</a:t>
            </a:r>
            <a:r>
              <a:rPr lang="en-US" sz="1800"/>
              <a:t>(</a:t>
            </a:r>
            <a:r>
              <a:rPr lang="en-US" sz="1800" i="1"/>
              <a:t>x,A</a:t>
            </a:r>
            <a:r>
              <a:rPr lang="en-US" sz="1800"/>
              <a:t>)]  ∨ </a:t>
            </a:r>
            <a:r>
              <a:rPr lang="en-US" sz="1800" i="1"/>
              <a:t>Loves</a:t>
            </a:r>
            <a:r>
              <a:rPr lang="en-US" sz="1800"/>
              <a:t>(</a:t>
            </a:r>
            <a:r>
              <a:rPr lang="en-US" sz="1800" i="1"/>
              <a:t>B</a:t>
            </a:r>
            <a:r>
              <a:rPr lang="en-US" sz="1800"/>
              <a:t>,</a:t>
            </a:r>
            <a:r>
              <a:rPr lang="en-US" sz="1800" i="1"/>
              <a:t>x</a:t>
            </a:r>
            <a:r>
              <a:rPr lang="en-US" sz="1800"/>
              <a:t>)</a:t>
            </a:r>
            <a:endParaRPr/>
          </a:p>
          <a:p>
            <a:pPr marL="2209800" lvl="4" indent="-381000" algn="l" rtl="0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/>
              <a:t/>
            </a:r>
            <a:br>
              <a:rPr lang="en-US" sz="1400"/>
            </a:br>
            <a:endParaRPr/>
          </a:p>
          <a:p>
            <a:pPr marL="609600" lvl="0" indent="-6096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 startAt="5"/>
            </a:pPr>
            <a:r>
              <a:rPr lang="en-US" sz="2000"/>
              <a:t>Distribute ∨ over ∧ :</a:t>
            </a:r>
            <a:endParaRPr/>
          </a:p>
          <a:p>
            <a:pPr marL="990600" lvl="1" indent="-5334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/>
              <a:t> [</a:t>
            </a:r>
            <a:r>
              <a:rPr lang="en-US" sz="1800" i="1"/>
              <a:t>Animal</a:t>
            </a:r>
            <a:r>
              <a:rPr lang="en-US" sz="1800"/>
              <a:t>(</a:t>
            </a:r>
            <a:r>
              <a:rPr lang="en-US" sz="1800" i="1"/>
              <a:t>A</a:t>
            </a:r>
            <a:r>
              <a:rPr lang="en-US" sz="1800"/>
              <a:t>) ∨ </a:t>
            </a:r>
            <a:r>
              <a:rPr lang="en-US" sz="1800" i="1"/>
              <a:t>Loves</a:t>
            </a:r>
            <a:r>
              <a:rPr lang="en-US" sz="1800"/>
              <a:t>(</a:t>
            </a:r>
            <a:r>
              <a:rPr lang="en-US" sz="1800" i="1"/>
              <a:t>A</a:t>
            </a:r>
            <a:r>
              <a:rPr lang="en-US" sz="1800"/>
              <a:t>,</a:t>
            </a:r>
            <a:r>
              <a:rPr lang="en-US" sz="1800" i="1"/>
              <a:t>x</a:t>
            </a:r>
            <a:r>
              <a:rPr lang="en-US" sz="1800"/>
              <a:t>)] ∧ [¬</a:t>
            </a:r>
            <a:r>
              <a:rPr lang="en-US" sz="1800" i="1"/>
              <a:t>Loves</a:t>
            </a:r>
            <a:r>
              <a:rPr lang="en-US" sz="1800"/>
              <a:t>(</a:t>
            </a:r>
            <a:r>
              <a:rPr lang="en-US" sz="1800" i="1"/>
              <a:t>x,A</a:t>
            </a:r>
            <a:r>
              <a:rPr lang="en-US" sz="1800"/>
              <a:t>) ∨ </a:t>
            </a:r>
            <a:r>
              <a:rPr lang="en-US" sz="1800" i="1"/>
              <a:t>Loves</a:t>
            </a:r>
            <a:r>
              <a:rPr lang="en-US" sz="1800"/>
              <a:t>(</a:t>
            </a:r>
            <a:r>
              <a:rPr lang="en-US" sz="1800" i="1"/>
              <a:t>B</a:t>
            </a:r>
            <a:r>
              <a:rPr lang="en-US" sz="1800"/>
              <a:t>,</a:t>
            </a:r>
            <a:r>
              <a:rPr lang="en-US" sz="1800" i="1"/>
              <a:t>x</a:t>
            </a:r>
            <a:r>
              <a:rPr lang="en-US" sz="1800"/>
              <a:t>)]</a:t>
            </a:r>
            <a:br>
              <a:rPr lang="en-US" sz="1800"/>
            </a:b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  <p:pic>
        <p:nvPicPr>
          <p:cNvPr id="222" name="Google Shape;222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3400" y="1676401"/>
            <a:ext cx="8077200" cy="12718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024656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1"/>
          <p:cNvSpPr txBox="1">
            <a:spLocks noGrp="1"/>
          </p:cNvSpPr>
          <p:nvPr>
            <p:ph type="title"/>
          </p:nvPr>
        </p:nvSpPr>
        <p:spPr>
          <a:xfrm>
            <a:off x="76200" y="76200"/>
            <a:ext cx="38862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Resolution proof</a:t>
            </a:r>
            <a:endParaRPr/>
          </a:p>
        </p:txBody>
      </p:sp>
      <p:pic>
        <p:nvPicPr>
          <p:cNvPr id="228" name="Google Shape;228;p21" descr="crime-resolutio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" y="2062162"/>
            <a:ext cx="7848600" cy="4719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14800" y="-29980"/>
            <a:ext cx="5158571" cy="20104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731508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References</a:t>
            </a:r>
            <a:endParaRPr/>
          </a:p>
        </p:txBody>
      </p:sp>
      <p:sp>
        <p:nvSpPr>
          <p:cNvPr id="282" name="Google Shape;282;p2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Chapter 8, Artificial Intelligence, A Modern Approach, Third Edition, Stuart Russell and Peter Norvig</a:t>
            </a:r>
            <a:endParaRPr sz="2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63F296526D7BB4EB949B2D9BCC1BDA8" ma:contentTypeVersion="3" ma:contentTypeDescription="Create a new document." ma:contentTypeScope="" ma:versionID="b4de3fe7d800b0ca999817686b165b1c">
  <xsd:schema xmlns:xsd="http://www.w3.org/2001/XMLSchema" xmlns:xs="http://www.w3.org/2001/XMLSchema" xmlns:p="http://schemas.microsoft.com/office/2006/metadata/properties" xmlns:ns2="71778b39-a39e-4048-b00f-99dfecabd0ec" targetNamespace="http://schemas.microsoft.com/office/2006/metadata/properties" ma:root="true" ma:fieldsID="ae0bbb1ef2e03af480cc0bac4dc148f2" ns2:_="">
    <xsd:import namespace="71778b39-a39e-4048-b00f-99dfecabd0e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778b39-a39e-4048-b00f-99dfecabd0e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C48CB4E-5C3B-4D51-9AAF-412CAD24EE58}"/>
</file>

<file path=customXml/itemProps2.xml><?xml version="1.0" encoding="utf-8"?>
<ds:datastoreItem xmlns:ds="http://schemas.openxmlformats.org/officeDocument/2006/customXml" ds:itemID="{D0284595-6FD3-47B9-9560-648CF80C766D}"/>
</file>

<file path=customXml/itemProps3.xml><?xml version="1.0" encoding="utf-8"?>
<ds:datastoreItem xmlns:ds="http://schemas.openxmlformats.org/officeDocument/2006/customXml" ds:itemID="{843A8CE6-31CD-4F05-AA4E-8785B74B90F4}"/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1652</Words>
  <Application>Microsoft Office PowerPoint</Application>
  <PresentationFormat>On-screen Show (4:3)</PresentationFormat>
  <Paragraphs>279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</vt:lpstr>
      <vt:lpstr>Calibri</vt:lpstr>
      <vt:lpstr>Noto Sans Symbols</vt:lpstr>
      <vt:lpstr>Times New Roman</vt:lpstr>
      <vt:lpstr>Office Theme</vt:lpstr>
      <vt:lpstr>Artificial Intelligence</vt:lpstr>
      <vt:lpstr>Limitation of Propositional Logic</vt:lpstr>
      <vt:lpstr>First-order logic (FOL)</vt:lpstr>
      <vt:lpstr>FOL Examples</vt:lpstr>
      <vt:lpstr>Objects, Relations and Functions</vt:lpstr>
      <vt:lpstr>Objects, Relations, Functions</vt:lpstr>
      <vt:lpstr>Atomic Sentences</vt:lpstr>
      <vt:lpstr>Complex Sentences</vt:lpstr>
      <vt:lpstr>Complex Sentences</vt:lpstr>
      <vt:lpstr>Quantification</vt:lpstr>
      <vt:lpstr>Universal Quantification ∀</vt:lpstr>
      <vt:lpstr>Why to use IMPLIES connective with universal Quantification </vt:lpstr>
      <vt:lpstr>Existential Quantification ∃</vt:lpstr>
      <vt:lpstr>Why to use AND connective with Existential Quantification </vt:lpstr>
      <vt:lpstr>Why to use AND connective with Existential Quantification </vt:lpstr>
      <vt:lpstr>Syntax of FOL: Basic elements</vt:lpstr>
      <vt:lpstr>Nested Quantifiers</vt:lpstr>
      <vt:lpstr>De Morgan’s Law</vt:lpstr>
      <vt:lpstr>Quantifier Duality</vt:lpstr>
      <vt:lpstr>Nested Quantifiers</vt:lpstr>
      <vt:lpstr>FOL Translation</vt:lpstr>
      <vt:lpstr>Writing FOL</vt:lpstr>
      <vt:lpstr>Writing FOL</vt:lpstr>
      <vt:lpstr>Writing FOL</vt:lpstr>
      <vt:lpstr>Exercise.</vt:lpstr>
      <vt:lpstr>Solution</vt:lpstr>
      <vt:lpstr>FOL Rules of Inference</vt:lpstr>
      <vt:lpstr>Universal Instantiation (UI)</vt:lpstr>
      <vt:lpstr>Existential instantiation (EI)</vt:lpstr>
      <vt:lpstr>Unification</vt:lpstr>
      <vt:lpstr>Conversion to CNF</vt:lpstr>
      <vt:lpstr>Conversion to CNF</vt:lpstr>
      <vt:lpstr>Resolution proof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</dc:title>
  <dc:creator>Windows User</dc:creator>
  <cp:lastModifiedBy>Administrator</cp:lastModifiedBy>
  <cp:revision>2</cp:revision>
  <dcterms:created xsi:type="dcterms:W3CDTF">2016-02-23T12:07:47Z</dcterms:created>
  <dcterms:modified xsi:type="dcterms:W3CDTF">2025-12-06T13:41:41Z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0x010100263F296526D7BB4EB949B2D9BCC1BDA8</vt:lpwstr>
  </property>
</Properties>
</file>