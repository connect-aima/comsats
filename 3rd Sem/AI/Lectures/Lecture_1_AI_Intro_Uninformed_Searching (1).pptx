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custom-properties" Target="docProps/custom.xml"/><Relationship Id="rId2" Type="http://schemas.openxmlformats.org/officeDocument/2006/relationships/officeDocument" Target="ppt/presentation.xml"/><Relationship Id="rId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4" roundtripDataSignature="AMtx7mgQ88ZLdvVAyZ6g3zOQx5qOkY6R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39" Type="http://schemas.openxmlformats.org/officeDocument/2006/relationships/slide" Target="slides/slide34.xml"/><Relationship Id="rId26" Type="http://schemas.openxmlformats.org/officeDocument/2006/relationships/slide" Target="slides/slide21.xml"/><Relationship Id="rId13" Type="http://schemas.openxmlformats.org/officeDocument/2006/relationships/slide" Target="slides/slide8.xml"/><Relationship Id="rId18" Type="http://schemas.openxmlformats.org/officeDocument/2006/relationships/slide" Target="slides/slide13.xml"/><Relationship Id="rId42" Type="http://schemas.openxmlformats.org/officeDocument/2006/relationships/slide" Target="slides/slide37.xml"/><Relationship Id="rId47" Type="http://schemas.openxmlformats.org/officeDocument/2006/relationships/slide" Target="slides/slide42.xml"/><Relationship Id="rId34" Type="http://schemas.openxmlformats.org/officeDocument/2006/relationships/slide" Target="slides/slide29.xml"/><Relationship Id="rId21" Type="http://schemas.openxmlformats.org/officeDocument/2006/relationships/slide" Target="slides/slide16.xml"/><Relationship Id="rId50" Type="http://schemas.openxmlformats.org/officeDocument/2006/relationships/slide" Target="slides/slide45.xml"/><Relationship Id="rId55" Type="http://schemas.openxmlformats.org/officeDocument/2006/relationships/customXml" Target="../customXml/item1.xml"/><Relationship Id="rId7" Type="http://schemas.openxmlformats.org/officeDocument/2006/relationships/slide" Target="slides/slide2.xml"/><Relationship Id="rId2" Type="http://schemas.openxmlformats.org/officeDocument/2006/relationships/viewProps" Target="viewProps.xml"/><Relationship Id="rId29" Type="http://schemas.openxmlformats.org/officeDocument/2006/relationships/slide" Target="slides/slide24.xml"/><Relationship Id="rId16" Type="http://schemas.openxmlformats.org/officeDocument/2006/relationships/slide" Target="slides/slide11.xml"/><Relationship Id="rId40" Type="http://schemas.openxmlformats.org/officeDocument/2006/relationships/slide" Target="slides/slide35.xml"/><Relationship Id="rId45" Type="http://schemas.openxmlformats.org/officeDocument/2006/relationships/slide" Target="slides/slide40.xml"/><Relationship Id="rId32" Type="http://schemas.openxmlformats.org/officeDocument/2006/relationships/slide" Target="slides/slide27.xml"/><Relationship Id="rId37" Type="http://schemas.openxmlformats.org/officeDocument/2006/relationships/slide" Target="slides/slide32.xml"/><Relationship Id="rId24" Type="http://schemas.openxmlformats.org/officeDocument/2006/relationships/slide" Target="slides/slide19.xml"/><Relationship Id="rId53" Type="http://schemas.openxmlformats.org/officeDocument/2006/relationships/slide" Target="slides/slide48.xml"/><Relationship Id="rId11" Type="http://schemas.openxmlformats.org/officeDocument/2006/relationships/slide" Target="slides/slide6.xml"/><Relationship Id="rId5" Type="http://schemas.openxmlformats.org/officeDocument/2006/relationships/notesMaster" Target="notesMasters/notesMaster1.xml"/><Relationship Id="rId19" Type="http://schemas.openxmlformats.org/officeDocument/2006/relationships/slide" Target="slides/slide14.xml"/><Relationship Id="rId43" Type="http://schemas.openxmlformats.org/officeDocument/2006/relationships/slide" Target="slides/slide38.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30" Type="http://schemas.openxmlformats.org/officeDocument/2006/relationships/slide" Target="slides/slide25.xml"/><Relationship Id="rId35" Type="http://schemas.openxmlformats.org/officeDocument/2006/relationships/slide" Target="slides/slide30.xml"/><Relationship Id="rId22" Type="http://schemas.openxmlformats.org/officeDocument/2006/relationships/slide" Target="slides/slide17.xml"/><Relationship Id="rId27" Type="http://schemas.openxmlformats.org/officeDocument/2006/relationships/slide" Target="slides/slide22.xml"/><Relationship Id="rId14" Type="http://schemas.openxmlformats.org/officeDocument/2006/relationships/slide" Target="slides/slide9.xml"/><Relationship Id="rId56" Type="http://schemas.openxmlformats.org/officeDocument/2006/relationships/customXml" Target="../customXml/item2.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presProps" Target="presProps.xml"/><Relationship Id="rId46" Type="http://schemas.openxmlformats.org/officeDocument/2006/relationships/slide" Target="slides/slide41.xml"/><Relationship Id="rId33" Type="http://schemas.openxmlformats.org/officeDocument/2006/relationships/slide" Target="slides/slide28.xml"/><Relationship Id="rId38" Type="http://schemas.openxmlformats.org/officeDocument/2006/relationships/slide" Target="slides/slide33.xml"/><Relationship Id="rId25" Type="http://schemas.openxmlformats.org/officeDocument/2006/relationships/slide" Target="slides/slide20.xml"/><Relationship Id="rId12" Type="http://schemas.openxmlformats.org/officeDocument/2006/relationships/slide" Target="slides/slide7.xml"/><Relationship Id="rId17" Type="http://schemas.openxmlformats.org/officeDocument/2006/relationships/slide" Target="slides/slide12.xml"/><Relationship Id="rId41" Type="http://schemas.openxmlformats.org/officeDocument/2006/relationships/slide" Target="slides/slide36.xml"/><Relationship Id="rId20" Type="http://schemas.openxmlformats.org/officeDocument/2006/relationships/slide" Target="slides/slide15.xml"/><Relationship Id="rId54" Type="http://customschemas.google.com/relationships/presentationmetadata" Target="metadata"/><Relationship Id="rId1" Type="http://schemas.openxmlformats.org/officeDocument/2006/relationships/theme" Target="theme/theme1.xml"/><Relationship Id="rId6" Type="http://schemas.openxmlformats.org/officeDocument/2006/relationships/slide" Target="slides/slide1.xml"/><Relationship Id="rId49" Type="http://schemas.openxmlformats.org/officeDocument/2006/relationships/slide" Target="slides/slide44.xml"/><Relationship Id="rId36" Type="http://schemas.openxmlformats.org/officeDocument/2006/relationships/slide" Target="slides/slide31.xml"/><Relationship Id="rId23" Type="http://schemas.openxmlformats.org/officeDocument/2006/relationships/slide" Target="slides/slide18.xml"/><Relationship Id="rId28" Type="http://schemas.openxmlformats.org/officeDocument/2006/relationships/slide" Target="slides/slide23.xml"/><Relationship Id="rId15" Type="http://schemas.openxmlformats.org/officeDocument/2006/relationships/slide" Target="slides/slide10.xml"/><Relationship Id="rId57" Type="http://schemas.openxmlformats.org/officeDocument/2006/relationships/customXml" Target="../customXml/item3.xml"/><Relationship Id="rId44" Type="http://schemas.openxmlformats.org/officeDocument/2006/relationships/slide" Target="slides/slide39.xml"/><Relationship Id="rId31" Type="http://schemas.openxmlformats.org/officeDocument/2006/relationships/slide" Target="slides/slide26.xml"/><Relationship Id="rId52" Type="http://schemas.openxmlformats.org/officeDocument/2006/relationships/slide" Target="slides/slide47.xml"/><Relationship Id="rId10"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05" name="Google Shape;105;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26" name="Google Shape;126;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 name="Google Shape;154;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55" name="Google Shape;155;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71" name="Google Shape;171;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80a1379242_1_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80a1379242_1_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g380a1379242_1_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0" name="Google Shape;280;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2" name="Google Shape;322;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54" name="Google Shape;354;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5" name="Google Shape;355;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58" name="Google Shape;458;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9" name="Google Shape;459;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00" name="Google Shape;500;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1" name="Google Shape;501;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15" name="Google Shape;515;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6" name="Google Shape;516;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26" name="Google Shape;526;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 name="Google Shape;527;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8" name="Google Shape;538;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51" name="Google Shape;551;p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5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32" name="Shape 32"/>
        <p:cNvGrpSpPr/>
        <p:nvPr/>
      </p:nvGrpSpPr>
      <p:grpSpPr>
        <a:xfrm>
          <a:off x="0" y="0"/>
          <a:ext cx="0" cy="0"/>
          <a:chOff x="0" y="0"/>
          <a:chExt cx="0" cy="0"/>
        </a:xfrm>
      </p:grpSpPr>
      <p:sp>
        <p:nvSpPr>
          <p:cNvPr id="33" name="Google Shape;33;p60"/>
          <p:cNvSpPr txBox="1"/>
          <p:nvPr>
            <p:ph type="title"/>
          </p:nvPr>
        </p:nvSpPr>
        <p:spPr>
          <a:xfrm>
            <a:off x="563563" y="361950"/>
            <a:ext cx="8158162" cy="110807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0"/>
          <p:cNvSpPr txBox="1"/>
          <p:nvPr>
            <p:ph idx="1" type="body"/>
          </p:nvPr>
        </p:nvSpPr>
        <p:spPr>
          <a:xfrm>
            <a:off x="563563" y="1758950"/>
            <a:ext cx="3932237" cy="4440238"/>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5" name="Google Shape;35;p60"/>
          <p:cNvSpPr txBox="1"/>
          <p:nvPr>
            <p:ph idx="2" type="body"/>
          </p:nvPr>
        </p:nvSpPr>
        <p:spPr>
          <a:xfrm>
            <a:off x="4648200" y="1758950"/>
            <a:ext cx="3932238" cy="4440238"/>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6" name="Google Shape;36;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rgbClr val="888888"/>
                </a:solidFill>
                <a:latin typeface="Calibri"/>
                <a:ea typeface="Calibri"/>
                <a:cs typeface="Calibri"/>
                <a:sym typeface="Calibri"/>
              </a:defRPr>
            </a:lvl1pPr>
            <a:lvl2pPr indent="0" lvl="1" marL="0" marR="0" algn="r">
              <a:spcBef>
                <a:spcPts val="0"/>
              </a:spcBef>
              <a:buNone/>
              <a:defRPr sz="1200">
                <a:solidFill>
                  <a:srgbClr val="888888"/>
                </a:solidFill>
                <a:latin typeface="Calibri"/>
                <a:ea typeface="Calibri"/>
                <a:cs typeface="Calibri"/>
                <a:sym typeface="Calibri"/>
              </a:defRPr>
            </a:lvl2pPr>
            <a:lvl3pPr indent="0" lvl="2" marL="0" marR="0" algn="r">
              <a:spcBef>
                <a:spcPts val="0"/>
              </a:spcBef>
              <a:buNone/>
              <a:defRPr sz="1200">
                <a:solidFill>
                  <a:srgbClr val="888888"/>
                </a:solidFill>
                <a:latin typeface="Calibri"/>
                <a:ea typeface="Calibri"/>
                <a:cs typeface="Calibri"/>
                <a:sym typeface="Calibri"/>
              </a:defRPr>
            </a:lvl3pPr>
            <a:lvl4pPr indent="0" lvl="3" marL="0" marR="0" algn="r">
              <a:spcBef>
                <a:spcPts val="0"/>
              </a:spcBef>
              <a:buNone/>
              <a:defRPr sz="1200">
                <a:solidFill>
                  <a:srgbClr val="888888"/>
                </a:solidFill>
                <a:latin typeface="Calibri"/>
                <a:ea typeface="Calibri"/>
                <a:cs typeface="Calibri"/>
                <a:sym typeface="Calibri"/>
              </a:defRPr>
            </a:lvl4pPr>
            <a:lvl5pPr indent="0" lvl="4" marL="0" marR="0" algn="r">
              <a:spcBef>
                <a:spcPts val="0"/>
              </a:spcBef>
              <a:buNone/>
              <a:defRPr sz="1200">
                <a:solidFill>
                  <a:srgbClr val="888888"/>
                </a:solidFill>
                <a:latin typeface="Calibri"/>
                <a:ea typeface="Calibri"/>
                <a:cs typeface="Calibri"/>
                <a:sym typeface="Calibri"/>
              </a:defRPr>
            </a:lvl5pPr>
            <a:lvl6pPr indent="0" lvl="5" marL="0" marR="0" algn="r">
              <a:spcBef>
                <a:spcPts val="0"/>
              </a:spcBef>
              <a:buNone/>
              <a:defRPr sz="1200">
                <a:solidFill>
                  <a:srgbClr val="888888"/>
                </a:solidFill>
                <a:latin typeface="Calibri"/>
                <a:ea typeface="Calibri"/>
                <a:cs typeface="Calibri"/>
                <a:sym typeface="Calibri"/>
              </a:defRPr>
            </a:lvl6pPr>
            <a:lvl7pPr indent="0" lvl="6" marL="0" marR="0" algn="r">
              <a:spcBef>
                <a:spcPts val="0"/>
              </a:spcBef>
              <a:buNone/>
              <a:defRPr sz="1200">
                <a:solidFill>
                  <a:srgbClr val="888888"/>
                </a:solidFill>
                <a:latin typeface="Calibri"/>
                <a:ea typeface="Calibri"/>
                <a:cs typeface="Calibri"/>
                <a:sym typeface="Calibri"/>
              </a:defRPr>
            </a:lvl7pPr>
            <a:lvl8pPr indent="0" lvl="7" marL="0" marR="0" algn="r">
              <a:spcBef>
                <a:spcPts val="0"/>
              </a:spcBef>
              <a:buNone/>
              <a:defRPr sz="1200">
                <a:solidFill>
                  <a:srgbClr val="888888"/>
                </a:solidFill>
                <a:latin typeface="Calibri"/>
                <a:ea typeface="Calibri"/>
                <a:cs typeface="Calibri"/>
                <a:sym typeface="Calibri"/>
              </a:defRPr>
            </a:lvl8pPr>
            <a:lvl9pPr indent="0" lvl="8" marL="0" marR="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8" name="Shape 38"/>
        <p:cNvGrpSpPr/>
        <p:nvPr/>
      </p:nvGrpSpPr>
      <p:grpSpPr>
        <a:xfrm>
          <a:off x="0" y="0"/>
          <a:ext cx="0" cy="0"/>
          <a:chOff x="0" y="0"/>
          <a:chExt cx="0" cy="0"/>
        </a:xfrm>
      </p:grpSpPr>
      <p:sp>
        <p:nvSpPr>
          <p:cNvPr id="39" name="Google Shape;39;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2" name="Shape 42"/>
        <p:cNvGrpSpPr/>
        <p:nvPr/>
      </p:nvGrpSpPr>
      <p:grpSpPr>
        <a:xfrm>
          <a:off x="0" y="0"/>
          <a:ext cx="0" cy="0"/>
          <a:chOff x="0" y="0"/>
          <a:chExt cx="0" cy="0"/>
        </a:xfrm>
      </p:grpSpPr>
      <p:sp>
        <p:nvSpPr>
          <p:cNvPr id="43" name="Google Shape;43;p6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6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45" name="Google Shape;45;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1" name="Google Shape;51;p6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2" name="Google Shape;52;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6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6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8" name="Google Shape;58;p6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9" name="Google Shape;59;p6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0" name="Google Shape;60;p6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1" name="Google Shape;61;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6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6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7" name="Google Shape;67;p6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8" name="Google Shape;68;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6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66"/>
          <p:cNvSpPr/>
          <p:nvPr>
            <p:ph idx="2" type="pic"/>
          </p:nvPr>
        </p:nvSpPr>
        <p:spPr>
          <a:xfrm>
            <a:off x="1792288" y="612775"/>
            <a:ext cx="5486400" cy="4114800"/>
          </a:xfrm>
          <a:prstGeom prst="rect">
            <a:avLst/>
          </a:prstGeom>
          <a:noFill/>
          <a:ln>
            <a:noFill/>
          </a:ln>
        </p:spPr>
      </p:sp>
      <p:sp>
        <p:nvSpPr>
          <p:cNvPr id="74" name="Google Shape;74;p6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5" name="Google Shape;75;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6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6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6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7" name="Google Shape;87;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www-formal.stanford.edu/jmc/whatisai/whatisai.html" TargetMode="Externa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2.png"/><Relationship Id="rId4" Type="http://schemas.openxmlformats.org/officeDocument/2006/relationships/hyperlink" Target="http://en.wikipedia.org/wiki/Alan_Turing" TargetMode="External"/><Relationship Id="rId5" Type="http://schemas.openxmlformats.org/officeDocument/2006/relationships/hyperlink" Target="http://en.wikipedia.org/wiki/Mind_(journal)" TargetMode="External"/><Relationship Id="rId6" Type="http://schemas.openxmlformats.org/officeDocument/2006/relationships/hyperlink" Target="http://en.wikipedia.org/wiki/Artificial_intelligence" TargetMode="External"/><Relationship Id="rId7" Type="http://schemas.openxmlformats.org/officeDocument/2006/relationships/hyperlink" Target="http://en.wikipedia.org/wiki/Turing_test" TargetMode="External"/><Relationship Id="rId8"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28.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png"/><Relationship Id="rId4" Type="http://schemas.openxmlformats.org/officeDocument/2006/relationships/image" Target="../media/image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png"/><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png"/><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png"/><Relationship Id="rId4" Type="http://schemas.openxmlformats.org/officeDocument/2006/relationships/image" Target="../media/image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png"/><Relationship Id="rId4"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png"/><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28.png"/><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27.png"/><Relationship Id="rId4" Type="http://schemas.openxmlformats.org/officeDocument/2006/relationships/image" Target="../media/image1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 Id="rId3" Type="http://schemas.openxmlformats.org/officeDocument/2006/relationships/image" Target="../media/image2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Artificial Intelligence</a:t>
            </a:r>
            <a:endParaRPr>
              <a:latin typeface="Arial"/>
              <a:ea typeface="Arial"/>
              <a:cs typeface="Arial"/>
              <a:sym typeface="Arial"/>
            </a:endParaRPr>
          </a:p>
        </p:txBody>
      </p:sp>
      <p:sp>
        <p:nvSpPr>
          <p:cNvPr id="95" name="Google Shape;95;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rPr lang="en-US"/>
              <a:t>Lecture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Resources</a:t>
            </a:r>
            <a:endParaRPr/>
          </a:p>
        </p:txBody>
      </p:sp>
      <p:sp>
        <p:nvSpPr>
          <p:cNvPr id="101" name="Google Shape;101;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200"/>
              <a:buChar char="•"/>
            </a:pPr>
            <a:r>
              <a:rPr lang="en-US" sz="2200"/>
              <a:t>Core Resources </a:t>
            </a:r>
            <a:endParaRPr/>
          </a:p>
          <a:p>
            <a:pPr indent="-285750" lvl="1" marL="742950" rtl="0" algn="l">
              <a:spcBef>
                <a:spcPts val="480"/>
              </a:spcBef>
              <a:spcAft>
                <a:spcPts val="0"/>
              </a:spcAft>
              <a:buClr>
                <a:schemeClr val="dk1"/>
              </a:buClr>
              <a:buSzPts val="2400"/>
              <a:buChar char="–"/>
            </a:pPr>
            <a:r>
              <a:rPr lang="en-US" sz="2400"/>
              <a:t>Artificial Intelligence: A Modern Approach, by Stuart Russell and Peter Norvig, Prentice Hall. 4</a:t>
            </a:r>
            <a:r>
              <a:rPr baseline="30000" lang="en-US" sz="2400"/>
              <a:t>th</a:t>
            </a:r>
            <a:r>
              <a:rPr lang="en-US" sz="2400"/>
              <a:t> Ed.</a:t>
            </a:r>
            <a:endParaRPr/>
          </a:p>
          <a:p>
            <a:pPr indent="-342900" lvl="0" marL="342900" rtl="0" algn="l">
              <a:spcBef>
                <a:spcPts val="440"/>
              </a:spcBef>
              <a:spcAft>
                <a:spcPts val="0"/>
              </a:spcAft>
              <a:buClr>
                <a:schemeClr val="dk1"/>
              </a:buClr>
              <a:buSzPts val="2200"/>
              <a:buChar char="•"/>
            </a:pPr>
            <a:r>
              <a:rPr lang="en-US" sz="2200"/>
              <a:t>Reference Resources</a:t>
            </a:r>
            <a:endParaRPr/>
          </a:p>
          <a:p>
            <a:pPr indent="-285750" lvl="1" marL="742950" rtl="0" algn="l">
              <a:spcBef>
                <a:spcPts val="480"/>
              </a:spcBef>
              <a:spcAft>
                <a:spcPts val="0"/>
              </a:spcAft>
              <a:buClr>
                <a:schemeClr val="dk1"/>
              </a:buClr>
              <a:buSzPts val="2400"/>
              <a:buChar char="–"/>
            </a:pPr>
            <a:r>
              <a:rPr lang="en-US" sz="2400"/>
              <a:t>Artificial Intelligence Basics: A Non-Technical Introduction, Taulli, T., Apress, 2019.</a:t>
            </a:r>
            <a:endParaRPr sz="2400"/>
          </a:p>
          <a:p>
            <a:pPr indent="-285750" lvl="1" marL="742950" rtl="0" algn="l">
              <a:spcBef>
                <a:spcPts val="480"/>
              </a:spcBef>
              <a:spcAft>
                <a:spcPts val="0"/>
              </a:spcAft>
              <a:buClr>
                <a:schemeClr val="dk1"/>
              </a:buClr>
              <a:buSzPts val="2400"/>
              <a:buChar char="–"/>
            </a:pPr>
            <a:r>
              <a:rPr lang="en-US" sz="2400"/>
              <a:t>Artificial Intelligence: Structures and Strategies for Complex Problem Solving, George F. Luger, Addison Wesley Publisher.</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ph type="title"/>
          </p:nvPr>
        </p:nvSpPr>
        <p:spPr>
          <a:xfrm>
            <a:off x="457200" y="76200"/>
            <a:ext cx="8229600" cy="8683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Today’s Lecture</a:t>
            </a:r>
            <a:endParaRPr/>
          </a:p>
        </p:txBody>
      </p:sp>
      <p:sp>
        <p:nvSpPr>
          <p:cNvPr id="108" name="Google Shape;108;p3"/>
          <p:cNvSpPr txBox="1"/>
          <p:nvPr>
            <p:ph idx="1" type="body"/>
          </p:nvPr>
        </p:nvSpPr>
        <p:spPr>
          <a:xfrm>
            <a:off x="457200" y="1066800"/>
            <a:ext cx="8229600" cy="5684838"/>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en-US" sz="2800">
                <a:latin typeface="Calibri"/>
                <a:ea typeface="Calibri"/>
                <a:cs typeface="Calibri"/>
                <a:sym typeface="Calibri"/>
              </a:rPr>
              <a:t>What is AI?</a:t>
            </a:r>
            <a:endParaRPr/>
          </a:p>
          <a:p>
            <a:pPr indent="-285750" lvl="1" marL="742950" rtl="0" algn="l">
              <a:spcBef>
                <a:spcPts val="518"/>
              </a:spcBef>
              <a:spcAft>
                <a:spcPts val="0"/>
              </a:spcAft>
              <a:buClr>
                <a:schemeClr val="dk1"/>
              </a:buClr>
              <a:buSzPct val="100000"/>
              <a:buChar char="–"/>
            </a:pPr>
            <a:r>
              <a:rPr lang="en-US">
                <a:latin typeface="Calibri"/>
                <a:ea typeface="Calibri"/>
                <a:cs typeface="Calibri"/>
                <a:sym typeface="Calibri"/>
              </a:rPr>
              <a:t>Acting humanly (Turing Test approach)</a:t>
            </a:r>
            <a:endParaRPr/>
          </a:p>
          <a:p>
            <a:pPr indent="-285750" lvl="1" marL="742950" rtl="0" algn="l">
              <a:spcBef>
                <a:spcPts val="518"/>
              </a:spcBef>
              <a:spcAft>
                <a:spcPts val="0"/>
              </a:spcAft>
              <a:buClr>
                <a:schemeClr val="dk1"/>
              </a:buClr>
              <a:buSzPct val="100000"/>
              <a:buChar char="–"/>
            </a:pPr>
            <a:r>
              <a:rPr lang="en-US">
                <a:latin typeface="Calibri"/>
                <a:ea typeface="Calibri"/>
                <a:cs typeface="Calibri"/>
                <a:sym typeface="Calibri"/>
              </a:rPr>
              <a:t>Thinking humanly (Cognitive Modelling approach)</a:t>
            </a:r>
            <a:endParaRPr/>
          </a:p>
          <a:p>
            <a:pPr indent="-285750" lvl="1" marL="742950" rtl="0" algn="l">
              <a:spcBef>
                <a:spcPts val="518"/>
              </a:spcBef>
              <a:spcAft>
                <a:spcPts val="0"/>
              </a:spcAft>
              <a:buClr>
                <a:schemeClr val="dk1"/>
              </a:buClr>
              <a:buSzPct val="100000"/>
              <a:buChar char="–"/>
            </a:pPr>
            <a:r>
              <a:rPr lang="en-US">
                <a:latin typeface="Calibri"/>
                <a:ea typeface="Calibri"/>
                <a:cs typeface="Calibri"/>
                <a:sym typeface="Calibri"/>
              </a:rPr>
              <a:t>Acting rationally (Rational Agent approach)</a:t>
            </a:r>
            <a:endParaRPr/>
          </a:p>
          <a:p>
            <a:pPr indent="-285750" lvl="1" marL="742950" rtl="0" algn="l">
              <a:spcBef>
                <a:spcPts val="518"/>
              </a:spcBef>
              <a:spcAft>
                <a:spcPts val="0"/>
              </a:spcAft>
              <a:buClr>
                <a:schemeClr val="dk1"/>
              </a:buClr>
              <a:buSzPct val="100000"/>
              <a:buChar char="–"/>
            </a:pPr>
            <a:r>
              <a:rPr lang="en-US">
                <a:latin typeface="Calibri"/>
                <a:ea typeface="Calibri"/>
                <a:cs typeface="Calibri"/>
                <a:sym typeface="Calibri"/>
              </a:rPr>
              <a:t>Thinking rationally (Laws of Thought approach)</a:t>
            </a:r>
            <a:endParaRPr/>
          </a:p>
          <a:p>
            <a:pPr indent="-285750" lvl="1" marL="742950" rtl="0" algn="l">
              <a:spcBef>
                <a:spcPts val="518"/>
              </a:spcBef>
              <a:spcAft>
                <a:spcPts val="0"/>
              </a:spcAft>
              <a:buClr>
                <a:schemeClr val="dk1"/>
              </a:buClr>
              <a:buSzPct val="100000"/>
              <a:buChar char="–"/>
            </a:pPr>
            <a:r>
              <a:rPr lang="en-US">
                <a:latin typeface="Calibri"/>
                <a:ea typeface="Calibri"/>
                <a:cs typeface="Calibri"/>
                <a:sym typeface="Calibri"/>
              </a:rPr>
              <a:t>Weak AI vs Strong AI</a:t>
            </a:r>
            <a:endParaRPr/>
          </a:p>
          <a:p>
            <a:pPr indent="-342900" lvl="0" marL="342900" rtl="0" algn="l">
              <a:spcBef>
                <a:spcPts val="518"/>
              </a:spcBef>
              <a:spcAft>
                <a:spcPts val="0"/>
              </a:spcAft>
              <a:buClr>
                <a:schemeClr val="dk1"/>
              </a:buClr>
              <a:buSzPct val="100000"/>
              <a:buChar char="•"/>
            </a:pPr>
            <a:r>
              <a:rPr lang="en-US" sz="2800">
                <a:latin typeface="Calibri"/>
                <a:ea typeface="Calibri"/>
                <a:cs typeface="Calibri"/>
                <a:sym typeface="Calibri"/>
              </a:rPr>
              <a:t>Problem Solving using Searching</a:t>
            </a:r>
            <a:endParaRPr/>
          </a:p>
          <a:p>
            <a:pPr indent="-285750" lvl="1" marL="742950" rtl="0" algn="l">
              <a:spcBef>
                <a:spcPts val="518"/>
              </a:spcBef>
              <a:spcAft>
                <a:spcPts val="0"/>
              </a:spcAft>
              <a:buClr>
                <a:schemeClr val="dk1"/>
              </a:buClr>
              <a:buSzPct val="100000"/>
              <a:buChar char="–"/>
            </a:pPr>
            <a:r>
              <a:rPr lang="en-US">
                <a:latin typeface="Calibri"/>
                <a:ea typeface="Calibri"/>
                <a:cs typeface="Calibri"/>
                <a:sym typeface="Calibri"/>
              </a:rPr>
              <a:t>Problem Definition</a:t>
            </a:r>
            <a:endParaRPr/>
          </a:p>
          <a:p>
            <a:pPr indent="-285750" lvl="1" marL="742950" rtl="0" algn="l">
              <a:spcBef>
                <a:spcPts val="518"/>
              </a:spcBef>
              <a:spcAft>
                <a:spcPts val="0"/>
              </a:spcAft>
              <a:buClr>
                <a:schemeClr val="dk1"/>
              </a:buClr>
              <a:buSzPct val="100000"/>
              <a:buChar char="–"/>
            </a:pPr>
            <a:r>
              <a:rPr lang="en-US">
                <a:latin typeface="Calibri"/>
                <a:ea typeface="Calibri"/>
                <a:cs typeface="Calibri"/>
                <a:sym typeface="Calibri"/>
              </a:rPr>
              <a:t>Uninformed Search</a:t>
            </a:r>
            <a:endParaRPr/>
          </a:p>
          <a:p>
            <a:pPr indent="-228600" lvl="2" marL="1143000" rtl="0" algn="l">
              <a:spcBef>
                <a:spcPts val="518"/>
              </a:spcBef>
              <a:spcAft>
                <a:spcPts val="0"/>
              </a:spcAft>
              <a:buClr>
                <a:schemeClr val="dk1"/>
              </a:buClr>
              <a:buSzPct val="100000"/>
              <a:buChar char="•"/>
            </a:pPr>
            <a:r>
              <a:rPr lang="en-US" sz="2800">
                <a:latin typeface="Calibri"/>
                <a:ea typeface="Calibri"/>
                <a:cs typeface="Calibri"/>
                <a:sym typeface="Calibri"/>
              </a:rPr>
              <a:t>Breadth-first Search</a:t>
            </a:r>
            <a:endParaRPr/>
          </a:p>
          <a:p>
            <a:pPr indent="-228600" lvl="2" marL="1143000" rtl="0" algn="l">
              <a:spcBef>
                <a:spcPts val="518"/>
              </a:spcBef>
              <a:spcAft>
                <a:spcPts val="0"/>
              </a:spcAft>
              <a:buClr>
                <a:schemeClr val="dk1"/>
              </a:buClr>
              <a:buSzPct val="100000"/>
              <a:buChar char="•"/>
            </a:pPr>
            <a:r>
              <a:rPr lang="en-US" sz="2800">
                <a:latin typeface="Calibri"/>
                <a:ea typeface="Calibri"/>
                <a:cs typeface="Calibri"/>
                <a:sym typeface="Calibri"/>
              </a:rPr>
              <a:t>Depth-first Search</a:t>
            </a:r>
            <a:endParaRPr/>
          </a:p>
          <a:p>
            <a:pPr indent="-228600" lvl="2" marL="1143000" rtl="0" algn="l">
              <a:spcBef>
                <a:spcPts val="518"/>
              </a:spcBef>
              <a:spcAft>
                <a:spcPts val="0"/>
              </a:spcAft>
              <a:buClr>
                <a:schemeClr val="dk1"/>
              </a:buClr>
              <a:buSzPct val="100000"/>
              <a:buChar char="•"/>
            </a:pPr>
            <a:r>
              <a:rPr lang="en-US" sz="2800">
                <a:latin typeface="Calibri"/>
                <a:ea typeface="Calibri"/>
                <a:cs typeface="Calibri"/>
                <a:sym typeface="Calibri"/>
              </a:rPr>
              <a:t>Iterative Deepening Search</a:t>
            </a:r>
            <a:endParaRPr/>
          </a:p>
          <a:p>
            <a:pPr indent="-154940" lvl="0" marL="342900" rtl="0" algn="l">
              <a:spcBef>
                <a:spcPts val="592"/>
              </a:spcBef>
              <a:spcAft>
                <a:spcPts val="0"/>
              </a:spcAft>
              <a:buClr>
                <a:schemeClr val="dk1"/>
              </a:buClr>
              <a:buSzPct val="100000"/>
              <a:buNone/>
            </a:pPr>
            <a:r>
              <a:t/>
            </a:r>
            <a:endParaRPr/>
          </a:p>
          <a:p>
            <a:pPr indent="-154940" lvl="0" marL="342900" rtl="0" algn="l">
              <a:spcBef>
                <a:spcPts val="592"/>
              </a:spcBef>
              <a:spcAft>
                <a:spcPts val="0"/>
              </a:spcAft>
              <a:buClr>
                <a:schemeClr val="dk1"/>
              </a:buClr>
              <a:buSzPct val="100000"/>
              <a:buNone/>
            </a:pPr>
            <a:r>
              <a:t/>
            </a:r>
            <a:endParaRPr/>
          </a:p>
          <a:p>
            <a:pPr indent="-154940" lvl="0" marL="342900" rtl="0" algn="l">
              <a:spcBef>
                <a:spcPts val="592"/>
              </a:spcBef>
              <a:spcAft>
                <a:spcPts val="0"/>
              </a:spcAft>
              <a:buClr>
                <a:schemeClr val="dk1"/>
              </a:buClr>
              <a:buSzPct val="100000"/>
              <a:buNone/>
            </a:pPr>
            <a:r>
              <a:t/>
            </a:r>
            <a:endParaRPr/>
          </a:p>
          <a:p>
            <a:pPr indent="-154940" lvl="0" marL="342900" rtl="0" algn="l">
              <a:spcBef>
                <a:spcPts val="592"/>
              </a:spcBef>
              <a:spcAft>
                <a:spcPts val="0"/>
              </a:spcAft>
              <a:buClr>
                <a:schemeClr val="dk1"/>
              </a:buClr>
              <a:buSzPct val="100000"/>
              <a:buNone/>
            </a:pPr>
            <a:r>
              <a:t/>
            </a:r>
            <a:endParaRPr/>
          </a:p>
          <a:p>
            <a:pPr indent="-154940" lvl="0" marL="342900" rtl="0" algn="l">
              <a:spcBef>
                <a:spcPts val="592"/>
              </a:spcBef>
              <a:spcAft>
                <a:spcPts val="0"/>
              </a:spcAft>
              <a:buClr>
                <a:schemeClr val="dk1"/>
              </a:buClr>
              <a:buSzPct val="100000"/>
              <a:buNone/>
            </a:pPr>
            <a:r>
              <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descr="logo_new" id="113" name="Google Shape;113;p4">
            <a:hlinkClick r:id="rId3"/>
          </p:cNvPr>
          <p:cNvPicPr preferRelativeResize="0"/>
          <p:nvPr/>
        </p:nvPicPr>
        <p:blipFill rotWithShape="1">
          <a:blip r:embed="rId4">
            <a:alphaModFix/>
          </a:blip>
          <a:srcRect b="0" l="0" r="0" t="0"/>
          <a:stretch/>
        </p:blipFill>
        <p:spPr>
          <a:xfrm>
            <a:off x="6223000" y="44450"/>
            <a:ext cx="2381250" cy="1895475"/>
          </a:xfrm>
          <a:prstGeom prst="rect">
            <a:avLst/>
          </a:prstGeom>
          <a:noFill/>
          <a:ln>
            <a:noFill/>
          </a:ln>
        </p:spPr>
      </p:pic>
      <p:sp>
        <p:nvSpPr>
          <p:cNvPr id="114" name="Google Shape;114;p4"/>
          <p:cNvSpPr txBox="1"/>
          <p:nvPr>
            <p:ph type="title"/>
          </p:nvPr>
        </p:nvSpPr>
        <p:spPr>
          <a:xfrm>
            <a:off x="762000" y="762000"/>
            <a:ext cx="7924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600"/>
              <a:buFont typeface="Calibri"/>
              <a:buNone/>
            </a:pPr>
            <a:r>
              <a:rPr lang="en-US" sz="6600"/>
              <a:t>What is AI?</a:t>
            </a:r>
            <a:endParaRPr/>
          </a:p>
        </p:txBody>
      </p:sp>
      <p:sp>
        <p:nvSpPr>
          <p:cNvPr id="115" name="Google Shape;115;p4"/>
          <p:cNvSpPr txBox="1"/>
          <p:nvPr/>
        </p:nvSpPr>
        <p:spPr>
          <a:xfrm>
            <a:off x="933449" y="4453596"/>
            <a:ext cx="3694113" cy="16256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dk1"/>
                </a:solidFill>
                <a:latin typeface="Comic Sans MS"/>
                <a:ea typeface="Comic Sans MS"/>
                <a:cs typeface="Comic Sans MS"/>
                <a:sym typeface="Comic Sans MS"/>
              </a:rPr>
              <a:t>The exciting new effort to make computers thinks … </a:t>
            </a:r>
            <a:r>
              <a:rPr b="0" i="1" lang="en-US" sz="2000" u="none" cap="none" strike="noStrike">
                <a:solidFill>
                  <a:srgbClr val="CC3300"/>
                </a:solidFill>
                <a:latin typeface="Comic Sans MS"/>
                <a:ea typeface="Comic Sans MS"/>
                <a:cs typeface="Comic Sans MS"/>
                <a:sym typeface="Comic Sans MS"/>
              </a:rPr>
              <a:t>machine with minds</a:t>
            </a:r>
            <a:r>
              <a:rPr b="0" i="0" lang="en-US" sz="2000" u="none" cap="none" strike="noStrike">
                <a:solidFill>
                  <a:schemeClr val="dk1"/>
                </a:solidFill>
                <a:latin typeface="Comic Sans MS"/>
                <a:ea typeface="Comic Sans MS"/>
                <a:cs typeface="Comic Sans MS"/>
                <a:sym typeface="Comic Sans MS"/>
              </a:rPr>
              <a:t>, in the full and literal sense” </a:t>
            </a:r>
            <a:endParaRPr/>
          </a:p>
          <a:p>
            <a:pPr indent="0" lvl="0" marL="0" marR="0" rtl="0" algn="l">
              <a:spcBef>
                <a:spcPts val="0"/>
              </a:spcBef>
              <a:spcAft>
                <a:spcPts val="0"/>
              </a:spcAft>
              <a:buNone/>
            </a:pPr>
            <a:r>
              <a:rPr b="0" i="0" lang="en-US" sz="2000" u="none" cap="none" strike="noStrike">
                <a:solidFill>
                  <a:schemeClr val="dk1"/>
                </a:solidFill>
                <a:latin typeface="Comic Sans MS"/>
                <a:ea typeface="Comic Sans MS"/>
                <a:cs typeface="Comic Sans MS"/>
                <a:sym typeface="Comic Sans MS"/>
              </a:rPr>
              <a:t>(Haugeland 1985)</a:t>
            </a:r>
            <a:endParaRPr/>
          </a:p>
        </p:txBody>
      </p:sp>
      <p:sp>
        <p:nvSpPr>
          <p:cNvPr id="116" name="Google Shape;116;p4"/>
          <p:cNvSpPr txBox="1"/>
          <p:nvPr/>
        </p:nvSpPr>
        <p:spPr>
          <a:xfrm>
            <a:off x="915987" y="2641600"/>
            <a:ext cx="3694113" cy="16256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dk1"/>
                </a:solidFill>
                <a:latin typeface="Comic Sans MS"/>
                <a:ea typeface="Comic Sans MS"/>
                <a:cs typeface="Comic Sans MS"/>
                <a:sym typeface="Comic Sans MS"/>
              </a:rPr>
              <a:t>“The art of creating machines that </a:t>
            </a:r>
            <a:r>
              <a:rPr b="0" i="0" lang="en-US" sz="2000" u="none" cap="none" strike="noStrike">
                <a:solidFill>
                  <a:srgbClr val="CC3300"/>
                </a:solidFill>
                <a:latin typeface="Comic Sans MS"/>
                <a:ea typeface="Comic Sans MS"/>
                <a:cs typeface="Comic Sans MS"/>
                <a:sym typeface="Comic Sans MS"/>
              </a:rPr>
              <a:t>perform functions</a:t>
            </a:r>
            <a:r>
              <a:rPr b="0" i="0" lang="en-US" sz="2000" u="none" cap="none" strike="noStrike">
                <a:solidFill>
                  <a:schemeClr val="dk1"/>
                </a:solidFill>
                <a:latin typeface="Comic Sans MS"/>
                <a:ea typeface="Comic Sans MS"/>
                <a:cs typeface="Comic Sans MS"/>
                <a:sym typeface="Comic Sans MS"/>
              </a:rPr>
              <a:t> that require intelligence when performed by </a:t>
            </a:r>
            <a:r>
              <a:rPr b="0" i="0" lang="en-US" sz="2000" u="none" cap="none" strike="noStrike">
                <a:solidFill>
                  <a:srgbClr val="CC3300"/>
                </a:solidFill>
                <a:latin typeface="Comic Sans MS"/>
                <a:ea typeface="Comic Sans MS"/>
                <a:cs typeface="Comic Sans MS"/>
                <a:sym typeface="Comic Sans MS"/>
              </a:rPr>
              <a:t>people</a:t>
            </a:r>
            <a:r>
              <a:rPr b="0" i="0" lang="en-US" sz="2000" u="none" cap="none" strike="noStrike">
                <a:solidFill>
                  <a:schemeClr val="dk1"/>
                </a:solidFill>
                <a:latin typeface="Comic Sans MS"/>
                <a:ea typeface="Comic Sans MS"/>
                <a:cs typeface="Comic Sans MS"/>
                <a:sym typeface="Comic Sans MS"/>
              </a:rPr>
              <a:t>” (Kurzweil, 1990)</a:t>
            </a:r>
            <a:endParaRPr/>
          </a:p>
        </p:txBody>
      </p:sp>
      <p:sp>
        <p:nvSpPr>
          <p:cNvPr id="117" name="Google Shape;117;p4"/>
          <p:cNvSpPr txBox="1"/>
          <p:nvPr/>
        </p:nvSpPr>
        <p:spPr>
          <a:xfrm>
            <a:off x="4854966" y="4484553"/>
            <a:ext cx="3673475" cy="16256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33CC"/>
                </a:solidFill>
                <a:latin typeface="Comic Sans MS"/>
                <a:ea typeface="Comic Sans MS"/>
                <a:cs typeface="Comic Sans MS"/>
                <a:sym typeface="Comic Sans MS"/>
              </a:rPr>
              <a:t>“The study of mental faculties through the use of computational models” </a:t>
            </a:r>
            <a:endParaRPr/>
          </a:p>
          <a:p>
            <a:pPr indent="0" lvl="0" marL="0" marR="0" rtl="0" algn="l">
              <a:spcBef>
                <a:spcPts val="0"/>
              </a:spcBef>
              <a:spcAft>
                <a:spcPts val="0"/>
              </a:spcAft>
              <a:buNone/>
            </a:pPr>
            <a:r>
              <a:rPr b="0" i="0" lang="en-US" sz="2000" u="none" cap="none" strike="noStrike">
                <a:solidFill>
                  <a:srgbClr val="0033CC"/>
                </a:solidFill>
                <a:latin typeface="Comic Sans MS"/>
                <a:ea typeface="Comic Sans MS"/>
                <a:cs typeface="Comic Sans MS"/>
                <a:sym typeface="Comic Sans MS"/>
              </a:rPr>
              <a:t>(Charniak et al. 1985)</a:t>
            </a:r>
            <a:endParaRPr/>
          </a:p>
          <a:p>
            <a:pPr indent="0" lvl="0" marL="0" marR="0" rtl="0" algn="l">
              <a:spcBef>
                <a:spcPts val="0"/>
              </a:spcBef>
              <a:spcAft>
                <a:spcPts val="0"/>
              </a:spcAft>
              <a:buNone/>
            </a:pPr>
            <a:r>
              <a:t/>
            </a:r>
            <a:endParaRPr b="0" i="0" sz="2000" u="none" cap="none" strike="noStrike">
              <a:solidFill>
                <a:srgbClr val="0033CC"/>
              </a:solidFill>
              <a:latin typeface="Comic Sans MS"/>
              <a:ea typeface="Comic Sans MS"/>
              <a:cs typeface="Comic Sans MS"/>
              <a:sym typeface="Comic Sans MS"/>
            </a:endParaRPr>
          </a:p>
        </p:txBody>
      </p:sp>
      <p:sp>
        <p:nvSpPr>
          <p:cNvPr id="118" name="Google Shape;118;p4"/>
          <p:cNvSpPr txBox="1"/>
          <p:nvPr/>
        </p:nvSpPr>
        <p:spPr>
          <a:xfrm>
            <a:off x="4854966" y="2647303"/>
            <a:ext cx="3656012" cy="16256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33CC"/>
                </a:solidFill>
                <a:latin typeface="Comic Sans MS"/>
                <a:ea typeface="Comic Sans MS"/>
                <a:cs typeface="Comic Sans MS"/>
                <a:sym typeface="Comic Sans MS"/>
              </a:rPr>
              <a:t>A field of study that seeks to explain and emulate intelligent behavior in terms of computational processes” (Schalkol, 1990)</a:t>
            </a:r>
            <a:endParaRPr/>
          </a:p>
        </p:txBody>
      </p:sp>
      <p:sp>
        <p:nvSpPr>
          <p:cNvPr id="119" name="Google Shape;119;p4"/>
          <p:cNvSpPr/>
          <p:nvPr/>
        </p:nvSpPr>
        <p:spPr>
          <a:xfrm>
            <a:off x="914400" y="4454390"/>
            <a:ext cx="3732213" cy="165576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CC3300"/>
                </a:solidFill>
                <a:latin typeface="Comic Sans MS"/>
                <a:ea typeface="Comic Sans MS"/>
                <a:cs typeface="Comic Sans MS"/>
                <a:sym typeface="Comic Sans MS"/>
              </a:rPr>
              <a:t>Thinking Humanly</a:t>
            </a:r>
            <a:endParaRPr b="0" i="0" sz="1800" u="none" cap="none" strike="noStrike">
              <a:solidFill>
                <a:schemeClr val="dk1"/>
              </a:solidFill>
              <a:latin typeface="Calibri"/>
              <a:ea typeface="Calibri"/>
              <a:cs typeface="Calibri"/>
              <a:sym typeface="Calibri"/>
            </a:endParaRPr>
          </a:p>
        </p:txBody>
      </p:sp>
      <p:sp>
        <p:nvSpPr>
          <p:cNvPr id="120" name="Google Shape;120;p4"/>
          <p:cNvSpPr/>
          <p:nvPr/>
        </p:nvSpPr>
        <p:spPr>
          <a:xfrm>
            <a:off x="4854966" y="4452803"/>
            <a:ext cx="3732212" cy="1655763"/>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0033CC"/>
                </a:solidFill>
                <a:latin typeface="Comic Sans MS"/>
                <a:ea typeface="Comic Sans MS"/>
                <a:cs typeface="Comic Sans MS"/>
                <a:sym typeface="Comic Sans MS"/>
              </a:rPr>
              <a:t>Thinking Rationally</a:t>
            </a:r>
            <a:endParaRPr b="0" i="0" sz="1800" u="none" cap="none" strike="noStrike">
              <a:solidFill>
                <a:srgbClr val="0033CC"/>
              </a:solidFill>
              <a:latin typeface="Calibri"/>
              <a:ea typeface="Calibri"/>
              <a:cs typeface="Calibri"/>
              <a:sym typeface="Calibri"/>
            </a:endParaRPr>
          </a:p>
        </p:txBody>
      </p:sp>
      <p:sp>
        <p:nvSpPr>
          <p:cNvPr id="121" name="Google Shape;121;p4"/>
          <p:cNvSpPr/>
          <p:nvPr/>
        </p:nvSpPr>
        <p:spPr>
          <a:xfrm>
            <a:off x="915987" y="2611438"/>
            <a:ext cx="3732213" cy="1655762"/>
          </a:xfrm>
          <a:prstGeom prst="rect">
            <a:avLst/>
          </a:prstGeom>
          <a:solidFill>
            <a:srgbClr val="FF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CC3300"/>
                </a:solidFill>
                <a:latin typeface="Comic Sans MS"/>
                <a:ea typeface="Comic Sans MS"/>
                <a:cs typeface="Comic Sans MS"/>
                <a:sym typeface="Comic Sans MS"/>
              </a:rPr>
              <a:t>Acting Humanly</a:t>
            </a:r>
            <a:endParaRPr b="0" i="0" sz="1800" u="none" cap="none" strike="noStrike">
              <a:solidFill>
                <a:schemeClr val="dk1"/>
              </a:solidFill>
              <a:latin typeface="Calibri"/>
              <a:ea typeface="Calibri"/>
              <a:cs typeface="Calibri"/>
              <a:sym typeface="Calibri"/>
            </a:endParaRPr>
          </a:p>
        </p:txBody>
      </p:sp>
      <p:sp>
        <p:nvSpPr>
          <p:cNvPr id="122" name="Google Shape;122;p4"/>
          <p:cNvSpPr/>
          <p:nvPr/>
        </p:nvSpPr>
        <p:spPr>
          <a:xfrm>
            <a:off x="4843853" y="2617141"/>
            <a:ext cx="3732213" cy="1655762"/>
          </a:xfrm>
          <a:prstGeom prst="rect">
            <a:avLst/>
          </a:prstGeom>
          <a:solidFill>
            <a:srgbClr val="FF99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0033CC"/>
                </a:solidFill>
                <a:latin typeface="Comic Sans MS"/>
                <a:ea typeface="Comic Sans MS"/>
                <a:cs typeface="Comic Sans MS"/>
                <a:sym typeface="Comic Sans MS"/>
              </a:rPr>
              <a:t>Acting Rationally</a:t>
            </a:r>
            <a:endParaRPr b="0" i="0" sz="1800" u="none" cap="none" strike="noStrike">
              <a:solidFill>
                <a:srgbClr val="0033CC"/>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descr="turing" id="128" name="Google Shape;128;p5"/>
          <p:cNvPicPr preferRelativeResize="0"/>
          <p:nvPr/>
        </p:nvPicPr>
        <p:blipFill rotWithShape="1">
          <a:blip r:embed="rId3">
            <a:alphaModFix/>
          </a:blip>
          <a:srcRect b="0" l="0" r="0" t="0"/>
          <a:stretch/>
        </p:blipFill>
        <p:spPr>
          <a:xfrm>
            <a:off x="4686300" y="3344490"/>
            <a:ext cx="3948113" cy="1368425"/>
          </a:xfrm>
          <a:prstGeom prst="rect">
            <a:avLst/>
          </a:prstGeom>
          <a:noFill/>
          <a:ln>
            <a:noFill/>
          </a:ln>
        </p:spPr>
      </p:pic>
      <p:sp>
        <p:nvSpPr>
          <p:cNvPr id="129" name="Google Shape;129;p5"/>
          <p:cNvSpPr txBox="1"/>
          <p:nvPr>
            <p:ph idx="1" type="body"/>
          </p:nvPr>
        </p:nvSpPr>
        <p:spPr>
          <a:xfrm>
            <a:off x="381000" y="2209800"/>
            <a:ext cx="8382000" cy="2130425"/>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Font typeface="Calibri"/>
              <a:buChar char="•"/>
            </a:pPr>
            <a:r>
              <a:rPr b="1" lang="en-US" sz="2000"/>
              <a:t>Computing Machinery and Intelligence</a:t>
            </a:r>
            <a:r>
              <a:rPr lang="en-US" sz="2000"/>
              <a:t>, written by </a:t>
            </a:r>
            <a:r>
              <a:rPr lang="en-US" sz="2000" u="sng">
                <a:solidFill>
                  <a:schemeClr val="hlink"/>
                </a:solidFill>
                <a:hlinkClick r:id="rId4"/>
              </a:rPr>
              <a:t>Alan Turing</a:t>
            </a:r>
            <a:r>
              <a:rPr lang="en-US" sz="2000"/>
              <a:t> and published in 1950 in </a:t>
            </a:r>
            <a:r>
              <a:rPr i="1" lang="en-US" sz="2000" u="sng">
                <a:solidFill>
                  <a:schemeClr val="hlink"/>
                </a:solidFill>
                <a:hlinkClick r:id="rId5"/>
              </a:rPr>
              <a:t>Mind</a:t>
            </a:r>
            <a:r>
              <a:rPr lang="en-US" sz="2000"/>
              <a:t>, is a paper on the topic of </a:t>
            </a:r>
            <a:r>
              <a:rPr lang="en-US" sz="2000" u="sng">
                <a:solidFill>
                  <a:schemeClr val="hlink"/>
                </a:solidFill>
                <a:hlinkClick r:id="rId6"/>
              </a:rPr>
              <a:t>artificial intelligence</a:t>
            </a:r>
            <a:r>
              <a:rPr lang="en-US" sz="2000"/>
              <a:t> in which the concept of what is now known as the </a:t>
            </a:r>
            <a:r>
              <a:rPr lang="en-US" sz="2000" u="sng">
                <a:solidFill>
                  <a:schemeClr val="hlink"/>
                </a:solidFill>
                <a:hlinkClick r:id="rId7"/>
              </a:rPr>
              <a:t>Turing test</a:t>
            </a:r>
            <a:r>
              <a:rPr lang="en-US" sz="2000"/>
              <a:t> was introduced to a wide audience.</a:t>
            </a:r>
            <a:endParaRPr/>
          </a:p>
          <a:p>
            <a:pPr indent="-342900" lvl="0" marL="342900" rtl="0" algn="l">
              <a:spcBef>
                <a:spcPts val="407"/>
              </a:spcBef>
              <a:spcAft>
                <a:spcPts val="0"/>
              </a:spcAft>
              <a:buClr>
                <a:schemeClr val="dk1"/>
              </a:buClr>
              <a:buSzPct val="100000"/>
              <a:buFont typeface="Calibri"/>
              <a:buChar char="•"/>
            </a:pPr>
            <a:r>
              <a:rPr lang="en-US" sz="2200"/>
              <a:t>The Turing Test</a:t>
            </a:r>
            <a:endParaRPr/>
          </a:p>
          <a:p>
            <a:pPr indent="-342900" lvl="0" marL="342900" rtl="0" algn="l">
              <a:spcBef>
                <a:spcPts val="444"/>
              </a:spcBef>
              <a:spcAft>
                <a:spcPts val="0"/>
              </a:spcAft>
              <a:buClr>
                <a:schemeClr val="dk1"/>
              </a:buClr>
              <a:buSzPct val="100000"/>
              <a:buNone/>
            </a:pPr>
            <a:br>
              <a:rPr lang="en-US" sz="2400"/>
            </a:br>
            <a:endParaRPr sz="2400"/>
          </a:p>
        </p:txBody>
      </p:sp>
      <p:sp>
        <p:nvSpPr>
          <p:cNvPr id="130" name="Google Shape;130;p5"/>
          <p:cNvSpPr txBox="1"/>
          <p:nvPr>
            <p:ph type="title"/>
          </p:nvPr>
        </p:nvSpPr>
        <p:spPr>
          <a:xfrm>
            <a:off x="457200" y="427038"/>
            <a:ext cx="7467600" cy="639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lang="en-US" sz="3600"/>
              <a:t>Acting humanly </a:t>
            </a:r>
            <a:br>
              <a:rPr lang="en-US" sz="3600"/>
            </a:br>
            <a:r>
              <a:rPr b="1" lang="en-US" sz="3600"/>
              <a:t>The Turing Test approach</a:t>
            </a:r>
            <a:endParaRPr sz="3600"/>
          </a:p>
        </p:txBody>
      </p:sp>
      <p:pic>
        <p:nvPicPr>
          <p:cNvPr descr="Turing" id="131" name="Google Shape;131;p5"/>
          <p:cNvPicPr preferRelativeResize="0"/>
          <p:nvPr/>
        </p:nvPicPr>
        <p:blipFill rotWithShape="1">
          <a:blip r:embed="rId8">
            <a:alphaModFix/>
          </a:blip>
          <a:srcRect b="0" l="0" r="0" t="0"/>
          <a:stretch/>
        </p:blipFill>
        <p:spPr>
          <a:xfrm>
            <a:off x="7111791" y="41704"/>
            <a:ext cx="1440772" cy="1752600"/>
          </a:xfrm>
          <a:prstGeom prst="rect">
            <a:avLst/>
          </a:prstGeom>
          <a:noFill/>
          <a:ln>
            <a:noFill/>
          </a:ln>
        </p:spPr>
      </p:pic>
      <p:sp>
        <p:nvSpPr>
          <p:cNvPr id="132" name="Google Shape;132;p5"/>
          <p:cNvSpPr/>
          <p:nvPr/>
        </p:nvSpPr>
        <p:spPr>
          <a:xfrm>
            <a:off x="5079965" y="1828800"/>
            <a:ext cx="4038600" cy="3416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b="0" i="0" lang="en-US" sz="1800" u="none" cap="none" strike="noStrike">
                <a:solidFill>
                  <a:schemeClr val="dk1"/>
                </a:solidFill>
                <a:latin typeface="Calibri"/>
                <a:ea typeface="Calibri"/>
                <a:cs typeface="Calibri"/>
                <a:sym typeface="Calibri"/>
              </a:rPr>
              <a:t>Alan Turing, born at 23</a:t>
            </a:r>
            <a:r>
              <a:rPr b="0" baseline="30000" i="0" lang="en-US" sz="1800" u="none" cap="none" strike="noStrike">
                <a:solidFill>
                  <a:schemeClr val="dk1"/>
                </a:solidFill>
                <a:latin typeface="Calibri"/>
                <a:ea typeface="Calibri"/>
                <a:cs typeface="Calibri"/>
                <a:sym typeface="Calibri"/>
              </a:rPr>
              <a:t>rd</a:t>
            </a:r>
            <a:r>
              <a:rPr b="0" i="0" lang="en-US" sz="1800" u="none" cap="none" strike="noStrike">
                <a:solidFill>
                  <a:schemeClr val="dk1"/>
                </a:solidFill>
                <a:latin typeface="Calibri"/>
                <a:ea typeface="Calibri"/>
                <a:cs typeface="Calibri"/>
                <a:sym typeface="Calibri"/>
              </a:rPr>
              <a:t> of june, 1912</a:t>
            </a:r>
            <a:endParaRPr/>
          </a:p>
        </p:txBody>
      </p:sp>
      <p:sp>
        <p:nvSpPr>
          <p:cNvPr id="133" name="Google Shape;133;p5"/>
          <p:cNvSpPr/>
          <p:nvPr/>
        </p:nvSpPr>
        <p:spPr>
          <a:xfrm>
            <a:off x="381000" y="5115139"/>
            <a:ext cx="8610600" cy="1514261"/>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How can we evaluate intelligence?</a:t>
            </a:r>
            <a:endParaRPr/>
          </a:p>
          <a:p>
            <a:pPr indent="-285750" lvl="1" marL="742950" marR="0" rtl="0" algn="l">
              <a:spcBef>
                <a:spcPts val="44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Turing [1950]:  a machine can be deemed intelligent when its responses to interrogation by a human are indistinguishable from those of a human being.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Turing Test</a:t>
            </a:r>
            <a:endParaRPr/>
          </a:p>
        </p:txBody>
      </p:sp>
      <p:sp>
        <p:nvSpPr>
          <p:cNvPr id="139" name="Google Shape;139;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200"/>
              <a:buChar char="•"/>
            </a:pPr>
            <a:r>
              <a:rPr lang="en-US" sz="2200"/>
              <a:t>Turing begins the 1950 paper with the claim, "I propose to consider the question '</a:t>
            </a:r>
            <a:r>
              <a:rPr i="1" lang="en-US" sz="2200"/>
              <a:t>Can machines think?</a:t>
            </a:r>
            <a:r>
              <a:rPr lang="en-US" sz="2200"/>
              <a:t>’</a:t>
            </a:r>
            <a:endParaRPr/>
          </a:p>
          <a:p>
            <a:pPr indent="-342900" lvl="0" marL="342900" rtl="0" algn="l">
              <a:spcBef>
                <a:spcPts val="440"/>
              </a:spcBef>
              <a:spcAft>
                <a:spcPts val="0"/>
              </a:spcAft>
              <a:buClr>
                <a:schemeClr val="dk1"/>
              </a:buClr>
              <a:buSzPts val="2200"/>
              <a:buChar char="•"/>
            </a:pPr>
            <a:r>
              <a:rPr lang="en-US" sz="2200"/>
              <a:t>The traditional approach to such a question is to start with definitions, defining both the terms "</a:t>
            </a:r>
            <a:r>
              <a:rPr i="1" lang="en-US" sz="2200"/>
              <a:t>machine</a:t>
            </a:r>
            <a:r>
              <a:rPr lang="en-US" sz="2200"/>
              <a:t>" and "</a:t>
            </a:r>
            <a:r>
              <a:rPr i="1" lang="en-US" sz="2200"/>
              <a:t>intelligence</a:t>
            </a:r>
            <a:r>
              <a:rPr lang="en-US" sz="2200"/>
              <a:t>". </a:t>
            </a:r>
            <a:endParaRPr/>
          </a:p>
          <a:p>
            <a:pPr indent="-342900" lvl="0" marL="342900" rtl="0" algn="l">
              <a:spcBef>
                <a:spcPts val="440"/>
              </a:spcBef>
              <a:spcAft>
                <a:spcPts val="0"/>
              </a:spcAft>
              <a:buClr>
                <a:schemeClr val="dk1"/>
              </a:buClr>
              <a:buSzPts val="2200"/>
              <a:buChar char="•"/>
            </a:pPr>
            <a:r>
              <a:rPr lang="en-US" sz="2200"/>
              <a:t>In essence he proposes to change the question from "Can machines think?" to "Can machines do what we (as thinking entities) can do?“</a:t>
            </a:r>
            <a:endParaRPr/>
          </a:p>
          <a:p>
            <a:pPr indent="-342900" lvl="0" marL="342900" rtl="0" algn="l">
              <a:spcBef>
                <a:spcPts val="440"/>
              </a:spcBef>
              <a:spcAft>
                <a:spcPts val="0"/>
              </a:spcAft>
              <a:buClr>
                <a:schemeClr val="dk1"/>
              </a:buClr>
              <a:buSzPts val="2200"/>
              <a:buChar char="•"/>
            </a:pPr>
            <a:r>
              <a:rPr lang="en-US" sz="2200"/>
              <a:t>The conversation would be limited to a text-only channel such as a computer keyboard and screen so the result would not depend on the machine's ability to render words as speech.</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Turing Test: Criticism</a:t>
            </a:r>
            <a:endParaRPr/>
          </a:p>
        </p:txBody>
      </p:sp>
      <p:sp>
        <p:nvSpPr>
          <p:cNvPr id="145" name="Google Shape;145;p8"/>
          <p:cNvSpPr txBox="1"/>
          <p:nvPr>
            <p:ph idx="1" type="body"/>
          </p:nvPr>
        </p:nvSpPr>
        <p:spPr>
          <a:xfrm>
            <a:off x="457200" y="1600200"/>
            <a:ext cx="8229600" cy="50292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200"/>
              <a:buFont typeface="Calibri"/>
              <a:buChar char="•"/>
            </a:pPr>
            <a:r>
              <a:rPr lang="en-US" sz="2200"/>
              <a:t>What are some potential problems with the Turing Test?</a:t>
            </a:r>
            <a:endParaRPr/>
          </a:p>
          <a:p>
            <a:pPr indent="-285750" lvl="1" marL="742950" rtl="0" algn="l">
              <a:spcBef>
                <a:spcPts val="440"/>
              </a:spcBef>
              <a:spcAft>
                <a:spcPts val="0"/>
              </a:spcAft>
              <a:buClr>
                <a:schemeClr val="dk1"/>
              </a:buClr>
              <a:buSzPts val="2200"/>
              <a:buChar char="–"/>
            </a:pPr>
            <a:r>
              <a:rPr lang="en-US" sz="2200"/>
              <a:t>Some human behavior is not intelligent </a:t>
            </a:r>
            <a:endParaRPr/>
          </a:p>
          <a:p>
            <a:pPr indent="-228600" lvl="2" marL="1143000" rtl="0" algn="l">
              <a:spcBef>
                <a:spcPts val="440"/>
              </a:spcBef>
              <a:spcAft>
                <a:spcPts val="0"/>
              </a:spcAft>
              <a:buClr>
                <a:schemeClr val="dk1"/>
              </a:buClr>
              <a:buSzPts val="2200"/>
              <a:buChar char="•"/>
            </a:pPr>
            <a:r>
              <a:rPr lang="en-US" sz="2200"/>
              <a:t>T</a:t>
            </a:r>
            <a:r>
              <a:rPr lang="en-US" sz="2200"/>
              <a:t>he temptation to lie, a high frequency of typing mistakes.</a:t>
            </a:r>
            <a:endParaRPr sz="2200"/>
          </a:p>
          <a:p>
            <a:pPr indent="-228600" lvl="2" marL="1143000" rtl="0" algn="l">
              <a:spcBef>
                <a:spcPts val="440"/>
              </a:spcBef>
              <a:spcAft>
                <a:spcPts val="0"/>
              </a:spcAft>
              <a:buSzPts val="2200"/>
              <a:buChar char="•"/>
            </a:pPr>
            <a:r>
              <a:rPr lang="en-US" sz="2200"/>
              <a:t>A machine that mimics these errors might pass as human,  but that doesn’t prove it’s intelligent.</a:t>
            </a:r>
            <a:endParaRPr sz="2200"/>
          </a:p>
          <a:p>
            <a:pPr indent="-285750" lvl="1" marL="742950" rtl="0" algn="l">
              <a:spcBef>
                <a:spcPts val="440"/>
              </a:spcBef>
              <a:spcAft>
                <a:spcPts val="0"/>
              </a:spcAft>
              <a:buClr>
                <a:schemeClr val="dk1"/>
              </a:buClr>
              <a:buSzPts val="2200"/>
              <a:buChar char="–"/>
            </a:pPr>
            <a:r>
              <a:rPr lang="en-US" sz="2200"/>
              <a:t>Some intelligent behavior may not be human</a:t>
            </a:r>
            <a:endParaRPr/>
          </a:p>
          <a:p>
            <a:pPr indent="-228600" lvl="2" marL="1143000" rtl="0" algn="l">
              <a:spcBef>
                <a:spcPts val="440"/>
              </a:spcBef>
              <a:spcAft>
                <a:spcPts val="0"/>
              </a:spcAft>
              <a:buClr>
                <a:schemeClr val="dk1"/>
              </a:buClr>
              <a:buSzPts val="2200"/>
              <a:buChar char="•"/>
            </a:pPr>
            <a:r>
              <a:rPr lang="en-US" sz="2200"/>
              <a:t>If it were to solve a computational problem that is practically impossible for a human to solve.</a:t>
            </a:r>
            <a:endParaRPr sz="2200"/>
          </a:p>
          <a:p>
            <a:pPr indent="-228600" lvl="2" marL="1143000" rtl="0" algn="l">
              <a:spcBef>
                <a:spcPts val="440"/>
              </a:spcBef>
              <a:spcAft>
                <a:spcPts val="0"/>
              </a:spcAft>
              <a:buSzPts val="2200"/>
              <a:buChar char="•"/>
            </a:pPr>
            <a:r>
              <a:rPr lang="en-US" sz="2200"/>
              <a:t>A strict turing test would penalize the AI for being too smart because it doesn’t act human-like.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Reverse Turing test and CAPTCHA</a:t>
            </a:r>
            <a:endParaRPr/>
          </a:p>
        </p:txBody>
      </p:sp>
      <p:sp>
        <p:nvSpPr>
          <p:cNvPr id="151" name="Google Shape;151;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200"/>
              <a:buChar char="•"/>
            </a:pPr>
            <a:r>
              <a:rPr lang="en-US" sz="2200"/>
              <a:t>A reverse Turing test is a Turing test in which the objective or roles between computers and humans have been reversed.</a:t>
            </a:r>
            <a:endParaRPr/>
          </a:p>
          <a:p>
            <a:pPr indent="-342900" lvl="0" marL="342900" rtl="0" algn="l">
              <a:spcBef>
                <a:spcPts val="440"/>
              </a:spcBef>
              <a:spcAft>
                <a:spcPts val="0"/>
              </a:spcAft>
              <a:buClr>
                <a:schemeClr val="dk1"/>
              </a:buClr>
              <a:buSzPts val="2200"/>
              <a:buChar char="•"/>
            </a:pPr>
            <a:r>
              <a:rPr lang="en-US" sz="2200"/>
              <a:t>In other words, a computer administers a test to determine if the subject is or is not human.</a:t>
            </a:r>
            <a:endParaRPr/>
          </a:p>
          <a:p>
            <a:pPr indent="-342900" lvl="0" marL="342900" rtl="0" algn="l">
              <a:spcBef>
                <a:spcPts val="440"/>
              </a:spcBef>
              <a:spcAft>
                <a:spcPts val="0"/>
              </a:spcAft>
              <a:buClr>
                <a:schemeClr val="dk1"/>
              </a:buClr>
              <a:buSzPts val="2200"/>
              <a:buChar char="•"/>
            </a:pPr>
            <a:r>
              <a:rPr lang="en-US" sz="2200"/>
              <a:t>As of 2004, such procedures, called CAPTCHAs (Completely Automated Public Turing test to tell Computers and Humans Apart), are used in some anti-spam systems to prevent automated bulk use of communications systems.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9"/>
          <p:cNvSpPr txBox="1"/>
          <p:nvPr>
            <p:ph type="title"/>
          </p:nvPr>
        </p:nvSpPr>
        <p:spPr>
          <a:xfrm>
            <a:off x="457200" y="274638"/>
            <a:ext cx="7467600" cy="10969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lang="en-US" sz="3600"/>
              <a:t>Thinking humanly </a:t>
            </a:r>
            <a:br>
              <a:rPr lang="en-US" sz="3600"/>
            </a:br>
            <a:r>
              <a:rPr b="1" lang="en-US" sz="3600"/>
              <a:t>The cognitive modelling approach</a:t>
            </a:r>
            <a:endParaRPr sz="3600"/>
          </a:p>
        </p:txBody>
      </p:sp>
      <p:sp>
        <p:nvSpPr>
          <p:cNvPr id="158" name="Google Shape;158;p9"/>
          <p:cNvSpPr txBox="1"/>
          <p:nvPr>
            <p:ph idx="1" type="body"/>
          </p:nvPr>
        </p:nvSpPr>
        <p:spPr>
          <a:xfrm>
            <a:off x="533400" y="1524000"/>
            <a:ext cx="8077200" cy="5257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200"/>
              <a:buFont typeface="Calibri"/>
              <a:buChar char="•"/>
            </a:pPr>
            <a:r>
              <a:rPr lang="en-US" sz="2200"/>
              <a:t>The interdisciplinary field of cognitive science brings together computer models from AI and experimental techniques from psychology to try to construct precise and testable theories of the workings of the human mind. Research methods include introspection, psychological experiments etc.</a:t>
            </a:r>
            <a:endParaRPr/>
          </a:p>
          <a:p>
            <a:pPr indent="-342900" lvl="0" marL="342900" rtl="0" algn="l">
              <a:spcBef>
                <a:spcPts val="440"/>
              </a:spcBef>
              <a:spcAft>
                <a:spcPts val="0"/>
              </a:spcAft>
              <a:buClr>
                <a:schemeClr val="dk1"/>
              </a:buClr>
              <a:buSzPts val="2200"/>
              <a:buFont typeface="Calibri"/>
              <a:buChar char="•"/>
            </a:pPr>
            <a:r>
              <a:rPr lang="en-US" sz="2200"/>
              <a:t>We need to get </a:t>
            </a:r>
            <a:r>
              <a:rPr i="1" lang="en-US" sz="2200"/>
              <a:t>inside</a:t>
            </a:r>
            <a:r>
              <a:rPr lang="en-US" sz="2200"/>
              <a:t> the actual workings of human minds.</a:t>
            </a:r>
            <a:endParaRPr/>
          </a:p>
          <a:p>
            <a:pPr indent="-342900" lvl="0" marL="342900" rtl="0" algn="l">
              <a:spcBef>
                <a:spcPts val="440"/>
              </a:spcBef>
              <a:spcAft>
                <a:spcPts val="0"/>
              </a:spcAft>
              <a:buClr>
                <a:schemeClr val="dk1"/>
              </a:buClr>
              <a:buSzPts val="2200"/>
              <a:buFont typeface="Calibri"/>
              <a:buChar char="•"/>
            </a:pPr>
            <a:r>
              <a:rPr lang="en-US" sz="2200"/>
              <a:t>There are two ways to do this: through </a:t>
            </a:r>
            <a:endParaRPr/>
          </a:p>
          <a:p>
            <a:pPr indent="-285750" lvl="1" marL="742950" marR="0" rtl="0" algn="l">
              <a:lnSpc>
                <a:spcPct val="90000"/>
              </a:lnSpc>
              <a:spcBef>
                <a:spcPts val="440"/>
              </a:spcBef>
              <a:spcAft>
                <a:spcPts val="0"/>
              </a:spcAft>
              <a:buSzPts val="2200"/>
              <a:buChar char="–"/>
            </a:pPr>
            <a:r>
              <a:rPr lang="en-US" sz="2200"/>
              <a:t>Introspection</a:t>
            </a:r>
            <a:r>
              <a:rPr lang="en-US" sz="2200"/>
              <a:t>: i.e. trying to catch our own thoughts as they go by.</a:t>
            </a:r>
            <a:endParaRPr/>
          </a:p>
          <a:p>
            <a:pPr indent="-285750" lvl="1" marL="742950" marR="0" rtl="0" algn="l">
              <a:lnSpc>
                <a:spcPct val="90000"/>
              </a:lnSpc>
              <a:spcBef>
                <a:spcPts val="440"/>
              </a:spcBef>
              <a:spcAft>
                <a:spcPts val="0"/>
              </a:spcAft>
              <a:buSzPts val="2200"/>
              <a:buChar char="–"/>
            </a:pPr>
            <a:r>
              <a:rPr lang="en-US" sz="2200"/>
              <a:t>or</a:t>
            </a:r>
            <a:r>
              <a:rPr lang="en-US" sz="2200"/>
              <a:t> through psychological experiments.</a:t>
            </a:r>
            <a:endParaRPr/>
          </a:p>
          <a:p>
            <a:pPr indent="-342900" lvl="0" marL="342900" rtl="0" algn="l">
              <a:lnSpc>
                <a:spcPct val="90000"/>
              </a:lnSpc>
              <a:spcBef>
                <a:spcPts val="440"/>
              </a:spcBef>
              <a:spcAft>
                <a:spcPts val="0"/>
              </a:spcAft>
              <a:buClr>
                <a:schemeClr val="dk1"/>
              </a:buClr>
              <a:buSzPts val="2200"/>
              <a:buFont typeface="Calibri"/>
              <a:buChar char="•"/>
            </a:pPr>
            <a:r>
              <a:rPr lang="en-US" sz="2200"/>
              <a:t>Problems:</a:t>
            </a:r>
            <a:endParaRPr/>
          </a:p>
          <a:p>
            <a:pPr indent="-285750" lvl="1" marL="742950" rtl="0" algn="l">
              <a:lnSpc>
                <a:spcPct val="90000"/>
              </a:lnSpc>
              <a:spcBef>
                <a:spcPts val="440"/>
              </a:spcBef>
              <a:spcAft>
                <a:spcPts val="0"/>
              </a:spcAft>
              <a:buClr>
                <a:schemeClr val="dk1"/>
              </a:buClr>
              <a:buSzPts val="2200"/>
              <a:buChar char="–"/>
            </a:pPr>
            <a:r>
              <a:rPr lang="en-US" sz="2200"/>
              <a:t>It may be impossible to identify the detailed structure of </a:t>
            </a:r>
            <a:r>
              <a:rPr lang="en-US" sz="2200"/>
              <a:t>human</a:t>
            </a:r>
            <a:r>
              <a:rPr lang="en-US" sz="2200"/>
              <a:t> problem solving using only externally-available data.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0"/>
          <p:cNvSpPr txBox="1"/>
          <p:nvPr/>
        </p:nvSpPr>
        <p:spPr>
          <a:xfrm>
            <a:off x="809625" y="1249362"/>
            <a:ext cx="7958138" cy="5075238"/>
          </a:xfrm>
          <a:prstGeom prst="rect">
            <a:avLst/>
          </a:prstGeom>
          <a:noFill/>
          <a:ln>
            <a:noFill/>
          </a:ln>
        </p:spPr>
        <p:txBody>
          <a:bodyPr anchorCtr="0" anchor="t" bIns="45700" lIns="91425" spcFirstLastPara="1" rIns="91425" wrap="square" tIns="45700">
            <a:normAutofit lnSpcReduction="10000"/>
          </a:bodyPr>
          <a:lstStyle/>
          <a:p>
            <a:pPr indent="-342900" lvl="0" marL="342900" marR="0" rtl="0" algn="l">
              <a:lnSpc>
                <a:spcPct val="80000"/>
              </a:lnSpc>
              <a:spcBef>
                <a:spcPts val="0"/>
              </a:spcBef>
              <a:spcAft>
                <a:spcPts val="0"/>
              </a:spcAft>
              <a:buClr>
                <a:schemeClr val="accent1"/>
              </a:buClr>
              <a:buSzPts val="1540"/>
              <a:buFont typeface="Calibri"/>
              <a:buChar char="•"/>
            </a:pPr>
            <a:r>
              <a:rPr b="0" i="0" lang="en-US" sz="2200" u="none" cap="none" strike="noStrike">
                <a:solidFill>
                  <a:schemeClr val="dk1"/>
                </a:solidFill>
                <a:latin typeface="Calibri"/>
                <a:ea typeface="Calibri"/>
                <a:cs typeface="Calibri"/>
                <a:sym typeface="Calibri"/>
              </a:rPr>
              <a:t>Ensure that all actions performed by computer are justifiable (“rational”)</a:t>
            </a:r>
            <a:endParaRPr/>
          </a:p>
          <a:p>
            <a:pPr indent="-167640" lvl="0" marL="274320" marR="0" rtl="0" algn="l">
              <a:lnSpc>
                <a:spcPct val="80000"/>
              </a:lnSpc>
              <a:spcBef>
                <a:spcPts val="600"/>
              </a:spcBef>
              <a:spcAft>
                <a:spcPts val="0"/>
              </a:spcAft>
              <a:buClr>
                <a:schemeClr val="accent1"/>
              </a:buClr>
              <a:buSzPts val="1680"/>
              <a:buFont typeface="Noto Sans Symbols"/>
              <a:buNone/>
            </a:pPr>
            <a:r>
              <a:t/>
            </a:r>
            <a:endParaRPr b="0" i="0" sz="2400" u="none" cap="none" strike="noStrike">
              <a:solidFill>
                <a:schemeClr val="dk1"/>
              </a:solidFill>
              <a:latin typeface="Calibri"/>
              <a:ea typeface="Calibri"/>
              <a:cs typeface="Calibri"/>
              <a:sym typeface="Calibri"/>
            </a:endParaRPr>
          </a:p>
          <a:p>
            <a:pPr indent="-167640" lvl="0" marL="274320" marR="0" rtl="0" algn="l">
              <a:lnSpc>
                <a:spcPct val="80000"/>
              </a:lnSpc>
              <a:spcBef>
                <a:spcPts val="600"/>
              </a:spcBef>
              <a:spcAft>
                <a:spcPts val="0"/>
              </a:spcAft>
              <a:buClr>
                <a:schemeClr val="accent1"/>
              </a:buClr>
              <a:buSzPts val="1680"/>
              <a:buFont typeface="Noto Sans Symbols"/>
              <a:buNone/>
            </a:pPr>
            <a:r>
              <a:t/>
            </a:r>
            <a:endParaRPr b="0" i="0" sz="2400" u="none" cap="none" strike="noStrike">
              <a:solidFill>
                <a:schemeClr val="dk1"/>
              </a:solidFill>
              <a:latin typeface="Calibri"/>
              <a:ea typeface="Calibri"/>
              <a:cs typeface="Calibri"/>
              <a:sym typeface="Calibri"/>
            </a:endParaRPr>
          </a:p>
          <a:p>
            <a:pPr indent="-167640" lvl="0" marL="274320" marR="0" rtl="0" algn="l">
              <a:lnSpc>
                <a:spcPct val="80000"/>
              </a:lnSpc>
              <a:spcBef>
                <a:spcPts val="600"/>
              </a:spcBef>
              <a:spcAft>
                <a:spcPts val="0"/>
              </a:spcAft>
              <a:buClr>
                <a:schemeClr val="accent1"/>
              </a:buClr>
              <a:buSzPts val="1680"/>
              <a:buFont typeface="Noto Sans Symbols"/>
              <a:buNone/>
            </a:pPr>
            <a:r>
              <a:t/>
            </a:r>
            <a:endParaRPr b="0" i="0" sz="2400" u="none" cap="none" strike="noStrike">
              <a:solidFill>
                <a:schemeClr val="dk1"/>
              </a:solidFill>
              <a:latin typeface="Calibri"/>
              <a:ea typeface="Calibri"/>
              <a:cs typeface="Calibri"/>
              <a:sym typeface="Calibri"/>
            </a:endParaRPr>
          </a:p>
          <a:p>
            <a:pPr indent="-167640" lvl="0" marL="274320" marR="0" rtl="0" algn="l">
              <a:lnSpc>
                <a:spcPct val="80000"/>
              </a:lnSpc>
              <a:spcBef>
                <a:spcPts val="600"/>
              </a:spcBef>
              <a:spcAft>
                <a:spcPts val="0"/>
              </a:spcAft>
              <a:buClr>
                <a:schemeClr val="accent1"/>
              </a:buClr>
              <a:buSzPts val="1680"/>
              <a:buFont typeface="Noto Sans Symbols"/>
              <a:buNone/>
            </a:pPr>
            <a:r>
              <a:t/>
            </a:r>
            <a:endParaRPr b="0" i="0" sz="2400" u="none" cap="none" strike="noStrike">
              <a:solidFill>
                <a:schemeClr val="dk1"/>
              </a:solidFill>
              <a:latin typeface="Calibri"/>
              <a:ea typeface="Calibri"/>
              <a:cs typeface="Calibri"/>
              <a:sym typeface="Calibri"/>
            </a:endParaRPr>
          </a:p>
          <a:p>
            <a:pPr indent="-342900" lvl="0" marL="342900" marR="0" rtl="0" algn="l">
              <a:lnSpc>
                <a:spcPct val="80000"/>
              </a:lnSpc>
              <a:spcBef>
                <a:spcPts val="440"/>
              </a:spcBef>
              <a:spcAft>
                <a:spcPts val="0"/>
              </a:spcAft>
              <a:buClr>
                <a:schemeClr val="accent1"/>
              </a:buClr>
              <a:buSzPts val="1540"/>
              <a:buFont typeface="Calibri"/>
              <a:buChar char="•"/>
            </a:pPr>
            <a:r>
              <a:rPr b="0" i="0" lang="en-US" sz="2200" u="none" cap="none" strike="noStrike">
                <a:solidFill>
                  <a:schemeClr val="dk1"/>
                </a:solidFill>
                <a:latin typeface="Calibri"/>
                <a:ea typeface="Calibri"/>
                <a:cs typeface="Calibri"/>
                <a:sym typeface="Calibri"/>
              </a:rPr>
              <a:t>Rational = Conclusions are provable from inputs and prior knowledge</a:t>
            </a:r>
            <a:endParaRPr/>
          </a:p>
          <a:p>
            <a:pPr indent="-342900" lvl="2" marL="800100" marR="0" rtl="0" algn="l">
              <a:lnSpc>
                <a:spcPct val="80000"/>
              </a:lnSpc>
              <a:spcBef>
                <a:spcPts val="440"/>
              </a:spcBef>
              <a:spcAft>
                <a:spcPts val="0"/>
              </a:spcAft>
              <a:buClr>
                <a:schemeClr val="accent1"/>
              </a:buClr>
              <a:buSzPts val="1540"/>
              <a:buFont typeface="Arial"/>
              <a:buChar char="•"/>
            </a:pPr>
            <a:r>
              <a:rPr b="0" i="0" lang="en-US" sz="2200" u="none" cap="none" strike="noStrike">
                <a:solidFill>
                  <a:schemeClr val="dk1"/>
                </a:solidFill>
                <a:latin typeface="Calibri"/>
                <a:ea typeface="Calibri"/>
                <a:cs typeface="Calibri"/>
                <a:sym typeface="Calibri"/>
              </a:rPr>
              <a:t>For example, “Tom is a man; all men are mortal; therefore Tom is mortal.”</a:t>
            </a:r>
            <a:endParaRPr/>
          </a:p>
          <a:p>
            <a:pPr indent="-342900" lvl="2" marL="342900" marR="0" rtl="0" algn="l">
              <a:lnSpc>
                <a:spcPct val="90000"/>
              </a:lnSpc>
              <a:spcBef>
                <a:spcPts val="440"/>
              </a:spcBef>
              <a:spcAft>
                <a:spcPts val="0"/>
              </a:spcAft>
              <a:buClr>
                <a:schemeClr val="accent1"/>
              </a:buClr>
              <a:buSzPts val="1540"/>
              <a:buFont typeface="Calibri"/>
              <a:buChar char="•"/>
            </a:pPr>
            <a:r>
              <a:rPr b="0" i="0" lang="en-US" sz="2200" u="none" cap="none" strike="noStrike">
                <a:solidFill>
                  <a:schemeClr val="dk1"/>
                </a:solidFill>
                <a:latin typeface="Calibri"/>
                <a:ea typeface="Calibri"/>
                <a:cs typeface="Calibri"/>
                <a:sym typeface="Calibri"/>
              </a:rPr>
              <a:t>There are two obstacles to this approach. </a:t>
            </a:r>
            <a:endParaRPr/>
          </a:p>
          <a:p>
            <a:pPr indent="-342900" lvl="3" marL="800100" marR="0" rtl="0" algn="l">
              <a:lnSpc>
                <a:spcPct val="90000"/>
              </a:lnSpc>
              <a:spcBef>
                <a:spcPts val="440"/>
              </a:spcBef>
              <a:spcAft>
                <a:spcPts val="0"/>
              </a:spcAft>
              <a:buClr>
                <a:schemeClr val="accent1"/>
              </a:buClr>
              <a:buSzPts val="1540"/>
              <a:buFont typeface="Calibri"/>
              <a:buChar char="•"/>
            </a:pPr>
            <a:r>
              <a:rPr b="0" i="0" lang="en-US" sz="2200" u="none" cap="none" strike="noStrike">
                <a:solidFill>
                  <a:schemeClr val="dk1"/>
                </a:solidFill>
                <a:latin typeface="Calibri"/>
                <a:ea typeface="Calibri"/>
                <a:cs typeface="Calibri"/>
                <a:sym typeface="Calibri"/>
              </a:rPr>
              <a:t>First, It is not easy to take informal knowledge and state in the formal terms required by logical notation.</a:t>
            </a:r>
            <a:endParaRPr/>
          </a:p>
          <a:p>
            <a:pPr indent="-342900" lvl="3" marL="800100" marR="0" rtl="0" algn="l">
              <a:lnSpc>
                <a:spcPct val="90000"/>
              </a:lnSpc>
              <a:spcBef>
                <a:spcPts val="440"/>
              </a:spcBef>
              <a:spcAft>
                <a:spcPts val="0"/>
              </a:spcAft>
              <a:buClr>
                <a:schemeClr val="accent1"/>
              </a:buClr>
              <a:buSzPts val="1540"/>
              <a:buFont typeface="Calibri"/>
              <a:buChar char="•"/>
            </a:pPr>
            <a:r>
              <a:rPr b="0" i="0" lang="en-US" sz="2200" u="none" cap="none" strike="noStrike">
                <a:solidFill>
                  <a:schemeClr val="dk1"/>
                </a:solidFill>
                <a:latin typeface="Calibri"/>
                <a:ea typeface="Calibri"/>
                <a:cs typeface="Calibri"/>
                <a:sym typeface="Calibri"/>
              </a:rPr>
              <a:t>Second, solving problem principally is different from doing it in practice. Even problems with certain dozens of fact may exhaust the computational resources of any computer unless it has some guidance as which reasoning step to try first.</a:t>
            </a:r>
            <a:endParaRPr/>
          </a:p>
          <a:p>
            <a:pPr indent="-167640" lvl="0" marL="274320" marR="0" rtl="0" algn="l">
              <a:lnSpc>
                <a:spcPct val="80000"/>
              </a:lnSpc>
              <a:spcBef>
                <a:spcPts val="600"/>
              </a:spcBef>
              <a:spcAft>
                <a:spcPts val="0"/>
              </a:spcAft>
              <a:buClr>
                <a:schemeClr val="accent1"/>
              </a:buClr>
              <a:buSzPts val="1680"/>
              <a:buFont typeface="Noto Sans Symbols"/>
              <a:buNone/>
            </a:pPr>
            <a:r>
              <a:t/>
            </a:r>
            <a:endParaRPr b="0" i="0" sz="2400" u="none" cap="none" strike="noStrike">
              <a:solidFill>
                <a:schemeClr val="dk1"/>
              </a:solidFill>
              <a:latin typeface="Calibri"/>
              <a:ea typeface="Calibri"/>
              <a:cs typeface="Calibri"/>
              <a:sym typeface="Calibri"/>
            </a:endParaRPr>
          </a:p>
        </p:txBody>
      </p:sp>
      <p:sp>
        <p:nvSpPr>
          <p:cNvPr id="164" name="Google Shape;164;p10"/>
          <p:cNvSpPr txBox="1"/>
          <p:nvPr/>
        </p:nvSpPr>
        <p:spPr>
          <a:xfrm>
            <a:off x="1524000" y="1981200"/>
            <a:ext cx="2590800" cy="769441"/>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200"/>
              <a:buFont typeface="Calibri"/>
              <a:buNone/>
            </a:pPr>
            <a:r>
              <a:rPr b="0" i="0" lang="en-US" sz="2200" u="none" cap="none" strike="noStrike">
                <a:solidFill>
                  <a:schemeClr val="dk1"/>
                </a:solidFill>
                <a:latin typeface="Calibri"/>
                <a:ea typeface="Calibri"/>
                <a:cs typeface="Calibri"/>
                <a:sym typeface="Calibri"/>
              </a:rPr>
              <a:t>Facts and Rules in Formal Logic</a:t>
            </a:r>
            <a:endParaRPr/>
          </a:p>
        </p:txBody>
      </p:sp>
      <p:sp>
        <p:nvSpPr>
          <p:cNvPr id="165" name="Google Shape;165;p10"/>
          <p:cNvSpPr txBox="1"/>
          <p:nvPr/>
        </p:nvSpPr>
        <p:spPr>
          <a:xfrm>
            <a:off x="5334000" y="2133600"/>
            <a:ext cx="2590800" cy="43088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200"/>
              <a:buFont typeface="Calibri"/>
              <a:buNone/>
            </a:pPr>
            <a:r>
              <a:rPr b="0" i="0" lang="en-US" sz="2200" u="none" cap="none" strike="noStrike">
                <a:solidFill>
                  <a:schemeClr val="dk1"/>
                </a:solidFill>
                <a:latin typeface="Calibri"/>
                <a:ea typeface="Calibri"/>
                <a:cs typeface="Calibri"/>
                <a:sym typeface="Calibri"/>
              </a:rPr>
              <a:t>Theorem Prover</a:t>
            </a:r>
            <a:endParaRPr/>
          </a:p>
        </p:txBody>
      </p:sp>
      <p:cxnSp>
        <p:nvCxnSpPr>
          <p:cNvPr id="166" name="Google Shape;166;p10"/>
          <p:cNvCxnSpPr/>
          <p:nvPr/>
        </p:nvCxnSpPr>
        <p:spPr>
          <a:xfrm>
            <a:off x="4114800" y="2362200"/>
            <a:ext cx="1219200" cy="0"/>
          </a:xfrm>
          <a:prstGeom prst="straightConnector1">
            <a:avLst/>
          </a:prstGeom>
          <a:noFill/>
          <a:ln cap="flat" cmpd="sng" w="9525">
            <a:solidFill>
              <a:schemeClr val="dk1"/>
            </a:solidFill>
            <a:prstDash val="solid"/>
            <a:round/>
            <a:headEnd len="med" w="med" type="triangle"/>
            <a:tailEnd len="med" w="med" type="triangle"/>
          </a:ln>
        </p:spPr>
      </p:cxnSp>
      <p:sp>
        <p:nvSpPr>
          <p:cNvPr id="167" name="Google Shape;167;p10"/>
          <p:cNvSpPr txBox="1"/>
          <p:nvPr>
            <p:ph type="title"/>
          </p:nvPr>
        </p:nvSpPr>
        <p:spPr>
          <a:xfrm>
            <a:off x="457200" y="76200"/>
            <a:ext cx="8229600" cy="11731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4000"/>
              <a:t>Thinking Rationally: </a:t>
            </a:r>
            <a:br>
              <a:rPr lang="en-US" sz="4000"/>
            </a:br>
            <a:r>
              <a:rPr b="1" lang="en-US" sz="4000"/>
              <a:t>The Laws of Thought Approach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1"/>
          <p:cNvSpPr txBox="1"/>
          <p:nvPr>
            <p:ph type="title"/>
          </p:nvPr>
        </p:nvSpPr>
        <p:spPr>
          <a:xfrm>
            <a:off x="457200" y="274638"/>
            <a:ext cx="8229600" cy="1020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lang="en-US" sz="3600"/>
              <a:t>Acting rationally </a:t>
            </a:r>
            <a:br>
              <a:rPr lang="en-US" sz="3600"/>
            </a:br>
            <a:r>
              <a:rPr b="1" lang="en-US" sz="3600"/>
              <a:t>Rational agent</a:t>
            </a:r>
            <a:endParaRPr/>
          </a:p>
        </p:txBody>
      </p:sp>
      <p:sp>
        <p:nvSpPr>
          <p:cNvPr id="174" name="Google Shape;174;p11"/>
          <p:cNvSpPr txBox="1"/>
          <p:nvPr>
            <p:ph idx="1" type="body"/>
          </p:nvPr>
        </p:nvSpPr>
        <p:spPr>
          <a:xfrm>
            <a:off x="609600" y="1371600"/>
            <a:ext cx="7924800" cy="5211762"/>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Clr>
                <a:schemeClr val="dk1"/>
              </a:buClr>
              <a:buSzPct val="100000"/>
              <a:buFont typeface="Calibri"/>
              <a:buChar char="•"/>
            </a:pPr>
            <a:r>
              <a:rPr lang="en-US" sz="2200"/>
              <a:t>An agent is anything that can be viewed as perceiving its environment through sensors and acting upon that environment through actuators.</a:t>
            </a:r>
            <a:endParaRPr/>
          </a:p>
          <a:p>
            <a:pPr indent="-342900" lvl="0" marL="342900" rtl="0" algn="l">
              <a:spcBef>
                <a:spcPts val="407"/>
              </a:spcBef>
              <a:spcAft>
                <a:spcPts val="0"/>
              </a:spcAft>
              <a:buClr>
                <a:schemeClr val="dk1"/>
              </a:buClr>
              <a:buSzPct val="100000"/>
              <a:buFont typeface="Calibri"/>
              <a:buChar char="•"/>
            </a:pPr>
            <a:r>
              <a:rPr lang="en-US" sz="2200"/>
              <a:t>A human agent has eyes, ears, and other organs for sensors and hands, legs, vocal tract, and so on for actuators. </a:t>
            </a:r>
            <a:endParaRPr/>
          </a:p>
          <a:p>
            <a:pPr indent="-342900" lvl="0" marL="342900" rtl="0" algn="l">
              <a:spcBef>
                <a:spcPts val="407"/>
              </a:spcBef>
              <a:spcAft>
                <a:spcPts val="0"/>
              </a:spcAft>
              <a:buClr>
                <a:schemeClr val="dk1"/>
              </a:buClr>
              <a:buSzPct val="100000"/>
              <a:buFont typeface="Calibri"/>
              <a:buChar char="•"/>
            </a:pPr>
            <a:r>
              <a:rPr lang="en-US" sz="2200"/>
              <a:t>A robotic agent might have cameras and infrared range finders for sensors and various motors for actuators. </a:t>
            </a:r>
            <a:endParaRPr/>
          </a:p>
          <a:p>
            <a:pPr indent="-342900" lvl="0" marL="342900" rtl="0" algn="l">
              <a:spcBef>
                <a:spcPts val="407"/>
              </a:spcBef>
              <a:spcAft>
                <a:spcPts val="0"/>
              </a:spcAft>
              <a:buClr>
                <a:schemeClr val="dk1"/>
              </a:buClr>
              <a:buSzPct val="100000"/>
              <a:buFont typeface="Calibri"/>
              <a:buChar char="•"/>
            </a:pPr>
            <a:r>
              <a:rPr lang="en-US" sz="2200"/>
              <a:t>A software agent receives keystrokes, file contents, and network packets as sensory inputs and acts on the environment by displaying on the screen, writing files, and sending network packets.</a:t>
            </a:r>
            <a:endParaRPr/>
          </a:p>
          <a:p>
            <a:pPr indent="-342900" lvl="0" marL="342900" rtl="0" algn="l">
              <a:spcBef>
                <a:spcPts val="407"/>
              </a:spcBef>
              <a:spcAft>
                <a:spcPts val="0"/>
              </a:spcAft>
              <a:buClr>
                <a:schemeClr val="dk1"/>
              </a:buClr>
              <a:buSzPct val="100000"/>
              <a:buFont typeface="Calibri"/>
              <a:buChar char="•"/>
            </a:pPr>
            <a:r>
              <a:rPr lang="en-US" sz="2200"/>
              <a:t>A rational agent is one that acts to achieve the best expected outcome</a:t>
            </a:r>
            <a:endParaRPr/>
          </a:p>
          <a:p>
            <a:pPr indent="-285750" lvl="1" marL="742950" rtl="0" algn="l">
              <a:spcBef>
                <a:spcPts val="407"/>
              </a:spcBef>
              <a:spcAft>
                <a:spcPts val="0"/>
              </a:spcAft>
              <a:buClr>
                <a:schemeClr val="dk1"/>
              </a:buClr>
              <a:buSzPct val="100000"/>
              <a:buFont typeface="Calibri"/>
              <a:buChar char="•"/>
            </a:pPr>
            <a:r>
              <a:rPr lang="en-US" sz="2200"/>
              <a:t>Goals are application-dependent and are expressed in terms of the utility of outcomes.</a:t>
            </a:r>
            <a:endParaRPr/>
          </a:p>
          <a:p>
            <a:pPr indent="-285750" lvl="1" marL="742950" rtl="0" algn="l">
              <a:spcBef>
                <a:spcPts val="407"/>
              </a:spcBef>
              <a:spcAft>
                <a:spcPts val="0"/>
              </a:spcAft>
              <a:buClr>
                <a:schemeClr val="dk1"/>
              </a:buClr>
              <a:buSzPct val="100000"/>
              <a:buFont typeface="Calibri"/>
              <a:buChar char="•"/>
            </a:pPr>
            <a:r>
              <a:rPr lang="en-US" sz="2200"/>
              <a:t>Being rational means maximizing your expected utility.</a:t>
            </a:r>
            <a:endParaRPr/>
          </a:p>
          <a:p>
            <a:pPr indent="-285750" lvl="1" marL="742950" rtl="0" algn="l">
              <a:spcBef>
                <a:spcPts val="407"/>
              </a:spcBef>
              <a:spcAft>
                <a:spcPts val="0"/>
              </a:spcAft>
              <a:buClr>
                <a:schemeClr val="dk1"/>
              </a:buClr>
              <a:buSzPct val="100000"/>
              <a:buFont typeface="Calibri"/>
              <a:buChar char="•"/>
            </a:pPr>
            <a:r>
              <a:rPr lang="en-US" sz="2200"/>
              <a:t>In practice, utility optimization is subject to the agent’s computational constraints.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4"/>
          <p:cNvSpPr txBox="1"/>
          <p:nvPr>
            <p:ph type="title"/>
          </p:nvPr>
        </p:nvSpPr>
        <p:spPr>
          <a:xfrm>
            <a:off x="762000" y="762000"/>
            <a:ext cx="7924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Weak and Strong AI</a:t>
            </a:r>
            <a:endParaRPr/>
          </a:p>
        </p:txBody>
      </p:sp>
      <p:sp>
        <p:nvSpPr>
          <p:cNvPr id="180" name="Google Shape;180;p14"/>
          <p:cNvSpPr txBox="1"/>
          <p:nvPr/>
        </p:nvSpPr>
        <p:spPr>
          <a:xfrm>
            <a:off x="902939" y="4456287"/>
            <a:ext cx="3694113" cy="16256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dk1"/>
                </a:solidFill>
                <a:latin typeface="Comic Sans MS"/>
                <a:ea typeface="Comic Sans MS"/>
                <a:cs typeface="Comic Sans MS"/>
                <a:sym typeface="Comic Sans MS"/>
              </a:rPr>
              <a:t>The exciting new effort to make computers thinks … </a:t>
            </a:r>
            <a:r>
              <a:rPr b="0" i="1" lang="en-US" sz="2000" u="none" cap="none" strike="noStrike">
                <a:solidFill>
                  <a:srgbClr val="CC3300"/>
                </a:solidFill>
                <a:latin typeface="Comic Sans MS"/>
                <a:ea typeface="Comic Sans MS"/>
                <a:cs typeface="Comic Sans MS"/>
                <a:sym typeface="Comic Sans MS"/>
              </a:rPr>
              <a:t>machine with minds</a:t>
            </a:r>
            <a:r>
              <a:rPr b="0" i="0" lang="en-US" sz="2000" u="none" cap="none" strike="noStrike">
                <a:solidFill>
                  <a:schemeClr val="dk1"/>
                </a:solidFill>
                <a:latin typeface="Comic Sans MS"/>
                <a:ea typeface="Comic Sans MS"/>
                <a:cs typeface="Comic Sans MS"/>
                <a:sym typeface="Comic Sans MS"/>
              </a:rPr>
              <a:t>, in the full and literal sense” </a:t>
            </a:r>
            <a:endParaRPr/>
          </a:p>
          <a:p>
            <a:pPr indent="0" lvl="0" marL="0" marR="0" rtl="0" algn="l">
              <a:spcBef>
                <a:spcPts val="0"/>
              </a:spcBef>
              <a:spcAft>
                <a:spcPts val="0"/>
              </a:spcAft>
              <a:buNone/>
            </a:pPr>
            <a:r>
              <a:rPr b="0" i="0" lang="en-US" sz="2000" u="none" cap="none" strike="noStrike">
                <a:solidFill>
                  <a:schemeClr val="dk1"/>
                </a:solidFill>
                <a:latin typeface="Comic Sans MS"/>
                <a:ea typeface="Comic Sans MS"/>
                <a:cs typeface="Comic Sans MS"/>
                <a:sym typeface="Comic Sans MS"/>
              </a:rPr>
              <a:t>(Haugeland 1985)</a:t>
            </a:r>
            <a:endParaRPr/>
          </a:p>
        </p:txBody>
      </p:sp>
      <p:sp>
        <p:nvSpPr>
          <p:cNvPr id="181" name="Google Shape;181;p14"/>
          <p:cNvSpPr txBox="1"/>
          <p:nvPr/>
        </p:nvSpPr>
        <p:spPr>
          <a:xfrm>
            <a:off x="876300" y="2631281"/>
            <a:ext cx="3694113" cy="16256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dk1"/>
                </a:solidFill>
                <a:latin typeface="Comic Sans MS"/>
                <a:ea typeface="Comic Sans MS"/>
                <a:cs typeface="Comic Sans MS"/>
                <a:sym typeface="Comic Sans MS"/>
              </a:rPr>
              <a:t>“The art of creating machines that </a:t>
            </a:r>
            <a:r>
              <a:rPr b="0" i="0" lang="en-US" sz="2000" u="none" cap="none" strike="noStrike">
                <a:solidFill>
                  <a:srgbClr val="CC3300"/>
                </a:solidFill>
                <a:latin typeface="Comic Sans MS"/>
                <a:ea typeface="Comic Sans MS"/>
                <a:cs typeface="Comic Sans MS"/>
                <a:sym typeface="Comic Sans MS"/>
              </a:rPr>
              <a:t>perform functions</a:t>
            </a:r>
            <a:r>
              <a:rPr b="0" i="0" lang="en-US" sz="2000" u="none" cap="none" strike="noStrike">
                <a:solidFill>
                  <a:schemeClr val="dk1"/>
                </a:solidFill>
                <a:latin typeface="Comic Sans MS"/>
                <a:ea typeface="Comic Sans MS"/>
                <a:cs typeface="Comic Sans MS"/>
                <a:sym typeface="Comic Sans MS"/>
              </a:rPr>
              <a:t> that require intelligence when performed by </a:t>
            </a:r>
            <a:r>
              <a:rPr b="0" i="0" lang="en-US" sz="2000" u="none" cap="none" strike="noStrike">
                <a:solidFill>
                  <a:srgbClr val="CC3300"/>
                </a:solidFill>
                <a:latin typeface="Comic Sans MS"/>
                <a:ea typeface="Comic Sans MS"/>
                <a:cs typeface="Comic Sans MS"/>
                <a:sym typeface="Comic Sans MS"/>
              </a:rPr>
              <a:t>people</a:t>
            </a:r>
            <a:r>
              <a:rPr b="0" i="0" lang="en-US" sz="2000" u="none" cap="none" strike="noStrike">
                <a:solidFill>
                  <a:schemeClr val="dk1"/>
                </a:solidFill>
                <a:latin typeface="Comic Sans MS"/>
                <a:ea typeface="Comic Sans MS"/>
                <a:cs typeface="Comic Sans MS"/>
                <a:sym typeface="Comic Sans MS"/>
              </a:rPr>
              <a:t>” (Kurzweil, 1990)</a:t>
            </a:r>
            <a:endParaRPr/>
          </a:p>
        </p:txBody>
      </p:sp>
      <p:sp>
        <p:nvSpPr>
          <p:cNvPr id="182" name="Google Shape;182;p14"/>
          <p:cNvSpPr txBox="1"/>
          <p:nvPr/>
        </p:nvSpPr>
        <p:spPr>
          <a:xfrm>
            <a:off x="4876800" y="4459853"/>
            <a:ext cx="3673475" cy="16256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33CC"/>
                </a:solidFill>
                <a:latin typeface="Comic Sans MS"/>
                <a:ea typeface="Comic Sans MS"/>
                <a:cs typeface="Comic Sans MS"/>
                <a:sym typeface="Comic Sans MS"/>
              </a:rPr>
              <a:t>“The study of mental faculties through the use of computational models” </a:t>
            </a:r>
            <a:endParaRPr/>
          </a:p>
          <a:p>
            <a:pPr indent="0" lvl="0" marL="0" marR="0" rtl="0" algn="l">
              <a:spcBef>
                <a:spcPts val="0"/>
              </a:spcBef>
              <a:spcAft>
                <a:spcPts val="0"/>
              </a:spcAft>
              <a:buNone/>
            </a:pPr>
            <a:r>
              <a:rPr b="0" i="0" lang="en-US" sz="2000" u="none" cap="none" strike="noStrike">
                <a:solidFill>
                  <a:srgbClr val="0033CC"/>
                </a:solidFill>
                <a:latin typeface="Comic Sans MS"/>
                <a:ea typeface="Comic Sans MS"/>
                <a:cs typeface="Comic Sans MS"/>
                <a:sym typeface="Comic Sans MS"/>
              </a:rPr>
              <a:t>(Charniak et al. 1985)</a:t>
            </a:r>
            <a:endParaRPr/>
          </a:p>
          <a:p>
            <a:pPr indent="0" lvl="0" marL="0" marR="0" rtl="0" algn="l">
              <a:spcBef>
                <a:spcPts val="0"/>
              </a:spcBef>
              <a:spcAft>
                <a:spcPts val="0"/>
              </a:spcAft>
              <a:buNone/>
            </a:pPr>
            <a:r>
              <a:t/>
            </a:r>
            <a:endParaRPr b="0" i="0" sz="2000" u="none" cap="none" strike="noStrike">
              <a:solidFill>
                <a:srgbClr val="0033CC"/>
              </a:solidFill>
              <a:latin typeface="Comic Sans MS"/>
              <a:ea typeface="Comic Sans MS"/>
              <a:cs typeface="Comic Sans MS"/>
              <a:sym typeface="Comic Sans MS"/>
            </a:endParaRPr>
          </a:p>
        </p:txBody>
      </p:sp>
      <p:sp>
        <p:nvSpPr>
          <p:cNvPr id="183" name="Google Shape;183;p14"/>
          <p:cNvSpPr txBox="1"/>
          <p:nvPr/>
        </p:nvSpPr>
        <p:spPr>
          <a:xfrm>
            <a:off x="4862578" y="2622322"/>
            <a:ext cx="3656012" cy="16256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33CC"/>
                </a:solidFill>
                <a:latin typeface="Comic Sans MS"/>
                <a:ea typeface="Comic Sans MS"/>
                <a:cs typeface="Comic Sans MS"/>
                <a:sym typeface="Comic Sans MS"/>
              </a:rPr>
              <a:t>A field of study that seeks to explain and emulate intelligent behavior in terms of computational processes” (Schalkol, 1990)</a:t>
            </a:r>
            <a:endParaRPr/>
          </a:p>
        </p:txBody>
      </p:sp>
      <p:sp>
        <p:nvSpPr>
          <p:cNvPr id="184" name="Google Shape;184;p14"/>
          <p:cNvSpPr/>
          <p:nvPr/>
        </p:nvSpPr>
        <p:spPr>
          <a:xfrm>
            <a:off x="864839" y="4424537"/>
            <a:ext cx="3732213" cy="165576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CC3300"/>
                </a:solidFill>
                <a:latin typeface="Comic Sans MS"/>
                <a:ea typeface="Comic Sans MS"/>
                <a:cs typeface="Comic Sans MS"/>
                <a:sym typeface="Comic Sans MS"/>
              </a:rPr>
              <a:t>Thinking Humanly</a:t>
            </a:r>
            <a:endParaRPr b="0" i="0" sz="1800" u="none" cap="none" strike="noStrike">
              <a:solidFill>
                <a:schemeClr val="dk1"/>
              </a:solidFill>
              <a:latin typeface="Calibri"/>
              <a:ea typeface="Calibri"/>
              <a:cs typeface="Calibri"/>
              <a:sym typeface="Calibri"/>
            </a:endParaRPr>
          </a:p>
        </p:txBody>
      </p:sp>
      <p:sp>
        <p:nvSpPr>
          <p:cNvPr id="185" name="Google Shape;185;p14"/>
          <p:cNvSpPr/>
          <p:nvPr/>
        </p:nvSpPr>
        <p:spPr>
          <a:xfrm>
            <a:off x="4876800" y="4428103"/>
            <a:ext cx="3732212" cy="1655763"/>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0033CC"/>
                </a:solidFill>
                <a:latin typeface="Comic Sans MS"/>
                <a:ea typeface="Comic Sans MS"/>
                <a:cs typeface="Comic Sans MS"/>
                <a:sym typeface="Comic Sans MS"/>
              </a:rPr>
              <a:t>Thinking Rationally</a:t>
            </a:r>
            <a:endParaRPr b="0" i="0" sz="1800" u="none" cap="none" strike="noStrike">
              <a:solidFill>
                <a:srgbClr val="0033CC"/>
              </a:solidFill>
              <a:latin typeface="Calibri"/>
              <a:ea typeface="Calibri"/>
              <a:cs typeface="Calibri"/>
              <a:sym typeface="Calibri"/>
            </a:endParaRPr>
          </a:p>
        </p:txBody>
      </p:sp>
      <p:sp>
        <p:nvSpPr>
          <p:cNvPr id="186" name="Google Shape;186;p14"/>
          <p:cNvSpPr/>
          <p:nvPr/>
        </p:nvSpPr>
        <p:spPr>
          <a:xfrm>
            <a:off x="838200" y="2601119"/>
            <a:ext cx="3732213" cy="1655762"/>
          </a:xfrm>
          <a:prstGeom prst="rect">
            <a:avLst/>
          </a:prstGeom>
          <a:solidFill>
            <a:srgbClr val="FF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CC3300"/>
                </a:solidFill>
                <a:latin typeface="Comic Sans MS"/>
                <a:ea typeface="Comic Sans MS"/>
                <a:cs typeface="Comic Sans MS"/>
                <a:sym typeface="Comic Sans MS"/>
              </a:rPr>
              <a:t>Acting Humanly</a:t>
            </a:r>
            <a:endParaRPr b="0" i="0" sz="1800" u="none" cap="none" strike="noStrike">
              <a:solidFill>
                <a:schemeClr val="dk1"/>
              </a:solidFill>
              <a:latin typeface="Calibri"/>
              <a:ea typeface="Calibri"/>
              <a:cs typeface="Calibri"/>
              <a:sym typeface="Calibri"/>
            </a:endParaRPr>
          </a:p>
        </p:txBody>
      </p:sp>
      <p:sp>
        <p:nvSpPr>
          <p:cNvPr id="187" name="Google Shape;187;p14"/>
          <p:cNvSpPr/>
          <p:nvPr/>
        </p:nvSpPr>
        <p:spPr>
          <a:xfrm>
            <a:off x="4851465" y="2592160"/>
            <a:ext cx="3732213" cy="1655762"/>
          </a:xfrm>
          <a:prstGeom prst="rect">
            <a:avLst/>
          </a:prstGeom>
          <a:solidFill>
            <a:srgbClr val="FF99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0033CC"/>
                </a:solidFill>
                <a:latin typeface="Comic Sans MS"/>
                <a:ea typeface="Comic Sans MS"/>
                <a:cs typeface="Comic Sans MS"/>
                <a:sym typeface="Comic Sans MS"/>
              </a:rPr>
              <a:t>Acting Rationally</a:t>
            </a:r>
            <a:endParaRPr b="0" i="0" sz="1800" u="none" cap="none" strike="noStrike">
              <a:solidFill>
                <a:srgbClr val="0033CC"/>
              </a:solidFill>
              <a:latin typeface="Calibri"/>
              <a:ea typeface="Calibri"/>
              <a:cs typeface="Calibri"/>
              <a:sym typeface="Calibri"/>
            </a:endParaRPr>
          </a:p>
        </p:txBody>
      </p:sp>
      <p:sp>
        <p:nvSpPr>
          <p:cNvPr id="188" name="Google Shape;188;p14"/>
          <p:cNvSpPr/>
          <p:nvPr/>
        </p:nvSpPr>
        <p:spPr>
          <a:xfrm>
            <a:off x="5014599" y="4067741"/>
            <a:ext cx="3461346" cy="584775"/>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t" bIns="45700" lIns="91425" spcFirstLastPara="1" rIns="91425" wrap="square" tIns="45700">
            <a:spAutoFit/>
          </a:bodyPr>
          <a:lstStyle/>
          <a:p>
            <a:pPr indent="-274320" lvl="0" marL="274320" marR="0" rtl="0" algn="l">
              <a:spcBef>
                <a:spcPts val="0"/>
              </a:spcBef>
              <a:spcAft>
                <a:spcPts val="0"/>
              </a:spcAft>
              <a:buClr>
                <a:schemeClr val="accent1"/>
              </a:buClr>
              <a:buSzPts val="2240"/>
              <a:buFont typeface="Noto Sans Symbols"/>
              <a:buChar char="🞆"/>
            </a:pPr>
            <a:r>
              <a:rPr b="0" i="0" lang="en-US" sz="3200" u="none" cap="none" strike="noStrike">
                <a:solidFill>
                  <a:schemeClr val="dk1"/>
                </a:solidFill>
                <a:latin typeface="Comic Sans MS"/>
                <a:ea typeface="Comic Sans MS"/>
                <a:cs typeface="Comic Sans MS"/>
                <a:sym typeface="Comic Sans MS"/>
              </a:rPr>
              <a:t>Weak AI</a:t>
            </a:r>
            <a:endParaRPr/>
          </a:p>
        </p:txBody>
      </p:sp>
      <p:sp>
        <p:nvSpPr>
          <p:cNvPr id="189" name="Google Shape;189;p14"/>
          <p:cNvSpPr/>
          <p:nvPr/>
        </p:nvSpPr>
        <p:spPr>
          <a:xfrm>
            <a:off x="1019322" y="4060250"/>
            <a:ext cx="3461346" cy="584775"/>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t" bIns="45700" lIns="91425" spcFirstLastPara="1" rIns="91425" wrap="square" tIns="45700">
            <a:spAutoFit/>
          </a:bodyPr>
          <a:lstStyle/>
          <a:p>
            <a:pPr indent="-274320" lvl="0" marL="274320" marR="0" rtl="0" algn="l">
              <a:spcBef>
                <a:spcPts val="0"/>
              </a:spcBef>
              <a:spcAft>
                <a:spcPts val="0"/>
              </a:spcAft>
              <a:buClr>
                <a:schemeClr val="accent1"/>
              </a:buClr>
              <a:buSzPts val="2240"/>
              <a:buFont typeface="Noto Sans Symbols"/>
              <a:buChar char="🞆"/>
            </a:pPr>
            <a:r>
              <a:rPr b="0" i="0" lang="en-US" sz="3200" u="none" cap="none" strike="noStrike">
                <a:solidFill>
                  <a:schemeClr val="dk1"/>
                </a:solidFill>
                <a:latin typeface="Comic Sans MS"/>
                <a:ea typeface="Comic Sans MS"/>
                <a:cs typeface="Comic Sans MS"/>
                <a:sym typeface="Comic Sans MS"/>
              </a:rPr>
              <a:t>Strong AI</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5"/>
          <p:cNvSpPr txBox="1"/>
          <p:nvPr>
            <p:ph type="title"/>
          </p:nvPr>
        </p:nvSpPr>
        <p:spPr>
          <a:xfrm>
            <a:off x="762000" y="228600"/>
            <a:ext cx="79248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Weak AI vs Strong AI</a:t>
            </a:r>
            <a:endParaRPr/>
          </a:p>
        </p:txBody>
      </p:sp>
      <p:sp>
        <p:nvSpPr>
          <p:cNvPr id="195" name="Google Shape;195;p15"/>
          <p:cNvSpPr txBox="1"/>
          <p:nvPr/>
        </p:nvSpPr>
        <p:spPr>
          <a:xfrm>
            <a:off x="838200" y="1275725"/>
            <a:ext cx="7692900" cy="5049000"/>
          </a:xfrm>
          <a:prstGeom prst="rect">
            <a:avLst/>
          </a:prstGeom>
          <a:noFill/>
          <a:ln>
            <a:noFill/>
          </a:ln>
        </p:spPr>
        <p:txBody>
          <a:bodyPr anchorCtr="0" anchor="t" bIns="45700" lIns="91425" spcFirstLastPara="1" rIns="91425" wrap="square" tIns="45700">
            <a:normAutofit fontScale="70000"/>
          </a:bodyPr>
          <a:lstStyle/>
          <a:p>
            <a:pPr indent="-342900" lvl="0" marL="342900" marR="0" rtl="0" algn="l">
              <a:spcBef>
                <a:spcPts val="0"/>
              </a:spcBef>
              <a:spcAft>
                <a:spcPts val="0"/>
              </a:spcAft>
              <a:buClr>
                <a:schemeClr val="accent1"/>
              </a:buClr>
              <a:buSzPct val="70000"/>
              <a:buFont typeface="Calibri"/>
              <a:buChar char="•"/>
            </a:pPr>
            <a:r>
              <a:rPr b="0" i="0" lang="en-US" sz="3500" u="none" cap="none" strike="noStrike">
                <a:solidFill>
                  <a:schemeClr val="dk1"/>
                </a:solidFill>
                <a:latin typeface="Calibri"/>
                <a:ea typeface="Calibri"/>
                <a:cs typeface="Calibri"/>
                <a:sym typeface="Calibri"/>
              </a:rPr>
              <a:t>Weak AI (also known as "Narrow AI" or "Applied AI"):</a:t>
            </a:r>
            <a:endParaRPr/>
          </a:p>
          <a:p>
            <a:pPr indent="-342900" lvl="0" marL="342900" marR="0" rtl="0" algn="l">
              <a:lnSpc>
                <a:spcPct val="100000"/>
              </a:lnSpc>
              <a:spcBef>
                <a:spcPts val="490"/>
              </a:spcBef>
              <a:spcAft>
                <a:spcPts val="0"/>
              </a:spcAft>
              <a:buClr>
                <a:schemeClr val="accent1"/>
              </a:buClr>
              <a:buSzPct val="70000"/>
              <a:buFont typeface="Calibri"/>
              <a:buChar char="•"/>
            </a:pPr>
            <a:r>
              <a:rPr b="0" i="0" lang="en-US" sz="3500" u="none" cap="none" strike="noStrike">
                <a:solidFill>
                  <a:schemeClr val="dk1"/>
                </a:solidFill>
                <a:latin typeface="Calibri"/>
                <a:ea typeface="Calibri"/>
                <a:cs typeface="Calibri"/>
                <a:sym typeface="Calibri"/>
              </a:rPr>
              <a:t>Weak AI refers to AI systems that are designed and trained for a specific task or a narrow range of tasks.</a:t>
            </a:r>
            <a:endParaRPr/>
          </a:p>
          <a:p>
            <a:pPr indent="-342900" lvl="0" marL="342900" marR="0" rtl="0" algn="l">
              <a:lnSpc>
                <a:spcPct val="100000"/>
              </a:lnSpc>
              <a:spcBef>
                <a:spcPts val="490"/>
              </a:spcBef>
              <a:spcAft>
                <a:spcPts val="0"/>
              </a:spcAft>
              <a:buClr>
                <a:schemeClr val="accent1"/>
              </a:buClr>
              <a:buSzPct val="70000"/>
              <a:buFont typeface="Calibri"/>
              <a:buChar char="•"/>
            </a:pPr>
            <a:r>
              <a:rPr b="0" i="0" lang="en-US" sz="3500" u="none" cap="none" strike="noStrike">
                <a:solidFill>
                  <a:schemeClr val="dk1"/>
                </a:solidFill>
                <a:latin typeface="Calibri"/>
                <a:ea typeface="Calibri"/>
                <a:cs typeface="Calibri"/>
                <a:sym typeface="Calibri"/>
              </a:rPr>
              <a:t>These systems excel in one area, such as playing chess, recognizing faces in images, or understanding natural language.</a:t>
            </a:r>
            <a:endParaRPr/>
          </a:p>
          <a:p>
            <a:pPr indent="-342900" lvl="0" marL="342900" marR="0" rtl="0" algn="l">
              <a:lnSpc>
                <a:spcPct val="100000"/>
              </a:lnSpc>
              <a:spcBef>
                <a:spcPts val="490"/>
              </a:spcBef>
              <a:spcAft>
                <a:spcPts val="0"/>
              </a:spcAft>
              <a:buClr>
                <a:schemeClr val="accent1"/>
              </a:buClr>
              <a:buSzPct val="70000"/>
              <a:buFont typeface="Calibri"/>
              <a:buChar char="•"/>
            </a:pPr>
            <a:r>
              <a:rPr b="0" i="0" lang="en-US" sz="3500" u="none" cap="none" strike="noStrike">
                <a:solidFill>
                  <a:schemeClr val="dk1"/>
                </a:solidFill>
                <a:latin typeface="Calibri"/>
                <a:ea typeface="Calibri"/>
                <a:cs typeface="Calibri"/>
                <a:sym typeface="Calibri"/>
              </a:rPr>
              <a:t>Weak AI systems are typically not capable of performing tasks outside of their narrow domain of expertise.</a:t>
            </a:r>
            <a:endParaRPr/>
          </a:p>
          <a:p>
            <a:pPr indent="-342900" lvl="0" marL="342900" marR="0" rtl="0" algn="l">
              <a:lnSpc>
                <a:spcPct val="100000"/>
              </a:lnSpc>
              <a:spcBef>
                <a:spcPts val="490"/>
              </a:spcBef>
              <a:spcAft>
                <a:spcPts val="0"/>
              </a:spcAft>
              <a:buClr>
                <a:schemeClr val="accent1"/>
              </a:buClr>
              <a:buSzPct val="70000"/>
              <a:buFont typeface="Calibri"/>
              <a:buChar char="•"/>
            </a:pPr>
            <a:r>
              <a:rPr b="0" i="0" lang="en-US" sz="3500" u="none" cap="none" strike="noStrike">
                <a:solidFill>
                  <a:schemeClr val="dk1"/>
                </a:solidFill>
                <a:latin typeface="Calibri"/>
                <a:ea typeface="Calibri"/>
                <a:cs typeface="Calibri"/>
                <a:sym typeface="Calibri"/>
              </a:rPr>
              <a:t>For example, a chess-playing program like IBM's Deep Blue, a voice-activated virtual assistant like Amazon's Alexa, or a self-driving car like Waymo's technology are all examples of weak AI.</a:t>
            </a:r>
            <a:endParaRPr b="0" i="0" sz="2600" u="none" cap="none" strike="noStrike">
              <a:solidFill>
                <a:schemeClr val="dk1"/>
              </a:solidFill>
              <a:latin typeface="Comic Sans MS"/>
              <a:ea typeface="Comic Sans MS"/>
              <a:cs typeface="Comic Sans MS"/>
              <a:sym typeface="Comic Sans M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6"/>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t>Weak AI vs Strong AI</a:t>
            </a:r>
            <a:endParaRPr/>
          </a:p>
        </p:txBody>
      </p:sp>
      <p:sp>
        <p:nvSpPr>
          <p:cNvPr id="201" name="Google Shape;201;p16"/>
          <p:cNvSpPr txBox="1"/>
          <p:nvPr>
            <p:ph idx="1" type="body"/>
          </p:nvPr>
        </p:nvSpPr>
        <p:spPr>
          <a:xfrm>
            <a:off x="457200" y="1414075"/>
            <a:ext cx="8229600" cy="5443800"/>
          </a:xfrm>
          <a:prstGeom prst="rect">
            <a:avLst/>
          </a:prstGeom>
          <a:noFill/>
          <a:ln>
            <a:noFill/>
          </a:ln>
        </p:spPr>
        <p:txBody>
          <a:bodyPr anchorCtr="0" anchor="t" bIns="45700" lIns="91425" spcFirstLastPara="1" rIns="91425" wrap="square" tIns="45700">
            <a:normAutofit fontScale="85000" lnSpcReduction="20000"/>
          </a:bodyPr>
          <a:lstStyle/>
          <a:p>
            <a:pPr indent="-353568" lvl="0" marL="342900" marR="0" rtl="0" algn="l">
              <a:lnSpc>
                <a:spcPct val="100000"/>
              </a:lnSpc>
              <a:spcBef>
                <a:spcPts val="0"/>
              </a:spcBef>
              <a:spcAft>
                <a:spcPts val="0"/>
              </a:spcAft>
              <a:buClr>
                <a:schemeClr val="accent1"/>
              </a:buClr>
              <a:buSzPct val="70000"/>
              <a:buFont typeface="Calibri"/>
              <a:buChar char="•"/>
            </a:pPr>
            <a:r>
              <a:rPr lang="en-US" sz="3200"/>
              <a:t>Strong AI (also known as "General AI" or "True AI"):</a:t>
            </a:r>
            <a:endParaRPr/>
          </a:p>
          <a:p>
            <a:pPr indent="-353568" lvl="0" marL="342900" marR="0" rtl="0" algn="l">
              <a:lnSpc>
                <a:spcPct val="100000"/>
              </a:lnSpc>
              <a:spcBef>
                <a:spcPts val="496"/>
              </a:spcBef>
              <a:spcAft>
                <a:spcPts val="0"/>
              </a:spcAft>
              <a:buClr>
                <a:schemeClr val="accent1"/>
              </a:buClr>
              <a:buSzPct val="70000"/>
              <a:buFont typeface="Calibri"/>
              <a:buChar char="•"/>
            </a:pPr>
            <a:r>
              <a:rPr lang="en-US" sz="3200"/>
              <a:t>Strong AI refers to AI systems that have the ability to understand, learn, and reason across a broad range of tasks, similar to human intelligence.</a:t>
            </a:r>
            <a:endParaRPr/>
          </a:p>
          <a:p>
            <a:pPr indent="-353568" lvl="0" marL="342900" marR="0" rtl="0" algn="l">
              <a:lnSpc>
                <a:spcPct val="100000"/>
              </a:lnSpc>
              <a:spcBef>
                <a:spcPts val="496"/>
              </a:spcBef>
              <a:spcAft>
                <a:spcPts val="0"/>
              </a:spcAft>
              <a:buClr>
                <a:schemeClr val="accent1"/>
              </a:buClr>
              <a:buSzPct val="70000"/>
              <a:buFont typeface="Calibri"/>
              <a:buChar char="•"/>
            </a:pPr>
            <a:r>
              <a:rPr lang="en-US" sz="3200"/>
              <a:t>These systems would be capable of thinking and understanding in the way that humans do, potentially having consciousness and emotions.</a:t>
            </a:r>
            <a:endParaRPr/>
          </a:p>
          <a:p>
            <a:pPr indent="-353568" lvl="0" marL="342900" marR="0" rtl="0" algn="l">
              <a:lnSpc>
                <a:spcPct val="100000"/>
              </a:lnSpc>
              <a:spcBef>
                <a:spcPts val="496"/>
              </a:spcBef>
              <a:spcAft>
                <a:spcPts val="0"/>
              </a:spcAft>
              <a:buClr>
                <a:schemeClr val="accent1"/>
              </a:buClr>
              <a:buSzPct val="70000"/>
              <a:buFont typeface="Calibri"/>
              <a:buChar char="•"/>
            </a:pPr>
            <a:r>
              <a:rPr lang="en-US" sz="3200"/>
              <a:t>Strong AI would be able to perform any intellectual task that a human can, from understanding and generating natural language to solving complex problems and even exhibiting creativity.</a:t>
            </a:r>
            <a:endParaRPr/>
          </a:p>
          <a:p>
            <a:pPr indent="-353568" lvl="0" marL="342900" marR="0" rtl="0" algn="l">
              <a:lnSpc>
                <a:spcPct val="100000"/>
              </a:lnSpc>
              <a:spcBef>
                <a:spcPts val="496"/>
              </a:spcBef>
              <a:spcAft>
                <a:spcPts val="0"/>
              </a:spcAft>
              <a:buClr>
                <a:schemeClr val="accent1"/>
              </a:buClr>
              <a:buSzPct val="70000"/>
              <a:buFont typeface="Calibri"/>
              <a:buChar char="•"/>
            </a:pPr>
            <a:r>
              <a:rPr lang="en-US" sz="3200"/>
              <a:t>The existence of strong AI is still hypothetical, and no AI system currently exists that fits the criteria of strong AI.</a:t>
            </a:r>
            <a:endParaRPr/>
          </a:p>
          <a:p>
            <a:pPr indent="-185420" lvl="0" marL="342900" rtl="0" algn="l">
              <a:spcBef>
                <a:spcPts val="496"/>
              </a:spcBef>
              <a:spcAft>
                <a:spcPts val="0"/>
              </a:spcAft>
              <a:buClr>
                <a:schemeClr val="dk1"/>
              </a:buClr>
              <a:buSzPct val="1000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80a1379242_1_4"/>
          <p:cNvSpPr txBox="1"/>
          <p:nvPr>
            <p:ph type="ctrTitle"/>
          </p:nvPr>
        </p:nvSpPr>
        <p:spPr>
          <a:xfrm>
            <a:off x="685800" y="2130425"/>
            <a:ext cx="7772400" cy="1470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Problem Solving </a:t>
            </a:r>
            <a:r>
              <a:rPr lang="en-US"/>
              <a:t>using</a:t>
            </a:r>
            <a:r>
              <a:rPr lang="en-US"/>
              <a:t> Searching</a:t>
            </a:r>
            <a:endParaRPr/>
          </a:p>
        </p:txBody>
      </p:sp>
      <p:sp>
        <p:nvSpPr>
          <p:cNvPr id="208" name="Google Shape;208;g380a1379242_1_4"/>
          <p:cNvSpPr txBox="1"/>
          <p:nvPr>
            <p:ph idx="1" type="subTitle"/>
          </p:nvPr>
        </p:nvSpPr>
        <p:spPr>
          <a:xfrm>
            <a:off x="1371600" y="3886200"/>
            <a:ext cx="6400800" cy="1752600"/>
          </a:xfrm>
          <a:prstGeom prst="rect">
            <a:avLst/>
          </a:prstGeom>
        </p:spPr>
        <p:txBody>
          <a:bodyPr anchorCtr="0" anchor="t" bIns="45700" lIns="91425" spcFirstLastPara="1" rIns="91425" wrap="square" tIns="45700">
            <a:normAutofit/>
          </a:bodyPr>
          <a:lstStyle/>
          <a:p>
            <a:pPr indent="0" lvl="0" marL="0" rtl="0" algn="ctr">
              <a:spcBef>
                <a:spcPts val="64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Problem Solving using Searching</a:t>
            </a:r>
            <a:endParaRPr/>
          </a:p>
        </p:txBody>
      </p:sp>
      <p:sp>
        <p:nvSpPr>
          <p:cNvPr id="214" name="Google Shape;214;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Clr>
                <a:schemeClr val="dk1"/>
              </a:buClr>
              <a:buSzPct val="100000"/>
              <a:buChar char="•"/>
            </a:pPr>
            <a:r>
              <a:rPr lang="en-US"/>
              <a:t>Problem-solving using searching refers to a process where you systematically explore potential solutions to a problem in order to find the best one. </a:t>
            </a:r>
            <a:endParaRPr/>
          </a:p>
          <a:p>
            <a:pPr indent="-342900" lvl="0" marL="342900" rtl="0" algn="l">
              <a:spcBef>
                <a:spcPts val="592"/>
              </a:spcBef>
              <a:spcAft>
                <a:spcPts val="0"/>
              </a:spcAft>
              <a:buClr>
                <a:schemeClr val="dk1"/>
              </a:buClr>
              <a:buSzPct val="100000"/>
              <a:buChar char="•"/>
            </a:pPr>
            <a:r>
              <a:rPr lang="en-US"/>
              <a:t>It involves searching through a space of possible solutions, evaluating their quality, and making decisions based on this evaluation. </a:t>
            </a:r>
            <a:endParaRPr/>
          </a:p>
          <a:p>
            <a:pPr indent="-342900" lvl="0" marL="342900" rtl="0" algn="l">
              <a:spcBef>
                <a:spcPts val="592"/>
              </a:spcBef>
              <a:spcAft>
                <a:spcPts val="0"/>
              </a:spcAft>
              <a:buClr>
                <a:schemeClr val="dk1"/>
              </a:buClr>
              <a:buSzPct val="100000"/>
              <a:buChar char="•"/>
            </a:pPr>
            <a:r>
              <a:rPr lang="en-US"/>
              <a:t>This approach is commonly used in artificial intelligence and operations research.</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9"/>
          <p:cNvSpPr txBox="1"/>
          <p:nvPr>
            <p:ph type="title"/>
          </p:nvPr>
        </p:nvSpPr>
        <p:spPr>
          <a:xfrm>
            <a:off x="457200" y="274638"/>
            <a:ext cx="8229600" cy="9445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t>Problem Definition</a:t>
            </a:r>
            <a:endParaRPr/>
          </a:p>
        </p:txBody>
      </p:sp>
      <p:sp>
        <p:nvSpPr>
          <p:cNvPr id="220" name="Google Shape;220;p19"/>
          <p:cNvSpPr txBox="1"/>
          <p:nvPr>
            <p:ph idx="1" type="body"/>
          </p:nvPr>
        </p:nvSpPr>
        <p:spPr>
          <a:xfrm>
            <a:off x="457200" y="1417638"/>
            <a:ext cx="8229600" cy="4983162"/>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90000"/>
              </a:lnSpc>
              <a:spcBef>
                <a:spcPts val="0"/>
              </a:spcBef>
              <a:spcAft>
                <a:spcPts val="0"/>
              </a:spcAft>
              <a:buClr>
                <a:schemeClr val="dk1"/>
              </a:buClr>
              <a:buSzPct val="100000"/>
              <a:buChar char="•"/>
            </a:pPr>
            <a:r>
              <a:rPr b="1" lang="en-US" sz="3200" u="sng"/>
              <a:t>State space:</a:t>
            </a:r>
            <a:r>
              <a:rPr lang="en-US" sz="3200"/>
              <a:t> all states reachable from the initial state by any sequence of actions</a:t>
            </a:r>
            <a:endParaRPr b="1" sz="3200" u="sng"/>
          </a:p>
          <a:p>
            <a:pPr indent="-342900" lvl="0" marL="342900" rtl="0" algn="l">
              <a:lnSpc>
                <a:spcPct val="90000"/>
              </a:lnSpc>
              <a:spcBef>
                <a:spcPts val="592"/>
              </a:spcBef>
              <a:spcAft>
                <a:spcPts val="0"/>
              </a:spcAft>
              <a:buClr>
                <a:schemeClr val="dk1"/>
              </a:buClr>
              <a:buSzPct val="100000"/>
              <a:buChar char="•"/>
            </a:pPr>
            <a:r>
              <a:rPr b="1" lang="en-US" sz="3200" u="sng"/>
              <a:t>Initial state:</a:t>
            </a:r>
            <a:r>
              <a:rPr b="1" lang="en-US" sz="3200"/>
              <a:t> </a:t>
            </a:r>
            <a:r>
              <a:rPr lang="en-US" sz="3200"/>
              <a:t>starting point </a:t>
            </a:r>
            <a:endParaRPr b="1" sz="3200" u="sng"/>
          </a:p>
          <a:p>
            <a:pPr indent="-342900" lvl="0" marL="342900" rtl="0" algn="l">
              <a:lnSpc>
                <a:spcPct val="90000"/>
              </a:lnSpc>
              <a:spcBef>
                <a:spcPts val="592"/>
              </a:spcBef>
              <a:spcAft>
                <a:spcPts val="0"/>
              </a:spcAft>
              <a:buClr>
                <a:schemeClr val="dk1"/>
              </a:buClr>
              <a:buSzPct val="100000"/>
              <a:buChar char="•"/>
            </a:pPr>
            <a:r>
              <a:rPr b="1" lang="en-US" sz="3200" u="sng"/>
              <a:t>Operator:</a:t>
            </a:r>
            <a:r>
              <a:rPr lang="en-US" sz="3200"/>
              <a:t> description of an action </a:t>
            </a:r>
            <a:endParaRPr/>
          </a:p>
          <a:p>
            <a:pPr indent="-342900" lvl="0" marL="342900" rtl="0" algn="l">
              <a:lnSpc>
                <a:spcPct val="90000"/>
              </a:lnSpc>
              <a:spcBef>
                <a:spcPts val="592"/>
              </a:spcBef>
              <a:spcAft>
                <a:spcPts val="0"/>
              </a:spcAft>
              <a:buClr>
                <a:schemeClr val="dk1"/>
              </a:buClr>
              <a:buSzPct val="100000"/>
              <a:buChar char="•"/>
            </a:pPr>
            <a:r>
              <a:rPr b="1" lang="en-US" sz="3200" u="sng"/>
              <a:t>Goal test:</a:t>
            </a:r>
            <a:r>
              <a:rPr lang="en-US" sz="3200"/>
              <a:t> which the agent can apply to a single state description to determine if it is a goal state.</a:t>
            </a:r>
            <a:endParaRPr/>
          </a:p>
          <a:p>
            <a:pPr indent="-342900" lvl="0" marL="342900" rtl="0" algn="l">
              <a:lnSpc>
                <a:spcPct val="90000"/>
              </a:lnSpc>
              <a:spcBef>
                <a:spcPts val="592"/>
              </a:spcBef>
              <a:spcAft>
                <a:spcPts val="0"/>
              </a:spcAft>
              <a:buClr>
                <a:schemeClr val="dk1"/>
              </a:buClr>
              <a:buSzPct val="100000"/>
              <a:buChar char="•"/>
            </a:pPr>
            <a:r>
              <a:rPr b="1" lang="en-US" sz="3200" u="sng"/>
              <a:t>Path</a:t>
            </a:r>
            <a:r>
              <a:rPr b="1" lang="en-US" sz="3200"/>
              <a:t>:</a:t>
            </a:r>
            <a:r>
              <a:rPr lang="en-US" sz="3200"/>
              <a:t> sequence of actions leading from one state to another</a:t>
            </a:r>
            <a:endParaRPr/>
          </a:p>
          <a:p>
            <a:pPr indent="-342900" lvl="0" marL="342900" rtl="0" algn="l">
              <a:lnSpc>
                <a:spcPct val="90000"/>
              </a:lnSpc>
              <a:spcBef>
                <a:spcPts val="592"/>
              </a:spcBef>
              <a:spcAft>
                <a:spcPts val="0"/>
              </a:spcAft>
              <a:buClr>
                <a:schemeClr val="dk1"/>
              </a:buClr>
              <a:buSzPct val="100000"/>
              <a:buChar char="•"/>
            </a:pPr>
            <a:r>
              <a:rPr b="1" lang="en-US" sz="3200" u="sng"/>
              <a:t>Solution Cost</a:t>
            </a:r>
            <a:r>
              <a:rPr b="1" lang="en-US" sz="3200"/>
              <a:t>:</a:t>
            </a:r>
            <a:r>
              <a:rPr lang="en-US" sz="3200"/>
              <a:t> assign a cost to a path which is the sum of the costs of the individual actions along the path.</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0"/>
          <p:cNvSpPr txBox="1"/>
          <p:nvPr>
            <p:ph type="title"/>
          </p:nvPr>
        </p:nvSpPr>
        <p:spPr>
          <a:xfrm>
            <a:off x="457200" y="76200"/>
            <a:ext cx="8229600" cy="630797"/>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4000"/>
              <a:t>State Space - Search Example</a:t>
            </a:r>
            <a:endParaRPr/>
          </a:p>
        </p:txBody>
      </p:sp>
      <p:pic>
        <p:nvPicPr>
          <p:cNvPr id="226" name="Google Shape;226;p20"/>
          <p:cNvPicPr preferRelativeResize="0"/>
          <p:nvPr/>
        </p:nvPicPr>
        <p:blipFill rotWithShape="1">
          <a:blip r:embed="rId3">
            <a:alphaModFix/>
          </a:blip>
          <a:srcRect b="0" l="0" r="0" t="0"/>
          <a:stretch/>
        </p:blipFill>
        <p:spPr>
          <a:xfrm>
            <a:off x="2895600" y="879054"/>
            <a:ext cx="6161088" cy="3657600"/>
          </a:xfrm>
          <a:prstGeom prst="rect">
            <a:avLst/>
          </a:prstGeom>
          <a:noFill/>
          <a:ln>
            <a:noFill/>
          </a:ln>
        </p:spPr>
      </p:pic>
      <p:sp>
        <p:nvSpPr>
          <p:cNvPr id="227" name="Google Shape;227;p20"/>
          <p:cNvSpPr/>
          <p:nvPr/>
        </p:nvSpPr>
        <p:spPr>
          <a:xfrm>
            <a:off x="6687858" y="3559501"/>
            <a:ext cx="762000" cy="609600"/>
          </a:xfrm>
          <a:prstGeom prst="ellipse">
            <a:avLst/>
          </a:prstGeom>
          <a:solidFill>
            <a:schemeClr val="accent1">
              <a:alpha val="20000"/>
            </a:scheme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28" name="Google Shape;228;p20"/>
          <p:cNvSpPr/>
          <p:nvPr/>
        </p:nvSpPr>
        <p:spPr>
          <a:xfrm>
            <a:off x="2895600" y="1578301"/>
            <a:ext cx="762000" cy="533400"/>
          </a:xfrm>
          <a:prstGeom prst="ellipse">
            <a:avLst/>
          </a:prstGeom>
          <a:solidFill>
            <a:schemeClr val="accent1">
              <a:alpha val="20000"/>
            </a:scheme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29" name="Google Shape;229;p20"/>
          <p:cNvSpPr txBox="1"/>
          <p:nvPr/>
        </p:nvSpPr>
        <p:spPr>
          <a:xfrm>
            <a:off x="152400" y="4572000"/>
            <a:ext cx="6477000" cy="21425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200" u="none" cap="none" strike="noStrike">
                <a:solidFill>
                  <a:schemeClr val="dk1"/>
                </a:solidFill>
                <a:latin typeface="Calibri"/>
                <a:ea typeface="Calibri"/>
                <a:cs typeface="Calibri"/>
                <a:sym typeface="Calibri"/>
              </a:rPr>
              <a:t>A search problem is defined by the</a:t>
            </a:r>
            <a:endParaRPr/>
          </a:p>
          <a:p>
            <a:pPr indent="0" lvl="0" marL="0" marR="0" rtl="0" algn="l">
              <a:spcBef>
                <a:spcPts val="0"/>
              </a:spcBef>
              <a:spcAft>
                <a:spcPts val="0"/>
              </a:spcAft>
              <a:buNone/>
            </a:pPr>
            <a:r>
              <a:t/>
            </a:r>
            <a:endParaRPr sz="2200">
              <a:solidFill>
                <a:schemeClr val="dk1"/>
              </a:solidFill>
              <a:latin typeface="Calibri"/>
              <a:ea typeface="Calibri"/>
              <a:cs typeface="Calibri"/>
              <a:sym typeface="Calibri"/>
            </a:endParaRPr>
          </a:p>
          <a:p>
            <a:pPr indent="-139700" lvl="0" marL="0" marR="0" rtl="0" algn="l">
              <a:spcBef>
                <a:spcPts val="0"/>
              </a:spcBef>
              <a:spcAft>
                <a:spcPts val="0"/>
              </a:spcAft>
              <a:buClr>
                <a:schemeClr val="dk1"/>
              </a:buClr>
              <a:buSzPts val="2200"/>
              <a:buFont typeface="Calibri"/>
              <a:buAutoNum type="arabicPeriod"/>
            </a:pPr>
            <a:r>
              <a:rPr lang="en-US" sz="2200">
                <a:solidFill>
                  <a:schemeClr val="dk1"/>
                </a:solidFill>
                <a:latin typeface="Calibri"/>
                <a:ea typeface="Calibri"/>
                <a:cs typeface="Calibri"/>
                <a:sym typeface="Calibri"/>
              </a:rPr>
              <a:t>Initial state (e.g., Arad)</a:t>
            </a:r>
            <a:endParaRPr/>
          </a:p>
          <a:p>
            <a:pPr indent="-139700" lvl="0" marL="0" marR="0" rtl="0" algn="l">
              <a:spcBef>
                <a:spcPts val="0"/>
              </a:spcBef>
              <a:spcAft>
                <a:spcPts val="0"/>
              </a:spcAft>
              <a:buClr>
                <a:schemeClr val="dk1"/>
              </a:buClr>
              <a:buSzPts val="2200"/>
              <a:buFont typeface="Calibri"/>
              <a:buAutoNum type="arabicPeriod"/>
            </a:pPr>
            <a:r>
              <a:rPr lang="en-US" sz="2200">
                <a:solidFill>
                  <a:schemeClr val="dk1"/>
                </a:solidFill>
                <a:latin typeface="Calibri"/>
                <a:ea typeface="Calibri"/>
                <a:cs typeface="Calibri"/>
                <a:sym typeface="Calibri"/>
              </a:rPr>
              <a:t>Operators (e.g., Arad -&gt; Zerind, Arad -&gt; Sibiu, etc.)</a:t>
            </a:r>
            <a:endParaRPr/>
          </a:p>
          <a:p>
            <a:pPr indent="-139700" lvl="0" marL="0" marR="0" rtl="0" algn="l">
              <a:spcBef>
                <a:spcPts val="0"/>
              </a:spcBef>
              <a:spcAft>
                <a:spcPts val="0"/>
              </a:spcAft>
              <a:buClr>
                <a:schemeClr val="dk1"/>
              </a:buClr>
              <a:buSzPts val="2200"/>
              <a:buFont typeface="Calibri"/>
              <a:buAutoNum type="arabicPeriod"/>
            </a:pPr>
            <a:r>
              <a:rPr lang="en-US" sz="2200">
                <a:solidFill>
                  <a:schemeClr val="dk1"/>
                </a:solidFill>
                <a:latin typeface="Calibri"/>
                <a:ea typeface="Calibri"/>
                <a:cs typeface="Calibri"/>
                <a:sym typeface="Calibri"/>
              </a:rPr>
              <a:t>Goal test (e.g., at Bucharest)</a:t>
            </a:r>
            <a:endParaRPr/>
          </a:p>
          <a:p>
            <a:pPr indent="-139700" lvl="0" marL="0" marR="0" rtl="0" algn="l">
              <a:spcBef>
                <a:spcPts val="0"/>
              </a:spcBef>
              <a:spcAft>
                <a:spcPts val="0"/>
              </a:spcAft>
              <a:buClr>
                <a:schemeClr val="dk1"/>
              </a:buClr>
              <a:buSzPts val="2200"/>
              <a:buFont typeface="Calibri"/>
              <a:buAutoNum type="arabicPeriod"/>
            </a:pPr>
            <a:r>
              <a:rPr lang="en-US" sz="2200">
                <a:solidFill>
                  <a:schemeClr val="dk1"/>
                </a:solidFill>
                <a:latin typeface="Calibri"/>
                <a:ea typeface="Calibri"/>
                <a:cs typeface="Calibri"/>
                <a:sym typeface="Calibri"/>
              </a:rPr>
              <a:t>Solution cost (e.g., path cost)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21"/>
          <p:cNvPicPr preferRelativeResize="0"/>
          <p:nvPr/>
        </p:nvPicPr>
        <p:blipFill rotWithShape="1">
          <a:blip r:embed="rId3">
            <a:alphaModFix/>
          </a:blip>
          <a:srcRect b="0" l="16495" r="0" t="54377"/>
          <a:stretch/>
        </p:blipFill>
        <p:spPr>
          <a:xfrm>
            <a:off x="4129087" y="3429000"/>
            <a:ext cx="5014913" cy="2109788"/>
          </a:xfrm>
          <a:prstGeom prst="rect">
            <a:avLst/>
          </a:prstGeom>
          <a:noFill/>
          <a:ln>
            <a:noFill/>
          </a:ln>
        </p:spPr>
      </p:pic>
      <p:pic>
        <p:nvPicPr>
          <p:cNvPr id="235" name="Google Shape;235;p21"/>
          <p:cNvPicPr preferRelativeResize="0"/>
          <p:nvPr/>
        </p:nvPicPr>
        <p:blipFill rotWithShape="1">
          <a:blip r:embed="rId4">
            <a:alphaModFix/>
          </a:blip>
          <a:srcRect b="0" l="0" r="0" t="0"/>
          <a:stretch/>
        </p:blipFill>
        <p:spPr>
          <a:xfrm>
            <a:off x="0" y="304799"/>
            <a:ext cx="6172200" cy="3664197"/>
          </a:xfrm>
          <a:prstGeom prst="rect">
            <a:avLst/>
          </a:prstGeom>
          <a:noFill/>
          <a:ln>
            <a:noFill/>
          </a:ln>
        </p:spPr>
      </p:pic>
      <p:sp>
        <p:nvSpPr>
          <p:cNvPr id="236" name="Google Shape;236;p21"/>
          <p:cNvSpPr txBox="1"/>
          <p:nvPr>
            <p:ph type="title"/>
          </p:nvPr>
        </p:nvSpPr>
        <p:spPr>
          <a:xfrm>
            <a:off x="533400" y="5715000"/>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US" sz="3200"/>
              <a:t>Search Problem Example (as a tree)</a:t>
            </a:r>
            <a:br>
              <a:rPr lang="en-US" sz="3200"/>
            </a:br>
            <a:r>
              <a:rPr lang="en-US" sz="3200"/>
              <a:t>(start: Arad, goal: Bucharest.)</a:t>
            </a:r>
            <a:endParaRPr/>
          </a:p>
        </p:txBody>
      </p:sp>
      <p:pic>
        <p:nvPicPr>
          <p:cNvPr id="237" name="Google Shape;237;p21"/>
          <p:cNvPicPr preferRelativeResize="0"/>
          <p:nvPr/>
        </p:nvPicPr>
        <p:blipFill rotWithShape="1">
          <a:blip r:embed="rId3">
            <a:alphaModFix/>
          </a:blip>
          <a:srcRect b="52122" l="44240" r="0" t="0"/>
          <a:stretch/>
        </p:blipFill>
        <p:spPr>
          <a:xfrm>
            <a:off x="6262687" y="1219200"/>
            <a:ext cx="2881313" cy="1905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Uninformed/ Informed Searches</a:t>
            </a:r>
            <a:endParaRPr/>
          </a:p>
        </p:txBody>
      </p:sp>
      <p:sp>
        <p:nvSpPr>
          <p:cNvPr id="243" name="Google Shape;243;p22"/>
          <p:cNvSpPr txBox="1"/>
          <p:nvPr/>
        </p:nvSpPr>
        <p:spPr>
          <a:xfrm>
            <a:off x="457200" y="1371600"/>
            <a:ext cx="8229600" cy="52117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All search strategies are distinguished by the Order in which nodes are expanded. </a:t>
            </a:r>
            <a:endParaRPr/>
          </a:p>
          <a:p>
            <a:pPr indent="-342900" lvl="0" marL="342900" marR="0" rtl="0" algn="l">
              <a:lnSpc>
                <a:spcPct val="90000"/>
              </a:lnSpc>
              <a:spcBef>
                <a:spcPts val="44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Uninformed approach searches without the aid of any additional information about the problem other than the initial state and the set of possible actions. It aims to explore the entire search space systematically without using any knowledge or heuristics.</a:t>
            </a:r>
            <a:endParaRPr/>
          </a:p>
          <a:p>
            <a:pPr indent="-342900" lvl="1" marL="800100" marR="0" rtl="0" algn="l">
              <a:lnSpc>
                <a:spcPct val="90000"/>
              </a:lnSpc>
              <a:spcBef>
                <a:spcPts val="44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Breadth-first search</a:t>
            </a:r>
            <a:endParaRPr/>
          </a:p>
          <a:p>
            <a:pPr indent="-342900" lvl="1" marL="800100" marR="0" rtl="0" algn="l">
              <a:lnSpc>
                <a:spcPct val="90000"/>
              </a:lnSpc>
              <a:spcBef>
                <a:spcPts val="44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Depth-first search</a:t>
            </a:r>
            <a:endParaRPr/>
          </a:p>
          <a:p>
            <a:pPr indent="-342900" lvl="1" marL="800100" marR="0" rtl="0" algn="l">
              <a:lnSpc>
                <a:spcPct val="90000"/>
              </a:lnSpc>
              <a:spcBef>
                <a:spcPts val="44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Iterative deepening search</a:t>
            </a:r>
            <a:endParaRPr/>
          </a:p>
          <a:p>
            <a:pPr indent="-342900" lvl="0" marL="342900" marR="0" rtl="0" algn="l">
              <a:lnSpc>
                <a:spcPct val="90000"/>
              </a:lnSpc>
              <a:spcBef>
                <a:spcPts val="440"/>
              </a:spcBef>
              <a:spcAft>
                <a:spcPts val="0"/>
              </a:spcAft>
              <a:buClr>
                <a:schemeClr val="dk1"/>
              </a:buClr>
              <a:buSzPts val="2200"/>
              <a:buChar char="•"/>
            </a:pPr>
            <a:r>
              <a:rPr lang="en-US" sz="2200">
                <a:solidFill>
                  <a:schemeClr val="dk1"/>
                </a:solidFill>
                <a:latin typeface="Calibri"/>
                <a:ea typeface="Calibri"/>
                <a:cs typeface="Calibri"/>
                <a:sym typeface="Calibri"/>
              </a:rPr>
              <a:t>This</a:t>
            </a:r>
            <a:r>
              <a:rPr lang="en-US" sz="2200">
                <a:solidFill>
                  <a:schemeClr val="dk1"/>
                </a:solidFill>
                <a:latin typeface="Calibri"/>
                <a:ea typeface="Calibri"/>
                <a:cs typeface="Calibri"/>
                <a:sym typeface="Calibri"/>
              </a:rPr>
              <a:t> approach uses additional information, typically a heuristic, to guide the search. Heuristics provide an estimate of the cost to reach the goal, helping the search algorithm to focus on more promising areas of the search space.  </a:t>
            </a:r>
            <a:endParaRPr/>
          </a:p>
          <a:p>
            <a:pPr indent="-342900" lvl="1" marL="800100" marR="0" rtl="0" algn="l">
              <a:lnSpc>
                <a:spcPct val="90000"/>
              </a:lnSpc>
              <a:spcBef>
                <a:spcPts val="44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Greedy best-first  search</a:t>
            </a:r>
            <a:endParaRPr/>
          </a:p>
          <a:p>
            <a:pPr indent="-342900" lvl="1" marL="800100" marR="0" rtl="0" algn="l">
              <a:lnSpc>
                <a:spcPct val="90000"/>
              </a:lnSpc>
              <a:spcBef>
                <a:spcPts val="44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A* search</a:t>
            </a:r>
            <a:endParaRPr sz="24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1" marL="0" rtl="0" algn="ctr">
              <a:spcBef>
                <a:spcPts val="0"/>
              </a:spcBef>
              <a:spcAft>
                <a:spcPts val="0"/>
              </a:spcAft>
              <a:buNone/>
            </a:pPr>
            <a:r>
              <a:rPr lang="en-US" sz="4000">
                <a:solidFill>
                  <a:schemeClr val="dk1"/>
                </a:solidFill>
                <a:latin typeface="Calibri"/>
                <a:ea typeface="Calibri"/>
                <a:cs typeface="Calibri"/>
                <a:sym typeface="Calibri"/>
              </a:rPr>
              <a:t>Breadth-first search</a:t>
            </a:r>
            <a:endParaRPr/>
          </a:p>
        </p:txBody>
      </p:sp>
      <p:sp>
        <p:nvSpPr>
          <p:cNvPr id="249" name="Google Shape;249;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200"/>
              <a:buChar char="•"/>
            </a:pPr>
            <a:r>
              <a:rPr lang="en-US" sz="2200"/>
              <a:t>Breadth first search (BFS), as the name implies, searches from the initial state breadth-wise. </a:t>
            </a:r>
            <a:endParaRPr/>
          </a:p>
          <a:p>
            <a:pPr indent="-342900" lvl="0" marL="342900" rtl="0" algn="l">
              <a:spcBef>
                <a:spcPts val="440"/>
              </a:spcBef>
              <a:spcAft>
                <a:spcPts val="0"/>
              </a:spcAft>
              <a:buClr>
                <a:schemeClr val="dk1"/>
              </a:buClr>
              <a:buSzPts val="2200"/>
              <a:buChar char="•"/>
            </a:pPr>
            <a:r>
              <a:rPr lang="en-US" sz="2200"/>
              <a:t>That is it searches all the states in the tree level by level. </a:t>
            </a:r>
            <a:endParaRPr/>
          </a:p>
          <a:p>
            <a:pPr indent="-342900" lvl="0" marL="342900" rtl="0" algn="l">
              <a:spcBef>
                <a:spcPts val="440"/>
              </a:spcBef>
              <a:spcAft>
                <a:spcPts val="0"/>
              </a:spcAft>
              <a:buClr>
                <a:schemeClr val="dk1"/>
              </a:buClr>
              <a:buSzPts val="2200"/>
              <a:buChar char="•"/>
            </a:pPr>
            <a:r>
              <a:rPr lang="en-US" sz="2200"/>
              <a:t>Only after exploring all the states in one level it will jump to the next level. </a:t>
            </a:r>
            <a:endParaRPr/>
          </a:p>
          <a:p>
            <a:pPr indent="-342900" lvl="0" marL="342900" rtl="0" algn="l">
              <a:spcBef>
                <a:spcPts val="440"/>
              </a:spcBef>
              <a:spcAft>
                <a:spcPts val="0"/>
              </a:spcAft>
              <a:buClr>
                <a:schemeClr val="dk1"/>
              </a:buClr>
              <a:buSzPts val="2200"/>
              <a:buChar char="•"/>
            </a:pPr>
            <a:r>
              <a:rPr lang="en-US" sz="2200"/>
              <a:t>Once the solution is found the search stops.</a:t>
            </a:r>
            <a:endParaRPr/>
          </a:p>
          <a:p>
            <a:pPr indent="-342900" lvl="0" marL="342900" rtl="0" algn="l">
              <a:spcBef>
                <a:spcPts val="440"/>
              </a:spcBef>
              <a:spcAft>
                <a:spcPts val="0"/>
              </a:spcAft>
              <a:buClr>
                <a:schemeClr val="dk1"/>
              </a:buClr>
              <a:buSzPts val="2200"/>
              <a:buChar char="•"/>
            </a:pPr>
            <a:r>
              <a:rPr lang="en-US" sz="2200"/>
              <a:t>The breadth first search is guaranteed to find the solution if one exists.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Breadth-first search</a:t>
            </a:r>
            <a:endParaRPr/>
          </a:p>
        </p:txBody>
      </p:sp>
      <p:sp>
        <p:nvSpPr>
          <p:cNvPr id="255" name="Google Shape;255;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200"/>
              <a:buChar char="•"/>
            </a:pPr>
            <a:r>
              <a:rPr lang="en-US" sz="2200"/>
              <a:t>Expand shallowest unexpanded node</a:t>
            </a:r>
            <a:endParaRPr/>
          </a:p>
        </p:txBody>
      </p:sp>
      <p:pic>
        <p:nvPicPr>
          <p:cNvPr descr="bfs-progress1c" id="256" name="Google Shape;256;p24"/>
          <p:cNvPicPr preferRelativeResize="0"/>
          <p:nvPr/>
        </p:nvPicPr>
        <p:blipFill rotWithShape="1">
          <a:blip r:embed="rId3">
            <a:alphaModFix/>
          </a:blip>
          <a:srcRect b="0" l="0" r="0" t="0"/>
          <a:stretch/>
        </p:blipFill>
        <p:spPr>
          <a:xfrm>
            <a:off x="2438400" y="2819400"/>
            <a:ext cx="4267200" cy="281781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descr="bfs-progress2c" id="261" name="Google Shape;261;p25"/>
          <p:cNvPicPr preferRelativeResize="0"/>
          <p:nvPr>
            <p:ph idx="2" type="body"/>
          </p:nvPr>
        </p:nvPicPr>
        <p:blipFill rotWithShape="1">
          <a:blip r:embed="rId3">
            <a:alphaModFix/>
          </a:blip>
          <a:srcRect b="0" l="0" r="0" t="0"/>
          <a:stretch/>
        </p:blipFill>
        <p:spPr>
          <a:xfrm>
            <a:off x="2362200" y="2971800"/>
            <a:ext cx="4343400" cy="2800350"/>
          </a:xfrm>
          <a:prstGeom prst="rect">
            <a:avLst/>
          </a:prstGeom>
          <a:noFill/>
          <a:ln>
            <a:noFill/>
          </a:ln>
        </p:spPr>
      </p:pic>
      <p:sp>
        <p:nvSpPr>
          <p:cNvPr id="262" name="Google Shape;262;p25"/>
          <p:cNvSpPr txBox="1"/>
          <p:nvPr>
            <p:ph type="title"/>
          </p:nvPr>
        </p:nvSpPr>
        <p:spPr>
          <a:xfrm>
            <a:off x="563563" y="304800"/>
            <a:ext cx="8158162" cy="11080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Breadth-first search</a:t>
            </a:r>
            <a:endParaRPr/>
          </a:p>
        </p:txBody>
      </p:sp>
      <p:sp>
        <p:nvSpPr>
          <p:cNvPr id="263" name="Google Shape;263;p25"/>
          <p:cNvSpPr txBox="1"/>
          <p:nvPr>
            <p:ph idx="1" type="body"/>
          </p:nvPr>
        </p:nvSpPr>
        <p:spPr>
          <a:xfrm>
            <a:off x="563563" y="1676400"/>
            <a:ext cx="7718425" cy="444023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200"/>
              <a:buChar char="•"/>
            </a:pPr>
            <a:r>
              <a:rPr lang="en-US" sz="2200"/>
              <a:t>Expand shallowest unexpanded node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pic>
        <p:nvPicPr>
          <p:cNvPr descr="bfs-progress3c" id="268" name="Google Shape;268;p26"/>
          <p:cNvPicPr preferRelativeResize="0"/>
          <p:nvPr/>
        </p:nvPicPr>
        <p:blipFill rotWithShape="1">
          <a:blip r:embed="rId3">
            <a:alphaModFix/>
          </a:blip>
          <a:srcRect b="0" l="0" r="0" t="0"/>
          <a:stretch/>
        </p:blipFill>
        <p:spPr>
          <a:xfrm>
            <a:off x="2362200" y="3048000"/>
            <a:ext cx="4343400" cy="2855913"/>
          </a:xfrm>
          <a:prstGeom prst="rect">
            <a:avLst/>
          </a:prstGeom>
          <a:noFill/>
          <a:ln>
            <a:noFill/>
          </a:ln>
        </p:spPr>
      </p:pic>
      <p:sp>
        <p:nvSpPr>
          <p:cNvPr id="269" name="Google Shape;2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Breadth-first search</a:t>
            </a:r>
            <a:endParaRPr/>
          </a:p>
        </p:txBody>
      </p:sp>
      <p:sp>
        <p:nvSpPr>
          <p:cNvPr id="270" name="Google Shape;270;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200"/>
              <a:buChar char="•"/>
            </a:pPr>
            <a:r>
              <a:rPr lang="en-US" sz="2200"/>
              <a:t>Expand shallowest unexpanded node</a:t>
            </a:r>
            <a:endParaRPr/>
          </a:p>
          <a:p>
            <a:pPr indent="-285750" lvl="1" marL="742950" rtl="0" algn="l">
              <a:spcBef>
                <a:spcPts val="560"/>
              </a:spcBef>
              <a:spcAft>
                <a:spcPts val="0"/>
              </a:spcAft>
              <a:buClr>
                <a:schemeClr val="dk1"/>
              </a:buClr>
              <a:buSzPts val="2800"/>
              <a:buNone/>
            </a:pPr>
            <a:br>
              <a:rPr lang="en-US"/>
            </a:b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descr="bfs-progress4c" id="275" name="Google Shape;275;p27"/>
          <p:cNvPicPr preferRelativeResize="0"/>
          <p:nvPr/>
        </p:nvPicPr>
        <p:blipFill rotWithShape="1">
          <a:blip r:embed="rId3">
            <a:alphaModFix/>
          </a:blip>
          <a:srcRect b="0" l="0" r="0" t="0"/>
          <a:stretch/>
        </p:blipFill>
        <p:spPr>
          <a:xfrm>
            <a:off x="2057400" y="3124200"/>
            <a:ext cx="4648200" cy="2789238"/>
          </a:xfrm>
          <a:prstGeom prst="rect">
            <a:avLst/>
          </a:prstGeom>
          <a:noFill/>
          <a:ln>
            <a:noFill/>
          </a:ln>
        </p:spPr>
      </p:pic>
      <p:sp>
        <p:nvSpPr>
          <p:cNvPr id="276" name="Google Shape;276;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Breadth-first search</a:t>
            </a:r>
            <a:endParaRPr/>
          </a:p>
        </p:txBody>
      </p:sp>
      <p:sp>
        <p:nvSpPr>
          <p:cNvPr id="277" name="Google Shape;277;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200"/>
              <a:buChar char="•"/>
            </a:pPr>
            <a:r>
              <a:rPr lang="en-US" sz="2200"/>
              <a:t>Expand shallowest unexpanded node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8"/>
          <p:cNvSpPr txBox="1"/>
          <p:nvPr>
            <p:ph type="title"/>
          </p:nvPr>
        </p:nvSpPr>
        <p:spPr>
          <a:xfrm>
            <a:off x="838200" y="76200"/>
            <a:ext cx="7620000" cy="1066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Breadth-first searching</a:t>
            </a:r>
            <a:endParaRPr/>
          </a:p>
        </p:txBody>
      </p:sp>
      <p:sp>
        <p:nvSpPr>
          <p:cNvPr id="284" name="Google Shape;284;p28"/>
          <p:cNvSpPr txBox="1"/>
          <p:nvPr>
            <p:ph idx="1" type="body"/>
          </p:nvPr>
        </p:nvSpPr>
        <p:spPr>
          <a:xfrm>
            <a:off x="4419600" y="1447800"/>
            <a:ext cx="4343400" cy="50292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200"/>
              <a:buChar char="•"/>
            </a:pPr>
            <a:r>
              <a:rPr lang="en-US" sz="2200"/>
              <a:t>A </a:t>
            </a:r>
            <a:r>
              <a:rPr lang="en-US" sz="2200">
                <a:solidFill>
                  <a:schemeClr val="dk2"/>
                </a:solidFill>
              </a:rPr>
              <a:t>breadth-first</a:t>
            </a:r>
            <a:r>
              <a:rPr lang="en-US" sz="2200"/>
              <a:t> search (</a:t>
            </a:r>
            <a:r>
              <a:rPr lang="en-US" sz="2200">
                <a:solidFill>
                  <a:schemeClr val="dk2"/>
                </a:solidFill>
              </a:rPr>
              <a:t>BFS</a:t>
            </a:r>
            <a:r>
              <a:rPr lang="en-US" sz="2200"/>
              <a:t>) explores nodes nearest the root before exploring nodes further away</a:t>
            </a:r>
            <a:endParaRPr/>
          </a:p>
          <a:p>
            <a:pPr indent="-342900" lvl="0" marL="342900" rtl="0" algn="l">
              <a:spcBef>
                <a:spcPts val="440"/>
              </a:spcBef>
              <a:spcAft>
                <a:spcPts val="0"/>
              </a:spcAft>
              <a:buClr>
                <a:schemeClr val="dk1"/>
              </a:buClr>
              <a:buSzPts val="2200"/>
              <a:buChar char="•"/>
            </a:pPr>
            <a:r>
              <a:rPr lang="en-US" sz="2200"/>
              <a:t>For example, after searching </a:t>
            </a:r>
            <a:r>
              <a:rPr lang="en-US" sz="2200">
                <a:solidFill>
                  <a:schemeClr val="accent2"/>
                </a:solidFill>
                <a:latin typeface="Verdana"/>
                <a:ea typeface="Verdana"/>
                <a:cs typeface="Verdana"/>
                <a:sym typeface="Verdana"/>
              </a:rPr>
              <a:t>A</a:t>
            </a:r>
            <a:r>
              <a:rPr lang="en-US" sz="2200"/>
              <a:t>, then </a:t>
            </a:r>
            <a:r>
              <a:rPr lang="en-US" sz="2200">
                <a:solidFill>
                  <a:schemeClr val="accent2"/>
                </a:solidFill>
                <a:latin typeface="Verdana"/>
                <a:ea typeface="Verdana"/>
                <a:cs typeface="Verdana"/>
                <a:sym typeface="Verdana"/>
              </a:rPr>
              <a:t>B</a:t>
            </a:r>
            <a:r>
              <a:rPr lang="en-US" sz="2200"/>
              <a:t>, then </a:t>
            </a:r>
            <a:r>
              <a:rPr lang="en-US" sz="2200">
                <a:solidFill>
                  <a:schemeClr val="accent2"/>
                </a:solidFill>
                <a:latin typeface="Verdana"/>
                <a:ea typeface="Verdana"/>
                <a:cs typeface="Verdana"/>
                <a:sym typeface="Verdana"/>
              </a:rPr>
              <a:t>C</a:t>
            </a:r>
            <a:r>
              <a:rPr lang="en-US" sz="2200"/>
              <a:t>, the search proceeds with </a:t>
            </a:r>
            <a:r>
              <a:rPr lang="en-US" sz="2200">
                <a:solidFill>
                  <a:schemeClr val="accent2"/>
                </a:solidFill>
                <a:latin typeface="Verdana"/>
                <a:ea typeface="Verdana"/>
                <a:cs typeface="Verdana"/>
                <a:sym typeface="Verdana"/>
              </a:rPr>
              <a:t>D</a:t>
            </a:r>
            <a:r>
              <a:rPr lang="en-US" sz="2200"/>
              <a:t>,</a:t>
            </a:r>
            <a:r>
              <a:rPr lang="en-US" sz="2200">
                <a:solidFill>
                  <a:srgbClr val="FFFF99"/>
                </a:solidFill>
                <a:latin typeface="Verdana"/>
                <a:ea typeface="Verdana"/>
                <a:cs typeface="Verdana"/>
                <a:sym typeface="Verdana"/>
              </a:rPr>
              <a:t> </a:t>
            </a:r>
            <a:r>
              <a:rPr lang="en-US" sz="2200">
                <a:solidFill>
                  <a:schemeClr val="accent2"/>
                </a:solidFill>
                <a:latin typeface="Verdana"/>
                <a:ea typeface="Verdana"/>
                <a:cs typeface="Verdana"/>
                <a:sym typeface="Verdana"/>
              </a:rPr>
              <a:t>E</a:t>
            </a:r>
            <a:r>
              <a:rPr lang="en-US" sz="2200"/>
              <a:t>,</a:t>
            </a:r>
            <a:r>
              <a:rPr lang="en-US" sz="2200">
                <a:solidFill>
                  <a:srgbClr val="FFFF99"/>
                </a:solidFill>
                <a:latin typeface="Verdana"/>
                <a:ea typeface="Verdana"/>
                <a:cs typeface="Verdana"/>
                <a:sym typeface="Verdana"/>
              </a:rPr>
              <a:t> </a:t>
            </a:r>
            <a:r>
              <a:rPr lang="en-US" sz="2200">
                <a:solidFill>
                  <a:schemeClr val="accent2"/>
                </a:solidFill>
                <a:latin typeface="Verdana"/>
                <a:ea typeface="Verdana"/>
                <a:cs typeface="Verdana"/>
                <a:sym typeface="Verdana"/>
              </a:rPr>
              <a:t>F</a:t>
            </a:r>
            <a:r>
              <a:rPr lang="en-US" sz="2200"/>
              <a:t>,</a:t>
            </a:r>
            <a:r>
              <a:rPr lang="en-US" sz="2200">
                <a:solidFill>
                  <a:srgbClr val="FFFF99"/>
                </a:solidFill>
                <a:latin typeface="Verdana"/>
                <a:ea typeface="Verdana"/>
                <a:cs typeface="Verdana"/>
                <a:sym typeface="Verdana"/>
              </a:rPr>
              <a:t> </a:t>
            </a:r>
            <a:r>
              <a:rPr lang="en-US" sz="2200">
                <a:solidFill>
                  <a:schemeClr val="accent2"/>
                </a:solidFill>
                <a:latin typeface="Verdana"/>
                <a:ea typeface="Verdana"/>
                <a:cs typeface="Verdana"/>
                <a:sym typeface="Verdana"/>
              </a:rPr>
              <a:t>G</a:t>
            </a:r>
            <a:endParaRPr/>
          </a:p>
          <a:p>
            <a:pPr indent="-342900" lvl="0" marL="342900" rtl="0" algn="l">
              <a:spcBef>
                <a:spcPts val="440"/>
              </a:spcBef>
              <a:spcAft>
                <a:spcPts val="0"/>
              </a:spcAft>
              <a:buClr>
                <a:schemeClr val="dk1"/>
              </a:buClr>
              <a:buSzPts val="2200"/>
              <a:buChar char="•"/>
            </a:pPr>
            <a:r>
              <a:rPr lang="en-US" sz="2200"/>
              <a:t>Node are explored in the order </a:t>
            </a:r>
            <a:r>
              <a:rPr lang="en-US" sz="2200">
                <a:solidFill>
                  <a:schemeClr val="accent2"/>
                </a:solidFill>
                <a:latin typeface="Verdana"/>
                <a:ea typeface="Verdana"/>
                <a:cs typeface="Verdana"/>
                <a:sym typeface="Verdana"/>
              </a:rPr>
              <a:t>A B C D E F G H I J K L M N O P Q</a:t>
            </a:r>
            <a:endParaRPr/>
          </a:p>
          <a:p>
            <a:pPr indent="-342900" lvl="0" marL="342900" rtl="0" algn="l">
              <a:spcBef>
                <a:spcPts val="440"/>
              </a:spcBef>
              <a:spcAft>
                <a:spcPts val="0"/>
              </a:spcAft>
              <a:buClr>
                <a:schemeClr val="accent2"/>
              </a:buClr>
              <a:buSzPts val="2200"/>
              <a:buChar char="•"/>
            </a:pPr>
            <a:r>
              <a:rPr lang="en-US" sz="2200">
                <a:solidFill>
                  <a:schemeClr val="accent2"/>
                </a:solidFill>
                <a:latin typeface="Verdana"/>
                <a:ea typeface="Verdana"/>
                <a:cs typeface="Verdana"/>
                <a:sym typeface="Verdana"/>
              </a:rPr>
              <a:t>J</a:t>
            </a:r>
            <a:r>
              <a:rPr lang="en-US" sz="2200"/>
              <a:t> will be found before</a:t>
            </a:r>
            <a:r>
              <a:rPr lang="en-US" sz="2200">
                <a:solidFill>
                  <a:schemeClr val="accent2"/>
                </a:solidFill>
                <a:latin typeface="Verdana"/>
                <a:ea typeface="Verdana"/>
                <a:cs typeface="Verdana"/>
                <a:sym typeface="Verdana"/>
              </a:rPr>
              <a:t> N</a:t>
            </a:r>
            <a:endParaRPr/>
          </a:p>
        </p:txBody>
      </p:sp>
      <p:grpSp>
        <p:nvGrpSpPr>
          <p:cNvPr id="285" name="Google Shape;285;p28"/>
          <p:cNvGrpSpPr/>
          <p:nvPr/>
        </p:nvGrpSpPr>
        <p:grpSpPr>
          <a:xfrm>
            <a:off x="609600" y="1828800"/>
            <a:ext cx="3581400" cy="3886200"/>
            <a:chOff x="384" y="1152"/>
            <a:chExt cx="2256" cy="2448"/>
          </a:xfrm>
        </p:grpSpPr>
        <p:sp>
          <p:nvSpPr>
            <p:cNvPr id="286" name="Google Shape;286;p28"/>
            <p:cNvSpPr/>
            <p:nvPr/>
          </p:nvSpPr>
          <p:spPr>
            <a:xfrm>
              <a:off x="384" y="3360"/>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L</a:t>
              </a:r>
              <a:endParaRPr/>
            </a:p>
          </p:txBody>
        </p:sp>
        <p:sp>
          <p:nvSpPr>
            <p:cNvPr id="287" name="Google Shape;287;p28"/>
            <p:cNvSpPr/>
            <p:nvPr/>
          </p:nvSpPr>
          <p:spPr>
            <a:xfrm>
              <a:off x="720" y="3360"/>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M</a:t>
              </a:r>
              <a:endParaRPr/>
            </a:p>
          </p:txBody>
        </p:sp>
        <p:sp>
          <p:nvSpPr>
            <p:cNvPr id="288" name="Google Shape;288;p28"/>
            <p:cNvSpPr/>
            <p:nvPr/>
          </p:nvSpPr>
          <p:spPr>
            <a:xfrm>
              <a:off x="1056" y="3360"/>
              <a:ext cx="240" cy="240"/>
            </a:xfrm>
            <a:prstGeom prst="ellipse">
              <a:avLst/>
            </a:prstGeom>
            <a:noFill/>
            <a:ln cap="flat" cmpd="sng" w="5715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N</a:t>
              </a:r>
              <a:endParaRPr/>
            </a:p>
          </p:txBody>
        </p:sp>
        <p:sp>
          <p:nvSpPr>
            <p:cNvPr id="289" name="Google Shape;289;p28"/>
            <p:cNvSpPr/>
            <p:nvPr/>
          </p:nvSpPr>
          <p:spPr>
            <a:xfrm>
              <a:off x="1392" y="3360"/>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O</a:t>
              </a:r>
              <a:endParaRPr/>
            </a:p>
          </p:txBody>
        </p:sp>
        <p:sp>
          <p:nvSpPr>
            <p:cNvPr id="290" name="Google Shape;290;p28"/>
            <p:cNvSpPr/>
            <p:nvPr/>
          </p:nvSpPr>
          <p:spPr>
            <a:xfrm>
              <a:off x="1728" y="3360"/>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P</a:t>
              </a:r>
              <a:endParaRPr/>
            </a:p>
          </p:txBody>
        </p:sp>
        <p:sp>
          <p:nvSpPr>
            <p:cNvPr id="291" name="Google Shape;291;p28"/>
            <p:cNvSpPr/>
            <p:nvPr/>
          </p:nvSpPr>
          <p:spPr>
            <a:xfrm>
              <a:off x="2208" y="2256"/>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G</a:t>
              </a:r>
              <a:endParaRPr/>
            </a:p>
          </p:txBody>
        </p:sp>
        <p:sp>
          <p:nvSpPr>
            <p:cNvPr id="292" name="Google Shape;292;p28"/>
            <p:cNvSpPr/>
            <p:nvPr/>
          </p:nvSpPr>
          <p:spPr>
            <a:xfrm>
              <a:off x="2400" y="3360"/>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Q</a:t>
              </a:r>
              <a:endParaRPr/>
            </a:p>
          </p:txBody>
        </p:sp>
        <p:sp>
          <p:nvSpPr>
            <p:cNvPr id="293" name="Google Shape;293;p28"/>
            <p:cNvSpPr/>
            <p:nvPr/>
          </p:nvSpPr>
          <p:spPr>
            <a:xfrm>
              <a:off x="720" y="2832"/>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H</a:t>
              </a:r>
              <a:endParaRPr/>
            </a:p>
          </p:txBody>
        </p:sp>
        <p:sp>
          <p:nvSpPr>
            <p:cNvPr id="294" name="Google Shape;294;p28"/>
            <p:cNvSpPr/>
            <p:nvPr/>
          </p:nvSpPr>
          <p:spPr>
            <a:xfrm>
              <a:off x="2016" y="2832"/>
              <a:ext cx="240" cy="240"/>
            </a:xfrm>
            <a:prstGeom prst="ellipse">
              <a:avLst/>
            </a:prstGeom>
            <a:noFill/>
            <a:ln cap="flat" cmpd="sng" w="5715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J</a:t>
              </a:r>
              <a:endParaRPr/>
            </a:p>
          </p:txBody>
        </p:sp>
        <p:sp>
          <p:nvSpPr>
            <p:cNvPr id="295" name="Google Shape;295;p28"/>
            <p:cNvSpPr/>
            <p:nvPr/>
          </p:nvSpPr>
          <p:spPr>
            <a:xfrm>
              <a:off x="1536" y="2832"/>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I</a:t>
              </a:r>
              <a:endParaRPr/>
            </a:p>
          </p:txBody>
        </p:sp>
        <p:sp>
          <p:nvSpPr>
            <p:cNvPr id="296" name="Google Shape;296;p28"/>
            <p:cNvSpPr/>
            <p:nvPr/>
          </p:nvSpPr>
          <p:spPr>
            <a:xfrm>
              <a:off x="2400" y="2832"/>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K</a:t>
              </a:r>
              <a:endParaRPr/>
            </a:p>
          </p:txBody>
        </p:sp>
        <p:sp>
          <p:nvSpPr>
            <p:cNvPr id="297" name="Google Shape;297;p28"/>
            <p:cNvSpPr/>
            <p:nvPr/>
          </p:nvSpPr>
          <p:spPr>
            <a:xfrm>
              <a:off x="1776" y="2256"/>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F</a:t>
              </a:r>
              <a:endParaRPr/>
            </a:p>
          </p:txBody>
        </p:sp>
        <p:sp>
          <p:nvSpPr>
            <p:cNvPr id="298" name="Google Shape;298;p28"/>
            <p:cNvSpPr/>
            <p:nvPr/>
          </p:nvSpPr>
          <p:spPr>
            <a:xfrm>
              <a:off x="1152" y="2256"/>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E</a:t>
              </a:r>
              <a:endParaRPr/>
            </a:p>
          </p:txBody>
        </p:sp>
        <p:sp>
          <p:nvSpPr>
            <p:cNvPr id="299" name="Google Shape;299;p28"/>
            <p:cNvSpPr/>
            <p:nvPr/>
          </p:nvSpPr>
          <p:spPr>
            <a:xfrm>
              <a:off x="576" y="2256"/>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D</a:t>
              </a:r>
              <a:endParaRPr/>
            </a:p>
          </p:txBody>
        </p:sp>
        <p:sp>
          <p:nvSpPr>
            <p:cNvPr id="300" name="Google Shape;300;p28"/>
            <p:cNvSpPr/>
            <p:nvPr/>
          </p:nvSpPr>
          <p:spPr>
            <a:xfrm>
              <a:off x="864" y="1728"/>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B</a:t>
              </a:r>
              <a:endParaRPr/>
            </a:p>
          </p:txBody>
        </p:sp>
        <p:sp>
          <p:nvSpPr>
            <p:cNvPr id="301" name="Google Shape;301;p28"/>
            <p:cNvSpPr/>
            <p:nvPr/>
          </p:nvSpPr>
          <p:spPr>
            <a:xfrm>
              <a:off x="1968" y="1728"/>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C</a:t>
              </a:r>
              <a:endParaRPr/>
            </a:p>
          </p:txBody>
        </p:sp>
        <p:sp>
          <p:nvSpPr>
            <p:cNvPr id="302" name="Google Shape;302;p28"/>
            <p:cNvSpPr/>
            <p:nvPr/>
          </p:nvSpPr>
          <p:spPr>
            <a:xfrm>
              <a:off x="1392" y="1152"/>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A</a:t>
              </a:r>
              <a:endParaRPr/>
            </a:p>
          </p:txBody>
        </p:sp>
        <p:cxnSp>
          <p:nvCxnSpPr>
            <p:cNvPr id="303" name="Google Shape;303;p28"/>
            <p:cNvCxnSpPr/>
            <p:nvPr/>
          </p:nvCxnSpPr>
          <p:spPr>
            <a:xfrm flipH="1" rot="10800000">
              <a:off x="1056" y="1344"/>
              <a:ext cx="384" cy="384"/>
            </a:xfrm>
            <a:prstGeom prst="straightConnector1">
              <a:avLst/>
            </a:prstGeom>
            <a:noFill/>
            <a:ln cap="flat" cmpd="sng" w="15875">
              <a:solidFill>
                <a:schemeClr val="dk1"/>
              </a:solidFill>
              <a:prstDash val="solid"/>
              <a:round/>
              <a:headEnd len="med" w="med" type="none"/>
              <a:tailEnd len="med" w="med" type="none"/>
            </a:ln>
          </p:spPr>
        </p:cxnSp>
        <p:cxnSp>
          <p:nvCxnSpPr>
            <p:cNvPr id="304" name="Google Shape;304;p28"/>
            <p:cNvCxnSpPr/>
            <p:nvPr/>
          </p:nvCxnSpPr>
          <p:spPr>
            <a:xfrm>
              <a:off x="1584" y="1344"/>
              <a:ext cx="432" cy="432"/>
            </a:xfrm>
            <a:prstGeom prst="straightConnector1">
              <a:avLst/>
            </a:prstGeom>
            <a:noFill/>
            <a:ln cap="flat" cmpd="sng" w="15875">
              <a:solidFill>
                <a:schemeClr val="dk1"/>
              </a:solidFill>
              <a:prstDash val="solid"/>
              <a:round/>
              <a:headEnd len="med" w="med" type="none"/>
              <a:tailEnd len="med" w="med" type="none"/>
            </a:ln>
          </p:spPr>
        </p:cxnSp>
        <p:cxnSp>
          <p:nvCxnSpPr>
            <p:cNvPr id="305" name="Google Shape;305;p28"/>
            <p:cNvCxnSpPr/>
            <p:nvPr/>
          </p:nvCxnSpPr>
          <p:spPr>
            <a:xfrm flipH="1">
              <a:off x="720" y="1968"/>
              <a:ext cx="192" cy="288"/>
            </a:xfrm>
            <a:prstGeom prst="straightConnector1">
              <a:avLst/>
            </a:prstGeom>
            <a:noFill/>
            <a:ln cap="flat" cmpd="sng" w="15875">
              <a:solidFill>
                <a:schemeClr val="dk1"/>
              </a:solidFill>
              <a:prstDash val="solid"/>
              <a:round/>
              <a:headEnd len="med" w="med" type="none"/>
              <a:tailEnd len="med" w="med" type="none"/>
            </a:ln>
          </p:spPr>
        </p:cxnSp>
        <p:cxnSp>
          <p:nvCxnSpPr>
            <p:cNvPr id="306" name="Google Shape;306;p28"/>
            <p:cNvCxnSpPr/>
            <p:nvPr/>
          </p:nvCxnSpPr>
          <p:spPr>
            <a:xfrm>
              <a:off x="1056" y="1968"/>
              <a:ext cx="192" cy="288"/>
            </a:xfrm>
            <a:prstGeom prst="straightConnector1">
              <a:avLst/>
            </a:prstGeom>
            <a:noFill/>
            <a:ln cap="flat" cmpd="sng" w="15875">
              <a:solidFill>
                <a:schemeClr val="dk1"/>
              </a:solidFill>
              <a:prstDash val="solid"/>
              <a:round/>
              <a:headEnd len="med" w="med" type="none"/>
              <a:tailEnd len="med" w="med" type="none"/>
            </a:ln>
          </p:spPr>
        </p:cxnSp>
        <p:cxnSp>
          <p:nvCxnSpPr>
            <p:cNvPr id="307" name="Google Shape;307;p28"/>
            <p:cNvCxnSpPr/>
            <p:nvPr/>
          </p:nvCxnSpPr>
          <p:spPr>
            <a:xfrm flipH="1">
              <a:off x="1920" y="1968"/>
              <a:ext cx="96" cy="288"/>
            </a:xfrm>
            <a:prstGeom prst="straightConnector1">
              <a:avLst/>
            </a:prstGeom>
            <a:noFill/>
            <a:ln cap="flat" cmpd="sng" w="15875">
              <a:solidFill>
                <a:schemeClr val="dk1"/>
              </a:solidFill>
              <a:prstDash val="solid"/>
              <a:round/>
              <a:headEnd len="med" w="med" type="none"/>
              <a:tailEnd len="med" w="med" type="none"/>
            </a:ln>
          </p:spPr>
        </p:cxnSp>
        <p:cxnSp>
          <p:nvCxnSpPr>
            <p:cNvPr id="308" name="Google Shape;308;p28"/>
            <p:cNvCxnSpPr/>
            <p:nvPr/>
          </p:nvCxnSpPr>
          <p:spPr>
            <a:xfrm>
              <a:off x="2160" y="1968"/>
              <a:ext cx="144" cy="288"/>
            </a:xfrm>
            <a:prstGeom prst="straightConnector1">
              <a:avLst/>
            </a:prstGeom>
            <a:noFill/>
            <a:ln cap="flat" cmpd="sng" w="15875">
              <a:solidFill>
                <a:schemeClr val="dk1"/>
              </a:solidFill>
              <a:prstDash val="solid"/>
              <a:round/>
              <a:headEnd len="med" w="med" type="none"/>
              <a:tailEnd len="med" w="med" type="none"/>
            </a:ln>
          </p:spPr>
        </p:cxnSp>
        <p:cxnSp>
          <p:nvCxnSpPr>
            <p:cNvPr id="309" name="Google Shape;309;p28"/>
            <p:cNvCxnSpPr/>
            <p:nvPr/>
          </p:nvCxnSpPr>
          <p:spPr>
            <a:xfrm flipH="1" rot="10800000">
              <a:off x="816" y="2448"/>
              <a:ext cx="384" cy="384"/>
            </a:xfrm>
            <a:prstGeom prst="straightConnector1">
              <a:avLst/>
            </a:prstGeom>
            <a:noFill/>
            <a:ln cap="flat" cmpd="sng" w="15875">
              <a:solidFill>
                <a:schemeClr val="dk1"/>
              </a:solidFill>
              <a:prstDash val="solid"/>
              <a:round/>
              <a:headEnd len="med" w="med" type="none"/>
              <a:tailEnd len="med" w="med" type="none"/>
            </a:ln>
          </p:spPr>
        </p:cxnSp>
        <p:cxnSp>
          <p:nvCxnSpPr>
            <p:cNvPr id="310" name="Google Shape;310;p28"/>
            <p:cNvCxnSpPr/>
            <p:nvPr/>
          </p:nvCxnSpPr>
          <p:spPr>
            <a:xfrm rot="10800000">
              <a:off x="1344" y="2448"/>
              <a:ext cx="240" cy="384"/>
            </a:xfrm>
            <a:prstGeom prst="straightConnector1">
              <a:avLst/>
            </a:prstGeom>
            <a:noFill/>
            <a:ln cap="flat" cmpd="sng" w="15875">
              <a:solidFill>
                <a:schemeClr val="dk1"/>
              </a:solidFill>
              <a:prstDash val="solid"/>
              <a:round/>
              <a:headEnd len="med" w="med" type="none"/>
              <a:tailEnd len="med" w="med" type="none"/>
            </a:ln>
          </p:spPr>
        </p:cxnSp>
        <p:cxnSp>
          <p:nvCxnSpPr>
            <p:cNvPr id="311" name="Google Shape;311;p28"/>
            <p:cNvCxnSpPr/>
            <p:nvPr/>
          </p:nvCxnSpPr>
          <p:spPr>
            <a:xfrm flipH="1" rot="10800000">
              <a:off x="2160" y="2496"/>
              <a:ext cx="144" cy="336"/>
            </a:xfrm>
            <a:prstGeom prst="straightConnector1">
              <a:avLst/>
            </a:prstGeom>
            <a:noFill/>
            <a:ln cap="flat" cmpd="sng" w="15875">
              <a:solidFill>
                <a:schemeClr val="dk1"/>
              </a:solidFill>
              <a:prstDash val="solid"/>
              <a:round/>
              <a:headEnd len="med" w="med" type="none"/>
              <a:tailEnd len="med" w="med" type="none"/>
            </a:ln>
          </p:spPr>
        </p:cxnSp>
        <p:cxnSp>
          <p:nvCxnSpPr>
            <p:cNvPr id="312" name="Google Shape;312;p28"/>
            <p:cNvCxnSpPr/>
            <p:nvPr/>
          </p:nvCxnSpPr>
          <p:spPr>
            <a:xfrm rot="10800000">
              <a:off x="2352" y="2496"/>
              <a:ext cx="144" cy="336"/>
            </a:xfrm>
            <a:prstGeom prst="straightConnector1">
              <a:avLst/>
            </a:prstGeom>
            <a:noFill/>
            <a:ln cap="flat" cmpd="sng" w="15875">
              <a:solidFill>
                <a:schemeClr val="dk1"/>
              </a:solidFill>
              <a:prstDash val="solid"/>
              <a:round/>
              <a:headEnd len="med" w="med" type="none"/>
              <a:tailEnd len="med" w="med" type="none"/>
            </a:ln>
          </p:spPr>
        </p:cxnSp>
        <p:cxnSp>
          <p:nvCxnSpPr>
            <p:cNvPr id="313" name="Google Shape;313;p28"/>
            <p:cNvCxnSpPr/>
            <p:nvPr/>
          </p:nvCxnSpPr>
          <p:spPr>
            <a:xfrm flipH="1" rot="10800000">
              <a:off x="528" y="3024"/>
              <a:ext cx="240" cy="336"/>
            </a:xfrm>
            <a:prstGeom prst="straightConnector1">
              <a:avLst/>
            </a:prstGeom>
            <a:noFill/>
            <a:ln cap="flat" cmpd="sng" w="15875">
              <a:solidFill>
                <a:schemeClr val="dk1"/>
              </a:solidFill>
              <a:prstDash val="solid"/>
              <a:round/>
              <a:headEnd len="med" w="med" type="none"/>
              <a:tailEnd len="med" w="med" type="none"/>
            </a:ln>
          </p:spPr>
        </p:cxnSp>
        <p:cxnSp>
          <p:nvCxnSpPr>
            <p:cNvPr id="314" name="Google Shape;314;p28"/>
            <p:cNvCxnSpPr/>
            <p:nvPr/>
          </p:nvCxnSpPr>
          <p:spPr>
            <a:xfrm rot="10800000">
              <a:off x="816" y="3072"/>
              <a:ext cx="0" cy="288"/>
            </a:xfrm>
            <a:prstGeom prst="straightConnector1">
              <a:avLst/>
            </a:prstGeom>
            <a:noFill/>
            <a:ln cap="flat" cmpd="sng" w="15875">
              <a:solidFill>
                <a:schemeClr val="dk1"/>
              </a:solidFill>
              <a:prstDash val="solid"/>
              <a:round/>
              <a:headEnd len="med" w="med" type="none"/>
              <a:tailEnd len="med" w="med" type="none"/>
            </a:ln>
          </p:spPr>
        </p:cxnSp>
        <p:cxnSp>
          <p:nvCxnSpPr>
            <p:cNvPr id="315" name="Google Shape;315;p28"/>
            <p:cNvCxnSpPr/>
            <p:nvPr/>
          </p:nvCxnSpPr>
          <p:spPr>
            <a:xfrm rot="10800000">
              <a:off x="912" y="3072"/>
              <a:ext cx="240" cy="288"/>
            </a:xfrm>
            <a:prstGeom prst="straightConnector1">
              <a:avLst/>
            </a:prstGeom>
            <a:noFill/>
            <a:ln cap="flat" cmpd="sng" w="15875">
              <a:solidFill>
                <a:schemeClr val="dk1"/>
              </a:solidFill>
              <a:prstDash val="solid"/>
              <a:round/>
              <a:headEnd len="med" w="med" type="none"/>
              <a:tailEnd len="med" w="med" type="none"/>
            </a:ln>
          </p:spPr>
        </p:cxnSp>
        <p:cxnSp>
          <p:nvCxnSpPr>
            <p:cNvPr id="316" name="Google Shape;316;p28"/>
            <p:cNvCxnSpPr/>
            <p:nvPr/>
          </p:nvCxnSpPr>
          <p:spPr>
            <a:xfrm flipH="1" rot="10800000">
              <a:off x="1536" y="3072"/>
              <a:ext cx="96" cy="288"/>
            </a:xfrm>
            <a:prstGeom prst="straightConnector1">
              <a:avLst/>
            </a:prstGeom>
            <a:noFill/>
            <a:ln cap="flat" cmpd="sng" w="15875">
              <a:solidFill>
                <a:schemeClr val="dk1"/>
              </a:solidFill>
              <a:prstDash val="solid"/>
              <a:round/>
              <a:headEnd len="med" w="med" type="none"/>
              <a:tailEnd len="med" w="med" type="none"/>
            </a:ln>
          </p:spPr>
        </p:cxnSp>
        <p:cxnSp>
          <p:nvCxnSpPr>
            <p:cNvPr id="317" name="Google Shape;317;p28"/>
            <p:cNvCxnSpPr/>
            <p:nvPr/>
          </p:nvCxnSpPr>
          <p:spPr>
            <a:xfrm rot="10800000">
              <a:off x="1680" y="3072"/>
              <a:ext cx="144" cy="288"/>
            </a:xfrm>
            <a:prstGeom prst="straightConnector1">
              <a:avLst/>
            </a:prstGeom>
            <a:noFill/>
            <a:ln cap="flat" cmpd="sng" w="15875">
              <a:solidFill>
                <a:schemeClr val="dk1"/>
              </a:solidFill>
              <a:prstDash val="solid"/>
              <a:round/>
              <a:headEnd len="med" w="med" type="none"/>
              <a:tailEnd len="med" w="med" type="none"/>
            </a:ln>
          </p:spPr>
        </p:cxnSp>
        <p:cxnSp>
          <p:nvCxnSpPr>
            <p:cNvPr id="318" name="Google Shape;318;p28"/>
            <p:cNvCxnSpPr/>
            <p:nvPr/>
          </p:nvCxnSpPr>
          <p:spPr>
            <a:xfrm rot="10800000">
              <a:off x="2496" y="3072"/>
              <a:ext cx="0" cy="288"/>
            </a:xfrm>
            <a:prstGeom prst="straightConnector1">
              <a:avLst/>
            </a:prstGeom>
            <a:noFill/>
            <a:ln cap="flat" cmpd="sng" w="15875">
              <a:solidFill>
                <a:schemeClr val="dk1"/>
              </a:solidFill>
              <a:prstDash val="solid"/>
              <a:round/>
              <a:headEnd len="med" w="med" type="none"/>
              <a:tailEnd len="med" w="med" type="none"/>
            </a:ln>
          </p:spPr>
        </p:cxnSp>
      </p:grpSp>
      <p:sp>
        <p:nvSpPr>
          <p:cNvPr id="319" name="Google Shape;319;p28"/>
          <p:cNvSpPr/>
          <p:nvPr/>
        </p:nvSpPr>
        <p:spPr>
          <a:xfrm>
            <a:off x="280988" y="2000250"/>
            <a:ext cx="4084637" cy="2724150"/>
          </a:xfrm>
          <a:custGeom>
            <a:rect b="b" l="l" r="r" t="t"/>
            <a:pathLst>
              <a:path extrusionOk="0" h="1716" w="2573">
                <a:moveTo>
                  <a:pt x="1023" y="22"/>
                </a:moveTo>
                <a:cubicBezTo>
                  <a:pt x="1079" y="22"/>
                  <a:pt x="1247" y="22"/>
                  <a:pt x="1359" y="22"/>
                </a:cubicBezTo>
                <a:cubicBezTo>
                  <a:pt x="1471" y="22"/>
                  <a:pt x="1640" y="0"/>
                  <a:pt x="1695" y="22"/>
                </a:cubicBezTo>
                <a:cubicBezTo>
                  <a:pt x="1750" y="44"/>
                  <a:pt x="1906" y="80"/>
                  <a:pt x="1690" y="152"/>
                </a:cubicBezTo>
                <a:cubicBezTo>
                  <a:pt x="1474" y="224"/>
                  <a:pt x="614" y="381"/>
                  <a:pt x="399" y="454"/>
                </a:cubicBezTo>
                <a:cubicBezTo>
                  <a:pt x="184" y="527"/>
                  <a:pt x="230" y="567"/>
                  <a:pt x="398" y="591"/>
                </a:cubicBezTo>
                <a:cubicBezTo>
                  <a:pt x="566" y="615"/>
                  <a:pt x="1117" y="595"/>
                  <a:pt x="1407" y="598"/>
                </a:cubicBezTo>
                <a:cubicBezTo>
                  <a:pt x="1697" y="601"/>
                  <a:pt x="1994" y="584"/>
                  <a:pt x="2138" y="608"/>
                </a:cubicBezTo>
                <a:cubicBezTo>
                  <a:pt x="2282" y="632"/>
                  <a:pt x="2573" y="684"/>
                  <a:pt x="2273" y="743"/>
                </a:cubicBezTo>
                <a:cubicBezTo>
                  <a:pt x="1973" y="802"/>
                  <a:pt x="665" y="900"/>
                  <a:pt x="338" y="963"/>
                </a:cubicBezTo>
                <a:cubicBezTo>
                  <a:pt x="11" y="1026"/>
                  <a:pt x="0" y="1091"/>
                  <a:pt x="313" y="1123"/>
                </a:cubicBezTo>
                <a:cubicBezTo>
                  <a:pt x="626" y="1155"/>
                  <a:pt x="1893" y="1124"/>
                  <a:pt x="2214" y="1157"/>
                </a:cubicBezTo>
                <a:cubicBezTo>
                  <a:pt x="2535" y="1190"/>
                  <a:pt x="2550" y="1252"/>
                  <a:pt x="2240" y="1318"/>
                </a:cubicBezTo>
                <a:cubicBezTo>
                  <a:pt x="1930" y="1384"/>
                  <a:pt x="666" y="1492"/>
                  <a:pt x="355" y="1554"/>
                </a:cubicBezTo>
                <a:cubicBezTo>
                  <a:pt x="44" y="1616"/>
                  <a:pt x="129" y="1664"/>
                  <a:pt x="372" y="1690"/>
                </a:cubicBezTo>
                <a:cubicBezTo>
                  <a:pt x="615" y="1716"/>
                  <a:pt x="1514" y="1705"/>
                  <a:pt x="1814" y="1709"/>
                </a:cubicBezTo>
              </a:path>
            </a:pathLst>
          </a:custGeom>
          <a:noFill/>
          <a:ln cap="flat" cmpd="sng" w="381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pic>
        <p:nvPicPr>
          <p:cNvPr id="325" name="Google Shape;325;p29"/>
          <p:cNvPicPr preferRelativeResize="0"/>
          <p:nvPr/>
        </p:nvPicPr>
        <p:blipFill rotWithShape="1">
          <a:blip r:embed="rId3">
            <a:alphaModFix/>
          </a:blip>
          <a:srcRect b="0" l="0" r="0" t="0"/>
          <a:stretch/>
        </p:blipFill>
        <p:spPr>
          <a:xfrm>
            <a:off x="3886200" y="0"/>
            <a:ext cx="5257800" cy="3673475"/>
          </a:xfrm>
          <a:prstGeom prst="rect">
            <a:avLst/>
          </a:prstGeom>
          <a:noFill/>
          <a:ln>
            <a:noFill/>
          </a:ln>
        </p:spPr>
      </p:pic>
      <p:pic>
        <p:nvPicPr>
          <p:cNvPr id="326" name="Google Shape;326;p29"/>
          <p:cNvPicPr preferRelativeResize="0"/>
          <p:nvPr/>
        </p:nvPicPr>
        <p:blipFill rotWithShape="1">
          <a:blip r:embed="rId4">
            <a:alphaModFix/>
          </a:blip>
          <a:srcRect b="0" l="0" r="0" t="0"/>
          <a:stretch/>
        </p:blipFill>
        <p:spPr>
          <a:xfrm>
            <a:off x="258763" y="3962400"/>
            <a:ext cx="8732837" cy="2762250"/>
          </a:xfrm>
          <a:prstGeom prst="rect">
            <a:avLst/>
          </a:prstGeom>
          <a:noFill/>
          <a:ln>
            <a:noFill/>
          </a:ln>
        </p:spPr>
      </p:pic>
      <p:sp>
        <p:nvSpPr>
          <p:cNvPr id="327" name="Google Shape;327;p29"/>
          <p:cNvSpPr txBox="1"/>
          <p:nvPr/>
        </p:nvSpPr>
        <p:spPr>
          <a:xfrm>
            <a:off x="381000" y="152400"/>
            <a:ext cx="3651250" cy="9461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A50021"/>
                </a:solidFill>
                <a:latin typeface="Arial"/>
                <a:ea typeface="Arial"/>
                <a:cs typeface="Arial"/>
                <a:sym typeface="Arial"/>
              </a:rPr>
              <a:t>A trace of </a:t>
            </a:r>
            <a:endParaRPr/>
          </a:p>
          <a:p>
            <a:pPr indent="0" lvl="0" marL="0" marR="0" rtl="0" algn="l">
              <a:spcBef>
                <a:spcPts val="0"/>
              </a:spcBef>
              <a:spcAft>
                <a:spcPts val="0"/>
              </a:spcAft>
              <a:buNone/>
            </a:pPr>
            <a:r>
              <a:rPr lang="en-US" sz="2800">
                <a:solidFill>
                  <a:srgbClr val="A50021"/>
                </a:solidFill>
                <a:latin typeface="Arial"/>
                <a:ea typeface="Arial"/>
                <a:cs typeface="Arial"/>
                <a:sym typeface="Arial"/>
              </a:rPr>
              <a:t>breadth-first algorithm</a:t>
            </a:r>
            <a:endParaRPr/>
          </a:p>
        </p:txBody>
      </p:sp>
      <p:sp>
        <p:nvSpPr>
          <p:cNvPr id="328" name="Google Shape;328;p29"/>
          <p:cNvSpPr txBox="1"/>
          <p:nvPr/>
        </p:nvSpPr>
        <p:spPr>
          <a:xfrm>
            <a:off x="2112963" y="4516438"/>
            <a:ext cx="287337"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66"/>
                </a:solidFill>
                <a:latin typeface="Calibri"/>
                <a:ea typeface="Calibri"/>
                <a:cs typeface="Calibri"/>
                <a:sym typeface="Calibri"/>
              </a:rPr>
              <a:t>|</a:t>
            </a:r>
            <a:endParaRPr/>
          </a:p>
        </p:txBody>
      </p:sp>
      <p:sp>
        <p:nvSpPr>
          <p:cNvPr id="329" name="Google Shape;329;p29"/>
          <p:cNvSpPr txBox="1"/>
          <p:nvPr/>
        </p:nvSpPr>
        <p:spPr>
          <a:xfrm>
            <a:off x="1849438" y="4800600"/>
            <a:ext cx="287337"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66"/>
                </a:solidFill>
                <a:latin typeface="Calibri"/>
                <a:ea typeface="Calibri"/>
                <a:cs typeface="Calibri"/>
                <a:sym typeface="Calibri"/>
              </a:rPr>
              <a:t>|</a:t>
            </a:r>
            <a:endParaRPr/>
          </a:p>
        </p:txBody>
      </p:sp>
      <p:sp>
        <p:nvSpPr>
          <p:cNvPr id="330" name="Google Shape;330;p29"/>
          <p:cNvSpPr txBox="1"/>
          <p:nvPr/>
        </p:nvSpPr>
        <p:spPr>
          <a:xfrm>
            <a:off x="2320925" y="4835525"/>
            <a:ext cx="287338"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66"/>
                </a:solidFill>
                <a:latin typeface="Calibri"/>
                <a:ea typeface="Calibri"/>
                <a:cs typeface="Calibri"/>
                <a:sym typeface="Calibri"/>
              </a:rPr>
              <a:t>|</a:t>
            </a:r>
            <a:endParaRPr/>
          </a:p>
        </p:txBody>
      </p:sp>
      <p:sp>
        <p:nvSpPr>
          <p:cNvPr id="331" name="Google Shape;331;p29"/>
          <p:cNvSpPr txBox="1"/>
          <p:nvPr/>
        </p:nvSpPr>
        <p:spPr>
          <a:xfrm>
            <a:off x="2570163" y="5119688"/>
            <a:ext cx="287337"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66"/>
                </a:solidFill>
                <a:latin typeface="Calibri"/>
                <a:ea typeface="Calibri"/>
                <a:cs typeface="Calibri"/>
                <a:sym typeface="Calibri"/>
              </a:rPr>
              <a:t>|</a:t>
            </a:r>
            <a:endParaRPr/>
          </a:p>
        </p:txBody>
      </p:sp>
      <p:sp>
        <p:nvSpPr>
          <p:cNvPr id="332" name="Google Shape;332;p29"/>
          <p:cNvSpPr txBox="1"/>
          <p:nvPr/>
        </p:nvSpPr>
        <p:spPr>
          <a:xfrm>
            <a:off x="2033588" y="5119688"/>
            <a:ext cx="287337"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66"/>
                </a:solidFill>
                <a:latin typeface="Calibri"/>
                <a:ea typeface="Calibri"/>
                <a:cs typeface="Calibri"/>
                <a:sym typeface="Calibri"/>
              </a:rPr>
              <a:t>|</a:t>
            </a:r>
            <a:endParaRPr/>
          </a:p>
        </p:txBody>
      </p:sp>
      <p:sp>
        <p:nvSpPr>
          <p:cNvPr id="333" name="Google Shape;333;p29"/>
          <p:cNvSpPr txBox="1"/>
          <p:nvPr/>
        </p:nvSpPr>
        <p:spPr>
          <a:xfrm>
            <a:off x="1804988" y="5389563"/>
            <a:ext cx="287337"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66"/>
                </a:solidFill>
                <a:latin typeface="Calibri"/>
                <a:ea typeface="Calibri"/>
                <a:cs typeface="Calibri"/>
                <a:sym typeface="Calibri"/>
              </a:rPr>
              <a:t>|</a:t>
            </a:r>
            <a:endParaRPr/>
          </a:p>
        </p:txBody>
      </p:sp>
      <p:sp>
        <p:nvSpPr>
          <p:cNvPr id="334" name="Google Shape;334;p29"/>
          <p:cNvSpPr txBox="1"/>
          <p:nvPr/>
        </p:nvSpPr>
        <p:spPr>
          <a:xfrm>
            <a:off x="2306638" y="5410200"/>
            <a:ext cx="287337"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66"/>
                </a:solidFill>
                <a:latin typeface="Calibri"/>
                <a:ea typeface="Calibri"/>
                <a:cs typeface="Calibri"/>
                <a:sym typeface="Calibri"/>
              </a:rPr>
              <a:t>|</a:t>
            </a:r>
            <a:endParaRPr/>
          </a:p>
        </p:txBody>
      </p:sp>
      <p:sp>
        <p:nvSpPr>
          <p:cNvPr id="335" name="Google Shape;335;p29"/>
          <p:cNvSpPr txBox="1"/>
          <p:nvPr/>
        </p:nvSpPr>
        <p:spPr>
          <a:xfrm>
            <a:off x="2667000" y="5424488"/>
            <a:ext cx="287338"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66"/>
                </a:solidFill>
                <a:latin typeface="Calibri"/>
                <a:ea typeface="Calibri"/>
                <a:cs typeface="Calibri"/>
                <a:sym typeface="Calibri"/>
              </a:rPr>
              <a:t>|</a:t>
            </a:r>
            <a:endParaRPr/>
          </a:p>
        </p:txBody>
      </p:sp>
      <p:sp>
        <p:nvSpPr>
          <p:cNvPr id="336" name="Google Shape;336;p29"/>
          <p:cNvSpPr txBox="1"/>
          <p:nvPr/>
        </p:nvSpPr>
        <p:spPr>
          <a:xfrm>
            <a:off x="2095500" y="5791200"/>
            <a:ext cx="287338"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66"/>
                </a:solidFill>
                <a:latin typeface="Calibri"/>
                <a:ea typeface="Calibri"/>
                <a:cs typeface="Calibri"/>
                <a:sym typeface="Calibri"/>
              </a:rPr>
              <a:t>|</a:t>
            </a:r>
            <a:endParaRPr/>
          </a:p>
        </p:txBody>
      </p:sp>
      <p:sp>
        <p:nvSpPr>
          <p:cNvPr id="337" name="Google Shape;337;p29"/>
          <p:cNvSpPr txBox="1"/>
          <p:nvPr/>
        </p:nvSpPr>
        <p:spPr>
          <a:xfrm>
            <a:off x="2459038" y="5791200"/>
            <a:ext cx="287337"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66"/>
                </a:solidFill>
                <a:latin typeface="Calibri"/>
                <a:ea typeface="Calibri"/>
                <a:cs typeface="Calibri"/>
                <a:sym typeface="Calibri"/>
              </a:rPr>
              <a:t>|</a:t>
            </a:r>
            <a:endParaRPr/>
          </a:p>
        </p:txBody>
      </p:sp>
      <p:sp>
        <p:nvSpPr>
          <p:cNvPr id="338" name="Google Shape;338;p29"/>
          <p:cNvSpPr txBox="1"/>
          <p:nvPr/>
        </p:nvSpPr>
        <p:spPr>
          <a:xfrm>
            <a:off x="2971800" y="5791200"/>
            <a:ext cx="287338"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66"/>
                </a:solidFill>
                <a:latin typeface="Calibri"/>
                <a:ea typeface="Calibri"/>
                <a:cs typeface="Calibri"/>
                <a:sym typeface="Calibri"/>
              </a:rPr>
              <a:t>|</a:t>
            </a:r>
            <a:endParaRPr/>
          </a:p>
        </p:txBody>
      </p:sp>
      <p:sp>
        <p:nvSpPr>
          <p:cNvPr id="339" name="Google Shape;339;p29"/>
          <p:cNvSpPr txBox="1"/>
          <p:nvPr/>
        </p:nvSpPr>
        <p:spPr>
          <a:xfrm>
            <a:off x="2989263" y="6096000"/>
            <a:ext cx="287337"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66"/>
                </a:solidFill>
                <a:latin typeface="Calibri"/>
                <a:ea typeface="Calibri"/>
                <a:cs typeface="Calibri"/>
                <a:sym typeface="Calibri"/>
              </a:rPr>
              <a:t>|</a:t>
            </a:r>
            <a:endParaRPr/>
          </a:p>
        </p:txBody>
      </p:sp>
      <p:sp>
        <p:nvSpPr>
          <p:cNvPr id="340" name="Google Shape;340;p29"/>
          <p:cNvSpPr txBox="1"/>
          <p:nvPr/>
        </p:nvSpPr>
        <p:spPr>
          <a:xfrm>
            <a:off x="2667000" y="6096000"/>
            <a:ext cx="287338"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66"/>
                </a:solidFill>
                <a:latin typeface="Calibri"/>
                <a:ea typeface="Calibri"/>
                <a:cs typeface="Calibri"/>
                <a:sym typeface="Calibri"/>
              </a:rPr>
              <a:t>|</a:t>
            </a:r>
            <a:endParaRPr/>
          </a:p>
        </p:txBody>
      </p:sp>
      <p:sp>
        <p:nvSpPr>
          <p:cNvPr id="341" name="Google Shape;341;p29"/>
          <p:cNvSpPr txBox="1"/>
          <p:nvPr/>
        </p:nvSpPr>
        <p:spPr>
          <a:xfrm>
            <a:off x="2209800" y="6096000"/>
            <a:ext cx="287338"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66"/>
                </a:solidFill>
                <a:latin typeface="Calibri"/>
                <a:ea typeface="Calibri"/>
                <a:cs typeface="Calibri"/>
                <a:sym typeface="Calibri"/>
              </a:rPr>
              <a:t>|</a:t>
            </a:r>
            <a:endParaRPr/>
          </a:p>
        </p:txBody>
      </p:sp>
      <p:sp>
        <p:nvSpPr>
          <p:cNvPr id="342" name="Google Shape;342;p29"/>
          <p:cNvSpPr txBox="1"/>
          <p:nvPr/>
        </p:nvSpPr>
        <p:spPr>
          <a:xfrm>
            <a:off x="1828800" y="6096000"/>
            <a:ext cx="287338"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66"/>
                </a:solidFill>
                <a:latin typeface="Calibri"/>
                <a:ea typeface="Calibri"/>
                <a:cs typeface="Calibri"/>
                <a:sym typeface="Calibri"/>
              </a:rPr>
              <a:t>|</a:t>
            </a:r>
            <a:endParaRPr/>
          </a:p>
        </p:txBody>
      </p:sp>
      <p:sp>
        <p:nvSpPr>
          <p:cNvPr id="343" name="Google Shape;343;p29"/>
          <p:cNvSpPr txBox="1"/>
          <p:nvPr/>
        </p:nvSpPr>
        <p:spPr>
          <a:xfrm>
            <a:off x="6172200" y="4953000"/>
            <a:ext cx="2819400" cy="6413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Items between red bars are siblings.</a:t>
            </a:r>
            <a:endParaRPr/>
          </a:p>
        </p:txBody>
      </p:sp>
      <p:sp>
        <p:nvSpPr>
          <p:cNvPr id="344" name="Google Shape;344;p29"/>
          <p:cNvSpPr/>
          <p:nvPr/>
        </p:nvSpPr>
        <p:spPr>
          <a:xfrm>
            <a:off x="4114800" y="4572000"/>
            <a:ext cx="228600" cy="304800"/>
          </a:xfrm>
          <a:prstGeom prst="rect">
            <a:avLst/>
          </a:prstGeom>
          <a:solidFill>
            <a:srgbClr val="FFFF00">
              <a:alpha val="34901"/>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5" name="Google Shape;345;p29"/>
          <p:cNvSpPr txBox="1"/>
          <p:nvPr/>
        </p:nvSpPr>
        <p:spPr>
          <a:xfrm>
            <a:off x="5029200" y="3962400"/>
            <a:ext cx="3870325" cy="915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 is not the goal.</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Put his children onto the queue.</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Put him in closed. He is done.</a:t>
            </a:r>
            <a:endParaRPr/>
          </a:p>
        </p:txBody>
      </p:sp>
      <p:sp>
        <p:nvSpPr>
          <p:cNvPr id="346" name="Google Shape;346;p29"/>
          <p:cNvSpPr/>
          <p:nvPr/>
        </p:nvSpPr>
        <p:spPr>
          <a:xfrm>
            <a:off x="2971800" y="6477000"/>
            <a:ext cx="2819400" cy="381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29"/>
          <p:cNvSpPr txBox="1"/>
          <p:nvPr/>
        </p:nvSpPr>
        <p:spPr>
          <a:xfrm>
            <a:off x="2933700" y="6391275"/>
            <a:ext cx="4035425"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goal is reached or open is empty.</a:t>
            </a:r>
            <a:endParaRPr/>
          </a:p>
        </p:txBody>
      </p:sp>
      <p:sp>
        <p:nvSpPr>
          <p:cNvPr id="348" name="Google Shape;348;p29"/>
          <p:cNvSpPr/>
          <p:nvPr/>
        </p:nvSpPr>
        <p:spPr>
          <a:xfrm>
            <a:off x="1752600" y="4267200"/>
            <a:ext cx="228600" cy="304800"/>
          </a:xfrm>
          <a:prstGeom prst="rect">
            <a:avLst/>
          </a:prstGeom>
          <a:solidFill>
            <a:srgbClr val="FFFF00">
              <a:alpha val="34901"/>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p29"/>
          <p:cNvSpPr/>
          <p:nvPr/>
        </p:nvSpPr>
        <p:spPr>
          <a:xfrm>
            <a:off x="2286000" y="4572000"/>
            <a:ext cx="381000" cy="304800"/>
          </a:xfrm>
          <a:prstGeom prst="rect">
            <a:avLst/>
          </a:prstGeom>
          <a:solidFill>
            <a:srgbClr val="FFFF00">
              <a:alpha val="34901"/>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29"/>
          <p:cNvSpPr/>
          <p:nvPr/>
        </p:nvSpPr>
        <p:spPr>
          <a:xfrm>
            <a:off x="5105400" y="1143000"/>
            <a:ext cx="381000" cy="304800"/>
          </a:xfrm>
          <a:prstGeom prst="rect">
            <a:avLst/>
          </a:prstGeom>
          <a:solidFill>
            <a:srgbClr val="FFFF00">
              <a:alpha val="34901"/>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 name="Google Shape;351;p29"/>
          <p:cNvSpPr/>
          <p:nvPr/>
        </p:nvSpPr>
        <p:spPr>
          <a:xfrm>
            <a:off x="4667250" y="1828800"/>
            <a:ext cx="762000" cy="304800"/>
          </a:xfrm>
          <a:prstGeom prst="rect">
            <a:avLst/>
          </a:prstGeom>
          <a:solidFill>
            <a:srgbClr val="FFFF00">
              <a:alpha val="34901"/>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id="357" name="Google Shape;357;p30"/>
          <p:cNvPicPr preferRelativeResize="0"/>
          <p:nvPr/>
        </p:nvPicPr>
        <p:blipFill rotWithShape="1">
          <a:blip r:embed="rId3">
            <a:alphaModFix/>
          </a:blip>
          <a:srcRect b="0" l="0" r="0" t="0"/>
          <a:stretch/>
        </p:blipFill>
        <p:spPr>
          <a:xfrm>
            <a:off x="301625" y="1001713"/>
            <a:ext cx="8540750" cy="5018087"/>
          </a:xfrm>
          <a:prstGeom prst="rect">
            <a:avLst/>
          </a:prstGeom>
          <a:noFill/>
          <a:ln>
            <a:noFill/>
          </a:ln>
        </p:spPr>
      </p:pic>
      <p:sp>
        <p:nvSpPr>
          <p:cNvPr id="358" name="Google Shape;358;p30"/>
          <p:cNvSpPr txBox="1"/>
          <p:nvPr/>
        </p:nvSpPr>
        <p:spPr>
          <a:xfrm>
            <a:off x="914400" y="304800"/>
            <a:ext cx="7315200" cy="519113"/>
          </a:xfrm>
          <a:prstGeom prst="rect">
            <a:avLst/>
          </a:prstGeom>
          <a:noFill/>
          <a:ln>
            <a:noFill/>
          </a:ln>
        </p:spPr>
        <p:txBody>
          <a:bodyPr anchorCtr="0" anchor="t" bIns="45700" lIns="91425" spcFirstLastPara="1" rIns="91425" wrap="square" tIns="45700">
            <a:spAutoFit/>
          </a:bodyPr>
          <a:lstStyle/>
          <a:p>
            <a:pPr indent="-1435100" lvl="0" marL="1435100" marR="0" rtl="0" algn="l">
              <a:spcBef>
                <a:spcPts val="0"/>
              </a:spcBef>
              <a:spcAft>
                <a:spcPts val="0"/>
              </a:spcAft>
              <a:buNone/>
            </a:pPr>
            <a:r>
              <a:rPr lang="en-US" sz="2800">
                <a:solidFill>
                  <a:srgbClr val="A50021"/>
                </a:solidFill>
                <a:latin typeface="Arial"/>
                <a:ea typeface="Arial"/>
                <a:cs typeface="Arial"/>
                <a:sym typeface="Arial"/>
              </a:rPr>
              <a:t>Breadth-first search algorithm</a:t>
            </a:r>
            <a:endParaRPr/>
          </a:p>
        </p:txBody>
      </p:sp>
      <p:sp>
        <p:nvSpPr>
          <p:cNvPr id="359" name="Google Shape;359;p30"/>
          <p:cNvSpPr txBox="1"/>
          <p:nvPr/>
        </p:nvSpPr>
        <p:spPr>
          <a:xfrm>
            <a:off x="2438400" y="1219200"/>
            <a:ext cx="4933950" cy="6413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Nodes are lining up to be visited in </a:t>
            </a:r>
            <a:r>
              <a:rPr lang="en-US" sz="1800">
                <a:solidFill>
                  <a:schemeClr val="dk1"/>
                </a:solidFill>
                <a:latin typeface="Calibri"/>
                <a:ea typeface="Calibri"/>
                <a:cs typeface="Calibri"/>
                <a:sym typeface="Calibri"/>
              </a:rPr>
              <a:t>open</a:t>
            </a:r>
            <a:r>
              <a:rPr lang="en-US" sz="1800">
                <a:solidFill>
                  <a:schemeClr val="dk1"/>
                </a:solidFill>
                <a:latin typeface="Times New Roman"/>
                <a:ea typeface="Times New Roman"/>
                <a:cs typeface="Times New Roman"/>
                <a:sym typeface="Times New Roman"/>
              </a:rPr>
              <a:t>.</a:t>
            </a:r>
            <a:br>
              <a:rPr lang="en-US" sz="1800">
                <a:solidFill>
                  <a:schemeClr val="dk1"/>
                </a:solidFill>
                <a:latin typeface="Times New Roman"/>
                <a:ea typeface="Times New Roman"/>
                <a:cs typeface="Times New Roman"/>
                <a:sym typeface="Times New Roman"/>
              </a:rPr>
            </a:br>
            <a:r>
              <a:rPr lang="en-US" sz="1800">
                <a:solidFill>
                  <a:schemeClr val="dk1"/>
                </a:solidFill>
                <a:latin typeface="Calibri"/>
                <a:ea typeface="Calibri"/>
                <a:cs typeface="Calibri"/>
                <a:sym typeface="Calibri"/>
              </a:rPr>
              <a:t>closed </a:t>
            </a:r>
            <a:r>
              <a:rPr lang="en-US" sz="1800">
                <a:solidFill>
                  <a:schemeClr val="dk1"/>
                </a:solidFill>
                <a:latin typeface="Times New Roman"/>
                <a:ea typeface="Times New Roman"/>
                <a:cs typeface="Times New Roman"/>
                <a:sym typeface="Times New Roman"/>
              </a:rPr>
              <a:t>keeps track of all the nodes visited already.</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Depth-first search</a:t>
            </a:r>
            <a:endParaRPr/>
          </a:p>
        </p:txBody>
      </p:sp>
      <p:sp>
        <p:nvSpPr>
          <p:cNvPr id="365" name="Google Shape;365;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200"/>
              <a:buChar char="•"/>
            </a:pPr>
            <a:r>
              <a:rPr lang="en-US" sz="2200"/>
              <a:t>Explore only one branch deeper till the solution is found or there is no new state to explore and then start searching the adjacent level. </a:t>
            </a:r>
            <a:endParaRPr/>
          </a:p>
          <a:p>
            <a:pPr indent="-342900" lvl="0" marL="342900" rtl="0" algn="l">
              <a:spcBef>
                <a:spcPts val="440"/>
              </a:spcBef>
              <a:spcAft>
                <a:spcPts val="0"/>
              </a:spcAft>
              <a:buClr>
                <a:schemeClr val="dk1"/>
              </a:buClr>
              <a:buSzPts val="2200"/>
              <a:buChar char="•"/>
            </a:pPr>
            <a:r>
              <a:rPr lang="en-US" sz="2200"/>
              <a:t>This technique is called depth first search (DFS).</a:t>
            </a:r>
            <a:endParaRPr/>
          </a:p>
          <a:p>
            <a:pPr indent="-342900" lvl="0" marL="342900" rtl="0" algn="l">
              <a:spcBef>
                <a:spcPts val="440"/>
              </a:spcBef>
              <a:spcAft>
                <a:spcPts val="0"/>
              </a:spcAft>
              <a:buClr>
                <a:schemeClr val="dk1"/>
              </a:buClr>
              <a:buSzPts val="2200"/>
              <a:buChar char="•"/>
            </a:pPr>
            <a:r>
              <a:rPr lang="en-US" sz="2200"/>
              <a:t>By chance the solution exists in the first branch then depth first search can find the solution quickly. </a:t>
            </a:r>
            <a:endParaRPr/>
          </a:p>
          <a:p>
            <a:pPr indent="-342900" lvl="0" marL="342900" rtl="0" algn="l">
              <a:spcBef>
                <a:spcPts val="440"/>
              </a:spcBef>
              <a:spcAft>
                <a:spcPts val="0"/>
              </a:spcAft>
              <a:buClr>
                <a:schemeClr val="dk1"/>
              </a:buClr>
              <a:buSzPts val="2200"/>
              <a:buChar char="•"/>
            </a:pPr>
            <a:r>
              <a:rPr lang="en-US" sz="2200"/>
              <a:t>If the solution exists in some other branches farther away, there won't be much difference between depth first search and breadth first search.</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9" name="Shape 369"/>
        <p:cNvGrpSpPr/>
        <p:nvPr/>
      </p:nvGrpSpPr>
      <p:grpSpPr>
        <a:xfrm>
          <a:off x="0" y="0"/>
          <a:ext cx="0" cy="0"/>
          <a:chOff x="0" y="0"/>
          <a:chExt cx="0" cy="0"/>
        </a:xfrm>
      </p:grpSpPr>
      <p:pic>
        <p:nvPicPr>
          <p:cNvPr descr="dfs-progress01c" id="370" name="Google Shape;370;p32"/>
          <p:cNvPicPr preferRelativeResize="0"/>
          <p:nvPr/>
        </p:nvPicPr>
        <p:blipFill rotWithShape="1">
          <a:blip r:embed="rId3">
            <a:alphaModFix/>
          </a:blip>
          <a:srcRect b="0" l="0" r="0" t="0"/>
          <a:stretch/>
        </p:blipFill>
        <p:spPr>
          <a:xfrm>
            <a:off x="1981200" y="2743200"/>
            <a:ext cx="5181600" cy="3011488"/>
          </a:xfrm>
          <a:prstGeom prst="rect">
            <a:avLst/>
          </a:prstGeom>
          <a:noFill/>
          <a:ln>
            <a:noFill/>
          </a:ln>
        </p:spPr>
      </p:pic>
      <p:sp>
        <p:nvSpPr>
          <p:cNvPr id="371" name="Google Shape;371;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Depth-first search</a:t>
            </a:r>
            <a:endParaRPr/>
          </a:p>
        </p:txBody>
      </p:sp>
      <p:sp>
        <p:nvSpPr>
          <p:cNvPr id="372" name="Google Shape;372;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Expand deepest unexpanded node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Depth-first search</a:t>
            </a:r>
            <a:endParaRPr/>
          </a:p>
        </p:txBody>
      </p:sp>
      <p:sp>
        <p:nvSpPr>
          <p:cNvPr id="378" name="Google Shape;378;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Expand deepest unexpanded node</a:t>
            </a:r>
            <a:endParaRPr/>
          </a:p>
        </p:txBody>
      </p:sp>
      <p:pic>
        <p:nvPicPr>
          <p:cNvPr descr="dfs-progress02c" id="379" name="Google Shape;379;p33"/>
          <p:cNvPicPr preferRelativeResize="0"/>
          <p:nvPr/>
        </p:nvPicPr>
        <p:blipFill rotWithShape="1">
          <a:blip r:embed="rId3">
            <a:alphaModFix/>
          </a:blip>
          <a:srcRect b="0" l="0" r="0" t="0"/>
          <a:stretch/>
        </p:blipFill>
        <p:spPr>
          <a:xfrm>
            <a:off x="1981200" y="2700818"/>
            <a:ext cx="5181600" cy="30099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pic>
        <p:nvPicPr>
          <p:cNvPr descr="dfs-progress03c" id="384" name="Google Shape;384;p34"/>
          <p:cNvPicPr preferRelativeResize="0"/>
          <p:nvPr/>
        </p:nvPicPr>
        <p:blipFill rotWithShape="1">
          <a:blip r:embed="rId3">
            <a:alphaModFix/>
          </a:blip>
          <a:srcRect b="0" l="0" r="0" t="0"/>
          <a:stretch/>
        </p:blipFill>
        <p:spPr>
          <a:xfrm>
            <a:off x="1981200" y="2850363"/>
            <a:ext cx="5181600" cy="2971800"/>
          </a:xfrm>
          <a:prstGeom prst="rect">
            <a:avLst/>
          </a:prstGeom>
          <a:noFill/>
          <a:ln>
            <a:noFill/>
          </a:ln>
        </p:spPr>
      </p:pic>
      <p:sp>
        <p:nvSpPr>
          <p:cNvPr id="385" name="Google Shape;385;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Depth-first search</a:t>
            </a:r>
            <a:endParaRPr/>
          </a:p>
        </p:txBody>
      </p:sp>
      <p:sp>
        <p:nvSpPr>
          <p:cNvPr id="386" name="Google Shape;386;p34"/>
          <p:cNvSpPr txBox="1"/>
          <p:nvPr>
            <p:ph idx="1" type="body"/>
          </p:nvPr>
        </p:nvSpPr>
        <p:spPr>
          <a:xfrm>
            <a:off x="457200" y="1600200"/>
            <a:ext cx="8229600" cy="12807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Expand deepest unexpanded node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pic>
        <p:nvPicPr>
          <p:cNvPr descr="dfs-progress04c" id="391" name="Google Shape;391;p35"/>
          <p:cNvPicPr preferRelativeResize="0"/>
          <p:nvPr/>
        </p:nvPicPr>
        <p:blipFill rotWithShape="1">
          <a:blip r:embed="rId3">
            <a:alphaModFix/>
          </a:blip>
          <a:srcRect b="0" l="0" r="0" t="0"/>
          <a:stretch/>
        </p:blipFill>
        <p:spPr>
          <a:xfrm>
            <a:off x="1981200" y="2743200"/>
            <a:ext cx="5181600" cy="2913063"/>
          </a:xfrm>
          <a:prstGeom prst="rect">
            <a:avLst/>
          </a:prstGeom>
          <a:noFill/>
          <a:ln>
            <a:noFill/>
          </a:ln>
        </p:spPr>
      </p:pic>
      <p:sp>
        <p:nvSpPr>
          <p:cNvPr id="392" name="Google Shape;392;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Depth-first search</a:t>
            </a:r>
            <a:endParaRPr/>
          </a:p>
        </p:txBody>
      </p:sp>
      <p:sp>
        <p:nvSpPr>
          <p:cNvPr id="393" name="Google Shape;393;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Expand deepest unexpanded node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pic>
        <p:nvPicPr>
          <p:cNvPr descr="dfs-progress05c" id="398" name="Google Shape;398;p36"/>
          <p:cNvPicPr preferRelativeResize="0"/>
          <p:nvPr/>
        </p:nvPicPr>
        <p:blipFill rotWithShape="1">
          <a:blip r:embed="rId3">
            <a:alphaModFix/>
          </a:blip>
          <a:srcRect b="0" l="0" r="0" t="0"/>
          <a:stretch/>
        </p:blipFill>
        <p:spPr>
          <a:xfrm>
            <a:off x="1981200" y="2819400"/>
            <a:ext cx="5181600" cy="3011488"/>
          </a:xfrm>
          <a:prstGeom prst="rect">
            <a:avLst/>
          </a:prstGeom>
          <a:noFill/>
          <a:ln>
            <a:noFill/>
          </a:ln>
        </p:spPr>
      </p:pic>
      <p:sp>
        <p:nvSpPr>
          <p:cNvPr id="399" name="Google Shape;399;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Depth-first search</a:t>
            </a:r>
            <a:endParaRPr/>
          </a:p>
        </p:txBody>
      </p:sp>
      <p:sp>
        <p:nvSpPr>
          <p:cNvPr id="400" name="Google Shape;400;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Expand deepest unexpanded node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Depth-first search</a:t>
            </a:r>
            <a:endParaRPr/>
          </a:p>
        </p:txBody>
      </p:sp>
      <p:sp>
        <p:nvSpPr>
          <p:cNvPr id="406" name="Google Shape;406;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Expand deepest unexpanded node</a:t>
            </a:r>
            <a:endParaRPr/>
          </a:p>
        </p:txBody>
      </p:sp>
      <p:pic>
        <p:nvPicPr>
          <p:cNvPr descr="dfs-progress06c" id="407" name="Google Shape;407;p37"/>
          <p:cNvPicPr preferRelativeResize="0"/>
          <p:nvPr/>
        </p:nvPicPr>
        <p:blipFill rotWithShape="1">
          <a:blip r:embed="rId3">
            <a:alphaModFix/>
          </a:blip>
          <a:srcRect b="0" l="0" r="0" t="0"/>
          <a:stretch/>
        </p:blipFill>
        <p:spPr>
          <a:xfrm>
            <a:off x="1981200" y="3048000"/>
            <a:ext cx="5181600" cy="302736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Depth-first search</a:t>
            </a:r>
            <a:endParaRPr/>
          </a:p>
        </p:txBody>
      </p:sp>
      <p:sp>
        <p:nvSpPr>
          <p:cNvPr id="413" name="Google Shape;413;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Expand deepest unexpanded node</a:t>
            </a:r>
            <a:endParaRPr/>
          </a:p>
        </p:txBody>
      </p:sp>
      <p:pic>
        <p:nvPicPr>
          <p:cNvPr descr="dfs-progress01c" id="414" name="Google Shape;414;p38"/>
          <p:cNvPicPr preferRelativeResize="0"/>
          <p:nvPr/>
        </p:nvPicPr>
        <p:blipFill rotWithShape="1">
          <a:blip r:embed="rId3">
            <a:alphaModFix/>
          </a:blip>
          <a:srcRect b="0" l="0" r="0" t="0"/>
          <a:stretch/>
        </p:blipFill>
        <p:spPr>
          <a:xfrm>
            <a:off x="2362200" y="3124200"/>
            <a:ext cx="4419600" cy="2568575"/>
          </a:xfrm>
          <a:prstGeom prst="rect">
            <a:avLst/>
          </a:prstGeom>
          <a:noFill/>
          <a:ln>
            <a:noFill/>
          </a:ln>
        </p:spPr>
      </p:pic>
      <p:pic>
        <p:nvPicPr>
          <p:cNvPr descr="dfs-progress07c" id="415" name="Google Shape;415;p38"/>
          <p:cNvPicPr preferRelativeResize="0"/>
          <p:nvPr/>
        </p:nvPicPr>
        <p:blipFill rotWithShape="1">
          <a:blip r:embed="rId4">
            <a:alphaModFix/>
          </a:blip>
          <a:srcRect b="0" l="0" r="0" t="0"/>
          <a:stretch/>
        </p:blipFill>
        <p:spPr>
          <a:xfrm>
            <a:off x="1981200" y="3048000"/>
            <a:ext cx="5181600" cy="30099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Depth-first search</a:t>
            </a:r>
            <a:endParaRPr/>
          </a:p>
        </p:txBody>
      </p:sp>
      <p:sp>
        <p:nvSpPr>
          <p:cNvPr id="421" name="Google Shape;421;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Expand deepest unexpanded node.</a:t>
            </a:r>
            <a:endParaRPr/>
          </a:p>
        </p:txBody>
      </p:sp>
      <p:pic>
        <p:nvPicPr>
          <p:cNvPr descr="dfs-progress01c" id="422" name="Google Shape;422;p39"/>
          <p:cNvPicPr preferRelativeResize="0"/>
          <p:nvPr/>
        </p:nvPicPr>
        <p:blipFill rotWithShape="1">
          <a:blip r:embed="rId3">
            <a:alphaModFix/>
          </a:blip>
          <a:srcRect b="0" l="0" r="0" t="0"/>
          <a:stretch/>
        </p:blipFill>
        <p:spPr>
          <a:xfrm>
            <a:off x="2362200" y="3124200"/>
            <a:ext cx="4419600" cy="2568575"/>
          </a:xfrm>
          <a:prstGeom prst="rect">
            <a:avLst/>
          </a:prstGeom>
          <a:noFill/>
          <a:ln>
            <a:noFill/>
          </a:ln>
        </p:spPr>
      </p:pic>
      <p:pic>
        <p:nvPicPr>
          <p:cNvPr descr="dfs-progress08c" id="423" name="Google Shape;423;p39"/>
          <p:cNvPicPr preferRelativeResize="0"/>
          <p:nvPr/>
        </p:nvPicPr>
        <p:blipFill rotWithShape="1">
          <a:blip r:embed="rId4">
            <a:alphaModFix/>
          </a:blip>
          <a:srcRect b="0" l="0" r="0" t="0"/>
          <a:stretch/>
        </p:blipFill>
        <p:spPr>
          <a:xfrm>
            <a:off x="1981200" y="3048000"/>
            <a:ext cx="5181600" cy="30099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Depth-first search</a:t>
            </a:r>
            <a:endParaRPr/>
          </a:p>
        </p:txBody>
      </p:sp>
      <p:sp>
        <p:nvSpPr>
          <p:cNvPr id="429" name="Google Shape;429;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Expand deepest unexpanded node.</a:t>
            </a:r>
            <a:endParaRPr/>
          </a:p>
        </p:txBody>
      </p:sp>
      <p:pic>
        <p:nvPicPr>
          <p:cNvPr descr="dfs-progress01c" id="430" name="Google Shape;430;p40"/>
          <p:cNvPicPr preferRelativeResize="0"/>
          <p:nvPr/>
        </p:nvPicPr>
        <p:blipFill rotWithShape="1">
          <a:blip r:embed="rId3">
            <a:alphaModFix/>
          </a:blip>
          <a:srcRect b="0" l="0" r="0" t="0"/>
          <a:stretch/>
        </p:blipFill>
        <p:spPr>
          <a:xfrm>
            <a:off x="2362200" y="3124200"/>
            <a:ext cx="4419600" cy="2568575"/>
          </a:xfrm>
          <a:prstGeom prst="rect">
            <a:avLst/>
          </a:prstGeom>
          <a:noFill/>
          <a:ln>
            <a:noFill/>
          </a:ln>
        </p:spPr>
      </p:pic>
      <p:pic>
        <p:nvPicPr>
          <p:cNvPr descr="dfs-progress09c" id="431" name="Google Shape;431;p40"/>
          <p:cNvPicPr preferRelativeResize="0"/>
          <p:nvPr/>
        </p:nvPicPr>
        <p:blipFill rotWithShape="1">
          <a:blip r:embed="rId4">
            <a:alphaModFix/>
          </a:blip>
          <a:srcRect b="0" l="0" r="0" t="0"/>
          <a:stretch/>
        </p:blipFill>
        <p:spPr>
          <a:xfrm>
            <a:off x="1981200" y="2916237"/>
            <a:ext cx="5181600" cy="3027363"/>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Depth-first search</a:t>
            </a:r>
            <a:endParaRPr/>
          </a:p>
        </p:txBody>
      </p:sp>
      <p:sp>
        <p:nvSpPr>
          <p:cNvPr id="437" name="Google Shape;437;p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Expand deepest unexpanded node.</a:t>
            </a:r>
            <a:endParaRPr/>
          </a:p>
        </p:txBody>
      </p:sp>
      <p:pic>
        <p:nvPicPr>
          <p:cNvPr descr="dfs-progress01c" id="438" name="Google Shape;438;p41"/>
          <p:cNvPicPr preferRelativeResize="0"/>
          <p:nvPr/>
        </p:nvPicPr>
        <p:blipFill rotWithShape="1">
          <a:blip r:embed="rId3">
            <a:alphaModFix/>
          </a:blip>
          <a:srcRect b="0" l="0" r="0" t="0"/>
          <a:stretch/>
        </p:blipFill>
        <p:spPr>
          <a:xfrm>
            <a:off x="2362200" y="3124200"/>
            <a:ext cx="4419600" cy="2568575"/>
          </a:xfrm>
          <a:prstGeom prst="rect">
            <a:avLst/>
          </a:prstGeom>
          <a:noFill/>
          <a:ln>
            <a:noFill/>
          </a:ln>
        </p:spPr>
      </p:pic>
      <p:pic>
        <p:nvPicPr>
          <p:cNvPr descr="dfs-progress10c" id="439" name="Google Shape;439;p41"/>
          <p:cNvPicPr preferRelativeResize="0"/>
          <p:nvPr/>
        </p:nvPicPr>
        <p:blipFill rotWithShape="1">
          <a:blip r:embed="rId4">
            <a:alphaModFix/>
          </a:blip>
          <a:srcRect b="0" l="0" r="0" t="0"/>
          <a:stretch/>
        </p:blipFill>
        <p:spPr>
          <a:xfrm>
            <a:off x="1981200" y="2819400"/>
            <a:ext cx="5181600" cy="30099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Depth-first search</a:t>
            </a:r>
            <a:endParaRPr/>
          </a:p>
        </p:txBody>
      </p:sp>
      <p:sp>
        <p:nvSpPr>
          <p:cNvPr id="445" name="Google Shape;445;p4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Expand deepest unexpanded node.</a:t>
            </a:r>
            <a:endParaRPr/>
          </a:p>
        </p:txBody>
      </p:sp>
      <p:pic>
        <p:nvPicPr>
          <p:cNvPr descr="dfs-progress01c" id="446" name="Google Shape;446;p42"/>
          <p:cNvPicPr preferRelativeResize="0"/>
          <p:nvPr/>
        </p:nvPicPr>
        <p:blipFill rotWithShape="1">
          <a:blip r:embed="rId3">
            <a:alphaModFix/>
          </a:blip>
          <a:srcRect b="0" l="0" r="0" t="0"/>
          <a:stretch/>
        </p:blipFill>
        <p:spPr>
          <a:xfrm>
            <a:off x="2362200" y="3124200"/>
            <a:ext cx="4419600" cy="2568575"/>
          </a:xfrm>
          <a:prstGeom prst="rect">
            <a:avLst/>
          </a:prstGeom>
          <a:noFill/>
          <a:ln>
            <a:noFill/>
          </a:ln>
        </p:spPr>
      </p:pic>
      <p:pic>
        <p:nvPicPr>
          <p:cNvPr descr="dfs-progress11c" id="447" name="Google Shape;447;p42"/>
          <p:cNvPicPr preferRelativeResize="0"/>
          <p:nvPr/>
        </p:nvPicPr>
        <p:blipFill rotWithShape="1">
          <a:blip r:embed="rId4">
            <a:alphaModFix/>
          </a:blip>
          <a:srcRect b="0" l="0" r="0" t="0"/>
          <a:stretch/>
        </p:blipFill>
        <p:spPr>
          <a:xfrm>
            <a:off x="1981200" y="2895600"/>
            <a:ext cx="5181600" cy="30099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Depth-first search</a:t>
            </a:r>
            <a:endParaRPr/>
          </a:p>
        </p:txBody>
      </p:sp>
      <p:sp>
        <p:nvSpPr>
          <p:cNvPr id="453" name="Google Shape;453;p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Expand deepest unexpanded node</a:t>
            </a:r>
            <a:endParaRPr/>
          </a:p>
        </p:txBody>
      </p:sp>
      <p:pic>
        <p:nvPicPr>
          <p:cNvPr descr="dfs-progress01c" id="454" name="Google Shape;454;p43"/>
          <p:cNvPicPr preferRelativeResize="0"/>
          <p:nvPr/>
        </p:nvPicPr>
        <p:blipFill rotWithShape="1">
          <a:blip r:embed="rId3">
            <a:alphaModFix/>
          </a:blip>
          <a:srcRect b="0" l="0" r="0" t="0"/>
          <a:stretch/>
        </p:blipFill>
        <p:spPr>
          <a:xfrm>
            <a:off x="2362200" y="3124200"/>
            <a:ext cx="4419600" cy="2568575"/>
          </a:xfrm>
          <a:prstGeom prst="rect">
            <a:avLst/>
          </a:prstGeom>
          <a:noFill/>
          <a:ln>
            <a:noFill/>
          </a:ln>
        </p:spPr>
      </p:pic>
      <p:pic>
        <p:nvPicPr>
          <p:cNvPr descr="dfs-progress12c" id="455" name="Google Shape;455;p43"/>
          <p:cNvPicPr preferRelativeResize="0"/>
          <p:nvPr/>
        </p:nvPicPr>
        <p:blipFill rotWithShape="1">
          <a:blip r:embed="rId4">
            <a:alphaModFix/>
          </a:blip>
          <a:srcRect b="0" l="0" r="0" t="0"/>
          <a:stretch/>
        </p:blipFill>
        <p:spPr>
          <a:xfrm>
            <a:off x="1981200" y="2895600"/>
            <a:ext cx="5181600" cy="3027363"/>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44"/>
          <p:cNvSpPr txBox="1"/>
          <p:nvPr>
            <p:ph type="title"/>
          </p:nvPr>
        </p:nvSpPr>
        <p:spPr>
          <a:xfrm>
            <a:off x="838200" y="-152400"/>
            <a:ext cx="7620000" cy="1066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Depth-first searching</a:t>
            </a:r>
            <a:endParaRPr/>
          </a:p>
        </p:txBody>
      </p:sp>
      <p:sp>
        <p:nvSpPr>
          <p:cNvPr id="462" name="Google Shape;462;p44"/>
          <p:cNvSpPr txBox="1"/>
          <p:nvPr>
            <p:ph idx="1" type="body"/>
          </p:nvPr>
        </p:nvSpPr>
        <p:spPr>
          <a:xfrm>
            <a:off x="4572000" y="1143000"/>
            <a:ext cx="4343400" cy="50292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200"/>
              <a:buChar char="•"/>
            </a:pPr>
            <a:r>
              <a:rPr lang="en-US" sz="2200"/>
              <a:t>A </a:t>
            </a:r>
            <a:r>
              <a:rPr lang="en-US" sz="2200">
                <a:solidFill>
                  <a:schemeClr val="dk2"/>
                </a:solidFill>
              </a:rPr>
              <a:t>depth-first</a:t>
            </a:r>
            <a:r>
              <a:rPr lang="en-US" sz="2200"/>
              <a:t> search (</a:t>
            </a:r>
            <a:r>
              <a:rPr lang="en-US" sz="2200">
                <a:solidFill>
                  <a:schemeClr val="dk2"/>
                </a:solidFill>
              </a:rPr>
              <a:t>DFS</a:t>
            </a:r>
            <a:r>
              <a:rPr lang="en-US" sz="2200"/>
              <a:t>) explores a path all the way to a leaf before </a:t>
            </a:r>
            <a:r>
              <a:rPr lang="en-US" sz="2200">
                <a:solidFill>
                  <a:schemeClr val="dk2"/>
                </a:solidFill>
              </a:rPr>
              <a:t>backtracking</a:t>
            </a:r>
            <a:r>
              <a:rPr lang="en-US" sz="2200"/>
              <a:t> and exploring another path</a:t>
            </a:r>
            <a:endParaRPr/>
          </a:p>
          <a:p>
            <a:pPr indent="-342900" lvl="0" marL="342900" rtl="0" algn="l">
              <a:spcBef>
                <a:spcPts val="440"/>
              </a:spcBef>
              <a:spcAft>
                <a:spcPts val="0"/>
              </a:spcAft>
              <a:buClr>
                <a:schemeClr val="dk1"/>
              </a:buClr>
              <a:buSzPts val="2200"/>
              <a:buChar char="•"/>
            </a:pPr>
            <a:r>
              <a:rPr lang="en-US" sz="2200"/>
              <a:t>For example, after searching </a:t>
            </a:r>
            <a:r>
              <a:rPr lang="en-US" sz="2200">
                <a:solidFill>
                  <a:schemeClr val="accent2"/>
                </a:solidFill>
                <a:latin typeface="Verdana"/>
                <a:ea typeface="Verdana"/>
                <a:cs typeface="Verdana"/>
                <a:sym typeface="Verdana"/>
              </a:rPr>
              <a:t>A</a:t>
            </a:r>
            <a:r>
              <a:rPr lang="en-US" sz="2200"/>
              <a:t>, then</a:t>
            </a:r>
            <a:r>
              <a:rPr lang="en-US" sz="2200">
                <a:solidFill>
                  <a:schemeClr val="accent2"/>
                </a:solidFill>
              </a:rPr>
              <a:t> </a:t>
            </a:r>
            <a:r>
              <a:rPr lang="en-US" sz="2200">
                <a:solidFill>
                  <a:schemeClr val="accent2"/>
                </a:solidFill>
                <a:latin typeface="Verdana"/>
                <a:ea typeface="Verdana"/>
                <a:cs typeface="Verdana"/>
                <a:sym typeface="Verdana"/>
              </a:rPr>
              <a:t>B</a:t>
            </a:r>
            <a:r>
              <a:rPr lang="en-US" sz="2200"/>
              <a:t>, then </a:t>
            </a:r>
            <a:r>
              <a:rPr lang="en-US" sz="2200">
                <a:solidFill>
                  <a:schemeClr val="accent2"/>
                </a:solidFill>
                <a:latin typeface="Verdana"/>
                <a:ea typeface="Verdana"/>
                <a:cs typeface="Verdana"/>
                <a:sym typeface="Verdana"/>
              </a:rPr>
              <a:t>D</a:t>
            </a:r>
            <a:r>
              <a:rPr lang="en-US" sz="2200"/>
              <a:t>, the search backtracks and tries another path from </a:t>
            </a:r>
            <a:r>
              <a:rPr lang="en-US" sz="2200">
                <a:solidFill>
                  <a:schemeClr val="accent2"/>
                </a:solidFill>
                <a:latin typeface="Verdana"/>
                <a:ea typeface="Verdana"/>
                <a:cs typeface="Verdana"/>
                <a:sym typeface="Verdana"/>
              </a:rPr>
              <a:t>B</a:t>
            </a:r>
            <a:endParaRPr/>
          </a:p>
          <a:p>
            <a:pPr indent="-342900" lvl="0" marL="342900" rtl="0" algn="l">
              <a:spcBef>
                <a:spcPts val="440"/>
              </a:spcBef>
              <a:spcAft>
                <a:spcPts val="0"/>
              </a:spcAft>
              <a:buClr>
                <a:schemeClr val="dk1"/>
              </a:buClr>
              <a:buSzPts val="2200"/>
              <a:buChar char="•"/>
            </a:pPr>
            <a:r>
              <a:rPr lang="en-US" sz="2200"/>
              <a:t>Node are explored in the order </a:t>
            </a:r>
            <a:r>
              <a:rPr lang="en-US" sz="2200">
                <a:solidFill>
                  <a:schemeClr val="accent2"/>
                </a:solidFill>
                <a:latin typeface="Verdana"/>
                <a:ea typeface="Verdana"/>
                <a:cs typeface="Verdana"/>
                <a:sym typeface="Verdana"/>
              </a:rPr>
              <a:t>A B D E H L M N I O P C F G J K Q</a:t>
            </a:r>
            <a:endParaRPr/>
          </a:p>
          <a:p>
            <a:pPr indent="-342900" lvl="0" marL="342900" rtl="0" algn="l">
              <a:spcBef>
                <a:spcPts val="440"/>
              </a:spcBef>
              <a:spcAft>
                <a:spcPts val="0"/>
              </a:spcAft>
              <a:buClr>
                <a:schemeClr val="accent2"/>
              </a:buClr>
              <a:buSzPts val="2200"/>
              <a:buChar char="•"/>
            </a:pPr>
            <a:r>
              <a:rPr lang="en-US" sz="2200">
                <a:solidFill>
                  <a:schemeClr val="accent2"/>
                </a:solidFill>
                <a:latin typeface="Verdana"/>
                <a:ea typeface="Verdana"/>
                <a:cs typeface="Verdana"/>
                <a:sym typeface="Verdana"/>
              </a:rPr>
              <a:t>N</a:t>
            </a:r>
            <a:r>
              <a:rPr lang="en-US" sz="2200"/>
              <a:t> will be found before </a:t>
            </a:r>
            <a:r>
              <a:rPr lang="en-US" sz="2200">
                <a:solidFill>
                  <a:schemeClr val="accent2"/>
                </a:solidFill>
                <a:latin typeface="Verdana"/>
                <a:ea typeface="Verdana"/>
                <a:cs typeface="Verdana"/>
                <a:sym typeface="Verdana"/>
              </a:rPr>
              <a:t>J</a:t>
            </a:r>
            <a:endParaRPr/>
          </a:p>
        </p:txBody>
      </p:sp>
      <p:grpSp>
        <p:nvGrpSpPr>
          <p:cNvPr id="463" name="Google Shape;463;p44"/>
          <p:cNvGrpSpPr/>
          <p:nvPr/>
        </p:nvGrpSpPr>
        <p:grpSpPr>
          <a:xfrm>
            <a:off x="609600" y="1828800"/>
            <a:ext cx="3581400" cy="3886200"/>
            <a:chOff x="384" y="1152"/>
            <a:chExt cx="2256" cy="2448"/>
          </a:xfrm>
        </p:grpSpPr>
        <p:sp>
          <p:nvSpPr>
            <p:cNvPr id="464" name="Google Shape;464;p44"/>
            <p:cNvSpPr/>
            <p:nvPr/>
          </p:nvSpPr>
          <p:spPr>
            <a:xfrm>
              <a:off x="384" y="3360"/>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L</a:t>
              </a:r>
              <a:endParaRPr/>
            </a:p>
          </p:txBody>
        </p:sp>
        <p:sp>
          <p:nvSpPr>
            <p:cNvPr id="465" name="Google Shape;465;p44"/>
            <p:cNvSpPr/>
            <p:nvPr/>
          </p:nvSpPr>
          <p:spPr>
            <a:xfrm>
              <a:off x="720" y="3360"/>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M</a:t>
              </a:r>
              <a:endParaRPr/>
            </a:p>
          </p:txBody>
        </p:sp>
        <p:sp>
          <p:nvSpPr>
            <p:cNvPr id="466" name="Google Shape;466;p44"/>
            <p:cNvSpPr/>
            <p:nvPr/>
          </p:nvSpPr>
          <p:spPr>
            <a:xfrm>
              <a:off x="1056" y="3360"/>
              <a:ext cx="240" cy="240"/>
            </a:xfrm>
            <a:prstGeom prst="ellipse">
              <a:avLst/>
            </a:prstGeom>
            <a:noFill/>
            <a:ln cap="flat" cmpd="sng" w="5715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N</a:t>
              </a:r>
              <a:endParaRPr/>
            </a:p>
          </p:txBody>
        </p:sp>
        <p:sp>
          <p:nvSpPr>
            <p:cNvPr id="467" name="Google Shape;467;p44"/>
            <p:cNvSpPr/>
            <p:nvPr/>
          </p:nvSpPr>
          <p:spPr>
            <a:xfrm>
              <a:off x="1392" y="3360"/>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O</a:t>
              </a:r>
              <a:endParaRPr/>
            </a:p>
          </p:txBody>
        </p:sp>
        <p:sp>
          <p:nvSpPr>
            <p:cNvPr id="468" name="Google Shape;468;p44"/>
            <p:cNvSpPr/>
            <p:nvPr/>
          </p:nvSpPr>
          <p:spPr>
            <a:xfrm>
              <a:off x="1728" y="3360"/>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P</a:t>
              </a:r>
              <a:endParaRPr/>
            </a:p>
          </p:txBody>
        </p:sp>
        <p:sp>
          <p:nvSpPr>
            <p:cNvPr id="469" name="Google Shape;469;p44"/>
            <p:cNvSpPr/>
            <p:nvPr/>
          </p:nvSpPr>
          <p:spPr>
            <a:xfrm>
              <a:off x="2208" y="2256"/>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G</a:t>
              </a:r>
              <a:endParaRPr/>
            </a:p>
          </p:txBody>
        </p:sp>
        <p:sp>
          <p:nvSpPr>
            <p:cNvPr id="470" name="Google Shape;470;p44"/>
            <p:cNvSpPr/>
            <p:nvPr/>
          </p:nvSpPr>
          <p:spPr>
            <a:xfrm>
              <a:off x="2400" y="3360"/>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Q</a:t>
              </a:r>
              <a:endParaRPr/>
            </a:p>
          </p:txBody>
        </p:sp>
        <p:sp>
          <p:nvSpPr>
            <p:cNvPr id="471" name="Google Shape;471;p44"/>
            <p:cNvSpPr/>
            <p:nvPr/>
          </p:nvSpPr>
          <p:spPr>
            <a:xfrm>
              <a:off x="720" y="2832"/>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H</a:t>
              </a:r>
              <a:endParaRPr/>
            </a:p>
          </p:txBody>
        </p:sp>
        <p:sp>
          <p:nvSpPr>
            <p:cNvPr id="472" name="Google Shape;472;p44"/>
            <p:cNvSpPr/>
            <p:nvPr/>
          </p:nvSpPr>
          <p:spPr>
            <a:xfrm>
              <a:off x="2016" y="2832"/>
              <a:ext cx="240" cy="240"/>
            </a:xfrm>
            <a:prstGeom prst="ellipse">
              <a:avLst/>
            </a:prstGeom>
            <a:noFill/>
            <a:ln cap="flat" cmpd="sng" w="5715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J</a:t>
              </a:r>
              <a:endParaRPr/>
            </a:p>
          </p:txBody>
        </p:sp>
        <p:sp>
          <p:nvSpPr>
            <p:cNvPr id="473" name="Google Shape;473;p44"/>
            <p:cNvSpPr/>
            <p:nvPr/>
          </p:nvSpPr>
          <p:spPr>
            <a:xfrm>
              <a:off x="1536" y="2832"/>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I</a:t>
              </a:r>
              <a:endParaRPr/>
            </a:p>
          </p:txBody>
        </p:sp>
        <p:sp>
          <p:nvSpPr>
            <p:cNvPr id="474" name="Google Shape;474;p44"/>
            <p:cNvSpPr/>
            <p:nvPr/>
          </p:nvSpPr>
          <p:spPr>
            <a:xfrm>
              <a:off x="2400" y="2832"/>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K</a:t>
              </a:r>
              <a:endParaRPr/>
            </a:p>
          </p:txBody>
        </p:sp>
        <p:sp>
          <p:nvSpPr>
            <p:cNvPr id="475" name="Google Shape;475;p44"/>
            <p:cNvSpPr/>
            <p:nvPr/>
          </p:nvSpPr>
          <p:spPr>
            <a:xfrm>
              <a:off x="1776" y="2256"/>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F</a:t>
              </a:r>
              <a:endParaRPr/>
            </a:p>
          </p:txBody>
        </p:sp>
        <p:sp>
          <p:nvSpPr>
            <p:cNvPr id="476" name="Google Shape;476;p44"/>
            <p:cNvSpPr/>
            <p:nvPr/>
          </p:nvSpPr>
          <p:spPr>
            <a:xfrm>
              <a:off x="1152" y="2256"/>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E</a:t>
              </a:r>
              <a:endParaRPr/>
            </a:p>
          </p:txBody>
        </p:sp>
        <p:sp>
          <p:nvSpPr>
            <p:cNvPr id="477" name="Google Shape;477;p44"/>
            <p:cNvSpPr/>
            <p:nvPr/>
          </p:nvSpPr>
          <p:spPr>
            <a:xfrm>
              <a:off x="576" y="2256"/>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D</a:t>
              </a:r>
              <a:endParaRPr/>
            </a:p>
          </p:txBody>
        </p:sp>
        <p:sp>
          <p:nvSpPr>
            <p:cNvPr id="478" name="Google Shape;478;p44"/>
            <p:cNvSpPr/>
            <p:nvPr/>
          </p:nvSpPr>
          <p:spPr>
            <a:xfrm>
              <a:off x="864" y="1728"/>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B</a:t>
              </a:r>
              <a:endParaRPr/>
            </a:p>
          </p:txBody>
        </p:sp>
        <p:sp>
          <p:nvSpPr>
            <p:cNvPr id="479" name="Google Shape;479;p44"/>
            <p:cNvSpPr/>
            <p:nvPr/>
          </p:nvSpPr>
          <p:spPr>
            <a:xfrm>
              <a:off x="1968" y="1728"/>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C</a:t>
              </a:r>
              <a:endParaRPr/>
            </a:p>
          </p:txBody>
        </p:sp>
        <p:sp>
          <p:nvSpPr>
            <p:cNvPr id="480" name="Google Shape;480;p44"/>
            <p:cNvSpPr/>
            <p:nvPr/>
          </p:nvSpPr>
          <p:spPr>
            <a:xfrm>
              <a:off x="1392" y="1152"/>
              <a:ext cx="240" cy="240"/>
            </a:xfrm>
            <a:prstGeom prst="ellipse">
              <a:avLst/>
            </a:pr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A</a:t>
              </a:r>
              <a:endParaRPr/>
            </a:p>
          </p:txBody>
        </p:sp>
        <p:cxnSp>
          <p:nvCxnSpPr>
            <p:cNvPr id="481" name="Google Shape;481;p44"/>
            <p:cNvCxnSpPr/>
            <p:nvPr/>
          </p:nvCxnSpPr>
          <p:spPr>
            <a:xfrm flipH="1" rot="10800000">
              <a:off x="1056" y="1344"/>
              <a:ext cx="384" cy="384"/>
            </a:xfrm>
            <a:prstGeom prst="straightConnector1">
              <a:avLst/>
            </a:prstGeom>
            <a:noFill/>
            <a:ln cap="flat" cmpd="sng" w="15875">
              <a:solidFill>
                <a:schemeClr val="dk1"/>
              </a:solidFill>
              <a:prstDash val="solid"/>
              <a:round/>
              <a:headEnd len="med" w="med" type="none"/>
              <a:tailEnd len="med" w="med" type="none"/>
            </a:ln>
          </p:spPr>
        </p:cxnSp>
        <p:cxnSp>
          <p:nvCxnSpPr>
            <p:cNvPr id="482" name="Google Shape;482;p44"/>
            <p:cNvCxnSpPr/>
            <p:nvPr/>
          </p:nvCxnSpPr>
          <p:spPr>
            <a:xfrm>
              <a:off x="1584" y="1344"/>
              <a:ext cx="432" cy="432"/>
            </a:xfrm>
            <a:prstGeom prst="straightConnector1">
              <a:avLst/>
            </a:prstGeom>
            <a:noFill/>
            <a:ln cap="flat" cmpd="sng" w="15875">
              <a:solidFill>
                <a:schemeClr val="dk1"/>
              </a:solidFill>
              <a:prstDash val="solid"/>
              <a:round/>
              <a:headEnd len="med" w="med" type="none"/>
              <a:tailEnd len="med" w="med" type="none"/>
            </a:ln>
          </p:spPr>
        </p:cxnSp>
        <p:cxnSp>
          <p:nvCxnSpPr>
            <p:cNvPr id="483" name="Google Shape;483;p44"/>
            <p:cNvCxnSpPr/>
            <p:nvPr/>
          </p:nvCxnSpPr>
          <p:spPr>
            <a:xfrm flipH="1">
              <a:off x="720" y="1968"/>
              <a:ext cx="192" cy="288"/>
            </a:xfrm>
            <a:prstGeom prst="straightConnector1">
              <a:avLst/>
            </a:prstGeom>
            <a:noFill/>
            <a:ln cap="flat" cmpd="sng" w="15875">
              <a:solidFill>
                <a:schemeClr val="dk1"/>
              </a:solidFill>
              <a:prstDash val="solid"/>
              <a:round/>
              <a:headEnd len="med" w="med" type="none"/>
              <a:tailEnd len="med" w="med" type="none"/>
            </a:ln>
          </p:spPr>
        </p:cxnSp>
        <p:cxnSp>
          <p:nvCxnSpPr>
            <p:cNvPr id="484" name="Google Shape;484;p44"/>
            <p:cNvCxnSpPr/>
            <p:nvPr/>
          </p:nvCxnSpPr>
          <p:spPr>
            <a:xfrm>
              <a:off x="1056" y="1968"/>
              <a:ext cx="192" cy="288"/>
            </a:xfrm>
            <a:prstGeom prst="straightConnector1">
              <a:avLst/>
            </a:prstGeom>
            <a:noFill/>
            <a:ln cap="flat" cmpd="sng" w="15875">
              <a:solidFill>
                <a:schemeClr val="dk1"/>
              </a:solidFill>
              <a:prstDash val="solid"/>
              <a:round/>
              <a:headEnd len="med" w="med" type="none"/>
              <a:tailEnd len="med" w="med" type="none"/>
            </a:ln>
          </p:spPr>
        </p:cxnSp>
        <p:cxnSp>
          <p:nvCxnSpPr>
            <p:cNvPr id="485" name="Google Shape;485;p44"/>
            <p:cNvCxnSpPr/>
            <p:nvPr/>
          </p:nvCxnSpPr>
          <p:spPr>
            <a:xfrm flipH="1">
              <a:off x="1920" y="1968"/>
              <a:ext cx="96" cy="288"/>
            </a:xfrm>
            <a:prstGeom prst="straightConnector1">
              <a:avLst/>
            </a:prstGeom>
            <a:noFill/>
            <a:ln cap="flat" cmpd="sng" w="15875">
              <a:solidFill>
                <a:schemeClr val="dk1"/>
              </a:solidFill>
              <a:prstDash val="solid"/>
              <a:round/>
              <a:headEnd len="med" w="med" type="none"/>
              <a:tailEnd len="med" w="med" type="none"/>
            </a:ln>
          </p:spPr>
        </p:cxnSp>
        <p:cxnSp>
          <p:nvCxnSpPr>
            <p:cNvPr id="486" name="Google Shape;486;p44"/>
            <p:cNvCxnSpPr/>
            <p:nvPr/>
          </p:nvCxnSpPr>
          <p:spPr>
            <a:xfrm>
              <a:off x="2160" y="1968"/>
              <a:ext cx="144" cy="288"/>
            </a:xfrm>
            <a:prstGeom prst="straightConnector1">
              <a:avLst/>
            </a:prstGeom>
            <a:noFill/>
            <a:ln cap="flat" cmpd="sng" w="15875">
              <a:solidFill>
                <a:schemeClr val="dk1"/>
              </a:solidFill>
              <a:prstDash val="solid"/>
              <a:round/>
              <a:headEnd len="med" w="med" type="none"/>
              <a:tailEnd len="med" w="med" type="none"/>
            </a:ln>
          </p:spPr>
        </p:cxnSp>
        <p:cxnSp>
          <p:nvCxnSpPr>
            <p:cNvPr id="487" name="Google Shape;487;p44"/>
            <p:cNvCxnSpPr/>
            <p:nvPr/>
          </p:nvCxnSpPr>
          <p:spPr>
            <a:xfrm flipH="1" rot="10800000">
              <a:off x="816" y="2448"/>
              <a:ext cx="384" cy="384"/>
            </a:xfrm>
            <a:prstGeom prst="straightConnector1">
              <a:avLst/>
            </a:prstGeom>
            <a:noFill/>
            <a:ln cap="flat" cmpd="sng" w="15875">
              <a:solidFill>
                <a:schemeClr val="dk1"/>
              </a:solidFill>
              <a:prstDash val="solid"/>
              <a:round/>
              <a:headEnd len="med" w="med" type="none"/>
              <a:tailEnd len="med" w="med" type="none"/>
            </a:ln>
          </p:spPr>
        </p:cxnSp>
        <p:cxnSp>
          <p:nvCxnSpPr>
            <p:cNvPr id="488" name="Google Shape;488;p44"/>
            <p:cNvCxnSpPr/>
            <p:nvPr/>
          </p:nvCxnSpPr>
          <p:spPr>
            <a:xfrm rot="10800000">
              <a:off x="1344" y="2448"/>
              <a:ext cx="240" cy="384"/>
            </a:xfrm>
            <a:prstGeom prst="straightConnector1">
              <a:avLst/>
            </a:prstGeom>
            <a:noFill/>
            <a:ln cap="flat" cmpd="sng" w="15875">
              <a:solidFill>
                <a:schemeClr val="dk1"/>
              </a:solidFill>
              <a:prstDash val="solid"/>
              <a:round/>
              <a:headEnd len="med" w="med" type="none"/>
              <a:tailEnd len="med" w="med" type="none"/>
            </a:ln>
          </p:spPr>
        </p:cxnSp>
        <p:cxnSp>
          <p:nvCxnSpPr>
            <p:cNvPr id="489" name="Google Shape;489;p44"/>
            <p:cNvCxnSpPr/>
            <p:nvPr/>
          </p:nvCxnSpPr>
          <p:spPr>
            <a:xfrm flipH="1" rot="10800000">
              <a:off x="2160" y="2496"/>
              <a:ext cx="144" cy="336"/>
            </a:xfrm>
            <a:prstGeom prst="straightConnector1">
              <a:avLst/>
            </a:prstGeom>
            <a:noFill/>
            <a:ln cap="flat" cmpd="sng" w="15875">
              <a:solidFill>
                <a:schemeClr val="dk1"/>
              </a:solidFill>
              <a:prstDash val="solid"/>
              <a:round/>
              <a:headEnd len="med" w="med" type="none"/>
              <a:tailEnd len="med" w="med" type="none"/>
            </a:ln>
          </p:spPr>
        </p:cxnSp>
        <p:cxnSp>
          <p:nvCxnSpPr>
            <p:cNvPr id="490" name="Google Shape;490;p44"/>
            <p:cNvCxnSpPr/>
            <p:nvPr/>
          </p:nvCxnSpPr>
          <p:spPr>
            <a:xfrm rot="10800000">
              <a:off x="2352" y="2496"/>
              <a:ext cx="144" cy="336"/>
            </a:xfrm>
            <a:prstGeom prst="straightConnector1">
              <a:avLst/>
            </a:prstGeom>
            <a:noFill/>
            <a:ln cap="flat" cmpd="sng" w="15875">
              <a:solidFill>
                <a:schemeClr val="dk1"/>
              </a:solidFill>
              <a:prstDash val="solid"/>
              <a:round/>
              <a:headEnd len="med" w="med" type="none"/>
              <a:tailEnd len="med" w="med" type="none"/>
            </a:ln>
          </p:spPr>
        </p:cxnSp>
        <p:cxnSp>
          <p:nvCxnSpPr>
            <p:cNvPr id="491" name="Google Shape;491;p44"/>
            <p:cNvCxnSpPr/>
            <p:nvPr/>
          </p:nvCxnSpPr>
          <p:spPr>
            <a:xfrm flipH="1" rot="10800000">
              <a:off x="528" y="3024"/>
              <a:ext cx="240" cy="336"/>
            </a:xfrm>
            <a:prstGeom prst="straightConnector1">
              <a:avLst/>
            </a:prstGeom>
            <a:noFill/>
            <a:ln cap="flat" cmpd="sng" w="15875">
              <a:solidFill>
                <a:schemeClr val="dk1"/>
              </a:solidFill>
              <a:prstDash val="solid"/>
              <a:round/>
              <a:headEnd len="med" w="med" type="none"/>
              <a:tailEnd len="med" w="med" type="none"/>
            </a:ln>
          </p:spPr>
        </p:cxnSp>
        <p:cxnSp>
          <p:nvCxnSpPr>
            <p:cNvPr id="492" name="Google Shape;492;p44"/>
            <p:cNvCxnSpPr/>
            <p:nvPr/>
          </p:nvCxnSpPr>
          <p:spPr>
            <a:xfrm rot="10800000">
              <a:off x="816" y="3072"/>
              <a:ext cx="0" cy="288"/>
            </a:xfrm>
            <a:prstGeom prst="straightConnector1">
              <a:avLst/>
            </a:prstGeom>
            <a:noFill/>
            <a:ln cap="flat" cmpd="sng" w="15875">
              <a:solidFill>
                <a:schemeClr val="dk1"/>
              </a:solidFill>
              <a:prstDash val="solid"/>
              <a:round/>
              <a:headEnd len="med" w="med" type="none"/>
              <a:tailEnd len="med" w="med" type="none"/>
            </a:ln>
          </p:spPr>
        </p:cxnSp>
        <p:cxnSp>
          <p:nvCxnSpPr>
            <p:cNvPr id="493" name="Google Shape;493;p44"/>
            <p:cNvCxnSpPr/>
            <p:nvPr/>
          </p:nvCxnSpPr>
          <p:spPr>
            <a:xfrm rot="10800000">
              <a:off x="912" y="3072"/>
              <a:ext cx="240" cy="288"/>
            </a:xfrm>
            <a:prstGeom prst="straightConnector1">
              <a:avLst/>
            </a:prstGeom>
            <a:noFill/>
            <a:ln cap="flat" cmpd="sng" w="15875">
              <a:solidFill>
                <a:schemeClr val="dk1"/>
              </a:solidFill>
              <a:prstDash val="solid"/>
              <a:round/>
              <a:headEnd len="med" w="med" type="none"/>
              <a:tailEnd len="med" w="med" type="none"/>
            </a:ln>
          </p:spPr>
        </p:cxnSp>
        <p:cxnSp>
          <p:nvCxnSpPr>
            <p:cNvPr id="494" name="Google Shape;494;p44"/>
            <p:cNvCxnSpPr/>
            <p:nvPr/>
          </p:nvCxnSpPr>
          <p:spPr>
            <a:xfrm flipH="1" rot="10800000">
              <a:off x="1536" y="3072"/>
              <a:ext cx="96" cy="288"/>
            </a:xfrm>
            <a:prstGeom prst="straightConnector1">
              <a:avLst/>
            </a:prstGeom>
            <a:noFill/>
            <a:ln cap="flat" cmpd="sng" w="15875">
              <a:solidFill>
                <a:schemeClr val="dk1"/>
              </a:solidFill>
              <a:prstDash val="solid"/>
              <a:round/>
              <a:headEnd len="med" w="med" type="none"/>
              <a:tailEnd len="med" w="med" type="none"/>
            </a:ln>
          </p:spPr>
        </p:cxnSp>
        <p:cxnSp>
          <p:nvCxnSpPr>
            <p:cNvPr id="495" name="Google Shape;495;p44"/>
            <p:cNvCxnSpPr/>
            <p:nvPr/>
          </p:nvCxnSpPr>
          <p:spPr>
            <a:xfrm rot="10800000">
              <a:off x="1680" y="3072"/>
              <a:ext cx="144" cy="288"/>
            </a:xfrm>
            <a:prstGeom prst="straightConnector1">
              <a:avLst/>
            </a:prstGeom>
            <a:noFill/>
            <a:ln cap="flat" cmpd="sng" w="15875">
              <a:solidFill>
                <a:schemeClr val="dk1"/>
              </a:solidFill>
              <a:prstDash val="solid"/>
              <a:round/>
              <a:headEnd len="med" w="med" type="none"/>
              <a:tailEnd len="med" w="med" type="none"/>
            </a:ln>
          </p:spPr>
        </p:cxnSp>
        <p:cxnSp>
          <p:nvCxnSpPr>
            <p:cNvPr id="496" name="Google Shape;496;p44"/>
            <p:cNvCxnSpPr/>
            <p:nvPr/>
          </p:nvCxnSpPr>
          <p:spPr>
            <a:xfrm rot="10800000">
              <a:off x="2496" y="3072"/>
              <a:ext cx="0" cy="288"/>
            </a:xfrm>
            <a:prstGeom prst="straightConnector1">
              <a:avLst/>
            </a:prstGeom>
            <a:noFill/>
            <a:ln cap="flat" cmpd="sng" w="15875">
              <a:solidFill>
                <a:schemeClr val="dk1"/>
              </a:solidFill>
              <a:prstDash val="solid"/>
              <a:round/>
              <a:headEnd len="med" w="med" type="none"/>
              <a:tailEnd len="med" w="med" type="none"/>
            </a:ln>
          </p:spPr>
        </p:cxnSp>
      </p:grpSp>
      <p:sp>
        <p:nvSpPr>
          <p:cNvPr id="497" name="Google Shape;497;p44"/>
          <p:cNvSpPr/>
          <p:nvPr/>
        </p:nvSpPr>
        <p:spPr>
          <a:xfrm>
            <a:off x="674688" y="1754188"/>
            <a:ext cx="1993900" cy="3836987"/>
          </a:xfrm>
          <a:custGeom>
            <a:rect b="b" l="l" r="r" t="t"/>
            <a:pathLst>
              <a:path extrusionOk="0" h="2417" w="1256">
                <a:moveTo>
                  <a:pt x="1256" y="0"/>
                </a:moveTo>
                <a:cubicBezTo>
                  <a:pt x="1181" y="62"/>
                  <a:pt x="929" y="254"/>
                  <a:pt x="809" y="374"/>
                </a:cubicBezTo>
                <a:cubicBezTo>
                  <a:pt x="689" y="494"/>
                  <a:pt x="629" y="567"/>
                  <a:pt x="535" y="721"/>
                </a:cubicBezTo>
                <a:cubicBezTo>
                  <a:pt x="441" y="875"/>
                  <a:pt x="295" y="1169"/>
                  <a:pt x="246" y="1297"/>
                </a:cubicBezTo>
                <a:cubicBezTo>
                  <a:pt x="198" y="1425"/>
                  <a:pt x="226" y="1457"/>
                  <a:pt x="246" y="1489"/>
                </a:cubicBezTo>
                <a:cubicBezTo>
                  <a:pt x="266" y="1521"/>
                  <a:pt x="322" y="1581"/>
                  <a:pt x="369" y="1490"/>
                </a:cubicBezTo>
                <a:cubicBezTo>
                  <a:pt x="416" y="1399"/>
                  <a:pt x="491" y="1034"/>
                  <a:pt x="530" y="940"/>
                </a:cubicBezTo>
                <a:cubicBezTo>
                  <a:pt x="569" y="846"/>
                  <a:pt x="557" y="880"/>
                  <a:pt x="606" y="923"/>
                </a:cubicBezTo>
                <a:cubicBezTo>
                  <a:pt x="655" y="966"/>
                  <a:pt x="788" y="1129"/>
                  <a:pt x="823" y="1201"/>
                </a:cubicBezTo>
                <a:cubicBezTo>
                  <a:pt x="858" y="1273"/>
                  <a:pt x="888" y="1246"/>
                  <a:pt x="816" y="1358"/>
                </a:cubicBezTo>
                <a:cubicBezTo>
                  <a:pt x="744" y="1470"/>
                  <a:pt x="520" y="1711"/>
                  <a:pt x="391" y="1874"/>
                </a:cubicBezTo>
                <a:cubicBezTo>
                  <a:pt x="262" y="2037"/>
                  <a:pt x="80" y="2255"/>
                  <a:pt x="40" y="2335"/>
                </a:cubicBezTo>
                <a:cubicBezTo>
                  <a:pt x="0" y="2415"/>
                  <a:pt x="95" y="2407"/>
                  <a:pt x="150" y="2354"/>
                </a:cubicBezTo>
                <a:cubicBezTo>
                  <a:pt x="205" y="2301"/>
                  <a:pt x="333" y="2013"/>
                  <a:pt x="369" y="2014"/>
                </a:cubicBezTo>
                <a:cubicBezTo>
                  <a:pt x="405" y="2015"/>
                  <a:pt x="349" y="2303"/>
                  <a:pt x="369" y="2360"/>
                </a:cubicBezTo>
                <a:cubicBezTo>
                  <a:pt x="389" y="2417"/>
                  <a:pt x="473" y="2409"/>
                  <a:pt x="487" y="2354"/>
                </a:cubicBezTo>
                <a:cubicBezTo>
                  <a:pt x="501" y="2299"/>
                  <a:pt x="429" y="2047"/>
                  <a:pt x="454" y="2030"/>
                </a:cubicBezTo>
                <a:cubicBezTo>
                  <a:pt x="479" y="2013"/>
                  <a:pt x="601" y="2204"/>
                  <a:pt x="640" y="2250"/>
                </a:cubicBezTo>
              </a:path>
            </a:pathLst>
          </a:custGeom>
          <a:noFill/>
          <a:ln cap="flat" cmpd="sng" w="381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pic>
        <p:nvPicPr>
          <p:cNvPr id="503" name="Google Shape;503;p45"/>
          <p:cNvPicPr preferRelativeResize="0"/>
          <p:nvPr/>
        </p:nvPicPr>
        <p:blipFill rotWithShape="1">
          <a:blip r:embed="rId3">
            <a:alphaModFix/>
          </a:blip>
          <a:srcRect b="0" l="0" r="0" t="0"/>
          <a:stretch/>
        </p:blipFill>
        <p:spPr>
          <a:xfrm>
            <a:off x="3962400" y="0"/>
            <a:ext cx="4876800" cy="3406775"/>
          </a:xfrm>
          <a:prstGeom prst="rect">
            <a:avLst/>
          </a:prstGeom>
          <a:noFill/>
          <a:ln>
            <a:noFill/>
          </a:ln>
        </p:spPr>
      </p:pic>
      <p:sp>
        <p:nvSpPr>
          <p:cNvPr id="504" name="Google Shape;504;p45"/>
          <p:cNvSpPr txBox="1"/>
          <p:nvPr/>
        </p:nvSpPr>
        <p:spPr>
          <a:xfrm>
            <a:off x="609600" y="304800"/>
            <a:ext cx="3333750" cy="9461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A50021"/>
                </a:solidFill>
                <a:latin typeface="Arial"/>
                <a:ea typeface="Arial"/>
                <a:cs typeface="Arial"/>
                <a:sym typeface="Arial"/>
              </a:rPr>
              <a:t>A trace of </a:t>
            </a:r>
            <a:endParaRPr/>
          </a:p>
          <a:p>
            <a:pPr indent="0" lvl="0" marL="0" marR="0" rtl="0" algn="l">
              <a:spcBef>
                <a:spcPts val="0"/>
              </a:spcBef>
              <a:spcAft>
                <a:spcPts val="0"/>
              </a:spcAft>
              <a:buNone/>
            </a:pPr>
            <a:r>
              <a:rPr lang="en-US" sz="2800">
                <a:solidFill>
                  <a:srgbClr val="A50021"/>
                </a:solidFill>
                <a:latin typeface="Arial"/>
                <a:ea typeface="Arial"/>
                <a:cs typeface="Arial"/>
                <a:sym typeface="Arial"/>
              </a:rPr>
              <a:t>depth-first algorithm</a:t>
            </a:r>
            <a:endParaRPr/>
          </a:p>
        </p:txBody>
      </p:sp>
      <p:pic>
        <p:nvPicPr>
          <p:cNvPr id="505" name="Google Shape;505;p45"/>
          <p:cNvPicPr preferRelativeResize="0"/>
          <p:nvPr/>
        </p:nvPicPr>
        <p:blipFill rotWithShape="1">
          <a:blip r:embed="rId4">
            <a:alphaModFix/>
          </a:blip>
          <a:srcRect b="0" l="0" r="0" t="0"/>
          <a:stretch/>
        </p:blipFill>
        <p:spPr>
          <a:xfrm>
            <a:off x="228600" y="3276600"/>
            <a:ext cx="8526463" cy="3405188"/>
          </a:xfrm>
          <a:prstGeom prst="rect">
            <a:avLst/>
          </a:prstGeom>
          <a:noFill/>
          <a:ln>
            <a:noFill/>
          </a:ln>
        </p:spPr>
      </p:pic>
      <p:sp>
        <p:nvSpPr>
          <p:cNvPr id="506" name="Google Shape;506;p45"/>
          <p:cNvSpPr/>
          <p:nvPr/>
        </p:nvSpPr>
        <p:spPr>
          <a:xfrm>
            <a:off x="1800225" y="3276600"/>
            <a:ext cx="200025" cy="3505200"/>
          </a:xfrm>
          <a:prstGeom prst="rect">
            <a:avLst/>
          </a:prstGeom>
          <a:noFill/>
          <a:ln cap="flat" cmpd="sng" w="19050">
            <a:solidFill>
              <a:schemeClr va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7" name="Google Shape;507;p45"/>
          <p:cNvSpPr/>
          <p:nvPr/>
        </p:nvSpPr>
        <p:spPr>
          <a:xfrm>
            <a:off x="4114800" y="3962400"/>
            <a:ext cx="228600" cy="304800"/>
          </a:xfrm>
          <a:prstGeom prst="rect">
            <a:avLst/>
          </a:prstGeom>
          <a:solidFill>
            <a:srgbClr val="FFFF00">
              <a:alpha val="34901"/>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8" name="Google Shape;508;p45"/>
          <p:cNvSpPr/>
          <p:nvPr/>
        </p:nvSpPr>
        <p:spPr>
          <a:xfrm>
            <a:off x="1752600" y="3609975"/>
            <a:ext cx="228600" cy="304800"/>
          </a:xfrm>
          <a:prstGeom prst="rect">
            <a:avLst/>
          </a:prstGeom>
          <a:solidFill>
            <a:srgbClr val="FFFF00">
              <a:alpha val="34901"/>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9" name="Google Shape;509;p45"/>
          <p:cNvSpPr/>
          <p:nvPr/>
        </p:nvSpPr>
        <p:spPr>
          <a:xfrm>
            <a:off x="1752600" y="3962400"/>
            <a:ext cx="457200" cy="304800"/>
          </a:xfrm>
          <a:prstGeom prst="rect">
            <a:avLst/>
          </a:prstGeom>
          <a:solidFill>
            <a:srgbClr val="FFFF00">
              <a:alpha val="34901"/>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45"/>
          <p:cNvSpPr/>
          <p:nvPr/>
        </p:nvSpPr>
        <p:spPr>
          <a:xfrm>
            <a:off x="5105400" y="990600"/>
            <a:ext cx="381000" cy="304800"/>
          </a:xfrm>
          <a:prstGeom prst="rect">
            <a:avLst/>
          </a:prstGeom>
          <a:solidFill>
            <a:srgbClr val="FFFF00">
              <a:alpha val="34901"/>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1" name="Google Shape;511;p45"/>
          <p:cNvSpPr/>
          <p:nvPr/>
        </p:nvSpPr>
        <p:spPr>
          <a:xfrm>
            <a:off x="4724400" y="1676400"/>
            <a:ext cx="685800" cy="304800"/>
          </a:xfrm>
          <a:prstGeom prst="rect">
            <a:avLst/>
          </a:prstGeom>
          <a:solidFill>
            <a:srgbClr val="FFFF00">
              <a:alpha val="34901"/>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2" name="Google Shape;512;p45"/>
          <p:cNvSpPr txBox="1"/>
          <p:nvPr/>
        </p:nvSpPr>
        <p:spPr>
          <a:xfrm>
            <a:off x="1219200" y="2743200"/>
            <a:ext cx="15367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hlink"/>
                </a:solidFill>
                <a:latin typeface="Calibri"/>
                <a:ea typeface="Calibri"/>
                <a:cs typeface="Calibri"/>
                <a:sym typeface="Calibri"/>
              </a:rPr>
              <a:t>top of stack</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pic>
        <p:nvPicPr>
          <p:cNvPr id="518" name="Google Shape;518;p46"/>
          <p:cNvPicPr preferRelativeResize="0"/>
          <p:nvPr/>
        </p:nvPicPr>
        <p:blipFill rotWithShape="1">
          <a:blip r:embed="rId3">
            <a:alphaModFix/>
          </a:blip>
          <a:srcRect b="0" l="0" r="0" t="0"/>
          <a:stretch/>
        </p:blipFill>
        <p:spPr>
          <a:xfrm>
            <a:off x="228600" y="3352800"/>
            <a:ext cx="8526463" cy="3405188"/>
          </a:xfrm>
          <a:prstGeom prst="rect">
            <a:avLst/>
          </a:prstGeom>
          <a:noFill/>
          <a:ln>
            <a:noFill/>
          </a:ln>
        </p:spPr>
      </p:pic>
      <p:sp>
        <p:nvSpPr>
          <p:cNvPr id="519" name="Google Shape;519;p46"/>
          <p:cNvSpPr txBox="1"/>
          <p:nvPr/>
        </p:nvSpPr>
        <p:spPr>
          <a:xfrm>
            <a:off x="228600" y="304800"/>
            <a:ext cx="4191000"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A50021"/>
                </a:solidFill>
                <a:latin typeface="Arial"/>
                <a:ea typeface="Arial"/>
                <a:cs typeface="Arial"/>
                <a:sym typeface="Arial"/>
              </a:rPr>
              <a:t>Snap shot at iteration 6</a:t>
            </a:r>
            <a:endParaRPr/>
          </a:p>
        </p:txBody>
      </p:sp>
      <p:pic>
        <p:nvPicPr>
          <p:cNvPr id="520" name="Google Shape;520;p46"/>
          <p:cNvPicPr preferRelativeResize="0"/>
          <p:nvPr/>
        </p:nvPicPr>
        <p:blipFill rotWithShape="1">
          <a:blip r:embed="rId4">
            <a:alphaModFix/>
          </a:blip>
          <a:srcRect b="0" l="0" r="0" t="0"/>
          <a:stretch/>
        </p:blipFill>
        <p:spPr>
          <a:xfrm>
            <a:off x="4648200" y="389965"/>
            <a:ext cx="4495800" cy="3908425"/>
          </a:xfrm>
          <a:prstGeom prst="rect">
            <a:avLst/>
          </a:prstGeom>
          <a:noFill/>
          <a:ln>
            <a:noFill/>
          </a:ln>
        </p:spPr>
      </p:pic>
      <p:cxnSp>
        <p:nvCxnSpPr>
          <p:cNvPr id="521" name="Google Shape;521;p46"/>
          <p:cNvCxnSpPr/>
          <p:nvPr/>
        </p:nvCxnSpPr>
        <p:spPr>
          <a:xfrm>
            <a:off x="304800" y="5181600"/>
            <a:ext cx="5410200" cy="0"/>
          </a:xfrm>
          <a:prstGeom prst="straightConnector1">
            <a:avLst/>
          </a:prstGeom>
          <a:noFill/>
          <a:ln cap="flat" cmpd="sng" w="9525">
            <a:solidFill>
              <a:srgbClr val="FF0000"/>
            </a:solidFill>
            <a:prstDash val="solid"/>
            <a:round/>
            <a:headEnd len="med" w="med" type="none"/>
            <a:tailEnd len="med" w="med" type="none"/>
          </a:ln>
        </p:spPr>
      </p:cxnSp>
      <p:sp>
        <p:nvSpPr>
          <p:cNvPr id="522" name="Google Shape;522;p46"/>
          <p:cNvSpPr txBox="1"/>
          <p:nvPr/>
        </p:nvSpPr>
        <p:spPr>
          <a:xfrm>
            <a:off x="7772400" y="838200"/>
            <a:ext cx="1031875"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hlink"/>
                </a:solidFill>
                <a:latin typeface="Calibri"/>
                <a:ea typeface="Calibri"/>
                <a:cs typeface="Calibri"/>
                <a:sym typeface="Calibri"/>
              </a:rPr>
              <a:t>frontier</a:t>
            </a:r>
            <a:endParaRPr/>
          </a:p>
        </p:txBody>
      </p:sp>
      <p:sp>
        <p:nvSpPr>
          <p:cNvPr id="523" name="Google Shape;523;p46"/>
          <p:cNvSpPr txBox="1"/>
          <p:nvPr/>
        </p:nvSpPr>
        <p:spPr>
          <a:xfrm>
            <a:off x="4800600" y="1295400"/>
            <a:ext cx="935038"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2"/>
                </a:solidFill>
                <a:latin typeface="Calibri"/>
                <a:ea typeface="Calibri"/>
                <a:cs typeface="Calibri"/>
                <a:sym typeface="Calibri"/>
              </a:rPr>
              <a:t>visited</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pic>
        <p:nvPicPr>
          <p:cNvPr id="529" name="Google Shape;529;p47"/>
          <p:cNvPicPr preferRelativeResize="0"/>
          <p:nvPr/>
        </p:nvPicPr>
        <p:blipFill rotWithShape="1">
          <a:blip r:embed="rId3">
            <a:alphaModFix/>
          </a:blip>
          <a:srcRect b="0" l="0" r="0" t="0"/>
          <a:stretch/>
        </p:blipFill>
        <p:spPr>
          <a:xfrm>
            <a:off x="180975" y="1208088"/>
            <a:ext cx="8782050" cy="4443412"/>
          </a:xfrm>
          <a:prstGeom prst="rect">
            <a:avLst/>
          </a:prstGeom>
          <a:noFill/>
          <a:ln>
            <a:noFill/>
          </a:ln>
        </p:spPr>
      </p:pic>
      <p:sp>
        <p:nvSpPr>
          <p:cNvPr id="530" name="Google Shape;530;p47"/>
          <p:cNvSpPr txBox="1"/>
          <p:nvPr/>
        </p:nvSpPr>
        <p:spPr>
          <a:xfrm>
            <a:off x="533400" y="381000"/>
            <a:ext cx="8153400" cy="519113"/>
          </a:xfrm>
          <a:prstGeom prst="rect">
            <a:avLst/>
          </a:prstGeom>
          <a:noFill/>
          <a:ln>
            <a:noFill/>
          </a:ln>
        </p:spPr>
        <p:txBody>
          <a:bodyPr anchorCtr="0" anchor="t" bIns="45700" lIns="91425" spcFirstLastPara="1" rIns="91425" wrap="square" tIns="45700">
            <a:spAutoFit/>
          </a:bodyPr>
          <a:lstStyle/>
          <a:p>
            <a:pPr indent="-1435100" lvl="0" marL="1435100" marR="0" rtl="0" algn="l">
              <a:spcBef>
                <a:spcPts val="0"/>
              </a:spcBef>
              <a:spcAft>
                <a:spcPts val="0"/>
              </a:spcAft>
              <a:buNone/>
            </a:pPr>
            <a:r>
              <a:rPr lang="en-US" sz="2800">
                <a:solidFill>
                  <a:srgbClr val="A50021"/>
                </a:solidFill>
                <a:latin typeface="Arial"/>
                <a:ea typeface="Arial"/>
                <a:cs typeface="Arial"/>
                <a:sym typeface="Arial"/>
              </a:rPr>
              <a:t>The depth-first search algorithm</a:t>
            </a:r>
            <a:endParaRPr/>
          </a:p>
        </p:txBody>
      </p:sp>
      <p:sp>
        <p:nvSpPr>
          <p:cNvPr id="531" name="Google Shape;531;p47"/>
          <p:cNvSpPr/>
          <p:nvPr/>
        </p:nvSpPr>
        <p:spPr>
          <a:xfrm>
            <a:off x="3962400" y="4267200"/>
            <a:ext cx="381000" cy="304800"/>
          </a:xfrm>
          <a:prstGeom prst="rect">
            <a:avLst/>
          </a:prstGeom>
          <a:solidFill>
            <a:srgbClr val="FFFF00">
              <a:alpha val="44705"/>
            </a:srgb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 name="Google Shape;532;p47"/>
          <p:cNvSpPr txBox="1"/>
          <p:nvPr/>
        </p:nvSpPr>
        <p:spPr>
          <a:xfrm>
            <a:off x="2052638" y="5029200"/>
            <a:ext cx="4295775" cy="650875"/>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This is the only difference between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depth-first and breadth-first.</a:t>
            </a:r>
            <a:endParaRPr/>
          </a:p>
        </p:txBody>
      </p:sp>
      <p:cxnSp>
        <p:nvCxnSpPr>
          <p:cNvPr id="533" name="Google Shape;533;p47"/>
          <p:cNvCxnSpPr/>
          <p:nvPr/>
        </p:nvCxnSpPr>
        <p:spPr>
          <a:xfrm>
            <a:off x="4114800" y="5029200"/>
            <a:ext cx="0" cy="0"/>
          </a:xfrm>
          <a:prstGeom prst="straightConnector1">
            <a:avLst/>
          </a:prstGeom>
          <a:noFill/>
          <a:ln cap="flat" cmpd="sng" w="9525">
            <a:solidFill>
              <a:schemeClr val="dk1"/>
            </a:solidFill>
            <a:prstDash val="solid"/>
            <a:round/>
            <a:headEnd len="med" w="med" type="none"/>
            <a:tailEnd len="med" w="med" type="triangle"/>
          </a:ln>
        </p:spPr>
      </p:cxnSp>
      <p:cxnSp>
        <p:nvCxnSpPr>
          <p:cNvPr id="534" name="Google Shape;534;p47"/>
          <p:cNvCxnSpPr/>
          <p:nvPr/>
        </p:nvCxnSpPr>
        <p:spPr>
          <a:xfrm rot="10800000">
            <a:off x="4114800" y="4572000"/>
            <a:ext cx="0" cy="457200"/>
          </a:xfrm>
          <a:prstGeom prst="straightConnector1">
            <a:avLst/>
          </a:prstGeom>
          <a:noFill/>
          <a:ln cap="flat" cmpd="sng" w="9525">
            <a:solidFill>
              <a:schemeClr val="dk1"/>
            </a:solidFill>
            <a:prstDash val="solid"/>
            <a:round/>
            <a:headEnd len="med" w="med" type="none"/>
            <a:tailEnd len="med" w="med" type="triangle"/>
          </a:ln>
        </p:spPr>
      </p:cxnSp>
      <p:sp>
        <p:nvSpPr>
          <p:cNvPr id="535" name="Google Shape;535;p47"/>
          <p:cNvSpPr/>
          <p:nvPr/>
        </p:nvSpPr>
        <p:spPr>
          <a:xfrm>
            <a:off x="8343900" y="4276725"/>
            <a:ext cx="609600" cy="304800"/>
          </a:xfrm>
          <a:prstGeom prst="rect">
            <a:avLst/>
          </a:prstGeom>
          <a:solidFill>
            <a:srgbClr val="FFFF00">
              <a:alpha val="44705"/>
            </a:srgb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48"/>
          <p:cNvSpPr txBox="1"/>
          <p:nvPr>
            <p:ph type="title"/>
          </p:nvPr>
        </p:nvSpPr>
        <p:spPr>
          <a:xfrm>
            <a:off x="457200" y="4270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Iterative Deepening Search</a:t>
            </a:r>
            <a:endParaRPr/>
          </a:p>
        </p:txBody>
      </p:sp>
      <p:sp>
        <p:nvSpPr>
          <p:cNvPr id="541" name="Google Shape;541;p48"/>
          <p:cNvSpPr txBox="1"/>
          <p:nvPr>
            <p:ph idx="1" type="body"/>
          </p:nvPr>
        </p:nvSpPr>
        <p:spPr>
          <a:xfrm>
            <a:off x="457200" y="1600200"/>
            <a:ext cx="8229600" cy="47243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200"/>
              <a:buChar char="•"/>
            </a:pPr>
            <a:r>
              <a:rPr lang="en-US" sz="2200"/>
              <a:t>Depth-limited search avoids the pitfalls of depth-first search by imposing a cutoff on the maximum depth of a path. </a:t>
            </a:r>
            <a:endParaRPr/>
          </a:p>
          <a:p>
            <a:pPr indent="-342900" lvl="0" marL="342900" rtl="0" algn="l">
              <a:spcBef>
                <a:spcPts val="440"/>
              </a:spcBef>
              <a:spcAft>
                <a:spcPts val="0"/>
              </a:spcAft>
              <a:buClr>
                <a:schemeClr val="dk1"/>
              </a:buClr>
              <a:buSzPts val="2200"/>
              <a:buChar char="•"/>
            </a:pPr>
            <a:r>
              <a:rPr lang="en-US" sz="2200"/>
              <a:t>This cutoff can be implemented with a special depth-limited search algorithm with operators that keep track of the depth. </a:t>
            </a:r>
            <a:endParaRPr/>
          </a:p>
          <a:p>
            <a:pPr indent="-342900" lvl="0" marL="342900" rtl="0" algn="l">
              <a:spcBef>
                <a:spcPts val="440"/>
              </a:spcBef>
              <a:spcAft>
                <a:spcPts val="0"/>
              </a:spcAft>
              <a:buClr>
                <a:schemeClr val="dk1"/>
              </a:buClr>
              <a:buSzPts val="2200"/>
              <a:buChar char="•"/>
            </a:pPr>
            <a:r>
              <a:rPr lang="en-US" sz="2200"/>
              <a:t>Iterative deepening search is a strategy that sidesteps the issue of choosing the best depth limit by trying all possible depth limits: first depth 0, then depth 1, then depth 2, and so on.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49"/>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Iterative Deepening Search</a:t>
            </a:r>
            <a:endParaRPr/>
          </a:p>
        </p:txBody>
      </p:sp>
      <p:pic>
        <p:nvPicPr>
          <p:cNvPr id="547" name="Google Shape;547;p49"/>
          <p:cNvPicPr preferRelativeResize="0"/>
          <p:nvPr/>
        </p:nvPicPr>
        <p:blipFill rotWithShape="1">
          <a:blip r:embed="rId3">
            <a:alphaModFix/>
          </a:blip>
          <a:srcRect b="0" l="0" r="0" t="0"/>
          <a:stretch/>
        </p:blipFill>
        <p:spPr>
          <a:xfrm>
            <a:off x="1676400" y="1255778"/>
            <a:ext cx="5586216" cy="567321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55"/>
          <p:cNvSpPr txBox="1"/>
          <p:nvPr>
            <p:ph type="title"/>
          </p:nvPr>
        </p:nvSpPr>
        <p:spPr>
          <a:xfrm>
            <a:off x="457200" y="76200"/>
            <a:ext cx="8229600" cy="8683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Today’s Lecture</a:t>
            </a:r>
            <a:endParaRPr/>
          </a:p>
        </p:txBody>
      </p:sp>
      <p:sp>
        <p:nvSpPr>
          <p:cNvPr id="554" name="Google Shape;554;p55"/>
          <p:cNvSpPr txBox="1"/>
          <p:nvPr>
            <p:ph idx="1" type="body"/>
          </p:nvPr>
        </p:nvSpPr>
        <p:spPr>
          <a:xfrm>
            <a:off x="457200" y="1066800"/>
            <a:ext cx="8229600" cy="5684838"/>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en-US" sz="2800">
                <a:latin typeface="Calibri"/>
                <a:ea typeface="Calibri"/>
                <a:cs typeface="Calibri"/>
                <a:sym typeface="Calibri"/>
              </a:rPr>
              <a:t>What is AI?</a:t>
            </a:r>
            <a:endParaRPr/>
          </a:p>
          <a:p>
            <a:pPr indent="-285750" lvl="1" marL="742950" rtl="0" algn="l">
              <a:spcBef>
                <a:spcPts val="518"/>
              </a:spcBef>
              <a:spcAft>
                <a:spcPts val="0"/>
              </a:spcAft>
              <a:buClr>
                <a:schemeClr val="dk1"/>
              </a:buClr>
              <a:buSzPct val="100000"/>
              <a:buChar char="–"/>
            </a:pPr>
            <a:r>
              <a:rPr lang="en-US">
                <a:latin typeface="Calibri"/>
                <a:ea typeface="Calibri"/>
                <a:cs typeface="Calibri"/>
                <a:sym typeface="Calibri"/>
              </a:rPr>
              <a:t>Acting humanly</a:t>
            </a:r>
            <a:endParaRPr/>
          </a:p>
          <a:p>
            <a:pPr indent="-285750" lvl="1" marL="742950" rtl="0" algn="l">
              <a:spcBef>
                <a:spcPts val="518"/>
              </a:spcBef>
              <a:spcAft>
                <a:spcPts val="0"/>
              </a:spcAft>
              <a:buClr>
                <a:schemeClr val="dk1"/>
              </a:buClr>
              <a:buSzPct val="100000"/>
              <a:buChar char="–"/>
            </a:pPr>
            <a:r>
              <a:rPr lang="en-US">
                <a:latin typeface="Calibri"/>
                <a:ea typeface="Calibri"/>
                <a:cs typeface="Calibri"/>
                <a:sym typeface="Calibri"/>
              </a:rPr>
              <a:t>Thinking humanly</a:t>
            </a:r>
            <a:endParaRPr/>
          </a:p>
          <a:p>
            <a:pPr indent="-285750" lvl="1" marL="742950" rtl="0" algn="l">
              <a:spcBef>
                <a:spcPts val="518"/>
              </a:spcBef>
              <a:spcAft>
                <a:spcPts val="0"/>
              </a:spcAft>
              <a:buClr>
                <a:schemeClr val="dk1"/>
              </a:buClr>
              <a:buSzPct val="100000"/>
              <a:buChar char="–"/>
            </a:pPr>
            <a:r>
              <a:rPr lang="en-US">
                <a:latin typeface="Calibri"/>
                <a:ea typeface="Calibri"/>
                <a:cs typeface="Calibri"/>
                <a:sym typeface="Calibri"/>
              </a:rPr>
              <a:t>Acting rationally</a:t>
            </a:r>
            <a:endParaRPr/>
          </a:p>
          <a:p>
            <a:pPr indent="-285750" lvl="1" marL="742950" rtl="0" algn="l">
              <a:spcBef>
                <a:spcPts val="518"/>
              </a:spcBef>
              <a:spcAft>
                <a:spcPts val="0"/>
              </a:spcAft>
              <a:buClr>
                <a:schemeClr val="dk1"/>
              </a:buClr>
              <a:buSzPct val="100000"/>
              <a:buChar char="–"/>
            </a:pPr>
            <a:r>
              <a:rPr lang="en-US">
                <a:latin typeface="Calibri"/>
                <a:ea typeface="Calibri"/>
                <a:cs typeface="Calibri"/>
                <a:sym typeface="Calibri"/>
              </a:rPr>
              <a:t>Thinking rationally</a:t>
            </a:r>
            <a:endParaRPr/>
          </a:p>
          <a:p>
            <a:pPr indent="-285750" lvl="1" marL="742950" rtl="0" algn="l">
              <a:spcBef>
                <a:spcPts val="518"/>
              </a:spcBef>
              <a:spcAft>
                <a:spcPts val="0"/>
              </a:spcAft>
              <a:buClr>
                <a:schemeClr val="dk1"/>
              </a:buClr>
              <a:buSzPct val="100000"/>
              <a:buChar char="–"/>
            </a:pPr>
            <a:r>
              <a:rPr lang="en-US">
                <a:latin typeface="Calibri"/>
                <a:ea typeface="Calibri"/>
                <a:cs typeface="Calibri"/>
                <a:sym typeface="Calibri"/>
              </a:rPr>
              <a:t>Weak AI vs Strong AI</a:t>
            </a:r>
            <a:endParaRPr/>
          </a:p>
          <a:p>
            <a:pPr indent="-342900" lvl="0" marL="342900" rtl="0" algn="l">
              <a:spcBef>
                <a:spcPts val="518"/>
              </a:spcBef>
              <a:spcAft>
                <a:spcPts val="0"/>
              </a:spcAft>
              <a:buClr>
                <a:schemeClr val="dk1"/>
              </a:buClr>
              <a:buSzPct val="100000"/>
              <a:buChar char="•"/>
            </a:pPr>
            <a:r>
              <a:rPr lang="en-US" sz="2800">
                <a:latin typeface="Calibri"/>
                <a:ea typeface="Calibri"/>
                <a:cs typeface="Calibri"/>
                <a:sym typeface="Calibri"/>
              </a:rPr>
              <a:t>Problem Solving using Searching</a:t>
            </a:r>
            <a:endParaRPr/>
          </a:p>
          <a:p>
            <a:pPr indent="-285750" lvl="1" marL="742950" rtl="0" algn="l">
              <a:spcBef>
                <a:spcPts val="518"/>
              </a:spcBef>
              <a:spcAft>
                <a:spcPts val="0"/>
              </a:spcAft>
              <a:buClr>
                <a:schemeClr val="dk1"/>
              </a:buClr>
              <a:buSzPct val="100000"/>
              <a:buChar char="–"/>
            </a:pPr>
            <a:r>
              <a:rPr lang="en-US">
                <a:latin typeface="Calibri"/>
                <a:ea typeface="Calibri"/>
                <a:cs typeface="Calibri"/>
                <a:sym typeface="Calibri"/>
              </a:rPr>
              <a:t>Problem Definition</a:t>
            </a:r>
            <a:endParaRPr/>
          </a:p>
          <a:p>
            <a:pPr indent="-285750" lvl="1" marL="742950" rtl="0" algn="l">
              <a:spcBef>
                <a:spcPts val="518"/>
              </a:spcBef>
              <a:spcAft>
                <a:spcPts val="0"/>
              </a:spcAft>
              <a:buClr>
                <a:schemeClr val="dk1"/>
              </a:buClr>
              <a:buSzPct val="100000"/>
              <a:buChar char="–"/>
            </a:pPr>
            <a:r>
              <a:rPr lang="en-US">
                <a:latin typeface="Calibri"/>
                <a:ea typeface="Calibri"/>
                <a:cs typeface="Calibri"/>
                <a:sym typeface="Calibri"/>
              </a:rPr>
              <a:t>Uninformed Search</a:t>
            </a:r>
            <a:endParaRPr/>
          </a:p>
          <a:p>
            <a:pPr indent="-228600" lvl="2" marL="1143000" rtl="0" algn="l">
              <a:spcBef>
                <a:spcPts val="518"/>
              </a:spcBef>
              <a:spcAft>
                <a:spcPts val="0"/>
              </a:spcAft>
              <a:buClr>
                <a:schemeClr val="dk1"/>
              </a:buClr>
              <a:buSzPct val="100000"/>
              <a:buChar char="•"/>
            </a:pPr>
            <a:r>
              <a:rPr lang="en-US" sz="2800">
                <a:latin typeface="Calibri"/>
                <a:ea typeface="Calibri"/>
                <a:cs typeface="Calibri"/>
                <a:sym typeface="Calibri"/>
              </a:rPr>
              <a:t>Breadth-first Search</a:t>
            </a:r>
            <a:endParaRPr/>
          </a:p>
          <a:p>
            <a:pPr indent="-228600" lvl="2" marL="1143000" rtl="0" algn="l">
              <a:spcBef>
                <a:spcPts val="518"/>
              </a:spcBef>
              <a:spcAft>
                <a:spcPts val="0"/>
              </a:spcAft>
              <a:buClr>
                <a:schemeClr val="dk1"/>
              </a:buClr>
              <a:buSzPct val="100000"/>
              <a:buChar char="•"/>
            </a:pPr>
            <a:r>
              <a:rPr lang="en-US" sz="2800">
                <a:latin typeface="Calibri"/>
                <a:ea typeface="Calibri"/>
                <a:cs typeface="Calibri"/>
                <a:sym typeface="Calibri"/>
              </a:rPr>
              <a:t>Depth-first Search</a:t>
            </a:r>
            <a:endParaRPr/>
          </a:p>
          <a:p>
            <a:pPr indent="-228600" lvl="2" marL="1143000" rtl="0" algn="l">
              <a:spcBef>
                <a:spcPts val="518"/>
              </a:spcBef>
              <a:spcAft>
                <a:spcPts val="0"/>
              </a:spcAft>
              <a:buClr>
                <a:schemeClr val="dk1"/>
              </a:buClr>
              <a:buSzPct val="100000"/>
              <a:buChar char="•"/>
            </a:pPr>
            <a:r>
              <a:rPr lang="en-US" sz="2800">
                <a:latin typeface="Calibri"/>
                <a:ea typeface="Calibri"/>
                <a:cs typeface="Calibri"/>
                <a:sym typeface="Calibri"/>
              </a:rPr>
              <a:t>Iterative Deepening Search</a:t>
            </a:r>
            <a:endParaRPr/>
          </a:p>
          <a:p>
            <a:pPr indent="-154940" lvl="0" marL="342900" rtl="0" algn="l">
              <a:spcBef>
                <a:spcPts val="592"/>
              </a:spcBef>
              <a:spcAft>
                <a:spcPts val="0"/>
              </a:spcAft>
              <a:buClr>
                <a:schemeClr val="dk1"/>
              </a:buClr>
              <a:buSzPct val="100000"/>
              <a:buNone/>
            </a:pPr>
            <a:r>
              <a:t/>
            </a:r>
            <a:endParaRPr/>
          </a:p>
          <a:p>
            <a:pPr indent="-154940" lvl="0" marL="342900" rtl="0" algn="l">
              <a:spcBef>
                <a:spcPts val="592"/>
              </a:spcBef>
              <a:spcAft>
                <a:spcPts val="0"/>
              </a:spcAft>
              <a:buClr>
                <a:schemeClr val="dk1"/>
              </a:buClr>
              <a:buSzPct val="100000"/>
              <a:buNone/>
            </a:pPr>
            <a:r>
              <a:t/>
            </a:r>
            <a:endParaRPr/>
          </a:p>
          <a:p>
            <a:pPr indent="-154940" lvl="0" marL="342900" rtl="0" algn="l">
              <a:spcBef>
                <a:spcPts val="592"/>
              </a:spcBef>
              <a:spcAft>
                <a:spcPts val="0"/>
              </a:spcAft>
              <a:buClr>
                <a:schemeClr val="dk1"/>
              </a:buClr>
              <a:buSzPct val="100000"/>
              <a:buNone/>
            </a:pPr>
            <a:r>
              <a:t/>
            </a:r>
            <a:endParaRPr/>
          </a:p>
          <a:p>
            <a:pPr indent="-154940" lvl="0" marL="342900" rtl="0" algn="l">
              <a:spcBef>
                <a:spcPts val="592"/>
              </a:spcBef>
              <a:spcAft>
                <a:spcPts val="0"/>
              </a:spcAft>
              <a:buClr>
                <a:schemeClr val="dk1"/>
              </a:buClr>
              <a:buSzPct val="100000"/>
              <a:buNone/>
            </a:pPr>
            <a:r>
              <a:t/>
            </a:r>
            <a:endParaRPr/>
          </a:p>
          <a:p>
            <a:pPr indent="-154940" lvl="0" marL="342900" rtl="0" algn="l">
              <a:spcBef>
                <a:spcPts val="592"/>
              </a:spcBef>
              <a:spcAft>
                <a:spcPts val="0"/>
              </a:spcAft>
              <a:buClr>
                <a:schemeClr val="dk1"/>
              </a:buClr>
              <a:buSzPct val="100000"/>
              <a:buNone/>
            </a:pPr>
            <a:r>
              <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3F296526D7BB4EB949B2D9BCC1BDA8" ma:contentTypeVersion="0" ma:contentTypeDescription="Create a new document." ma:contentTypeScope="" ma:versionID="74138790891740f91446ad0c0b2681bc">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D71DDD3-AC53-473C-8BC9-72A7FA45A5D3}"/>
</file>

<file path=customXml/itemProps2.xml><?xml version="1.0" encoding="utf-8"?>
<ds:datastoreItem xmlns:ds="http://schemas.openxmlformats.org/officeDocument/2006/customXml" ds:itemID="{60B1E5AE-6E4E-4A3B-9B52-8EB877AA93F7}"/>
</file>

<file path=customXml/itemProps3.xml><?xml version="1.0" encoding="utf-8"?>
<ds:datastoreItem xmlns:ds="http://schemas.openxmlformats.org/officeDocument/2006/customXml" ds:itemID="{AC639B1D-CDCF-4791-95B7-B51E78B03D8B}"/>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Imran</dc:creator>
  <dcterms:created xsi:type="dcterms:W3CDTF">2012-02-27T05:45:45Z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0x010100263F296526D7BB4EB949B2D9BCC1BDA8</vt:lpwstr>
  </property>
</Properties>
</file>