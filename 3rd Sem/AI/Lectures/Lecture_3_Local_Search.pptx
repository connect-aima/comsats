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6b7Y9czZPJDxzAA525FvGkprp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Artificial Intelligence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Lecture 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Local Search Algorithms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The search algorithms that we have seen so far are designed to explore search spaces systematically. </a:t>
            </a:r>
            <a:endParaRPr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dirty="0"/>
              <a:t>This </a:t>
            </a:r>
            <a:r>
              <a:rPr lang="en-US" sz="2200" dirty="0" err="1">
                <a:solidFill>
                  <a:srgbClr val="FF0000"/>
                </a:solidFill>
              </a:rPr>
              <a:t>systematicity</a:t>
            </a:r>
            <a:r>
              <a:rPr lang="en-US" sz="2200" dirty="0">
                <a:solidFill>
                  <a:srgbClr val="FF0000"/>
                </a:solidFill>
              </a:rPr>
              <a:t> is achieved by keeping one or more paths in memory and by recording which alternatives have been explored at each point along the path</a:t>
            </a:r>
            <a:r>
              <a:rPr lang="en-US" sz="2200" dirty="0"/>
              <a:t>. </a:t>
            </a:r>
            <a:endParaRPr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dirty="0"/>
              <a:t>When a goal is found, the </a:t>
            </a:r>
            <a:r>
              <a:rPr lang="en-US" sz="2200" i="1" dirty="0"/>
              <a:t>path </a:t>
            </a:r>
            <a:r>
              <a:rPr lang="en-US" sz="2200" dirty="0"/>
              <a:t>to that goal also constitutes a </a:t>
            </a:r>
            <a:r>
              <a:rPr lang="en-US" sz="2200" i="1" dirty="0"/>
              <a:t>solution </a:t>
            </a:r>
            <a:r>
              <a:rPr lang="en-US" sz="2200" dirty="0"/>
              <a:t>to the problem. In many problems, however, </a:t>
            </a:r>
            <a:r>
              <a:rPr lang="en-US" sz="2200" dirty="0">
                <a:solidFill>
                  <a:srgbClr val="FF0000"/>
                </a:solidFill>
              </a:rPr>
              <a:t>the path to the goal is irrelevant</a:t>
            </a:r>
            <a:r>
              <a:rPr lang="en-US" sz="2200" dirty="0"/>
              <a:t>. </a:t>
            </a:r>
            <a:endParaRPr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If the path to the goal does not matter, we might consider a different class of algorithms, ones that do not worry about paths at all.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dirty="0">
                <a:solidFill>
                  <a:srgbClr val="FF0000"/>
                </a:solidFill>
              </a:rPr>
              <a:t>Local search algorithms move from solution to solution in the space of candidate solutions (the </a:t>
            </a:r>
            <a:r>
              <a:rPr lang="en-US" sz="2200" i="1" dirty="0">
                <a:solidFill>
                  <a:srgbClr val="FF0000"/>
                </a:solidFill>
              </a:rPr>
              <a:t>search space</a:t>
            </a:r>
            <a:r>
              <a:rPr lang="en-US" sz="2200" dirty="0">
                <a:solidFill>
                  <a:srgbClr val="FF0000"/>
                </a:solidFill>
              </a:rPr>
              <a:t>) by applying local changes, until a solution deemed optimal is found or a time bound is elapsed</a:t>
            </a:r>
            <a:r>
              <a:rPr lang="en-US" sz="2200" dirty="0"/>
              <a:t>.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Local Search Algorithms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Although local search algorithms are not systematic, they have two key advantages: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solidFill>
                  <a:srgbClr val="FF3300"/>
                </a:solidFill>
              </a:rPr>
              <a:t>They use very little memory</a:t>
            </a:r>
            <a:r>
              <a:rPr lang="en-US" sz="2200"/>
              <a:t>—usually a constant amount; and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solidFill>
                  <a:srgbClr val="FF3300"/>
                </a:solidFill>
              </a:rPr>
              <a:t>They can often find reasonable solutions in large or infinite state spaces for which systematic algorithms are unsuitable.</a:t>
            </a:r>
            <a:r>
              <a:rPr lang="en-US" sz="2200"/>
              <a:t> </a:t>
            </a:r>
            <a:endParaRPr/>
          </a:p>
          <a:p>
            <a:pPr marL="34290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Two local search algorithms we will cover: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Hill Climbing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Genetic Algorithms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/>
            </a:r>
            <a:br>
              <a:rPr lang="en-US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Eight Queens Problem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3258264" y="1600200"/>
            <a:ext cx="5733336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The goal of the </a:t>
            </a:r>
            <a:r>
              <a:rPr lang="en-US" sz="2600" b="1" dirty="0"/>
              <a:t>8-queens problem </a:t>
            </a:r>
            <a:r>
              <a:rPr lang="en-US" sz="2600" dirty="0"/>
              <a:t>is to place eight queens on a chessboard such that no queen attacks any other. (A queen attacks any piece in the same row, column or diagonal.) 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Figure shows an attempted solution that fails: the queen in the rightmost column is attacked by the queen at the top left. 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pic>
        <p:nvPicPr>
          <p:cNvPr id="5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589785"/>
            <a:ext cx="3037067" cy="3072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Problem Formulation</a:t>
            </a:r>
            <a:endParaRPr sz="400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3352800" y="1600201"/>
            <a:ext cx="5334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States</a:t>
            </a:r>
            <a:r>
              <a:rPr lang="en-US" sz="2200"/>
              <a:t>: Any arrangement of 0 to 8 queens on the board is a state.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Initial state</a:t>
            </a:r>
            <a:r>
              <a:rPr lang="en-US" sz="2200"/>
              <a:t>: Eights queens on the board arranged in some random configuration.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Actions</a:t>
            </a:r>
            <a:r>
              <a:rPr lang="en-US" sz="2200"/>
              <a:t>: Move queen to any empty square.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Transition model</a:t>
            </a:r>
            <a:r>
              <a:rPr lang="en-US" sz="2200"/>
              <a:t>: Returns the board with a queen added to the specified square.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Goal test</a:t>
            </a:r>
            <a:r>
              <a:rPr lang="en-US" sz="2200"/>
              <a:t>: 8 queens are on the board, none attacked.</a:t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589785"/>
            <a:ext cx="3037067" cy="3072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Hill Climbing Search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Hill Climbing search is simply a loop that continually moves in the direction of increasing value—that is, uphill. It terminates when it reaches a “peak” where no neighbor has a higher value.</a:t>
            </a:r>
            <a:endParaRPr dirty="0"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Hill Climbing algorithm does not maintain a search tree, so the data structure for the current node need only record the state and the value of the objective function. </a:t>
            </a:r>
            <a:endParaRPr dirty="0"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Hill climbing does not look ahead beyond the immediate neighbors of the current state. </a:t>
            </a:r>
            <a:r>
              <a:rPr lang="en-US" dirty="0">
                <a:solidFill>
                  <a:srgbClr val="FF0000"/>
                </a:solidFill>
              </a:rPr>
              <a:t>This resembles trying to find the top of Mount Everest in a thick fog while suffering from amnesia.</a:t>
            </a:r>
            <a:r>
              <a:rPr lang="en-US" dirty="0"/>
              <a:t> </a:t>
            </a:r>
            <a:endParaRPr dirty="0"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Hill climbing is sometimes called </a:t>
            </a:r>
            <a:r>
              <a:rPr lang="en-US" b="1" dirty="0"/>
              <a:t>greedy local search </a:t>
            </a:r>
            <a:r>
              <a:rPr lang="en-US" dirty="0"/>
              <a:t>because it grabs a good neighbor state without thinking ahead about where to go next.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Hill Climbing (Example: </a:t>
            </a:r>
            <a:r>
              <a:rPr lang="en-US" sz="4000" i="1"/>
              <a:t>n</a:t>
            </a:r>
            <a:r>
              <a:rPr lang="en-US" sz="4000"/>
              <a:t>-queens)</a:t>
            </a:r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Put </a:t>
            </a:r>
            <a:r>
              <a:rPr lang="en-US" sz="2200" i="1"/>
              <a:t>n</a:t>
            </a:r>
            <a:r>
              <a:rPr lang="en-US" sz="2200"/>
              <a:t> queens on an </a:t>
            </a:r>
            <a:r>
              <a:rPr lang="en-US" sz="2200" i="1"/>
              <a:t>n × n</a:t>
            </a:r>
            <a:r>
              <a:rPr lang="en-US" sz="2200"/>
              <a:t> board with no two queens are on the same row, column, or diagonal.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Move a queen to reduce number of conflicts.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581400"/>
            <a:ext cx="7589164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Hill-climbing Algorithm</a:t>
            </a:r>
            <a:endParaRPr/>
          </a:p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43558"/>
            <a:ext cx="8001000" cy="2826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9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with Hill-climbing search</a:t>
            </a:r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body" idx="1"/>
          </p:nvPr>
        </p:nvSpPr>
        <p:spPr>
          <a:xfrm>
            <a:off x="442913" y="914401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u="sng"/>
              <a:t>Local Maxima:</a:t>
            </a:r>
            <a:r>
              <a:rPr lang="en-US"/>
              <a:t> A local maximum is a peak that is higher than each of its neighboring states but lower than the global maximum. 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33333"/>
              <a:buChar char="•"/>
            </a:pPr>
            <a:r>
              <a:rPr lang="en-US"/>
              <a:t>Hill-climbing algorithms that reach the vicinity of a local maximum will be drawn upward toward the peak but will then be stuck with nowhere else to go. </a:t>
            </a:r>
            <a:r>
              <a:rPr lang="en-US" sz="2400"/>
              <a:t/>
            </a:r>
            <a:br>
              <a:rPr lang="en-US" sz="2400"/>
            </a:br>
            <a:endParaRPr sz="2400"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48" name="Google Shape;148;p11" descr="hill-climb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6413" y="2975435"/>
            <a:ext cx="5562600" cy="31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/>
        </p:nvSpPr>
        <p:spPr>
          <a:xfrm>
            <a:off x="442365" y="60960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Random-restart hill climbing overcomes local maxima—trivially complete 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with Hill-climbing Search</a:t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442913" y="1020762"/>
            <a:ext cx="8229600" cy="20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Plateau: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plateau is a flat area of the state-space landscape. </a:t>
            </a:r>
            <a:endParaRPr/>
          </a:p>
          <a:p>
            <a:pPr marL="342900" marR="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be a flat local maximum, from which no uphill exit exists, or a 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shoulder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from which progress is possible. A hill-climbing search might get lost on the plateau.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2" descr="hill-climb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813" y="2765425"/>
            <a:ext cx="5257800" cy="29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/>
          <p:nvPr/>
        </p:nvSpPr>
        <p:spPr>
          <a:xfrm>
            <a:off x="381000" y="5715000"/>
            <a:ext cx="86106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Starting from a randomly generated 8-queens state, hill climbing gets stuck 86% of the time, solving only 14% of problem instances.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Genetic Algorithms</a:t>
            </a:r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457200" y="1125149"/>
            <a:ext cx="8229600" cy="55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56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/>
              <a:t>Genetic algorithms are inspired by </a:t>
            </a:r>
            <a:r>
              <a:rPr lang="en-US" sz="2800" dirty="0">
                <a:solidFill>
                  <a:srgbClr val="FF0000"/>
                </a:solidFill>
              </a:rPr>
              <a:t>Darwin's theory of biological evolution.</a:t>
            </a:r>
            <a:endParaRPr dirty="0">
              <a:solidFill>
                <a:srgbClr val="FF0000"/>
              </a:solidFill>
            </a:endParaRPr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/>
              <a:t>Darwinism is a theory of biological evolution developed by the English naturalist Charles Darwin (1809–1882) and others. </a:t>
            </a:r>
            <a:endParaRPr dirty="0"/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/>
              <a:t>It states that all species of organisms arise and develop through the </a:t>
            </a:r>
            <a:r>
              <a:rPr lang="en-US" sz="2800" dirty="0">
                <a:solidFill>
                  <a:srgbClr val="FF0000"/>
                </a:solidFill>
              </a:rPr>
              <a:t>natural selection</a:t>
            </a:r>
            <a:r>
              <a:rPr lang="en-US" sz="2800" dirty="0"/>
              <a:t> of small, inherited variations that increase the individual's ability to compete, survive, and reproduce. </a:t>
            </a:r>
            <a:endParaRPr dirty="0"/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Parents (animals, humans </a:t>
            </a:r>
            <a:r>
              <a:rPr lang="en-US" sz="2800" dirty="0" smtClean="0">
                <a:solidFill>
                  <a:srgbClr val="FF0000"/>
                </a:solidFill>
              </a:rPr>
              <a:t>etc.) </a:t>
            </a:r>
            <a:r>
              <a:rPr lang="en-US" sz="2800" dirty="0">
                <a:solidFill>
                  <a:srgbClr val="FF0000"/>
                </a:solidFill>
              </a:rPr>
              <a:t>produce a number of off springs (children) </a:t>
            </a:r>
            <a:r>
              <a:rPr lang="en-US" sz="2800" dirty="0"/>
              <a:t>which are almost, but not entirely, like themselves.</a:t>
            </a:r>
            <a:endParaRPr dirty="0"/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These off springs inherit some properties from parents, while some of their own due to mutation (random changes).</a:t>
            </a:r>
            <a:endParaRPr dirty="0">
              <a:solidFill>
                <a:srgbClr val="FF0000"/>
              </a:solidFill>
            </a:endParaRPr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/>
              <a:t>Some of these off springs may survive to produce their off springs while others will not. </a:t>
            </a:r>
            <a:endParaRPr dirty="0"/>
          </a:p>
          <a:p>
            <a:pPr marL="342900" lvl="0" indent="-35623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 dirty="0"/>
              <a:t>Genetic algorithms were formally introduced in the United States in the 1970s by John Holland at University of Michigan. </a:t>
            </a:r>
            <a:endParaRPr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Gene, Chromosome, Population</a:t>
            </a:r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i="1" dirty="0"/>
              <a:t>Gene</a:t>
            </a:r>
            <a:r>
              <a:rPr lang="en-US" sz="2200" dirty="0"/>
              <a:t>: A basic unit, </a:t>
            </a:r>
            <a:r>
              <a:rPr lang="en-US" sz="2200" dirty="0">
                <a:solidFill>
                  <a:srgbClr val="FF0000"/>
                </a:solidFill>
              </a:rPr>
              <a:t>which represents one characteristic of the</a:t>
            </a:r>
            <a:br>
              <a:rPr lang="en-US" sz="2200" dirty="0">
                <a:solidFill>
                  <a:srgbClr val="FF0000"/>
                </a:solidFill>
              </a:rPr>
            </a:br>
            <a:r>
              <a:rPr lang="en-US" sz="2200" dirty="0">
                <a:solidFill>
                  <a:srgbClr val="FF0000"/>
                </a:solidFill>
              </a:rPr>
              <a:t>individual. </a:t>
            </a:r>
            <a:endParaRPr dirty="0">
              <a:solidFill>
                <a:srgbClr val="FF0000"/>
              </a:solidFill>
            </a:endParaRPr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i="1"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i="1" dirty="0"/>
              <a:t>Chromosome</a:t>
            </a:r>
            <a:r>
              <a:rPr lang="en-US" sz="2200" dirty="0"/>
              <a:t>: </a:t>
            </a:r>
            <a:r>
              <a:rPr lang="en-US" sz="2200" dirty="0">
                <a:solidFill>
                  <a:srgbClr val="FF0000"/>
                </a:solidFill>
              </a:rPr>
              <a:t>A string of genes</a:t>
            </a:r>
            <a:r>
              <a:rPr lang="en-US" sz="2200" dirty="0"/>
              <a:t>; </a:t>
            </a:r>
            <a:r>
              <a:rPr lang="en-US" sz="2200" dirty="0">
                <a:solidFill>
                  <a:srgbClr val="FF0000"/>
                </a:solidFill>
              </a:rPr>
              <a:t>it represents an individual </a:t>
            </a:r>
            <a:r>
              <a:rPr lang="en-US" sz="2200" dirty="0"/>
              <a:t>i.e.</a:t>
            </a:r>
            <a:br>
              <a:rPr lang="en-US" sz="2200" dirty="0"/>
            </a:br>
            <a:r>
              <a:rPr lang="en-US" sz="2200" dirty="0"/>
              <a:t>a possible solution of a problem. Each chromosome represents a point in the search space.</a:t>
            </a:r>
            <a:endParaRPr dirty="0"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i="1" dirty="0"/>
              <a:t>Population</a:t>
            </a:r>
            <a:r>
              <a:rPr lang="en-US" sz="2200" dirty="0"/>
              <a:t>: </a:t>
            </a:r>
            <a:r>
              <a:rPr lang="en-US" sz="2200" dirty="0">
                <a:solidFill>
                  <a:srgbClr val="FF0000"/>
                </a:solidFill>
              </a:rPr>
              <a:t>A collection of chromosomes</a:t>
            </a:r>
            <a:r>
              <a:rPr lang="en-US" sz="2200" dirty="0"/>
              <a:t>. 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The Basic Genetic Algorithm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1313" marR="0" lvl="0" indent="-341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a population of randomly generated attempted solutions to a problem.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Repeatedly do the following:</a:t>
            </a:r>
            <a:endParaRPr/>
          </a:p>
          <a:p>
            <a:pPr marL="798513" marR="0" lvl="1" indent="-341313" algn="l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each of the attempted solutions.</a:t>
            </a:r>
            <a:endParaRPr/>
          </a:p>
          <a:p>
            <a:pPr marL="798513" marR="0" lvl="1" indent="-341313" algn="l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the </a:t>
            </a: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solutions.</a:t>
            </a:r>
            <a:endParaRPr/>
          </a:p>
          <a:p>
            <a:pPr marL="798513" marR="0" lvl="1" indent="-341313" algn="l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 next generation from these solutions (using </a:t>
            </a: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crossover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mutation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Quit when you have a satisfactory solution (or you run out of time).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/>
          <p:nvPr/>
        </p:nvSpPr>
        <p:spPr>
          <a:xfrm>
            <a:off x="2388495" y="344269"/>
            <a:ext cx="42409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GENETIC ALGORITHM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409575" y="1290638"/>
            <a:ext cx="318928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The Evolutionary Cycle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1517650" y="2306638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1517650" y="3754438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6242050" y="37401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6242050" y="2306638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modification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6248400" y="5500688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6"/>
          <p:cNvCxnSpPr/>
          <p:nvPr/>
        </p:nvCxnSpPr>
        <p:spPr>
          <a:xfrm>
            <a:off x="3803650" y="2605088"/>
            <a:ext cx="24257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6"/>
          <p:cNvCxnSpPr/>
          <p:nvPr/>
        </p:nvCxnSpPr>
        <p:spPr>
          <a:xfrm>
            <a:off x="2501900" y="2916238"/>
            <a:ext cx="0" cy="825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7385050" y="4357688"/>
            <a:ext cx="0" cy="1130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16"/>
          <p:cNvSpPr/>
          <p:nvPr/>
        </p:nvSpPr>
        <p:spPr>
          <a:xfrm>
            <a:off x="6684963" y="5586413"/>
            <a:ext cx="1330325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discard</a:t>
            </a:r>
            <a:endParaRPr/>
          </a:p>
        </p:txBody>
      </p:sp>
      <p:cxnSp>
        <p:nvCxnSpPr>
          <p:cNvPr id="191" name="Google Shape;191;p16"/>
          <p:cNvCxnSpPr/>
          <p:nvPr/>
        </p:nvCxnSpPr>
        <p:spPr>
          <a:xfrm rot="10800000">
            <a:off x="3790950" y="4052888"/>
            <a:ext cx="2451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7378700" y="2916238"/>
            <a:ext cx="0" cy="825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6"/>
          <p:cNvSpPr/>
          <p:nvPr/>
        </p:nvSpPr>
        <p:spPr>
          <a:xfrm>
            <a:off x="7467600" y="4510088"/>
            <a:ext cx="12827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deleted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4413250" y="2133600"/>
            <a:ext cx="109537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parents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7451725" y="2895600"/>
            <a:ext cx="128111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offspring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4038600" y="4114800"/>
            <a:ext cx="2209800" cy="366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evaluated offspring</a:t>
            </a:r>
            <a:endParaRPr/>
          </a:p>
        </p:txBody>
      </p:sp>
      <p:cxnSp>
        <p:nvCxnSpPr>
          <p:cNvPr id="197" name="Google Shape;197;p16"/>
          <p:cNvCxnSpPr/>
          <p:nvPr/>
        </p:nvCxnSpPr>
        <p:spPr>
          <a:xfrm rot="10800000">
            <a:off x="152400" y="4052888"/>
            <a:ext cx="1377950" cy="0"/>
          </a:xfrm>
          <a:prstGeom prst="straightConnector1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98" name="Google Shape;198;p16"/>
          <p:cNvSpPr txBox="1"/>
          <p:nvPr/>
        </p:nvSpPr>
        <p:spPr>
          <a:xfrm>
            <a:off x="0" y="3671888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 &amp;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0" y="4052888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Initialization</a:t>
            </a:r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Random initialization can be a good idea. (if the sample is large enough).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Random number generator can not be biased.</a:t>
            </a:r>
            <a:endParaRPr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Example: n-queens </a:t>
            </a:r>
            <a:endParaRPr sz="240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Put n queens on an n × n board with no two queens on the same row, column, or diagonal </a:t>
            </a:r>
            <a:r>
              <a:rPr lang="en-US" sz="2000"/>
              <a:t/>
            </a:r>
            <a:br>
              <a:rPr lang="en-US" sz="2000"/>
            </a:br>
            <a:endParaRPr sz="1800"/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r="74835"/>
          <a:stretch/>
        </p:blipFill>
        <p:spPr>
          <a:xfrm>
            <a:off x="1943098" y="4462281"/>
            <a:ext cx="1905000" cy="179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/>
          <p:cNvPicPr preferRelativeResize="0"/>
          <p:nvPr/>
        </p:nvPicPr>
        <p:blipFill rotWithShape="1">
          <a:blip r:embed="rId3">
            <a:alphaModFix/>
          </a:blip>
          <a:srcRect r="74835"/>
          <a:stretch/>
        </p:blipFill>
        <p:spPr>
          <a:xfrm>
            <a:off x="4724400" y="4466118"/>
            <a:ext cx="1905000" cy="179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State Representation</a:t>
            </a:r>
            <a:endParaRPr/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05000"/>
            <a:ext cx="6311866" cy="38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Evaluation (Fitness Function)</a:t>
            </a:r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body" idx="1"/>
          </p:nvPr>
        </p:nvSpPr>
        <p:spPr>
          <a:xfrm>
            <a:off x="457200" y="844550"/>
            <a:ext cx="8229600" cy="528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Each member of the population can be seen as candidate solution to a problem.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fitness function determines the quality of each solution.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Example: n-queens </a:t>
            </a:r>
            <a:endParaRPr sz="240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A queen can attack other queen horizontally, vertically or diagonally.</a:t>
            </a:r>
            <a:endParaRPr/>
          </a:p>
          <a:p>
            <a:pPr marL="742950" lvl="1" indent="-1460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sp>
        <p:nvSpPr>
          <p:cNvPr id="221" name="Google Shape;221;p19"/>
          <p:cNvSpPr/>
          <p:nvPr/>
        </p:nvSpPr>
        <p:spPr>
          <a:xfrm>
            <a:off x="6116637" y="6248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602287" y="62484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087937" y="6248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573587" y="6248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057650" y="6248400"/>
            <a:ext cx="528637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3543300" y="62484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3028950" y="6248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2514600" y="6248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116637" y="5791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602287" y="5791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087937" y="57912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573587" y="5791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057650" y="5791200"/>
            <a:ext cx="528637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543300" y="57912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028950" y="5791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2514600" y="5791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116637" y="5334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5602287" y="5334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087937" y="5334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573587" y="53340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057650" y="5334000"/>
            <a:ext cx="528637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543300" y="53340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028950" y="5334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2514600" y="53340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116637" y="48768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5602287" y="48768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5087937" y="48768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573587" y="48768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4057650" y="4876800"/>
            <a:ext cx="528637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543300" y="48768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028950" y="48768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514600" y="48768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116637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5602287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5087937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573587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057650" y="4419600"/>
            <a:ext cx="528637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3543300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3028950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2514600" y="44196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116637" y="3962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602287" y="3962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5087937" y="3962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4573587" y="3962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4057650" y="3962400"/>
            <a:ext cx="528637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3543300" y="39624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3028950" y="39624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514600" y="39624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116637" y="3505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5602287" y="3505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5087937" y="3505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573587" y="35052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4057650" y="3505200"/>
            <a:ext cx="528637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543300" y="35052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028950" y="35052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2514600" y="35052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6116637" y="3048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602287" y="3048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5087937" y="30480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573587" y="3048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057650" y="3048000"/>
            <a:ext cx="528637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3543300" y="3048000"/>
            <a:ext cx="527050" cy="469900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3028950" y="3048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2514600" y="3048000"/>
            <a:ext cx="527050" cy="4699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9"/>
          <p:cNvCxnSpPr/>
          <p:nvPr/>
        </p:nvCxnSpPr>
        <p:spPr>
          <a:xfrm>
            <a:off x="2520950" y="30543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19"/>
          <p:cNvCxnSpPr/>
          <p:nvPr/>
        </p:nvCxnSpPr>
        <p:spPr>
          <a:xfrm>
            <a:off x="2520950" y="67119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7" name="Google Shape;287;p19"/>
          <p:cNvCxnSpPr/>
          <p:nvPr/>
        </p:nvCxnSpPr>
        <p:spPr>
          <a:xfrm>
            <a:off x="2520950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19"/>
          <p:cNvCxnSpPr/>
          <p:nvPr/>
        </p:nvCxnSpPr>
        <p:spPr>
          <a:xfrm>
            <a:off x="6637337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9" name="Google Shape;289;p19"/>
          <p:cNvCxnSpPr/>
          <p:nvPr/>
        </p:nvCxnSpPr>
        <p:spPr>
          <a:xfrm>
            <a:off x="2520950" y="35115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19"/>
          <p:cNvCxnSpPr/>
          <p:nvPr/>
        </p:nvCxnSpPr>
        <p:spPr>
          <a:xfrm>
            <a:off x="3035300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91;p19"/>
          <p:cNvCxnSpPr/>
          <p:nvPr/>
        </p:nvCxnSpPr>
        <p:spPr>
          <a:xfrm>
            <a:off x="3549650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19"/>
          <p:cNvCxnSpPr/>
          <p:nvPr/>
        </p:nvCxnSpPr>
        <p:spPr>
          <a:xfrm>
            <a:off x="4064000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19"/>
          <p:cNvCxnSpPr/>
          <p:nvPr/>
        </p:nvCxnSpPr>
        <p:spPr>
          <a:xfrm>
            <a:off x="4579937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9"/>
          <p:cNvCxnSpPr/>
          <p:nvPr/>
        </p:nvCxnSpPr>
        <p:spPr>
          <a:xfrm>
            <a:off x="5094287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" name="Google Shape;295;p19"/>
          <p:cNvCxnSpPr/>
          <p:nvPr/>
        </p:nvCxnSpPr>
        <p:spPr>
          <a:xfrm>
            <a:off x="5608637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" name="Google Shape;296;p19"/>
          <p:cNvCxnSpPr/>
          <p:nvPr/>
        </p:nvCxnSpPr>
        <p:spPr>
          <a:xfrm>
            <a:off x="6122987" y="3054350"/>
            <a:ext cx="0" cy="3657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" name="Google Shape;297;p19"/>
          <p:cNvCxnSpPr/>
          <p:nvPr/>
        </p:nvCxnSpPr>
        <p:spPr>
          <a:xfrm>
            <a:off x="2520950" y="39687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19"/>
          <p:cNvCxnSpPr/>
          <p:nvPr/>
        </p:nvCxnSpPr>
        <p:spPr>
          <a:xfrm>
            <a:off x="2520950" y="44259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p19"/>
          <p:cNvCxnSpPr/>
          <p:nvPr/>
        </p:nvCxnSpPr>
        <p:spPr>
          <a:xfrm>
            <a:off x="2520950" y="48831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0" name="Google Shape;300;p19"/>
          <p:cNvCxnSpPr/>
          <p:nvPr/>
        </p:nvCxnSpPr>
        <p:spPr>
          <a:xfrm>
            <a:off x="2520950" y="53403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19"/>
          <p:cNvCxnSpPr/>
          <p:nvPr/>
        </p:nvCxnSpPr>
        <p:spPr>
          <a:xfrm>
            <a:off x="2520950" y="57975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19"/>
          <p:cNvCxnSpPr/>
          <p:nvPr/>
        </p:nvCxnSpPr>
        <p:spPr>
          <a:xfrm>
            <a:off x="2520950" y="6254750"/>
            <a:ext cx="411638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Fitness Function </a:t>
            </a:r>
            <a:endParaRPr/>
          </a:p>
        </p:txBody>
      </p:sp>
      <p:sp>
        <p:nvSpPr>
          <p:cNvPr id="309" name="Google Shape;309;p20"/>
          <p:cNvSpPr txBox="1">
            <a:spLocks noGrp="1"/>
          </p:cNvSpPr>
          <p:nvPr>
            <p:ph type="body" idx="1"/>
          </p:nvPr>
        </p:nvSpPr>
        <p:spPr>
          <a:xfrm>
            <a:off x="152399" y="1600200"/>
            <a:ext cx="6022975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Fitness Function: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Q1 can attack NONE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Q2 can attack NONE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Q3 can attack Q6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Q4 can attack Q5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Q5 can attack Q4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Q6 can attack Q5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Q7 can attack Q4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Q8 can attack Q5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Fitness = No of. Queens that can attack none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Fitness = 2</a:t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8175625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7670800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7165975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6661150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6156325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651500" y="4362450"/>
            <a:ext cx="517525" cy="407988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5146675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4641850" y="43624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8175625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7670800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7165975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6661150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6156325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5651500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146675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4641850" y="3967163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8175625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7670800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7165975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661150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6156325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651500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5146675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641850" y="357187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175625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7670800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7165975" y="3176588"/>
            <a:ext cx="517525" cy="407987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6661150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156325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5651500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5146675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4641850" y="317658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8175625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7670800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165975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6661150" y="2779713"/>
            <a:ext cx="517525" cy="409575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6156325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5651500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5146675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641850" y="2779713"/>
            <a:ext cx="517525" cy="4095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175625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7670800" y="2384425"/>
            <a:ext cx="517525" cy="407988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Q7</a:t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7165975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6661150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156325" y="2384425"/>
            <a:ext cx="517525" cy="407988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651500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146675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4641850" y="2384425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175625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7670800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7165975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661150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156325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651500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146675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4641850" y="1989138"/>
            <a:ext cx="517525" cy="40798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8175625" y="1593850"/>
            <a:ext cx="517525" cy="407988"/>
          </a:xfrm>
          <a:prstGeom prst="rect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Q8</a:t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7670800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7165975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6661150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156325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5651500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146675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4641850" y="1593850"/>
            <a:ext cx="517525" cy="40798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0"/>
          <p:cNvCxnSpPr/>
          <p:nvPr/>
        </p:nvCxnSpPr>
        <p:spPr>
          <a:xfrm>
            <a:off x="4648200" y="1600200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5" name="Google Shape;375;p20"/>
          <p:cNvCxnSpPr/>
          <p:nvPr/>
        </p:nvCxnSpPr>
        <p:spPr>
          <a:xfrm>
            <a:off x="4648200" y="4764088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20"/>
          <p:cNvCxnSpPr/>
          <p:nvPr/>
        </p:nvCxnSpPr>
        <p:spPr>
          <a:xfrm>
            <a:off x="4648200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20"/>
          <p:cNvCxnSpPr/>
          <p:nvPr/>
        </p:nvCxnSpPr>
        <p:spPr>
          <a:xfrm>
            <a:off x="8686800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20"/>
          <p:cNvCxnSpPr/>
          <p:nvPr/>
        </p:nvCxnSpPr>
        <p:spPr>
          <a:xfrm>
            <a:off x="4648200" y="1995488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p20"/>
          <p:cNvCxnSpPr/>
          <p:nvPr/>
        </p:nvCxnSpPr>
        <p:spPr>
          <a:xfrm>
            <a:off x="5153025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0" name="Google Shape;380;p20"/>
          <p:cNvCxnSpPr/>
          <p:nvPr/>
        </p:nvCxnSpPr>
        <p:spPr>
          <a:xfrm>
            <a:off x="5657850" y="1600200"/>
            <a:ext cx="0" cy="3163888"/>
          </a:xfrm>
          <a:prstGeom prst="straightConnector1">
            <a:avLst/>
          </a:prstGeom>
          <a:solidFill>
            <a:schemeClr val="dk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1" name="Google Shape;381;p20"/>
          <p:cNvCxnSpPr/>
          <p:nvPr/>
        </p:nvCxnSpPr>
        <p:spPr>
          <a:xfrm>
            <a:off x="6162675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" name="Google Shape;382;p20"/>
          <p:cNvCxnSpPr/>
          <p:nvPr/>
        </p:nvCxnSpPr>
        <p:spPr>
          <a:xfrm>
            <a:off x="6667500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" name="Google Shape;383;p20"/>
          <p:cNvCxnSpPr/>
          <p:nvPr/>
        </p:nvCxnSpPr>
        <p:spPr>
          <a:xfrm>
            <a:off x="7172325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4" name="Google Shape;384;p20"/>
          <p:cNvCxnSpPr/>
          <p:nvPr/>
        </p:nvCxnSpPr>
        <p:spPr>
          <a:xfrm>
            <a:off x="7677150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5" name="Google Shape;385;p20"/>
          <p:cNvCxnSpPr/>
          <p:nvPr/>
        </p:nvCxnSpPr>
        <p:spPr>
          <a:xfrm>
            <a:off x="8181975" y="1600200"/>
            <a:ext cx="0" cy="31638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6" name="Google Shape;386;p20"/>
          <p:cNvCxnSpPr/>
          <p:nvPr/>
        </p:nvCxnSpPr>
        <p:spPr>
          <a:xfrm>
            <a:off x="4641850" y="2384425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7" name="Google Shape;387;p20"/>
          <p:cNvCxnSpPr/>
          <p:nvPr/>
        </p:nvCxnSpPr>
        <p:spPr>
          <a:xfrm>
            <a:off x="4648200" y="2786063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8" name="Google Shape;388;p20"/>
          <p:cNvCxnSpPr/>
          <p:nvPr/>
        </p:nvCxnSpPr>
        <p:spPr>
          <a:xfrm>
            <a:off x="4648200" y="3182938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9" name="Google Shape;389;p20"/>
          <p:cNvCxnSpPr/>
          <p:nvPr/>
        </p:nvCxnSpPr>
        <p:spPr>
          <a:xfrm>
            <a:off x="4648200" y="3578225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0" name="Google Shape;390;p20"/>
          <p:cNvCxnSpPr/>
          <p:nvPr/>
        </p:nvCxnSpPr>
        <p:spPr>
          <a:xfrm>
            <a:off x="4648200" y="3973513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" name="Google Shape;391;p20"/>
          <p:cNvCxnSpPr/>
          <p:nvPr/>
        </p:nvCxnSpPr>
        <p:spPr>
          <a:xfrm>
            <a:off x="4641850" y="4375150"/>
            <a:ext cx="4038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 txBox="1"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Crossover</a:t>
            </a:r>
            <a:endParaRPr/>
          </a:p>
        </p:txBody>
      </p:sp>
      <p:sp>
        <p:nvSpPr>
          <p:cNvPr id="397" name="Google Shape;397;p21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reproduction the genetic codes of both parents are combined to create offspring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Would like to keep 60/40 split between parent contributions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95/5 splits negate the benefits of crossover.</a:t>
            </a:r>
            <a:endParaRPr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pic>
        <p:nvPicPr>
          <p:cNvPr id="398" name="Google Shape;398;p21"/>
          <p:cNvPicPr preferRelativeResize="0"/>
          <p:nvPr/>
        </p:nvPicPr>
        <p:blipFill rotWithShape="1">
          <a:blip r:embed="rId3">
            <a:alphaModFix/>
          </a:blip>
          <a:srcRect l="34409" r="24422" b="50827"/>
          <a:stretch/>
        </p:blipFill>
        <p:spPr>
          <a:xfrm>
            <a:off x="1447800" y="2286000"/>
            <a:ext cx="5715000" cy="4390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Crossover</a:t>
            </a:r>
            <a:endParaRPr/>
          </a:p>
        </p:txBody>
      </p:sp>
      <p:pic>
        <p:nvPicPr>
          <p:cNvPr id="404" name="Google Shape;40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05000"/>
            <a:ext cx="829762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Crossover Types</a:t>
            </a:r>
            <a:endParaRPr/>
          </a:p>
        </p:txBody>
      </p:sp>
      <p:sp>
        <p:nvSpPr>
          <p:cNvPr id="410" name="Google Shape;410;p23"/>
          <p:cNvSpPr txBox="1">
            <a:spLocks noGrp="1"/>
          </p:cNvSpPr>
          <p:nvPr>
            <p:ph type="body" idx="1"/>
          </p:nvPr>
        </p:nvSpPr>
        <p:spPr>
          <a:xfrm>
            <a:off x="304800" y="792162"/>
            <a:ext cx="8382000" cy="533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 u="sng"/>
              <a:t>Single point crossover:</a:t>
            </a:r>
            <a:r>
              <a:rPr lang="en-US" sz="2200" b="1"/>
              <a:t> </a:t>
            </a:r>
            <a:r>
              <a:rPr lang="en-US" sz="2200"/>
              <a:t>A point on both parents' chromosomes is picked randomly and designated a 'crossover point'. Bits to the right of that point are swapped between the two parent chromosomes. This results in two offspring, each carrying some genetic information from both parents.</a:t>
            </a:r>
            <a:endParaRPr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 u="sng"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 u="sng"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 u="sng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 u="sng"/>
              <a:t>Two-point crossover:</a:t>
            </a:r>
            <a:r>
              <a:rPr lang="en-US" sz="2200"/>
              <a:t> In two-point crossover, two crossover points are picked randomly from the parent chromosomes. The bits in between the two points are swapped between the parent organisms.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11" name="Google Shape;411;p23" descr="OnePointCrossover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4946" y="2209800"/>
            <a:ext cx="3555915" cy="1539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3" descr="TwoPointCrossover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4947" y="5089616"/>
            <a:ext cx="3652121" cy="1615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Mutation</a:t>
            </a:r>
            <a:endParaRPr/>
          </a:p>
        </p:txBody>
      </p:sp>
      <p:sp>
        <p:nvSpPr>
          <p:cNvPr id="418" name="Google Shape;418;p24"/>
          <p:cNvSpPr txBox="1">
            <a:spLocks noGrp="1"/>
          </p:cNvSpPr>
          <p:nvPr>
            <p:ph type="body" idx="1"/>
          </p:nvPr>
        </p:nvSpPr>
        <p:spPr>
          <a:xfrm>
            <a:off x="685800" y="8382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Mutation is used to maintain genetic diversity from one generation of a population of chromosomes to the next.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Mutation alters one or more gene values in a chromosome from its initial state. In mutation, the solution may change entirely from the previous solution. </a:t>
            </a:r>
            <a:endParaRPr/>
          </a:p>
        </p:txBody>
      </p:sp>
      <p:pic>
        <p:nvPicPr>
          <p:cNvPr id="419" name="Google Shape;419;p24"/>
          <p:cNvPicPr preferRelativeResize="0"/>
          <p:nvPr/>
        </p:nvPicPr>
        <p:blipFill rotWithShape="1">
          <a:blip r:embed="rId3">
            <a:alphaModFix/>
          </a:blip>
          <a:srcRect l="58139" b="52996"/>
          <a:stretch/>
        </p:blipFill>
        <p:spPr>
          <a:xfrm>
            <a:off x="1905000" y="2743200"/>
            <a:ext cx="5105400" cy="368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25"/>
          <p:cNvGrpSpPr/>
          <p:nvPr/>
        </p:nvGrpSpPr>
        <p:grpSpPr>
          <a:xfrm>
            <a:off x="990600" y="1447800"/>
            <a:ext cx="7621588" cy="4922838"/>
            <a:chOff x="624" y="528"/>
            <a:chExt cx="4801" cy="3101"/>
          </a:xfrm>
        </p:grpSpPr>
        <p:sp>
          <p:nvSpPr>
            <p:cNvPr id="425" name="Google Shape;425;p25"/>
            <p:cNvSpPr/>
            <p:nvPr/>
          </p:nvSpPr>
          <p:spPr>
            <a:xfrm>
              <a:off x="624" y="528"/>
              <a:ext cx="4801" cy="3101"/>
            </a:xfrm>
            <a:custGeom>
              <a:avLst/>
              <a:gdLst/>
              <a:ahLst/>
              <a:cxnLst/>
              <a:rect l="l" t="t" r="r" b="b"/>
              <a:pathLst>
                <a:path w="4801" h="3101" extrusionOk="0">
                  <a:moveTo>
                    <a:pt x="0" y="0"/>
                  </a:moveTo>
                  <a:lnTo>
                    <a:pt x="0" y="3100"/>
                  </a:lnTo>
                  <a:lnTo>
                    <a:pt x="4800" y="3100"/>
                  </a:lnTo>
                  <a:lnTo>
                    <a:pt x="480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p25"/>
            <p:cNvGrpSpPr/>
            <p:nvPr/>
          </p:nvGrpSpPr>
          <p:grpSpPr>
            <a:xfrm>
              <a:off x="864" y="628"/>
              <a:ext cx="4001" cy="2901"/>
              <a:chOff x="864" y="628"/>
              <a:chExt cx="4001" cy="2901"/>
            </a:xfrm>
          </p:grpSpPr>
          <p:sp>
            <p:nvSpPr>
              <p:cNvPr id="427" name="Google Shape;427;p25"/>
              <p:cNvSpPr/>
              <p:nvPr/>
            </p:nvSpPr>
            <p:spPr>
              <a:xfrm>
                <a:off x="1964" y="3028"/>
                <a:ext cx="400" cy="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No</a:t>
                </a:r>
                <a:endParaRPr/>
              </a:p>
            </p:txBody>
          </p:sp>
          <p:sp>
            <p:nvSpPr>
              <p:cNvPr id="428" name="Google Shape;428;p25"/>
              <p:cNvSpPr/>
              <p:nvPr/>
            </p:nvSpPr>
            <p:spPr>
              <a:xfrm>
                <a:off x="3464" y="3028"/>
                <a:ext cx="400" cy="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2075" tIns="46025" rIns="92075" bIns="460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Yes</a:t>
                </a:r>
                <a:endParaRPr/>
              </a:p>
            </p:txBody>
          </p:sp>
          <p:grpSp>
            <p:nvGrpSpPr>
              <p:cNvPr id="429" name="Google Shape;429;p25"/>
              <p:cNvGrpSpPr/>
              <p:nvPr/>
            </p:nvGrpSpPr>
            <p:grpSpPr>
              <a:xfrm>
                <a:off x="2464" y="628"/>
                <a:ext cx="801" cy="301"/>
                <a:chOff x="2464" y="628"/>
                <a:chExt cx="801" cy="301"/>
              </a:xfrm>
            </p:grpSpPr>
            <p:sp>
              <p:nvSpPr>
                <p:cNvPr id="430" name="Google Shape;430;p25"/>
                <p:cNvSpPr/>
                <p:nvPr/>
              </p:nvSpPr>
              <p:spPr>
                <a:xfrm>
                  <a:off x="2464" y="628"/>
                  <a:ext cx="801" cy="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301" extrusionOk="0">
                      <a:moveTo>
                        <a:pt x="129" y="0"/>
                      </a:moveTo>
                      <a:lnTo>
                        <a:pt x="103" y="3"/>
                      </a:lnTo>
                      <a:lnTo>
                        <a:pt x="79" y="12"/>
                      </a:lnTo>
                      <a:lnTo>
                        <a:pt x="57" y="26"/>
                      </a:lnTo>
                      <a:lnTo>
                        <a:pt x="38" y="44"/>
                      </a:lnTo>
                      <a:lnTo>
                        <a:pt x="22" y="66"/>
                      </a:lnTo>
                      <a:lnTo>
                        <a:pt x="10" y="92"/>
                      </a:lnTo>
                      <a:lnTo>
                        <a:pt x="3" y="120"/>
                      </a:lnTo>
                      <a:lnTo>
                        <a:pt x="0" y="150"/>
                      </a:lnTo>
                      <a:lnTo>
                        <a:pt x="3" y="180"/>
                      </a:lnTo>
                      <a:lnTo>
                        <a:pt x="10" y="208"/>
                      </a:lnTo>
                      <a:lnTo>
                        <a:pt x="22" y="234"/>
                      </a:lnTo>
                      <a:lnTo>
                        <a:pt x="38" y="256"/>
                      </a:lnTo>
                      <a:lnTo>
                        <a:pt x="57" y="274"/>
                      </a:lnTo>
                      <a:lnTo>
                        <a:pt x="79" y="288"/>
                      </a:lnTo>
                      <a:lnTo>
                        <a:pt x="103" y="297"/>
                      </a:lnTo>
                      <a:lnTo>
                        <a:pt x="129" y="300"/>
                      </a:lnTo>
                      <a:lnTo>
                        <a:pt x="671" y="300"/>
                      </a:lnTo>
                      <a:lnTo>
                        <a:pt x="697" y="297"/>
                      </a:lnTo>
                      <a:lnTo>
                        <a:pt x="721" y="288"/>
                      </a:lnTo>
                      <a:lnTo>
                        <a:pt x="743" y="274"/>
                      </a:lnTo>
                      <a:lnTo>
                        <a:pt x="762" y="256"/>
                      </a:lnTo>
                      <a:lnTo>
                        <a:pt x="778" y="234"/>
                      </a:lnTo>
                      <a:lnTo>
                        <a:pt x="790" y="208"/>
                      </a:lnTo>
                      <a:lnTo>
                        <a:pt x="797" y="180"/>
                      </a:lnTo>
                      <a:lnTo>
                        <a:pt x="800" y="150"/>
                      </a:lnTo>
                      <a:lnTo>
                        <a:pt x="797" y="120"/>
                      </a:lnTo>
                      <a:lnTo>
                        <a:pt x="790" y="92"/>
                      </a:lnTo>
                      <a:lnTo>
                        <a:pt x="778" y="66"/>
                      </a:lnTo>
                      <a:lnTo>
                        <a:pt x="762" y="44"/>
                      </a:lnTo>
                      <a:lnTo>
                        <a:pt x="743" y="26"/>
                      </a:lnTo>
                      <a:lnTo>
                        <a:pt x="721" y="12"/>
                      </a:lnTo>
                      <a:lnTo>
                        <a:pt x="697" y="3"/>
                      </a:lnTo>
                      <a:lnTo>
                        <a:pt x="671" y="0"/>
                      </a:lnTo>
                      <a:lnTo>
                        <a:pt x="129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25"/>
                <p:cNvSpPr/>
                <p:nvPr/>
              </p:nvSpPr>
              <p:spPr>
                <a:xfrm>
                  <a:off x="2557" y="695"/>
                  <a:ext cx="614" cy="1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Start</a:t>
                  </a:r>
                  <a:endParaRPr/>
                </a:p>
              </p:txBody>
            </p:sp>
          </p:grpSp>
          <p:cxnSp>
            <p:nvCxnSpPr>
              <p:cNvPr id="432" name="Google Shape;432;p25"/>
              <p:cNvCxnSpPr/>
              <p:nvPr/>
            </p:nvCxnSpPr>
            <p:spPr>
              <a:xfrm>
                <a:off x="2864" y="928"/>
                <a:ext cx="0" cy="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33" name="Google Shape;433;p25"/>
              <p:cNvGrpSpPr/>
              <p:nvPr/>
            </p:nvGrpSpPr>
            <p:grpSpPr>
              <a:xfrm>
                <a:off x="2464" y="1328"/>
                <a:ext cx="901" cy="401"/>
                <a:chOff x="2464" y="1328"/>
                <a:chExt cx="901" cy="401"/>
              </a:xfrm>
            </p:grpSpPr>
            <p:sp>
              <p:nvSpPr>
                <p:cNvPr id="434" name="Google Shape;434;p25"/>
                <p:cNvSpPr/>
                <p:nvPr/>
              </p:nvSpPr>
              <p:spPr>
                <a:xfrm>
                  <a:off x="2464" y="1328"/>
                  <a:ext cx="901" cy="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" h="401" extrusionOk="0">
                      <a:moveTo>
                        <a:pt x="0" y="0"/>
                      </a:moveTo>
                      <a:lnTo>
                        <a:pt x="0" y="400"/>
                      </a:lnTo>
                      <a:lnTo>
                        <a:pt x="900" y="400"/>
                      </a:lnTo>
                      <a:lnTo>
                        <a:pt x="90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25"/>
                <p:cNvSpPr/>
                <p:nvPr/>
              </p:nvSpPr>
              <p:spPr>
                <a:xfrm>
                  <a:off x="2525" y="1360"/>
                  <a:ext cx="778" cy="3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Initialize Population</a:t>
                  </a:r>
                  <a:endParaRPr/>
                </a:p>
              </p:txBody>
            </p:sp>
          </p:grpSp>
          <p:cxnSp>
            <p:nvCxnSpPr>
              <p:cNvPr id="436" name="Google Shape;436;p25"/>
              <p:cNvCxnSpPr/>
              <p:nvPr/>
            </p:nvCxnSpPr>
            <p:spPr>
              <a:xfrm>
                <a:off x="2864" y="1728"/>
                <a:ext cx="0" cy="399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37" name="Google Shape;437;p25"/>
              <p:cNvGrpSpPr/>
              <p:nvPr/>
            </p:nvGrpSpPr>
            <p:grpSpPr>
              <a:xfrm>
                <a:off x="2364" y="2129"/>
                <a:ext cx="1001" cy="400"/>
                <a:chOff x="2364" y="2129"/>
                <a:chExt cx="1001" cy="400"/>
              </a:xfrm>
            </p:grpSpPr>
            <p:sp>
              <p:nvSpPr>
                <p:cNvPr id="438" name="Google Shape;438;p25"/>
                <p:cNvSpPr/>
                <p:nvPr/>
              </p:nvSpPr>
              <p:spPr>
                <a:xfrm>
                  <a:off x="2364" y="2129"/>
                  <a:ext cx="1001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400" extrusionOk="0">
                      <a:moveTo>
                        <a:pt x="0" y="0"/>
                      </a:moveTo>
                      <a:lnTo>
                        <a:pt x="0" y="399"/>
                      </a:lnTo>
                      <a:lnTo>
                        <a:pt x="1000" y="399"/>
                      </a:lnTo>
                      <a:lnTo>
                        <a:pt x="100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25"/>
                <p:cNvSpPr/>
                <p:nvPr/>
              </p:nvSpPr>
              <p:spPr>
                <a:xfrm>
                  <a:off x="2425" y="2161"/>
                  <a:ext cx="878" cy="3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Evaluate Fitness of Population</a:t>
                  </a:r>
                  <a:endParaRPr/>
                </a:p>
              </p:txBody>
            </p:sp>
          </p:grpSp>
          <p:grpSp>
            <p:nvGrpSpPr>
              <p:cNvPr id="440" name="Google Shape;440;p25"/>
              <p:cNvGrpSpPr/>
              <p:nvPr/>
            </p:nvGrpSpPr>
            <p:grpSpPr>
              <a:xfrm>
                <a:off x="2364" y="2928"/>
                <a:ext cx="1001" cy="601"/>
                <a:chOff x="2364" y="2928"/>
                <a:chExt cx="1001" cy="601"/>
              </a:xfrm>
            </p:grpSpPr>
            <p:sp>
              <p:nvSpPr>
                <p:cNvPr id="441" name="Google Shape;441;p25"/>
                <p:cNvSpPr/>
                <p:nvPr/>
              </p:nvSpPr>
              <p:spPr>
                <a:xfrm>
                  <a:off x="2364" y="2928"/>
                  <a:ext cx="1001" cy="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601" extrusionOk="0">
                      <a:moveTo>
                        <a:pt x="500" y="0"/>
                      </a:moveTo>
                      <a:lnTo>
                        <a:pt x="0" y="300"/>
                      </a:lnTo>
                      <a:lnTo>
                        <a:pt x="500" y="600"/>
                      </a:lnTo>
                      <a:lnTo>
                        <a:pt x="1000" y="300"/>
                      </a:lnTo>
                      <a:lnTo>
                        <a:pt x="50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25"/>
                <p:cNvSpPr/>
                <p:nvPr/>
              </p:nvSpPr>
              <p:spPr>
                <a:xfrm>
                  <a:off x="2645" y="3094"/>
                  <a:ext cx="438" cy="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Solution Found?</a:t>
                  </a:r>
                  <a:endParaRPr/>
                </a:p>
              </p:txBody>
            </p:sp>
          </p:grpSp>
          <p:cxnSp>
            <p:nvCxnSpPr>
              <p:cNvPr id="443" name="Google Shape;443;p25"/>
              <p:cNvCxnSpPr/>
              <p:nvPr/>
            </p:nvCxnSpPr>
            <p:spPr>
              <a:xfrm>
                <a:off x="2864" y="2528"/>
                <a:ext cx="1" cy="4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44" name="Google Shape;444;p25"/>
              <p:cNvCxnSpPr/>
              <p:nvPr/>
            </p:nvCxnSpPr>
            <p:spPr>
              <a:xfrm flipH="1">
                <a:off x="1764" y="3228"/>
                <a:ext cx="600" cy="1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445" name="Google Shape;445;p25"/>
              <p:cNvCxnSpPr/>
              <p:nvPr/>
            </p:nvCxnSpPr>
            <p:spPr>
              <a:xfrm>
                <a:off x="3364" y="3228"/>
                <a:ext cx="700" cy="1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46" name="Google Shape;446;p25"/>
              <p:cNvGrpSpPr/>
              <p:nvPr/>
            </p:nvGrpSpPr>
            <p:grpSpPr>
              <a:xfrm>
                <a:off x="4064" y="3061"/>
                <a:ext cx="801" cy="268"/>
                <a:chOff x="4064" y="3061"/>
                <a:chExt cx="801" cy="268"/>
              </a:xfrm>
            </p:grpSpPr>
            <p:sp>
              <p:nvSpPr>
                <p:cNvPr id="447" name="Google Shape;447;p25"/>
                <p:cNvSpPr/>
                <p:nvPr/>
              </p:nvSpPr>
              <p:spPr>
                <a:xfrm>
                  <a:off x="4064" y="3061"/>
                  <a:ext cx="801" cy="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268" extrusionOk="0">
                      <a:moveTo>
                        <a:pt x="129" y="0"/>
                      </a:moveTo>
                      <a:lnTo>
                        <a:pt x="103" y="3"/>
                      </a:lnTo>
                      <a:lnTo>
                        <a:pt x="79" y="11"/>
                      </a:lnTo>
                      <a:lnTo>
                        <a:pt x="57" y="23"/>
                      </a:lnTo>
                      <a:lnTo>
                        <a:pt x="38" y="39"/>
                      </a:lnTo>
                      <a:lnTo>
                        <a:pt x="22" y="59"/>
                      </a:lnTo>
                      <a:lnTo>
                        <a:pt x="10" y="82"/>
                      </a:lnTo>
                      <a:lnTo>
                        <a:pt x="3" y="107"/>
                      </a:lnTo>
                      <a:lnTo>
                        <a:pt x="0" y="134"/>
                      </a:lnTo>
                      <a:lnTo>
                        <a:pt x="3" y="160"/>
                      </a:lnTo>
                      <a:lnTo>
                        <a:pt x="10" y="186"/>
                      </a:lnTo>
                      <a:lnTo>
                        <a:pt x="22" y="208"/>
                      </a:lnTo>
                      <a:lnTo>
                        <a:pt x="38" y="228"/>
                      </a:lnTo>
                      <a:lnTo>
                        <a:pt x="57" y="244"/>
                      </a:lnTo>
                      <a:lnTo>
                        <a:pt x="79" y="256"/>
                      </a:lnTo>
                      <a:lnTo>
                        <a:pt x="103" y="264"/>
                      </a:lnTo>
                      <a:lnTo>
                        <a:pt x="129" y="267"/>
                      </a:lnTo>
                      <a:lnTo>
                        <a:pt x="671" y="267"/>
                      </a:lnTo>
                      <a:lnTo>
                        <a:pt x="697" y="264"/>
                      </a:lnTo>
                      <a:lnTo>
                        <a:pt x="721" y="256"/>
                      </a:lnTo>
                      <a:lnTo>
                        <a:pt x="743" y="244"/>
                      </a:lnTo>
                      <a:lnTo>
                        <a:pt x="762" y="228"/>
                      </a:lnTo>
                      <a:lnTo>
                        <a:pt x="778" y="208"/>
                      </a:lnTo>
                      <a:lnTo>
                        <a:pt x="790" y="186"/>
                      </a:lnTo>
                      <a:lnTo>
                        <a:pt x="797" y="160"/>
                      </a:lnTo>
                      <a:lnTo>
                        <a:pt x="800" y="134"/>
                      </a:lnTo>
                      <a:lnTo>
                        <a:pt x="797" y="107"/>
                      </a:lnTo>
                      <a:lnTo>
                        <a:pt x="790" y="82"/>
                      </a:lnTo>
                      <a:lnTo>
                        <a:pt x="778" y="59"/>
                      </a:lnTo>
                      <a:lnTo>
                        <a:pt x="762" y="39"/>
                      </a:lnTo>
                      <a:lnTo>
                        <a:pt x="743" y="23"/>
                      </a:lnTo>
                      <a:lnTo>
                        <a:pt x="721" y="11"/>
                      </a:lnTo>
                      <a:lnTo>
                        <a:pt x="697" y="3"/>
                      </a:lnTo>
                      <a:lnTo>
                        <a:pt x="671" y="0"/>
                      </a:lnTo>
                      <a:lnTo>
                        <a:pt x="129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25"/>
                <p:cNvSpPr/>
                <p:nvPr/>
              </p:nvSpPr>
              <p:spPr>
                <a:xfrm>
                  <a:off x="4157" y="3123"/>
                  <a:ext cx="614" cy="1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End</a:t>
                  </a:r>
                  <a:endParaRPr/>
                </a:p>
              </p:txBody>
            </p:sp>
          </p:grpSp>
          <p:grpSp>
            <p:nvGrpSpPr>
              <p:cNvPr id="449" name="Google Shape;449;p25"/>
              <p:cNvGrpSpPr/>
              <p:nvPr/>
            </p:nvGrpSpPr>
            <p:grpSpPr>
              <a:xfrm>
                <a:off x="964" y="3028"/>
                <a:ext cx="801" cy="501"/>
                <a:chOff x="964" y="3028"/>
                <a:chExt cx="801" cy="501"/>
              </a:xfrm>
            </p:grpSpPr>
            <p:sp>
              <p:nvSpPr>
                <p:cNvPr id="450" name="Google Shape;450;p25"/>
                <p:cNvSpPr/>
                <p:nvPr/>
              </p:nvSpPr>
              <p:spPr>
                <a:xfrm>
                  <a:off x="964" y="3028"/>
                  <a:ext cx="801" cy="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501" extrusionOk="0">
                      <a:moveTo>
                        <a:pt x="0" y="0"/>
                      </a:moveTo>
                      <a:lnTo>
                        <a:pt x="0" y="500"/>
                      </a:lnTo>
                      <a:lnTo>
                        <a:pt x="800" y="500"/>
                      </a:lnTo>
                      <a:lnTo>
                        <a:pt x="80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25"/>
                <p:cNvSpPr/>
                <p:nvPr/>
              </p:nvSpPr>
              <p:spPr>
                <a:xfrm>
                  <a:off x="1025" y="3060"/>
                  <a:ext cx="678" cy="4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Crossover</a:t>
                  </a:r>
                  <a:endParaRPr/>
                </a:p>
              </p:txBody>
            </p:sp>
          </p:grpSp>
          <p:cxnSp>
            <p:nvCxnSpPr>
              <p:cNvPr id="452" name="Google Shape;452;p25"/>
              <p:cNvCxnSpPr/>
              <p:nvPr/>
            </p:nvCxnSpPr>
            <p:spPr>
              <a:xfrm rot="10800000" flipH="1">
                <a:off x="1363" y="2528"/>
                <a:ext cx="1" cy="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grpSp>
            <p:nvGrpSpPr>
              <p:cNvPr id="453" name="Google Shape;453;p25"/>
              <p:cNvGrpSpPr/>
              <p:nvPr/>
            </p:nvGrpSpPr>
            <p:grpSpPr>
              <a:xfrm>
                <a:off x="864" y="2228"/>
                <a:ext cx="1001" cy="301"/>
                <a:chOff x="864" y="2228"/>
                <a:chExt cx="1001" cy="301"/>
              </a:xfrm>
            </p:grpSpPr>
            <p:sp>
              <p:nvSpPr>
                <p:cNvPr id="454" name="Google Shape;454;p25"/>
                <p:cNvSpPr/>
                <p:nvPr/>
              </p:nvSpPr>
              <p:spPr>
                <a:xfrm>
                  <a:off x="864" y="2228"/>
                  <a:ext cx="1001" cy="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301" extrusionOk="0">
                      <a:moveTo>
                        <a:pt x="0" y="0"/>
                      </a:moveTo>
                      <a:lnTo>
                        <a:pt x="0" y="300"/>
                      </a:lnTo>
                      <a:lnTo>
                        <a:pt x="1000" y="300"/>
                      </a:lnTo>
                      <a:lnTo>
                        <a:pt x="100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25"/>
                <p:cNvSpPr/>
                <p:nvPr/>
              </p:nvSpPr>
              <p:spPr>
                <a:xfrm>
                  <a:off x="925" y="2260"/>
                  <a:ext cx="878" cy="2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Apply mutation </a:t>
                  </a:r>
                  <a:endParaRPr/>
                </a:p>
              </p:txBody>
            </p:sp>
          </p:grpSp>
          <p:cxnSp>
            <p:nvCxnSpPr>
              <p:cNvPr id="456" name="Google Shape;456;p25"/>
              <p:cNvCxnSpPr/>
              <p:nvPr/>
            </p:nvCxnSpPr>
            <p:spPr>
              <a:xfrm>
                <a:off x="1864" y="2327"/>
                <a:ext cx="500" cy="1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</p:grpSp>
      <p:sp>
        <p:nvSpPr>
          <p:cNvPr id="457" name="Google Shape;45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Genetic Algorithm Flowchart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F296526D7BB4EB949B2D9BCC1BDA8" ma:contentTypeVersion="3" ma:contentTypeDescription="Create a new document." ma:contentTypeScope="" ma:versionID="54ebf3a4d97c1b18f8c02f93bf7dfe45">
  <xsd:schema xmlns:xsd="http://www.w3.org/2001/XMLSchema" xmlns:xs="http://www.w3.org/2001/XMLSchema" xmlns:p="http://schemas.microsoft.com/office/2006/metadata/properties" xmlns:ns2="71778b39-a39e-4048-b00f-99dfecabd0ec" targetNamespace="http://schemas.microsoft.com/office/2006/metadata/properties" ma:root="true" ma:fieldsID="a0869485a2b5bdb0dfad92a9ed9b6ec3" ns2:_="">
    <xsd:import namespace="71778b39-a39e-4048-b00f-99dfecabd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8b39-a39e-4048-b00f-99dfecabd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68D65D-294A-40BB-B96A-366050CEF607}"/>
</file>

<file path=customXml/itemProps2.xml><?xml version="1.0" encoding="utf-8"?>
<ds:datastoreItem xmlns:ds="http://schemas.openxmlformats.org/officeDocument/2006/customXml" ds:itemID="{989EE425-4E55-44E0-B5D9-05526CD7469A}"/>
</file>

<file path=customXml/itemProps3.xml><?xml version="1.0" encoding="utf-8"?>
<ds:datastoreItem xmlns:ds="http://schemas.openxmlformats.org/officeDocument/2006/customXml" ds:itemID="{C3AF2A56-A0A0-4FD7-847E-C49D60FA56CF}"/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1042</Words>
  <Application>Microsoft Office PowerPoint</Application>
  <PresentationFormat>On-screen Show (4:3)</PresentationFormat>
  <Paragraphs>139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</vt:lpstr>
      <vt:lpstr>Times New Roman</vt:lpstr>
      <vt:lpstr>Verdana</vt:lpstr>
      <vt:lpstr>Office Theme</vt:lpstr>
      <vt:lpstr>Artificial Intelligence</vt:lpstr>
      <vt:lpstr>Local Search Algorithms</vt:lpstr>
      <vt:lpstr>Local Search Algorithms</vt:lpstr>
      <vt:lpstr>Eight Queens Problem</vt:lpstr>
      <vt:lpstr>Problem Formulation</vt:lpstr>
      <vt:lpstr>Hill Climbing Search</vt:lpstr>
      <vt:lpstr>Hill Climbing (Example: n-queens)</vt:lpstr>
      <vt:lpstr>Hill-climbing Algorithm</vt:lpstr>
      <vt:lpstr>Problems with Hill-climbing search</vt:lpstr>
      <vt:lpstr>Problems with Hill-climbing Search</vt:lpstr>
      <vt:lpstr>Genetic Algorithms</vt:lpstr>
      <vt:lpstr>Gene, Chromosome, Population</vt:lpstr>
      <vt:lpstr>The Basic Genetic Algorithm</vt:lpstr>
      <vt:lpstr>PowerPoint Presentation</vt:lpstr>
      <vt:lpstr>Initialization</vt:lpstr>
      <vt:lpstr>State Representation</vt:lpstr>
      <vt:lpstr>Evaluation (Fitness Function)</vt:lpstr>
      <vt:lpstr>Fitness Function </vt:lpstr>
      <vt:lpstr>Crossover</vt:lpstr>
      <vt:lpstr>Crossover</vt:lpstr>
      <vt:lpstr>Crossover Types</vt:lpstr>
      <vt:lpstr>Mutation</vt:lpstr>
      <vt:lpstr>Genetic Algorithm Flowchart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GHAZALA</dc:creator>
  <cp:lastModifiedBy>Administrator</cp:lastModifiedBy>
  <cp:revision>6</cp:revision>
  <dcterms:created xsi:type="dcterms:W3CDTF">2012-02-27T05:45:45Z</dcterms:created>
  <dcterms:modified xsi:type="dcterms:W3CDTF">2025-10-11T06:40:49Z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0x010100263F296526D7BB4EB949B2D9BCC1BDA8</vt:lpwstr>
  </property>
</Properties>
</file>