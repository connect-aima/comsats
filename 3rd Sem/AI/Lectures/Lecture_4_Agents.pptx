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8.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5.xml" ContentType="application/vnd.openxmlformats-officedocument.presentationml.slide+xml"/>
  <Override PartName="/ppt/slides/slide23.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18.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58" r:id="rId4"/>
    <p:sldId id="266" r:id="rId5"/>
    <p:sldId id="260" r:id="rId6"/>
    <p:sldId id="261" r:id="rId7"/>
    <p:sldId id="262" r:id="rId8"/>
    <p:sldId id="263" r:id="rId9"/>
    <p:sldId id="267" r:id="rId10"/>
    <p:sldId id="268" r:id="rId11"/>
    <p:sldId id="270" r:id="rId12"/>
    <p:sldId id="271" r:id="rId13"/>
    <p:sldId id="272" r:id="rId14"/>
    <p:sldId id="269" r:id="rId15"/>
    <p:sldId id="273" r:id="rId16"/>
    <p:sldId id="275" r:id="rId17"/>
    <p:sldId id="274" r:id="rId18"/>
    <p:sldId id="279" r:id="rId19"/>
    <p:sldId id="278" r:id="rId20"/>
    <p:sldId id="281" r:id="rId21"/>
    <p:sldId id="280" r:id="rId22"/>
    <p:sldId id="283" r:id="rId23"/>
    <p:sldId id="282" r:id="rId24"/>
    <p:sldId id="285" r:id="rId2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i87mFcncYEOKVqV14E4g6yarNg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1674"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98" name="Google Shape;198;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4171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3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3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3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3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0"/>
          <p:cNvSpPr>
            <a:spLocks noGrp="1"/>
          </p:cNvSpPr>
          <p:nvPr>
            <p:ph type="pic" idx="2"/>
          </p:nvPr>
        </p:nvSpPr>
        <p:spPr>
          <a:xfrm>
            <a:off x="1792288" y="612775"/>
            <a:ext cx="5486400" cy="4114800"/>
          </a:xfrm>
          <a:prstGeom prst="rect">
            <a:avLst/>
          </a:prstGeom>
          <a:noFill/>
          <a:ln>
            <a:noFill/>
          </a:ln>
        </p:spPr>
      </p:sp>
      <p:sp>
        <p:nvSpPr>
          <p:cNvPr id="68" name="Google Shape;68;p4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Artificial Intelligence</a:t>
            </a:r>
            <a:endParaRPr>
              <a:latin typeface="Arial"/>
              <a:ea typeface="Arial"/>
              <a:cs typeface="Arial"/>
              <a:sym typeface="Arial"/>
            </a:endParaRPr>
          </a:p>
        </p:txBody>
      </p:sp>
      <p:sp>
        <p:nvSpPr>
          <p:cNvPr id="89" name="Google Shape;89;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r>
              <a:rPr lang="en-US"/>
              <a:t>Lecture 4</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Today’s Lecture</a:t>
            </a:r>
            <a:endParaRPr/>
          </a:p>
        </p:txBody>
      </p:sp>
      <p:sp>
        <p:nvSpPr>
          <p:cNvPr id="95" name="Google Shape;95;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dirty="0"/>
              <a:t>What is an agent?</a:t>
            </a:r>
            <a:endParaRPr dirty="0"/>
          </a:p>
          <a:p>
            <a:pPr marL="342900" lvl="0" indent="-342900" algn="l" rtl="0">
              <a:spcBef>
                <a:spcPts val="440"/>
              </a:spcBef>
              <a:spcAft>
                <a:spcPts val="0"/>
              </a:spcAft>
              <a:buClr>
                <a:schemeClr val="dk1"/>
              </a:buClr>
              <a:buSzPts val="2200"/>
              <a:buChar char="•"/>
            </a:pPr>
            <a:r>
              <a:rPr lang="en-US" sz="2200" dirty="0"/>
              <a:t>Agents &amp; </a:t>
            </a:r>
            <a:r>
              <a:rPr lang="en-US" sz="2200" dirty="0" smtClean="0"/>
              <a:t>Environments</a:t>
            </a:r>
          </a:p>
          <a:p>
            <a:pPr marL="342900" lvl="0" indent="-342900" algn="l" rtl="0">
              <a:spcBef>
                <a:spcPts val="440"/>
              </a:spcBef>
              <a:spcAft>
                <a:spcPts val="0"/>
              </a:spcAft>
              <a:buClr>
                <a:schemeClr val="dk1"/>
              </a:buClr>
              <a:buSzPts val="2200"/>
              <a:buChar char="•"/>
            </a:pPr>
            <a:r>
              <a:rPr lang="en-US" sz="2200" dirty="0" smtClean="0"/>
              <a:t>Task Environment</a:t>
            </a:r>
            <a:endParaRPr dirty="0"/>
          </a:p>
          <a:p>
            <a:pPr marL="800100" lvl="1">
              <a:spcBef>
                <a:spcPts val="440"/>
              </a:spcBef>
              <a:buSzPts val="2200"/>
              <a:buChar char="•"/>
            </a:pPr>
            <a:r>
              <a:rPr lang="en-US" sz="1800" dirty="0" smtClean="0"/>
              <a:t>Performance measure</a:t>
            </a:r>
            <a:endParaRPr dirty="0" smtClean="0"/>
          </a:p>
          <a:p>
            <a:pPr marL="800100" lvl="1">
              <a:spcBef>
                <a:spcPts val="440"/>
              </a:spcBef>
              <a:buSzPts val="2200"/>
              <a:buChar char="•"/>
            </a:pPr>
            <a:r>
              <a:rPr lang="en-US" sz="1800" dirty="0" smtClean="0"/>
              <a:t>Environment</a:t>
            </a:r>
            <a:endParaRPr dirty="0"/>
          </a:p>
          <a:p>
            <a:pPr marL="800100" lvl="1">
              <a:spcBef>
                <a:spcPts val="440"/>
              </a:spcBef>
              <a:buSzPts val="2200"/>
              <a:buChar char="•"/>
            </a:pPr>
            <a:r>
              <a:rPr lang="en-US" sz="1800" dirty="0"/>
              <a:t>Actuators</a:t>
            </a:r>
            <a:endParaRPr dirty="0"/>
          </a:p>
          <a:p>
            <a:pPr marL="800100" lvl="1">
              <a:spcBef>
                <a:spcPts val="440"/>
              </a:spcBef>
              <a:buSzPts val="2200"/>
              <a:buChar char="•"/>
            </a:pPr>
            <a:r>
              <a:rPr lang="en-US" sz="1800" dirty="0"/>
              <a:t>Sensors</a:t>
            </a:r>
            <a:endParaRPr dirty="0"/>
          </a:p>
          <a:p>
            <a:pPr marL="342900" lvl="0" indent="-342900" algn="l" rtl="0">
              <a:spcBef>
                <a:spcPts val="440"/>
              </a:spcBef>
              <a:spcAft>
                <a:spcPts val="0"/>
              </a:spcAft>
              <a:buClr>
                <a:schemeClr val="dk1"/>
              </a:buClr>
              <a:buSzPts val="2200"/>
              <a:buChar char="•"/>
            </a:pPr>
            <a:r>
              <a:rPr lang="en-US" sz="2200" dirty="0"/>
              <a:t>Types of </a:t>
            </a:r>
            <a:r>
              <a:rPr lang="en-US" sz="2200" dirty="0" smtClean="0"/>
              <a:t>agents</a:t>
            </a:r>
          </a:p>
          <a:p>
            <a:pPr marL="800100" lvl="1">
              <a:spcBef>
                <a:spcPts val="440"/>
              </a:spcBef>
              <a:buSzPts val="2200"/>
              <a:buChar char="•"/>
            </a:pPr>
            <a:r>
              <a:rPr lang="en-US" sz="1800" dirty="0" smtClean="0"/>
              <a:t>Simple Reflex Agent</a:t>
            </a:r>
          </a:p>
          <a:p>
            <a:pPr marL="800100" lvl="1">
              <a:spcBef>
                <a:spcPts val="440"/>
              </a:spcBef>
              <a:buSzPts val="2200"/>
              <a:buChar char="•"/>
            </a:pPr>
            <a:r>
              <a:rPr lang="en-US" sz="1800" dirty="0" smtClean="0"/>
              <a:t>Model based Agent</a:t>
            </a:r>
          </a:p>
          <a:p>
            <a:pPr marL="800100" lvl="1">
              <a:spcBef>
                <a:spcPts val="440"/>
              </a:spcBef>
              <a:buSzPts val="2200"/>
              <a:buChar char="•"/>
            </a:pPr>
            <a:r>
              <a:rPr lang="en-US" sz="1800" dirty="0" smtClean="0"/>
              <a:t>Goal based Agent</a:t>
            </a:r>
          </a:p>
          <a:p>
            <a:pPr marL="800100" lvl="1">
              <a:spcBef>
                <a:spcPts val="440"/>
              </a:spcBef>
              <a:buSzPts val="2200"/>
              <a:buChar char="•"/>
            </a:pPr>
            <a:r>
              <a:rPr lang="en-US" sz="1800" dirty="0" smtClean="0"/>
              <a:t>Utility based Agent</a:t>
            </a:r>
            <a:endParaRPr sz="1800" dirty="0"/>
          </a:p>
          <a:p>
            <a:pPr marL="342900" lvl="0" indent="-139700" algn="l" rtl="0">
              <a:spcBef>
                <a:spcPts val="640"/>
              </a:spcBef>
              <a:spcAft>
                <a:spcPts val="0"/>
              </a:spcAft>
              <a:buClr>
                <a:schemeClr val="dk1"/>
              </a:buClr>
              <a:buSzPts val="3200"/>
              <a:buNone/>
            </a:pPr>
            <a:endParaRPr dirty="0"/>
          </a:p>
          <a:p>
            <a:pPr marL="342900" lvl="0" indent="-139700" algn="l" rtl="0">
              <a:spcBef>
                <a:spcPts val="640"/>
              </a:spcBef>
              <a:spcAft>
                <a:spcPts val="0"/>
              </a:spcAft>
              <a:buClr>
                <a:schemeClr val="dk1"/>
              </a:buClr>
              <a:buSzPts val="3200"/>
              <a:buNone/>
            </a:pPr>
            <a:endParaRPr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4"/>
          <p:cNvSpPr txBox="1">
            <a:spLocks noGrp="1"/>
          </p:cNvSpPr>
          <p:nvPr>
            <p:ph type="body" idx="1"/>
          </p:nvPr>
        </p:nvSpPr>
        <p:spPr>
          <a:xfrm>
            <a:off x="457200" y="1143000"/>
            <a:ext cx="8229600" cy="49831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a:t>An agent is anything that can be viewed as </a:t>
            </a:r>
            <a:r>
              <a:rPr lang="en-US" sz="2200">
                <a:solidFill>
                  <a:srgbClr val="FF0000"/>
                </a:solidFill>
              </a:rPr>
              <a:t>perceiving its environment through sensors and acting upon that environment using actuators</a:t>
            </a:r>
            <a:r>
              <a:rPr lang="en-US" sz="2200"/>
              <a:t>. (Russell &amp; Norvig)</a:t>
            </a:r>
            <a:r>
              <a:rPr lang="en-US" sz="3600"/>
              <a:t/>
            </a:r>
            <a:br>
              <a:rPr lang="en-US" sz="3600"/>
            </a:br>
            <a:r>
              <a:rPr lang="en-US" sz="2000"/>
              <a:t/>
            </a:r>
            <a:br>
              <a:rPr lang="en-US" sz="2000"/>
            </a:br>
            <a:endParaRPr sz="2000"/>
          </a:p>
        </p:txBody>
      </p:sp>
      <p:sp>
        <p:nvSpPr>
          <p:cNvPr id="101" name="Google Shape;101;p4"/>
          <p:cNvSpPr txBox="1"/>
          <p:nvPr/>
        </p:nvSpPr>
        <p:spPr>
          <a:xfrm>
            <a:off x="3810000" y="5776238"/>
            <a:ext cx="184731"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200" b="0" i="0" u="none" strike="noStrike" cap="none">
              <a:solidFill>
                <a:schemeClr val="dk1"/>
              </a:solidFill>
              <a:latin typeface="Arial"/>
              <a:ea typeface="Arial"/>
              <a:cs typeface="Arial"/>
              <a:sym typeface="Arial"/>
            </a:endParaRPr>
          </a:p>
        </p:txBody>
      </p:sp>
      <p:sp>
        <p:nvSpPr>
          <p:cNvPr id="102" name="Google Shape;102;p4"/>
          <p:cNvSpPr txBox="1">
            <a:spLocks noGrp="1"/>
          </p:cNvSpPr>
          <p:nvPr>
            <p:ph type="title"/>
          </p:nvPr>
        </p:nvSpPr>
        <p:spPr>
          <a:xfrm>
            <a:off x="1336431" y="204788"/>
            <a:ext cx="6052038" cy="762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Agent Definition</a:t>
            </a:r>
            <a:endParaRPr/>
          </a:p>
        </p:txBody>
      </p:sp>
      <p:pic>
        <p:nvPicPr>
          <p:cNvPr id="103" name="Google Shape;103;p4"/>
          <p:cNvPicPr preferRelativeResize="0"/>
          <p:nvPr/>
        </p:nvPicPr>
        <p:blipFill rotWithShape="1">
          <a:blip r:embed="rId3">
            <a:alphaModFix/>
          </a:blip>
          <a:srcRect/>
          <a:stretch/>
        </p:blipFill>
        <p:spPr>
          <a:xfrm>
            <a:off x="914400" y="2438400"/>
            <a:ext cx="7442008" cy="3886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Environments</a:t>
            </a:r>
            <a:endParaRPr/>
          </a:p>
        </p:txBody>
      </p:sp>
      <p:sp>
        <p:nvSpPr>
          <p:cNvPr id="152" name="Google Shape;152;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Clr>
                <a:schemeClr val="dk1"/>
              </a:buClr>
              <a:buSzPct val="100000"/>
              <a:buChar char="•"/>
            </a:pPr>
            <a:r>
              <a:rPr lang="en-US" sz="2600" dirty="0"/>
              <a:t>Action done by the agent are on the environment.</a:t>
            </a:r>
            <a:endParaRPr dirty="0"/>
          </a:p>
          <a:p>
            <a:pPr marL="342900" lvl="0" indent="-342900" algn="l" rtl="0">
              <a:spcBef>
                <a:spcPts val="481"/>
              </a:spcBef>
              <a:spcAft>
                <a:spcPts val="0"/>
              </a:spcAft>
              <a:buClr>
                <a:schemeClr val="dk1"/>
              </a:buClr>
              <a:buSzPct val="100000"/>
              <a:buChar char="•"/>
            </a:pPr>
            <a:r>
              <a:rPr lang="en-US" sz="2600" dirty="0"/>
              <a:t>Environment provides percepts to the agent.</a:t>
            </a:r>
            <a:endParaRPr dirty="0"/>
          </a:p>
          <a:p>
            <a:pPr marL="342900" lvl="0" indent="-342900" algn="l" rtl="0">
              <a:spcBef>
                <a:spcPts val="481"/>
              </a:spcBef>
              <a:spcAft>
                <a:spcPts val="0"/>
              </a:spcAft>
              <a:buClr>
                <a:schemeClr val="dk1"/>
              </a:buClr>
              <a:buSzPct val="100000"/>
              <a:buChar char="•"/>
            </a:pPr>
            <a:r>
              <a:rPr lang="en-US" sz="2600" dirty="0"/>
              <a:t>Environment determines the interaction between the “outside world” and the agent</a:t>
            </a:r>
            <a:endParaRPr dirty="0"/>
          </a:p>
          <a:p>
            <a:pPr marL="723900" lvl="1" indent="-285750" algn="l" rtl="0">
              <a:spcBef>
                <a:spcPts val="481"/>
              </a:spcBef>
              <a:spcAft>
                <a:spcPts val="0"/>
              </a:spcAft>
              <a:buClr>
                <a:schemeClr val="dk1"/>
              </a:buClr>
              <a:buSzPct val="100000"/>
              <a:buChar char="–"/>
            </a:pPr>
            <a:r>
              <a:rPr lang="en-US" sz="2600" dirty="0">
                <a:solidFill>
                  <a:srgbClr val="FF0000"/>
                </a:solidFill>
              </a:rPr>
              <a:t>the “outside world” is not necessarily the “real world” </a:t>
            </a:r>
            <a:r>
              <a:rPr lang="en-US" sz="2600" dirty="0"/>
              <a:t>as we perceive it</a:t>
            </a:r>
            <a:endParaRPr dirty="0"/>
          </a:p>
          <a:p>
            <a:pPr marL="1066800" lvl="2" indent="-228600" algn="l" rtl="0">
              <a:spcBef>
                <a:spcPts val="481"/>
              </a:spcBef>
              <a:spcAft>
                <a:spcPts val="0"/>
              </a:spcAft>
              <a:buClr>
                <a:schemeClr val="dk1"/>
              </a:buClr>
              <a:buSzPct val="100000"/>
              <a:buChar char="•"/>
            </a:pPr>
            <a:r>
              <a:rPr lang="en-US" sz="2600" dirty="0">
                <a:solidFill>
                  <a:srgbClr val="FF0000"/>
                </a:solidFill>
              </a:rPr>
              <a:t>it may be a real or virtual environment the agent lives </a:t>
            </a:r>
            <a:r>
              <a:rPr lang="en-US" sz="2600" dirty="0"/>
              <a:t>in </a:t>
            </a:r>
            <a:endParaRPr dirty="0"/>
          </a:p>
          <a:p>
            <a:pPr marL="342900" lvl="0" indent="-342900" algn="l" rtl="0">
              <a:spcBef>
                <a:spcPts val="481"/>
              </a:spcBef>
              <a:spcAft>
                <a:spcPts val="0"/>
              </a:spcAft>
              <a:buClr>
                <a:schemeClr val="dk1"/>
              </a:buClr>
              <a:buSzPct val="100000"/>
              <a:buChar char="•"/>
            </a:pPr>
            <a:r>
              <a:rPr lang="en-US" sz="2600" dirty="0"/>
              <a:t>In  many  cases, environments are implemented within computers</a:t>
            </a:r>
            <a:endParaRPr dirty="0"/>
          </a:p>
          <a:p>
            <a:pPr marL="723900" lvl="1" indent="-285750" algn="l" rtl="0">
              <a:spcBef>
                <a:spcPts val="481"/>
              </a:spcBef>
              <a:spcAft>
                <a:spcPts val="0"/>
              </a:spcAft>
              <a:buClr>
                <a:schemeClr val="dk1"/>
              </a:buClr>
              <a:buSzPct val="100000"/>
              <a:buChar char="–"/>
            </a:pPr>
            <a:r>
              <a:rPr lang="en-US" sz="2600" dirty="0"/>
              <a:t>They  may or may not have a close correspondence to the “real world”</a:t>
            </a:r>
            <a:endParaRPr dirty="0"/>
          </a:p>
          <a:p>
            <a:pPr marL="342900" lvl="0" indent="-154940" algn="l" rtl="0">
              <a:spcBef>
                <a:spcPts val="592"/>
              </a:spcBef>
              <a:spcAft>
                <a:spcPts val="0"/>
              </a:spcAft>
              <a:buClr>
                <a:schemeClr val="dk1"/>
              </a:buClr>
              <a:buSzPct val="100000"/>
              <a:buNone/>
            </a:pPr>
            <a:endParaRPr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6"/>
          <p:cNvPicPr preferRelativeResize="0"/>
          <p:nvPr/>
        </p:nvPicPr>
        <p:blipFill rotWithShape="1">
          <a:blip r:embed="rId3">
            <a:alphaModFix/>
          </a:blip>
          <a:srcRect/>
          <a:stretch/>
        </p:blipFill>
        <p:spPr>
          <a:xfrm>
            <a:off x="1143000" y="136368"/>
            <a:ext cx="7256398" cy="649303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Agents example  </a:t>
            </a:r>
            <a:endParaRPr/>
          </a:p>
        </p:txBody>
      </p:sp>
      <p:sp>
        <p:nvSpPr>
          <p:cNvPr id="121" name="Google Shape;121;p7"/>
          <p:cNvSpPr txBox="1">
            <a:spLocks noGrp="1"/>
          </p:cNvSpPr>
          <p:nvPr>
            <p:ph type="body" idx="1"/>
          </p:nvPr>
        </p:nvSpPr>
        <p:spPr>
          <a:xfrm>
            <a:off x="457200" y="1371600"/>
            <a:ext cx="8229600" cy="4876800"/>
          </a:xfrm>
          <a:prstGeom prst="rect">
            <a:avLst/>
          </a:prstGeom>
          <a:noFill/>
          <a:ln>
            <a:noFill/>
          </a:ln>
        </p:spPr>
        <p:txBody>
          <a:bodyPr spcFirstLastPara="1" wrap="square" lIns="91425" tIns="45700" rIns="91425" bIns="45700" anchor="t" anchorCtr="0">
            <a:normAutofit/>
          </a:bodyPr>
          <a:lstStyle/>
          <a:p>
            <a:pPr marL="342900" lvl="0" indent="-342900" algn="l" rtl="0">
              <a:lnSpc>
                <a:spcPct val="80000"/>
              </a:lnSpc>
              <a:spcBef>
                <a:spcPts val="0"/>
              </a:spcBef>
              <a:spcAft>
                <a:spcPts val="0"/>
              </a:spcAft>
              <a:buClr>
                <a:schemeClr val="dk1"/>
              </a:buClr>
              <a:buSzPts val="2200"/>
              <a:buFont typeface="Arial"/>
              <a:buChar char="•"/>
            </a:pPr>
            <a:r>
              <a:rPr lang="en-US" sz="2200" dirty="0"/>
              <a:t>Human agent: </a:t>
            </a:r>
            <a:endParaRPr dirty="0"/>
          </a:p>
          <a:p>
            <a:pPr marL="742950" lvl="1" indent="-285750" algn="l" rtl="0">
              <a:lnSpc>
                <a:spcPct val="80000"/>
              </a:lnSpc>
              <a:spcBef>
                <a:spcPts val="440"/>
              </a:spcBef>
              <a:spcAft>
                <a:spcPts val="0"/>
              </a:spcAft>
              <a:buClr>
                <a:schemeClr val="dk1"/>
              </a:buClr>
              <a:buSzPts val="2200"/>
              <a:buFont typeface="Arial"/>
              <a:buChar char="–"/>
            </a:pPr>
            <a:r>
              <a:rPr lang="en-US" sz="2200" dirty="0"/>
              <a:t>eyes, ears, and other organs for sensors; </a:t>
            </a:r>
            <a:endParaRPr dirty="0"/>
          </a:p>
          <a:p>
            <a:pPr marL="742950" lvl="1" indent="-285750" algn="l" rtl="0">
              <a:lnSpc>
                <a:spcPct val="80000"/>
              </a:lnSpc>
              <a:spcBef>
                <a:spcPts val="440"/>
              </a:spcBef>
              <a:spcAft>
                <a:spcPts val="0"/>
              </a:spcAft>
              <a:buClr>
                <a:schemeClr val="dk1"/>
              </a:buClr>
              <a:buSzPts val="2200"/>
              <a:buFont typeface="Arial"/>
              <a:buChar char="–"/>
            </a:pPr>
            <a:r>
              <a:rPr lang="en-US" sz="2200" dirty="0"/>
              <a:t>hands, legs, mouth, and other body parts for actuators</a:t>
            </a:r>
            <a:endParaRPr dirty="0"/>
          </a:p>
          <a:p>
            <a:pPr marL="342900" lvl="0" indent="-342900" algn="l" rtl="0">
              <a:lnSpc>
                <a:spcPct val="80000"/>
              </a:lnSpc>
              <a:spcBef>
                <a:spcPts val="440"/>
              </a:spcBef>
              <a:spcAft>
                <a:spcPts val="0"/>
              </a:spcAft>
              <a:buClr>
                <a:schemeClr val="dk1"/>
              </a:buClr>
              <a:buSzPts val="2200"/>
              <a:buFont typeface="Arial"/>
              <a:buChar char="•"/>
            </a:pPr>
            <a:r>
              <a:rPr lang="en-US" sz="2200" dirty="0"/>
              <a:t>Robotic agent:</a:t>
            </a:r>
            <a:endParaRPr dirty="0"/>
          </a:p>
          <a:p>
            <a:pPr marL="742950" lvl="1" indent="-285750" algn="l" rtl="0">
              <a:lnSpc>
                <a:spcPct val="80000"/>
              </a:lnSpc>
              <a:spcBef>
                <a:spcPts val="440"/>
              </a:spcBef>
              <a:spcAft>
                <a:spcPts val="0"/>
              </a:spcAft>
              <a:buClr>
                <a:schemeClr val="dk1"/>
              </a:buClr>
              <a:buSzPts val="2200"/>
              <a:buFont typeface="Arial"/>
              <a:buChar char="–"/>
            </a:pPr>
            <a:r>
              <a:rPr lang="en-US" sz="2200" dirty="0"/>
              <a:t>cameras and infrared range finders for sensors </a:t>
            </a:r>
            <a:endParaRPr dirty="0"/>
          </a:p>
          <a:p>
            <a:pPr marL="742950" lvl="1" indent="-285750" algn="l" rtl="0">
              <a:lnSpc>
                <a:spcPct val="80000"/>
              </a:lnSpc>
              <a:spcBef>
                <a:spcPts val="440"/>
              </a:spcBef>
              <a:spcAft>
                <a:spcPts val="0"/>
              </a:spcAft>
              <a:buClr>
                <a:schemeClr val="dk1"/>
              </a:buClr>
              <a:buSzPts val="2200"/>
              <a:buFont typeface="Arial"/>
              <a:buChar char="–"/>
            </a:pPr>
            <a:r>
              <a:rPr lang="en-US" sz="2200" dirty="0"/>
              <a:t>various motors for actuators</a:t>
            </a:r>
            <a:endParaRPr dirty="0"/>
          </a:p>
          <a:p>
            <a:pPr marL="342900" lvl="1" indent="-342900" algn="l" rtl="0">
              <a:lnSpc>
                <a:spcPct val="80000"/>
              </a:lnSpc>
              <a:spcBef>
                <a:spcPts val="440"/>
              </a:spcBef>
              <a:spcAft>
                <a:spcPts val="0"/>
              </a:spcAft>
              <a:buClr>
                <a:schemeClr val="dk1"/>
              </a:buClr>
              <a:buSzPts val="2200"/>
              <a:buFont typeface="Arial"/>
              <a:buChar char="•"/>
            </a:pPr>
            <a:r>
              <a:rPr lang="en-US" sz="2200" dirty="0"/>
              <a:t>Software agent:</a:t>
            </a:r>
            <a:endParaRPr dirty="0"/>
          </a:p>
          <a:p>
            <a:pPr marL="742950" lvl="1" indent="-285750" algn="l" rtl="0">
              <a:lnSpc>
                <a:spcPct val="80000"/>
              </a:lnSpc>
              <a:spcBef>
                <a:spcPts val="440"/>
              </a:spcBef>
              <a:spcAft>
                <a:spcPts val="0"/>
              </a:spcAft>
              <a:buClr>
                <a:schemeClr val="dk1"/>
              </a:buClr>
              <a:buSzPts val="2200"/>
              <a:buFont typeface="Arial"/>
              <a:buChar char="–"/>
            </a:pPr>
            <a:r>
              <a:rPr lang="en-US" sz="2200" dirty="0"/>
              <a:t>A software agent receives keystrokes, file contents, and network packets as sensory inputs and </a:t>
            </a:r>
            <a:endParaRPr dirty="0"/>
          </a:p>
          <a:p>
            <a:pPr marL="742950" lvl="1" indent="-285750" algn="l" rtl="0">
              <a:lnSpc>
                <a:spcPct val="80000"/>
              </a:lnSpc>
              <a:spcBef>
                <a:spcPts val="480"/>
              </a:spcBef>
              <a:spcAft>
                <a:spcPts val="0"/>
              </a:spcAft>
              <a:buClr>
                <a:schemeClr val="dk1"/>
              </a:buClr>
              <a:buSzPts val="2200"/>
              <a:buFont typeface="Arial"/>
              <a:buChar char="–"/>
            </a:pPr>
            <a:r>
              <a:rPr lang="en-US" sz="2200" dirty="0"/>
              <a:t>acts on the environment by displaying on the screen, writing files, and sending network packets. </a:t>
            </a:r>
            <a:endParaRPr sz="22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8"/>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Task Environment</a:t>
            </a:r>
            <a:endParaRPr/>
          </a:p>
        </p:txBody>
      </p:sp>
      <p:sp>
        <p:nvSpPr>
          <p:cNvPr id="127" name="Google Shape;127;p8"/>
          <p:cNvSpPr txBox="1">
            <a:spLocks noGrp="1"/>
          </p:cNvSpPr>
          <p:nvPr>
            <p:ph type="body" idx="1"/>
          </p:nvPr>
        </p:nvSpPr>
        <p:spPr>
          <a:xfrm>
            <a:off x="457200" y="1219200"/>
            <a:ext cx="8229600" cy="5257800"/>
          </a:xfrm>
          <a:prstGeom prst="rect">
            <a:avLst/>
          </a:prstGeom>
          <a:noFill/>
          <a:ln>
            <a:noFill/>
          </a:ln>
        </p:spPr>
        <p:txBody>
          <a:bodyPr spcFirstLastPara="1" wrap="square" lIns="91425" tIns="45700" rIns="91425" bIns="45700" anchor="t" anchorCtr="0">
            <a:normAutofit lnSpcReduction="10000"/>
          </a:bodyPr>
          <a:lstStyle/>
          <a:p>
            <a:r>
              <a:rPr lang="en-US" sz="2200" dirty="0" smtClean="0"/>
              <a:t>The </a:t>
            </a:r>
            <a:r>
              <a:rPr lang="en-US" sz="2200" dirty="0"/>
              <a:t>task environment is a formal description or abstract representation of the environment </a:t>
            </a:r>
            <a:r>
              <a:rPr lang="en-US" sz="2200" dirty="0" smtClean="0"/>
              <a:t>used </a:t>
            </a:r>
            <a:r>
              <a:rPr lang="en-US" sz="2200" dirty="0"/>
              <a:t>to design and analyze the agent’s behavior.</a:t>
            </a:r>
          </a:p>
          <a:p>
            <a:r>
              <a:rPr lang="en-US" sz="2200" dirty="0"/>
              <a:t>It focuses on the elements relevant to the task using the PEAS framework</a:t>
            </a:r>
            <a:r>
              <a:rPr lang="en-US" sz="2200" dirty="0" smtClean="0"/>
              <a:t>:</a:t>
            </a:r>
            <a:endParaRPr sz="2200" dirty="0" smtClean="0"/>
          </a:p>
          <a:p>
            <a:pPr marL="742950" lvl="1" indent="-285750" algn="l" rtl="0">
              <a:lnSpc>
                <a:spcPct val="80000"/>
              </a:lnSpc>
              <a:spcBef>
                <a:spcPts val="440"/>
              </a:spcBef>
              <a:spcAft>
                <a:spcPts val="0"/>
              </a:spcAft>
              <a:buClr>
                <a:srgbClr val="FF0000"/>
              </a:buClr>
              <a:buSzPts val="2200"/>
              <a:buChar char="–"/>
            </a:pPr>
            <a:r>
              <a:rPr lang="en-US" sz="2200" dirty="0" smtClean="0">
                <a:solidFill>
                  <a:srgbClr val="FF0000"/>
                </a:solidFill>
              </a:rPr>
              <a:t>P</a:t>
            </a:r>
            <a:r>
              <a:rPr lang="en-US" sz="2200" dirty="0" smtClean="0"/>
              <a:t>erformance </a:t>
            </a:r>
            <a:r>
              <a:rPr lang="en-US" sz="2200" dirty="0"/>
              <a:t>measure </a:t>
            </a:r>
            <a:r>
              <a:rPr lang="en-US" sz="1700" dirty="0"/>
              <a:t>(</a:t>
            </a:r>
            <a:r>
              <a:rPr lang="en-US" sz="1700" dirty="0">
                <a:solidFill>
                  <a:srgbClr val="FF0000"/>
                </a:solidFill>
              </a:rPr>
              <a:t>Criteria for evaluating how successful the agent is.</a:t>
            </a:r>
            <a:r>
              <a:rPr lang="en-US" sz="1700" dirty="0"/>
              <a:t>)</a:t>
            </a:r>
            <a:endParaRPr sz="2300" dirty="0"/>
          </a:p>
          <a:p>
            <a:pPr marL="742950" lvl="1" indent="-285750" algn="l" rtl="0">
              <a:lnSpc>
                <a:spcPct val="80000"/>
              </a:lnSpc>
              <a:spcBef>
                <a:spcPts val="440"/>
              </a:spcBef>
              <a:spcAft>
                <a:spcPts val="0"/>
              </a:spcAft>
              <a:buClr>
                <a:srgbClr val="FF0000"/>
              </a:buClr>
              <a:buSzPts val="2200"/>
              <a:buChar char="–"/>
            </a:pPr>
            <a:r>
              <a:rPr lang="en-US" sz="2200" dirty="0">
                <a:solidFill>
                  <a:srgbClr val="FF0000"/>
                </a:solidFill>
              </a:rPr>
              <a:t>E</a:t>
            </a:r>
            <a:r>
              <a:rPr lang="en-US" sz="2200" dirty="0"/>
              <a:t>nvironment </a:t>
            </a:r>
            <a:r>
              <a:rPr lang="en-US" sz="1700" dirty="0"/>
              <a:t>(</a:t>
            </a:r>
            <a:r>
              <a:rPr lang="en-US" sz="1700" dirty="0">
                <a:solidFill>
                  <a:srgbClr val="FF0000"/>
                </a:solidFill>
              </a:rPr>
              <a:t>The surroundings or world in which the agent operates</a:t>
            </a:r>
            <a:r>
              <a:rPr lang="en-US" sz="1700" dirty="0"/>
              <a:t>.)</a:t>
            </a:r>
            <a:endParaRPr dirty="0"/>
          </a:p>
          <a:p>
            <a:pPr marL="742950" lvl="1" indent="-285750" algn="l" rtl="0">
              <a:lnSpc>
                <a:spcPct val="80000"/>
              </a:lnSpc>
              <a:spcBef>
                <a:spcPts val="440"/>
              </a:spcBef>
              <a:spcAft>
                <a:spcPts val="0"/>
              </a:spcAft>
              <a:buClr>
                <a:srgbClr val="FF0000"/>
              </a:buClr>
              <a:buSzPts val="2200"/>
              <a:buChar char="–"/>
            </a:pPr>
            <a:r>
              <a:rPr lang="en-US" sz="2200" dirty="0">
                <a:solidFill>
                  <a:srgbClr val="FF0000"/>
                </a:solidFill>
              </a:rPr>
              <a:t>A</a:t>
            </a:r>
            <a:r>
              <a:rPr lang="en-US" sz="2200" dirty="0"/>
              <a:t>ctuators </a:t>
            </a:r>
            <a:r>
              <a:rPr lang="en-US" sz="1700" dirty="0"/>
              <a:t>(</a:t>
            </a:r>
            <a:r>
              <a:rPr lang="en-US" sz="1700" dirty="0">
                <a:solidFill>
                  <a:srgbClr val="FF0000"/>
                </a:solidFill>
              </a:rPr>
              <a:t>The agent’s means of acting or changing its environment</a:t>
            </a:r>
            <a:r>
              <a:rPr lang="en-US" sz="1700" dirty="0"/>
              <a:t>.)</a:t>
            </a:r>
            <a:endParaRPr dirty="0"/>
          </a:p>
          <a:p>
            <a:pPr marL="742950" lvl="1" indent="-285750" algn="l" rtl="0">
              <a:lnSpc>
                <a:spcPct val="80000"/>
              </a:lnSpc>
              <a:spcBef>
                <a:spcPts val="440"/>
              </a:spcBef>
              <a:spcAft>
                <a:spcPts val="0"/>
              </a:spcAft>
              <a:buClr>
                <a:srgbClr val="FF0000"/>
              </a:buClr>
              <a:buSzPts val="2200"/>
              <a:buChar char="–"/>
            </a:pPr>
            <a:r>
              <a:rPr lang="en-US" sz="2200" dirty="0">
                <a:solidFill>
                  <a:srgbClr val="FF0000"/>
                </a:solidFill>
              </a:rPr>
              <a:t>S</a:t>
            </a:r>
            <a:r>
              <a:rPr lang="en-US" sz="2200" dirty="0"/>
              <a:t>ensors </a:t>
            </a:r>
            <a:r>
              <a:rPr lang="en-US" sz="1700" dirty="0"/>
              <a:t>(</a:t>
            </a:r>
            <a:r>
              <a:rPr lang="en-US" sz="1700" dirty="0">
                <a:solidFill>
                  <a:srgbClr val="FF0000"/>
                </a:solidFill>
              </a:rPr>
              <a:t>The agent’s means of perceiving or detecting information from the environment</a:t>
            </a:r>
            <a:r>
              <a:rPr lang="en-US" sz="1700" dirty="0"/>
              <a:t>.)</a:t>
            </a:r>
            <a:endParaRPr dirty="0"/>
          </a:p>
          <a:p>
            <a:pPr marL="342900" lvl="0" indent="-342900" algn="l" rtl="0">
              <a:lnSpc>
                <a:spcPct val="80000"/>
              </a:lnSpc>
              <a:spcBef>
                <a:spcPts val="440"/>
              </a:spcBef>
              <a:spcAft>
                <a:spcPts val="0"/>
              </a:spcAft>
              <a:buClr>
                <a:schemeClr val="dk1"/>
              </a:buClr>
              <a:buSzPts val="2200"/>
              <a:buChar char="•"/>
            </a:pPr>
            <a:endParaRPr lang="en-US" sz="2200" dirty="0" smtClean="0"/>
          </a:p>
          <a:p>
            <a:pPr marL="342900" lvl="0" indent="-342900" algn="l" rtl="0">
              <a:lnSpc>
                <a:spcPct val="80000"/>
              </a:lnSpc>
              <a:spcBef>
                <a:spcPts val="440"/>
              </a:spcBef>
              <a:spcAft>
                <a:spcPts val="0"/>
              </a:spcAft>
              <a:buClr>
                <a:schemeClr val="dk1"/>
              </a:buClr>
              <a:buSzPts val="2200"/>
              <a:buChar char="•"/>
            </a:pPr>
            <a:r>
              <a:rPr lang="en-US" sz="2200" dirty="0" smtClean="0"/>
              <a:t>Example</a:t>
            </a:r>
            <a:r>
              <a:rPr lang="en-US" sz="2200" dirty="0"/>
              <a:t>: </a:t>
            </a:r>
            <a:r>
              <a:rPr lang="en-US" sz="2200" dirty="0">
                <a:solidFill>
                  <a:srgbClr val="FF0000"/>
                </a:solidFill>
              </a:rPr>
              <a:t>Taxi driver</a:t>
            </a:r>
            <a:endParaRPr dirty="0">
              <a:solidFill>
                <a:srgbClr val="FF0000"/>
              </a:solidFill>
            </a:endParaRPr>
          </a:p>
          <a:p>
            <a:pPr marL="742950" lvl="1" indent="-285750" algn="l" rtl="0">
              <a:lnSpc>
                <a:spcPct val="80000"/>
              </a:lnSpc>
              <a:spcBef>
                <a:spcPts val="440"/>
              </a:spcBef>
              <a:spcAft>
                <a:spcPts val="0"/>
              </a:spcAft>
              <a:buClr>
                <a:schemeClr val="dk1"/>
              </a:buClr>
              <a:buSzPts val="2200"/>
              <a:buChar char="–"/>
            </a:pPr>
            <a:r>
              <a:rPr lang="en-US" sz="2200" dirty="0"/>
              <a:t>Performance measure:  safe, fast, comfortable (maximize profits)</a:t>
            </a:r>
            <a:endParaRPr dirty="0"/>
          </a:p>
          <a:p>
            <a:pPr marL="742950" lvl="1" indent="-285750" algn="l" rtl="0">
              <a:lnSpc>
                <a:spcPct val="80000"/>
              </a:lnSpc>
              <a:spcBef>
                <a:spcPts val="440"/>
              </a:spcBef>
              <a:spcAft>
                <a:spcPts val="0"/>
              </a:spcAft>
              <a:buClr>
                <a:schemeClr val="dk1"/>
              </a:buClr>
              <a:buSzPts val="2200"/>
              <a:buChar char="–"/>
            </a:pPr>
            <a:r>
              <a:rPr lang="en-US" sz="2200" dirty="0"/>
              <a:t>Environment:  roads, other traffic, pedestrians, customers</a:t>
            </a:r>
            <a:endParaRPr dirty="0"/>
          </a:p>
          <a:p>
            <a:pPr marL="742950" lvl="1" indent="-285750" algn="l" rtl="0">
              <a:lnSpc>
                <a:spcPct val="80000"/>
              </a:lnSpc>
              <a:spcBef>
                <a:spcPts val="440"/>
              </a:spcBef>
              <a:spcAft>
                <a:spcPts val="0"/>
              </a:spcAft>
              <a:buClr>
                <a:schemeClr val="dk1"/>
              </a:buClr>
              <a:buSzPts val="2200"/>
              <a:buChar char="–"/>
            </a:pPr>
            <a:r>
              <a:rPr lang="en-US" sz="2200" dirty="0"/>
              <a:t>Actuators:  steering, accelerator, brake, signal, horn</a:t>
            </a:r>
            <a:endParaRPr dirty="0"/>
          </a:p>
          <a:p>
            <a:pPr marL="742950" lvl="1" indent="-285750" algn="l" rtl="0">
              <a:lnSpc>
                <a:spcPct val="80000"/>
              </a:lnSpc>
              <a:spcBef>
                <a:spcPts val="440"/>
              </a:spcBef>
              <a:spcAft>
                <a:spcPts val="0"/>
              </a:spcAft>
              <a:buClr>
                <a:schemeClr val="dk1"/>
              </a:buClr>
              <a:buSzPts val="2200"/>
              <a:buChar char="–"/>
            </a:pPr>
            <a:r>
              <a:rPr lang="en-US" sz="2200" dirty="0"/>
              <a:t>Sensors: cameras, sonar, speedometer, GPS, odometer, accelerometer, engine </a:t>
            </a:r>
            <a:r>
              <a:rPr lang="en-US" sz="2200" dirty="0" smtClean="0"/>
              <a:t>sensors</a:t>
            </a:r>
          </a:p>
          <a:p>
            <a:pPr marL="342900" lvl="0" indent="-152400" algn="l" rtl="0">
              <a:lnSpc>
                <a:spcPct val="80000"/>
              </a:lnSpc>
              <a:spcBef>
                <a:spcPts val="600"/>
              </a:spcBef>
              <a:spcAft>
                <a:spcPts val="0"/>
              </a:spcAft>
              <a:buClr>
                <a:schemeClr val="dk1"/>
              </a:buClr>
              <a:buSzPts val="3000"/>
              <a:buNone/>
            </a:pPr>
            <a:endParaRPr sz="30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PEAS</a:t>
            </a:r>
            <a:endParaRPr/>
          </a:p>
        </p:txBody>
      </p:sp>
      <p:sp>
        <p:nvSpPr>
          <p:cNvPr id="133" name="Google Shape;133;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2200"/>
              <a:buChar char="•"/>
            </a:pPr>
            <a:r>
              <a:rPr lang="en-US" sz="2200" dirty="0"/>
              <a:t>Agent: </a:t>
            </a:r>
            <a:r>
              <a:rPr lang="en-US" sz="2200" dirty="0">
                <a:solidFill>
                  <a:srgbClr val="FF0000"/>
                </a:solidFill>
              </a:rPr>
              <a:t>Part-picking robot</a:t>
            </a:r>
            <a:endParaRPr dirty="0">
              <a:solidFill>
                <a:srgbClr val="FF0000"/>
              </a:solidFill>
            </a:endParaRPr>
          </a:p>
          <a:p>
            <a:pPr marL="342900" lvl="0" indent="-342900" algn="l" rtl="0">
              <a:spcBef>
                <a:spcPts val="440"/>
              </a:spcBef>
              <a:spcAft>
                <a:spcPts val="0"/>
              </a:spcAft>
              <a:buClr>
                <a:schemeClr val="dk1"/>
              </a:buClr>
              <a:buSzPts val="2200"/>
              <a:buChar char="•"/>
            </a:pPr>
            <a:r>
              <a:rPr lang="en-US" sz="2200" dirty="0"/>
              <a:t>Performance measure: Percentage of parts in correct bins</a:t>
            </a:r>
            <a:endParaRPr dirty="0"/>
          </a:p>
          <a:p>
            <a:pPr marL="342900" lvl="0" indent="-342900" algn="l" rtl="0">
              <a:spcBef>
                <a:spcPts val="440"/>
              </a:spcBef>
              <a:spcAft>
                <a:spcPts val="0"/>
              </a:spcAft>
              <a:buClr>
                <a:schemeClr val="dk1"/>
              </a:buClr>
              <a:buSzPts val="2200"/>
              <a:buChar char="•"/>
            </a:pPr>
            <a:r>
              <a:rPr lang="en-US" sz="2200" dirty="0"/>
              <a:t>Environment: Conveyor belt with parts, bins</a:t>
            </a:r>
            <a:endParaRPr dirty="0"/>
          </a:p>
          <a:p>
            <a:pPr marL="342900" lvl="0" indent="-342900" algn="l" rtl="0">
              <a:spcBef>
                <a:spcPts val="440"/>
              </a:spcBef>
              <a:spcAft>
                <a:spcPts val="0"/>
              </a:spcAft>
              <a:buClr>
                <a:schemeClr val="dk1"/>
              </a:buClr>
              <a:buSzPts val="2200"/>
              <a:buChar char="•"/>
            </a:pPr>
            <a:r>
              <a:rPr lang="en-US" sz="2200" dirty="0"/>
              <a:t>Actuators: Jointed arm and hand</a:t>
            </a:r>
            <a:endParaRPr dirty="0"/>
          </a:p>
          <a:p>
            <a:pPr marL="342900" lvl="0" indent="-342900" algn="l" rtl="0">
              <a:spcBef>
                <a:spcPts val="440"/>
              </a:spcBef>
              <a:spcAft>
                <a:spcPts val="0"/>
              </a:spcAft>
              <a:buClr>
                <a:schemeClr val="dk1"/>
              </a:buClr>
              <a:buSzPts val="2200"/>
              <a:buChar char="•"/>
            </a:pPr>
            <a:r>
              <a:rPr lang="en-US" sz="2200" dirty="0"/>
              <a:t>Sensors: Camera, joint angle sensors</a:t>
            </a:r>
            <a:endParaRPr dirty="0"/>
          </a:p>
          <a:p>
            <a:pPr marL="342900" lvl="0" indent="-139700" algn="l" rtl="0">
              <a:spcBef>
                <a:spcPts val="640"/>
              </a:spcBef>
              <a:spcAft>
                <a:spcPts val="0"/>
              </a:spcAft>
              <a:buClr>
                <a:schemeClr val="dk1"/>
              </a:buClr>
              <a:buSzPts val="3200"/>
              <a:buNone/>
            </a:pPr>
            <a:endParaRPr lang="en-US" sz="2200" dirty="0" smtClean="0"/>
          </a:p>
          <a:p>
            <a:pPr marL="342900" lvl="0">
              <a:spcBef>
                <a:spcPts val="0"/>
              </a:spcBef>
              <a:buSzPts val="2200"/>
            </a:pPr>
            <a:r>
              <a:rPr lang="en-US" sz="2200" dirty="0"/>
              <a:t>Agent: </a:t>
            </a:r>
            <a:r>
              <a:rPr lang="en-US" sz="2200" dirty="0">
                <a:solidFill>
                  <a:srgbClr val="FF0000"/>
                </a:solidFill>
              </a:rPr>
              <a:t>Medical diagnosis system</a:t>
            </a:r>
          </a:p>
          <a:p>
            <a:pPr marL="342900" lvl="0">
              <a:spcBef>
                <a:spcPts val="440"/>
              </a:spcBef>
              <a:buSzPts val="2200"/>
            </a:pPr>
            <a:r>
              <a:rPr lang="en-US" sz="2200" dirty="0"/>
              <a:t>Performance measure: Healthy patient, minimize costs</a:t>
            </a:r>
          </a:p>
          <a:p>
            <a:pPr marL="342900" lvl="0">
              <a:spcBef>
                <a:spcPts val="440"/>
              </a:spcBef>
              <a:buSzPts val="2200"/>
            </a:pPr>
            <a:r>
              <a:rPr lang="en-US" sz="2200" dirty="0"/>
              <a:t>Environment: Patient, hospital, staff</a:t>
            </a:r>
          </a:p>
          <a:p>
            <a:pPr marL="342900" lvl="0">
              <a:spcBef>
                <a:spcPts val="440"/>
              </a:spcBef>
              <a:buSzPts val="2200"/>
            </a:pPr>
            <a:r>
              <a:rPr lang="en-US" sz="2200" dirty="0"/>
              <a:t>Actuators: Screen display (questions, tests, diagnoses, treatments, referrals)</a:t>
            </a:r>
          </a:p>
          <a:p>
            <a:pPr marL="342900" lvl="0">
              <a:spcBef>
                <a:spcPts val="440"/>
              </a:spcBef>
              <a:buSzPts val="2200"/>
            </a:pPr>
            <a:r>
              <a:rPr lang="en-US" sz="2200" dirty="0"/>
              <a:t>Sensors: Keyboard (entry of symptoms, findings, patient's answers)</a:t>
            </a:r>
          </a:p>
          <a:p>
            <a:pPr marL="342900" lvl="0" indent="-139700" algn="l" rtl="0">
              <a:spcBef>
                <a:spcPts val="640"/>
              </a:spcBef>
              <a:spcAft>
                <a:spcPts val="0"/>
              </a:spcAft>
              <a:buClr>
                <a:schemeClr val="dk1"/>
              </a:buClr>
              <a:buSzPts val="3200"/>
              <a:buNone/>
            </a:pPr>
            <a:endParaRPr dirty="0"/>
          </a:p>
        </p:txBody>
      </p:sp>
      <p:pic>
        <p:nvPicPr>
          <p:cNvPr id="134" name="Google Shape;134;p9"/>
          <p:cNvPicPr preferRelativeResize="0"/>
          <p:nvPr/>
        </p:nvPicPr>
        <p:blipFill rotWithShape="1">
          <a:blip r:embed="rId3">
            <a:alphaModFix/>
          </a:blip>
          <a:srcRect/>
          <a:stretch/>
        </p:blipFill>
        <p:spPr>
          <a:xfrm>
            <a:off x="6992815" y="1784839"/>
            <a:ext cx="1428750" cy="17240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dirty="0"/>
              <a:t>Properties of </a:t>
            </a:r>
            <a:r>
              <a:rPr lang="en-US" sz="4000" dirty="0" smtClean="0"/>
              <a:t>task environments</a:t>
            </a:r>
            <a:endParaRPr dirty="0"/>
          </a:p>
        </p:txBody>
      </p:sp>
      <p:sp>
        <p:nvSpPr>
          <p:cNvPr id="158" name="Google Shape;158;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b="1"/>
              <a:t>Fully observable </a:t>
            </a:r>
            <a:r>
              <a:rPr lang="en-US" sz="2200"/>
              <a:t>vs.</a:t>
            </a:r>
            <a:r>
              <a:rPr lang="en-US" sz="2200" b="1"/>
              <a:t> partially observable</a:t>
            </a:r>
            <a:endParaRPr/>
          </a:p>
          <a:p>
            <a:pPr marL="742950" lvl="1" indent="-285750" algn="l" rtl="0">
              <a:spcBef>
                <a:spcPts val="440"/>
              </a:spcBef>
              <a:spcAft>
                <a:spcPts val="0"/>
              </a:spcAft>
              <a:buClr>
                <a:schemeClr val="dk1"/>
              </a:buClr>
              <a:buSzPts val="2200"/>
              <a:buChar char="–"/>
            </a:pPr>
            <a:r>
              <a:rPr lang="en-US" sz="2200">
                <a:solidFill>
                  <a:srgbClr val="FF0000"/>
                </a:solidFill>
              </a:rPr>
              <a:t>If an agent’s sensory equipment gives it access to the complete state of the environment at each point in time, then we say that environment is fully observable to the agent</a:t>
            </a:r>
            <a:r>
              <a:rPr lang="en-US" sz="2200"/>
              <a:t>. </a:t>
            </a:r>
            <a:r>
              <a:rPr lang="en-US" sz="2200">
                <a:solidFill>
                  <a:srgbClr val="FF0000"/>
                </a:solidFill>
              </a:rPr>
              <a:t>i.e. Chess</a:t>
            </a:r>
            <a:r>
              <a:rPr lang="en-US" sz="2200"/>
              <a:t>.</a:t>
            </a:r>
            <a:endParaRPr/>
          </a:p>
          <a:p>
            <a:pPr marL="742950" lvl="1" indent="-285750" algn="l" rtl="0">
              <a:spcBef>
                <a:spcPts val="440"/>
              </a:spcBef>
              <a:spcAft>
                <a:spcPts val="0"/>
              </a:spcAft>
              <a:buClr>
                <a:schemeClr val="dk1"/>
              </a:buClr>
              <a:buSzPts val="2200"/>
              <a:buChar char="–"/>
            </a:pPr>
            <a:r>
              <a:rPr lang="en-US" sz="2200"/>
              <a:t>An environment is effectively fully observable if the sensors detect all aspects that are relevant to the choice of action.</a:t>
            </a:r>
            <a:endParaRPr/>
          </a:p>
          <a:p>
            <a:pPr marL="742950" lvl="1" indent="-285750" algn="l" rtl="0">
              <a:spcBef>
                <a:spcPts val="440"/>
              </a:spcBef>
              <a:spcAft>
                <a:spcPts val="0"/>
              </a:spcAft>
              <a:buClr>
                <a:schemeClr val="dk1"/>
              </a:buClr>
              <a:buSzPts val="2200"/>
              <a:buChar char="–"/>
            </a:pPr>
            <a:r>
              <a:rPr lang="en-US" sz="2200"/>
              <a:t>A fully observable environment is convenient because the agent need not maintain any internal state to keep track of the world.</a:t>
            </a:r>
            <a:endParaRPr/>
          </a:p>
          <a:p>
            <a:pPr marL="742950" lvl="1" indent="-285750" algn="l" rtl="0">
              <a:spcBef>
                <a:spcPts val="440"/>
              </a:spcBef>
              <a:spcAft>
                <a:spcPts val="0"/>
              </a:spcAft>
              <a:buClr>
                <a:srgbClr val="FF0000"/>
              </a:buClr>
              <a:buSzPts val="2200"/>
              <a:buChar char="–"/>
            </a:pPr>
            <a:r>
              <a:rPr lang="en-US" sz="2200">
                <a:solidFill>
                  <a:srgbClr val="FF0000"/>
                </a:solidFill>
              </a:rPr>
              <a:t>Partially observable. i.e. Taxi driving</a:t>
            </a:r>
            <a:endParaRPr>
              <a:solidFill>
                <a:srgbClr val="FF0000"/>
              </a:solidFill>
            </a:endParaRPr>
          </a:p>
          <a:p>
            <a:pPr marL="742950" lvl="1" indent="-133350" algn="l" rtl="0">
              <a:spcBef>
                <a:spcPts val="480"/>
              </a:spcBef>
              <a:spcAft>
                <a:spcPts val="0"/>
              </a:spcAft>
              <a:buClr>
                <a:schemeClr val="dk1"/>
              </a:buClr>
              <a:buSzPts val="2400"/>
              <a:buNone/>
            </a:pPr>
            <a:endParaRPr sz="24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dirty="0"/>
              <a:t>Properties of </a:t>
            </a:r>
            <a:r>
              <a:rPr lang="en-US" sz="4000" dirty="0" smtClean="0"/>
              <a:t>task environments</a:t>
            </a:r>
            <a:endParaRPr dirty="0"/>
          </a:p>
        </p:txBody>
      </p:sp>
      <p:sp>
        <p:nvSpPr>
          <p:cNvPr id="164" name="Google Shape;164;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b="1"/>
              <a:t>Single agent vs. Multiagents</a:t>
            </a:r>
            <a:endParaRPr/>
          </a:p>
          <a:p>
            <a:pPr marL="742950" lvl="1" indent="-285750" algn="l" rtl="0">
              <a:spcBef>
                <a:spcPts val="440"/>
              </a:spcBef>
              <a:spcAft>
                <a:spcPts val="0"/>
              </a:spcAft>
              <a:buClr>
                <a:srgbClr val="FF0000"/>
              </a:buClr>
              <a:buSzPts val="2200"/>
              <a:buChar char="–"/>
            </a:pPr>
            <a:r>
              <a:rPr lang="en-US" sz="2200">
                <a:solidFill>
                  <a:srgbClr val="FF0000"/>
                </a:solidFill>
              </a:rPr>
              <a:t>In the single agent environment there is only one agent</a:t>
            </a:r>
            <a:endParaRPr>
              <a:solidFill>
                <a:srgbClr val="FF0000"/>
              </a:solidFill>
            </a:endParaRPr>
          </a:p>
          <a:p>
            <a:pPr marL="1143000" lvl="2" indent="-228600" algn="l" rtl="0">
              <a:spcBef>
                <a:spcPts val="440"/>
              </a:spcBef>
              <a:spcAft>
                <a:spcPts val="0"/>
              </a:spcAft>
              <a:buClr>
                <a:srgbClr val="FF0000"/>
              </a:buClr>
              <a:buSzPts val="2200"/>
              <a:buChar char="•"/>
            </a:pPr>
            <a:r>
              <a:rPr lang="en-US" sz="2200">
                <a:solidFill>
                  <a:srgbClr val="FF0000"/>
                </a:solidFill>
              </a:rPr>
              <a:t>For example, Medical diagnoses </a:t>
            </a:r>
            <a:endParaRPr>
              <a:solidFill>
                <a:srgbClr val="FF0000"/>
              </a:solidFill>
            </a:endParaRPr>
          </a:p>
          <a:p>
            <a:pPr marL="742950" lvl="1" indent="-285750" algn="l" rtl="0">
              <a:spcBef>
                <a:spcPts val="440"/>
              </a:spcBef>
              <a:spcAft>
                <a:spcPts val="0"/>
              </a:spcAft>
              <a:buClr>
                <a:schemeClr val="dk1"/>
              </a:buClr>
              <a:buSzPts val="2200"/>
              <a:buChar char="–"/>
            </a:pPr>
            <a:r>
              <a:rPr lang="en-US" sz="2200"/>
              <a:t>In multiagents systems, there are more than one active agents</a:t>
            </a:r>
            <a:endParaRPr/>
          </a:p>
          <a:p>
            <a:pPr marL="1143000" lvl="2" indent="-228600" algn="l" rtl="0">
              <a:spcBef>
                <a:spcPts val="440"/>
              </a:spcBef>
              <a:spcAft>
                <a:spcPts val="0"/>
              </a:spcAft>
              <a:buClr>
                <a:schemeClr val="dk1"/>
              </a:buClr>
              <a:buSzPts val="2200"/>
              <a:buChar char="•"/>
            </a:pPr>
            <a:r>
              <a:rPr lang="en-US" sz="2200">
                <a:solidFill>
                  <a:srgbClr val="FF0000"/>
                </a:solidFill>
              </a:rPr>
              <a:t> A computer software playing chess</a:t>
            </a:r>
            <a:r>
              <a:rPr lang="en-US" sz="2200"/>
              <a:t>.</a:t>
            </a:r>
            <a:endParaRPr/>
          </a:p>
          <a:p>
            <a:pPr marL="1143000" lvl="2" indent="-76200" algn="l" rtl="0">
              <a:spcBef>
                <a:spcPts val="480"/>
              </a:spcBef>
              <a:spcAft>
                <a:spcPts val="0"/>
              </a:spcAft>
              <a:buClr>
                <a:schemeClr val="dk1"/>
              </a:buClr>
              <a:buSzPts val="2400"/>
              <a:buNone/>
            </a:pP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Properties of task environments</a:t>
            </a:r>
            <a:endParaRPr/>
          </a:p>
        </p:txBody>
      </p:sp>
      <p:sp>
        <p:nvSpPr>
          <p:cNvPr id="176" name="Google Shape;176;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b="1"/>
              <a:t>Episodic </a:t>
            </a:r>
            <a:r>
              <a:rPr lang="en-US" sz="2200"/>
              <a:t>vs. </a:t>
            </a:r>
            <a:r>
              <a:rPr lang="en-US" sz="2200" b="1"/>
              <a:t>sequential.</a:t>
            </a:r>
            <a:endParaRPr sz="2200"/>
          </a:p>
          <a:p>
            <a:pPr marL="742950" lvl="1" indent="-285750" algn="l" rtl="0">
              <a:spcBef>
                <a:spcPts val="440"/>
              </a:spcBef>
              <a:spcAft>
                <a:spcPts val="0"/>
              </a:spcAft>
              <a:buClr>
                <a:schemeClr val="dk1"/>
              </a:buClr>
              <a:buSzPts val="2200"/>
              <a:buChar char="–"/>
            </a:pPr>
            <a:r>
              <a:rPr lang="en-US" sz="2200"/>
              <a:t>Agent’s experience is divided into “episodes.” Each episode consists of the agent perceiving and acting.</a:t>
            </a:r>
            <a:endParaRPr/>
          </a:p>
          <a:p>
            <a:pPr marL="742950" lvl="1" indent="-285750" algn="l" rtl="0">
              <a:spcBef>
                <a:spcPts val="440"/>
              </a:spcBef>
              <a:spcAft>
                <a:spcPts val="0"/>
              </a:spcAft>
              <a:buClr>
                <a:srgbClr val="FF0000"/>
              </a:buClr>
              <a:buSzPts val="2200"/>
              <a:buChar char="–"/>
            </a:pPr>
            <a:r>
              <a:rPr lang="en-US" sz="2200">
                <a:solidFill>
                  <a:srgbClr val="FF0000"/>
                </a:solidFill>
              </a:rPr>
              <a:t>Subsequent episodes do not depend on what actions occur in previous episodes. i.e. Medical diagnosis</a:t>
            </a:r>
            <a:endParaRPr>
              <a:solidFill>
                <a:srgbClr val="FF0000"/>
              </a:solidFill>
            </a:endParaRPr>
          </a:p>
          <a:p>
            <a:pPr marL="742950" lvl="1" indent="-285750" algn="l" rtl="0">
              <a:spcBef>
                <a:spcPts val="440"/>
              </a:spcBef>
              <a:spcAft>
                <a:spcPts val="0"/>
              </a:spcAft>
              <a:buClr>
                <a:srgbClr val="FF0000"/>
              </a:buClr>
              <a:buSzPts val="2200"/>
              <a:buChar char="–"/>
            </a:pPr>
            <a:r>
              <a:rPr lang="en-US" sz="2200">
                <a:solidFill>
                  <a:srgbClr val="FF0000"/>
                </a:solidFill>
              </a:rPr>
              <a:t>In sequential environments current actions affect all succeeding actions. i.e. Chess, Automated Taxi Driving  </a:t>
            </a:r>
            <a:endParaRPr>
              <a:solidFill>
                <a:srgbClr val="FF0000"/>
              </a:solidFill>
            </a:endParaRPr>
          </a:p>
          <a:p>
            <a:pPr marL="742950" lvl="1" indent="-107950" algn="l" rtl="0">
              <a:spcBef>
                <a:spcPts val="560"/>
              </a:spcBef>
              <a:spcAft>
                <a:spcPts val="0"/>
              </a:spcAft>
              <a:buClr>
                <a:schemeClr val="dk1"/>
              </a:buClr>
              <a:buSzPts val="2800"/>
              <a:buNone/>
            </a:pPr>
            <a:endParaRPr/>
          </a:p>
          <a:p>
            <a:pPr marL="742950" lvl="1" indent="-107950" algn="l" rtl="0">
              <a:spcBef>
                <a:spcPts val="560"/>
              </a:spcBef>
              <a:spcAft>
                <a:spcPts val="0"/>
              </a:spcAft>
              <a:buClr>
                <a:schemeClr val="dk1"/>
              </a:buClr>
              <a:buSzPts val="2800"/>
              <a:buNone/>
            </a:pP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Properties of task environments</a:t>
            </a:r>
            <a:endParaRPr/>
          </a:p>
        </p:txBody>
      </p:sp>
      <p:sp>
        <p:nvSpPr>
          <p:cNvPr id="182" name="Google Shape;182;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b="1" dirty="0"/>
              <a:t>Static </a:t>
            </a:r>
            <a:r>
              <a:rPr lang="en-US" sz="2200" dirty="0"/>
              <a:t>vs. </a:t>
            </a:r>
            <a:r>
              <a:rPr lang="en-US" sz="2200" b="1" dirty="0"/>
              <a:t>Dynamic</a:t>
            </a:r>
            <a:endParaRPr dirty="0"/>
          </a:p>
          <a:p>
            <a:pPr marL="742950" lvl="1" indent="-285750" algn="l" rtl="0">
              <a:spcBef>
                <a:spcPts val="440"/>
              </a:spcBef>
              <a:spcAft>
                <a:spcPts val="0"/>
              </a:spcAft>
              <a:buClr>
                <a:schemeClr val="dk1"/>
              </a:buClr>
              <a:buSzPts val="2200"/>
              <a:buChar char="–"/>
            </a:pPr>
            <a:r>
              <a:rPr lang="en-US" sz="2200" dirty="0">
                <a:solidFill>
                  <a:srgbClr val="FF0000"/>
                </a:solidFill>
              </a:rPr>
              <a:t>If the environment can change while an agent is performing action, then we say the environment is dynamic. </a:t>
            </a:r>
            <a:r>
              <a:rPr lang="en-US" sz="2200" dirty="0" err="1">
                <a:solidFill>
                  <a:srgbClr val="FF0000"/>
                </a:solidFill>
              </a:rPr>
              <a:t>i.e</a:t>
            </a:r>
            <a:r>
              <a:rPr lang="en-US" sz="2200" dirty="0">
                <a:solidFill>
                  <a:srgbClr val="FF0000"/>
                </a:solidFill>
              </a:rPr>
              <a:t> Taxi driving</a:t>
            </a:r>
            <a:endParaRPr dirty="0">
              <a:solidFill>
                <a:srgbClr val="FF0000"/>
              </a:solidFill>
            </a:endParaRPr>
          </a:p>
          <a:p>
            <a:pPr marL="742950" lvl="1" indent="-285750" algn="l" rtl="0">
              <a:spcBef>
                <a:spcPts val="440"/>
              </a:spcBef>
              <a:spcAft>
                <a:spcPts val="0"/>
              </a:spcAft>
              <a:buClr>
                <a:schemeClr val="dk1"/>
              </a:buClr>
              <a:buSzPts val="2200"/>
              <a:buChar char="–"/>
            </a:pPr>
            <a:r>
              <a:rPr lang="en-US" sz="2200" dirty="0"/>
              <a:t>Else its </a:t>
            </a:r>
            <a:r>
              <a:rPr lang="en-US" sz="2200" dirty="0" smtClean="0"/>
              <a:t>static.</a:t>
            </a:r>
          </a:p>
          <a:p>
            <a:pPr marL="742950" lvl="1" indent="-285750" algn="l" rtl="0">
              <a:spcBef>
                <a:spcPts val="440"/>
              </a:spcBef>
              <a:spcAft>
                <a:spcPts val="0"/>
              </a:spcAft>
              <a:buClr>
                <a:schemeClr val="dk1"/>
              </a:buClr>
              <a:buSzPts val="2200"/>
              <a:buChar char="–"/>
            </a:pPr>
            <a:r>
              <a:rPr lang="en-US" sz="2200" dirty="0" smtClean="0">
                <a:solidFill>
                  <a:schemeClr val="tx1"/>
                </a:solidFill>
              </a:rPr>
              <a:t>Static </a:t>
            </a:r>
            <a:r>
              <a:rPr lang="en-US" sz="2200" dirty="0">
                <a:solidFill>
                  <a:schemeClr val="tx1"/>
                </a:solidFill>
              </a:rPr>
              <a:t>environments are easy to deal with, because the agent does not keep on looking at the environment while it is deciding on an action e.g. chess</a:t>
            </a:r>
            <a:endParaRPr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dirty="0"/>
              <a:t>Properties of </a:t>
            </a:r>
            <a:r>
              <a:rPr lang="en-US" sz="4000" dirty="0" smtClean="0"/>
              <a:t>task environments</a:t>
            </a:r>
            <a:endParaRPr dirty="0"/>
          </a:p>
        </p:txBody>
      </p:sp>
      <p:sp>
        <p:nvSpPr>
          <p:cNvPr id="188" name="Google Shape;188;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b="1"/>
              <a:t>Discrete</a:t>
            </a:r>
            <a:r>
              <a:rPr lang="en-US" sz="2200"/>
              <a:t> vs. </a:t>
            </a:r>
            <a:r>
              <a:rPr lang="en-US" sz="2200" b="1"/>
              <a:t>continuous</a:t>
            </a:r>
            <a:endParaRPr/>
          </a:p>
          <a:p>
            <a:pPr marL="742950" lvl="1" indent="-285750" algn="l" rtl="0">
              <a:spcBef>
                <a:spcPts val="440"/>
              </a:spcBef>
              <a:spcAft>
                <a:spcPts val="0"/>
              </a:spcAft>
              <a:buClr>
                <a:srgbClr val="FF0000"/>
              </a:buClr>
              <a:buSzPts val="2200"/>
              <a:buChar char="–"/>
            </a:pPr>
            <a:r>
              <a:rPr lang="en-US" sz="2200">
                <a:solidFill>
                  <a:srgbClr val="FF0000"/>
                </a:solidFill>
              </a:rPr>
              <a:t>If there are a limited number of distinct, clearly defined percepts and actions, we say that the environment is discrete.</a:t>
            </a:r>
            <a:endParaRPr>
              <a:solidFill>
                <a:srgbClr val="FF0000"/>
              </a:solidFill>
            </a:endParaRPr>
          </a:p>
          <a:p>
            <a:pPr marL="1143000" lvl="2" indent="-228600" algn="l" rtl="0">
              <a:spcBef>
                <a:spcPts val="440"/>
              </a:spcBef>
              <a:spcAft>
                <a:spcPts val="0"/>
              </a:spcAft>
              <a:buClr>
                <a:srgbClr val="FF0000"/>
              </a:buClr>
              <a:buSzPts val="2200"/>
              <a:buChar char="•"/>
            </a:pPr>
            <a:r>
              <a:rPr lang="en-US" sz="2200">
                <a:solidFill>
                  <a:srgbClr val="FF0000"/>
                </a:solidFill>
              </a:rPr>
              <a:t>Chess, since there are a fixed number of possible moves on each turn.</a:t>
            </a:r>
            <a:endParaRPr>
              <a:solidFill>
                <a:srgbClr val="FF0000"/>
              </a:solidFill>
            </a:endParaRPr>
          </a:p>
          <a:p>
            <a:pPr marL="1143000" lvl="2" indent="-228600" algn="l" rtl="0">
              <a:spcBef>
                <a:spcPts val="440"/>
              </a:spcBef>
              <a:spcAft>
                <a:spcPts val="0"/>
              </a:spcAft>
              <a:buClr>
                <a:srgbClr val="FF0000"/>
              </a:buClr>
              <a:buSzPts val="2200"/>
              <a:buChar char="•"/>
            </a:pPr>
            <a:r>
              <a:rPr lang="en-US" sz="2200">
                <a:solidFill>
                  <a:srgbClr val="FF0000"/>
                </a:solidFill>
              </a:rPr>
              <a:t>Taxi driving is continuous.</a:t>
            </a:r>
            <a:endParaRPr>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dirty="0"/>
              <a:t>Properties of </a:t>
            </a:r>
            <a:r>
              <a:rPr lang="en-US" sz="4000" dirty="0" smtClean="0"/>
              <a:t>task environments</a:t>
            </a:r>
            <a:endParaRPr dirty="0"/>
          </a:p>
        </p:txBody>
      </p:sp>
      <p:sp>
        <p:nvSpPr>
          <p:cNvPr id="170" name="Google Shape;170;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b="1"/>
              <a:t>Deterministic </a:t>
            </a:r>
            <a:r>
              <a:rPr lang="en-US" sz="2200"/>
              <a:t>vs. </a:t>
            </a:r>
            <a:r>
              <a:rPr lang="en-US" sz="2200" b="1"/>
              <a:t>nondeterministic</a:t>
            </a:r>
            <a:endParaRPr/>
          </a:p>
          <a:p>
            <a:pPr marL="742950" lvl="1" indent="-285750" algn="l" rtl="0">
              <a:spcBef>
                <a:spcPts val="440"/>
              </a:spcBef>
              <a:spcAft>
                <a:spcPts val="0"/>
              </a:spcAft>
              <a:buClr>
                <a:schemeClr val="dk1"/>
              </a:buClr>
              <a:buSzPts val="2200"/>
              <a:buChar char="–"/>
            </a:pPr>
            <a:r>
              <a:rPr lang="en-US" sz="2200">
                <a:solidFill>
                  <a:srgbClr val="FF0000"/>
                </a:solidFill>
              </a:rPr>
              <a:t>If the next state of the environment is completely determined by the current state and the actions selected by the agents,</a:t>
            </a:r>
            <a:r>
              <a:rPr lang="en-US" sz="2200"/>
              <a:t> then we say the environment is deterministic. </a:t>
            </a:r>
            <a:r>
              <a:rPr lang="en-US" sz="2200">
                <a:solidFill>
                  <a:srgbClr val="FF0000"/>
                </a:solidFill>
              </a:rPr>
              <a:t>i.e. Chess</a:t>
            </a:r>
            <a:endParaRPr>
              <a:solidFill>
                <a:srgbClr val="FF0000"/>
              </a:solidFill>
            </a:endParaRPr>
          </a:p>
          <a:p>
            <a:pPr marL="742950" lvl="1" indent="-285750" algn="l" rtl="0">
              <a:spcBef>
                <a:spcPts val="440"/>
              </a:spcBef>
              <a:spcAft>
                <a:spcPts val="0"/>
              </a:spcAft>
              <a:buClr>
                <a:schemeClr val="dk1"/>
              </a:buClr>
              <a:buSzPts val="2200"/>
              <a:buChar char="–"/>
            </a:pPr>
            <a:r>
              <a:rPr lang="en-US" sz="2200">
                <a:solidFill>
                  <a:srgbClr val="FF0000"/>
                </a:solidFill>
              </a:rPr>
              <a:t>If the environment is Partially observable, then it may </a:t>
            </a:r>
            <a:r>
              <a:rPr lang="en-US" sz="2200" i="1">
                <a:solidFill>
                  <a:srgbClr val="FF0000"/>
                </a:solidFill>
              </a:rPr>
              <a:t>appear</a:t>
            </a:r>
            <a:r>
              <a:rPr lang="en-US" sz="2200">
                <a:solidFill>
                  <a:srgbClr val="FF0000"/>
                </a:solidFill>
              </a:rPr>
              <a:t> to be nondeterministic</a:t>
            </a:r>
            <a:r>
              <a:rPr lang="en-US" sz="2200"/>
              <a:t> (bunch of uncertainties). </a:t>
            </a:r>
            <a:r>
              <a:rPr lang="en-US" sz="2200">
                <a:solidFill>
                  <a:srgbClr val="FF0000"/>
                </a:solidFill>
              </a:rPr>
              <a:t>i.e.  Taxi Driving</a:t>
            </a:r>
            <a:r>
              <a:rPr lang="en-US" sz="2200"/>
              <a:t> </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9"/>
          <p:cNvSpPr txBox="1">
            <a:spLocks noGrp="1"/>
          </p:cNvSpPr>
          <p:nvPr>
            <p:ph type="title"/>
          </p:nvPr>
        </p:nvSpPr>
        <p:spPr>
          <a:xfrm>
            <a:off x="301625" y="228600"/>
            <a:ext cx="8534400" cy="7588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Agent types</a:t>
            </a:r>
            <a:endParaRPr/>
          </a:p>
        </p:txBody>
      </p:sp>
      <p:sp>
        <p:nvSpPr>
          <p:cNvPr id="194" name="Google Shape;194;p19"/>
          <p:cNvSpPr txBox="1">
            <a:spLocks noGrp="1"/>
          </p:cNvSpPr>
          <p:nvPr>
            <p:ph type="body" idx="1"/>
          </p:nvPr>
        </p:nvSpPr>
        <p:spPr>
          <a:xfrm>
            <a:off x="301625" y="1527175"/>
            <a:ext cx="8504238" cy="4572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a:t>Four basic types in order of increasing generalization:</a:t>
            </a:r>
            <a:endParaRPr/>
          </a:p>
          <a:p>
            <a:pPr marL="742950" lvl="1" indent="-285750" algn="l" rtl="0">
              <a:spcBef>
                <a:spcPts val="440"/>
              </a:spcBef>
              <a:spcAft>
                <a:spcPts val="0"/>
              </a:spcAft>
              <a:buClr>
                <a:schemeClr val="dk1"/>
              </a:buClr>
              <a:buSzPts val="2200"/>
              <a:buChar char="–"/>
            </a:pPr>
            <a:r>
              <a:rPr lang="en-US" sz="2200"/>
              <a:t>Simple reflex agents	</a:t>
            </a:r>
            <a:endParaRPr/>
          </a:p>
          <a:p>
            <a:pPr marL="742950" lvl="1" indent="-285750" algn="l" rtl="0">
              <a:spcBef>
                <a:spcPts val="440"/>
              </a:spcBef>
              <a:spcAft>
                <a:spcPts val="0"/>
              </a:spcAft>
              <a:buClr>
                <a:schemeClr val="dk1"/>
              </a:buClr>
              <a:buSzPts val="2200"/>
              <a:buChar char="–"/>
            </a:pPr>
            <a:r>
              <a:rPr lang="en-US" sz="2200"/>
              <a:t>Reflex agents with state/model</a:t>
            </a:r>
            <a:endParaRPr/>
          </a:p>
          <a:p>
            <a:pPr marL="742950" lvl="1" indent="-285750" algn="l" rtl="0">
              <a:spcBef>
                <a:spcPts val="440"/>
              </a:spcBef>
              <a:spcAft>
                <a:spcPts val="0"/>
              </a:spcAft>
              <a:buClr>
                <a:schemeClr val="dk1"/>
              </a:buClr>
              <a:buSzPts val="2200"/>
              <a:buChar char="–"/>
            </a:pPr>
            <a:r>
              <a:rPr lang="en-US" sz="2200"/>
              <a:t>Goal-based agents</a:t>
            </a:r>
            <a:endParaRPr/>
          </a:p>
          <a:p>
            <a:pPr marL="742950" lvl="1" indent="-285750" algn="l" rtl="0">
              <a:spcBef>
                <a:spcPts val="440"/>
              </a:spcBef>
              <a:spcAft>
                <a:spcPts val="0"/>
              </a:spcAft>
              <a:buClr>
                <a:schemeClr val="dk1"/>
              </a:buClr>
              <a:buSzPts val="2200"/>
              <a:buChar char="–"/>
            </a:pPr>
            <a:r>
              <a:rPr lang="en-US" sz="2200"/>
              <a:t>Utility-based agents</a:t>
            </a: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1"/>
          <p:cNvSpPr txBox="1">
            <a:spLocks noGrp="1"/>
          </p:cNvSpPr>
          <p:nvPr>
            <p:ph type="title"/>
          </p:nvPr>
        </p:nvSpPr>
        <p:spPr>
          <a:xfrm>
            <a:off x="457200" y="76200"/>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Simple reflex agents</a:t>
            </a:r>
            <a:endParaRPr/>
          </a:p>
        </p:txBody>
      </p:sp>
      <p:pic>
        <p:nvPicPr>
          <p:cNvPr id="207" name="Google Shape;207;p21" descr="simple-reflex-agent"/>
          <p:cNvPicPr preferRelativeResize="0">
            <a:picLocks noGrp="1"/>
          </p:cNvPicPr>
          <p:nvPr>
            <p:ph type="body" idx="1"/>
          </p:nvPr>
        </p:nvPicPr>
        <p:blipFill rotWithShape="1">
          <a:blip r:embed="rId3">
            <a:alphaModFix/>
          </a:blip>
          <a:srcRect/>
          <a:stretch/>
        </p:blipFill>
        <p:spPr>
          <a:xfrm>
            <a:off x="1087682" y="792162"/>
            <a:ext cx="6968636" cy="4436807"/>
          </a:xfrm>
          <a:prstGeom prst="rect">
            <a:avLst/>
          </a:prstGeom>
          <a:noFill/>
          <a:ln>
            <a:noFill/>
          </a:ln>
        </p:spPr>
      </p:pic>
      <p:sp>
        <p:nvSpPr>
          <p:cNvPr id="208" name="Google Shape;208;p21"/>
          <p:cNvSpPr/>
          <p:nvPr/>
        </p:nvSpPr>
        <p:spPr>
          <a:xfrm>
            <a:off x="304800" y="5638800"/>
            <a:ext cx="8686800"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0" i="0" u="none" strike="noStrike" cap="none">
                <a:solidFill>
                  <a:srgbClr val="000000"/>
                </a:solidFill>
                <a:latin typeface="Times"/>
                <a:ea typeface="Times"/>
                <a:cs typeface="Times"/>
                <a:sym typeface="Times"/>
              </a:rPr>
              <a:t>We use rectangles to denote the current internal state of the agent’s decision process, and ovals to represent the background information used in the process.</a:t>
            </a:r>
            <a:r>
              <a:rPr lang="en-US" sz="2200" b="0" i="0" u="none" strike="noStrike" cap="none">
                <a:solidFill>
                  <a:schemeClr val="dk1"/>
                </a:solidFill>
                <a:latin typeface="Calibri"/>
                <a:ea typeface="Calibri"/>
                <a:cs typeface="Calibri"/>
                <a:sym typeface="Calibri"/>
              </a:rPr>
              <a:t> </a:t>
            </a:r>
            <a:br>
              <a:rPr lang="en-US" sz="2200" b="0" i="0" u="none" strike="noStrike" cap="none">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0"/>
          <p:cNvSpPr txBox="1">
            <a:spLocks noGrp="1"/>
          </p:cNvSpPr>
          <p:nvPr>
            <p:ph type="title"/>
          </p:nvPr>
        </p:nvSpPr>
        <p:spPr>
          <a:xfrm>
            <a:off x="228600" y="381000"/>
            <a:ext cx="8610600" cy="838200"/>
          </a:xfrm>
          <a:prstGeom prst="rect">
            <a:avLst/>
          </a:prstGeom>
          <a:noFill/>
          <a:ln>
            <a:noFill/>
          </a:ln>
        </p:spPr>
        <p:txBody>
          <a:bodyPr spcFirstLastPara="1" wrap="square" lIns="91425" tIns="45700" rIns="130150" bIns="45700" anchor="ctr" anchorCtr="0">
            <a:normAutofit/>
          </a:bodyPr>
          <a:lstStyle/>
          <a:p>
            <a:pPr marL="0" lvl="0" indent="0" algn="ctr" rtl="0">
              <a:spcBef>
                <a:spcPts val="0"/>
              </a:spcBef>
              <a:spcAft>
                <a:spcPts val="0"/>
              </a:spcAft>
              <a:buClr>
                <a:schemeClr val="dk1"/>
              </a:buClr>
              <a:buSzPts val="4000"/>
              <a:buFont typeface="Calibri"/>
              <a:buNone/>
            </a:pPr>
            <a:r>
              <a:rPr lang="en-US" sz="4000"/>
              <a:t>Simple Reflex Agent</a:t>
            </a:r>
            <a:endParaRPr/>
          </a:p>
        </p:txBody>
      </p:sp>
      <p:sp>
        <p:nvSpPr>
          <p:cNvPr id="201" name="Google Shape;201;p20"/>
          <p:cNvSpPr txBox="1"/>
          <p:nvPr/>
        </p:nvSpPr>
        <p:spPr>
          <a:xfrm>
            <a:off x="228600" y="1447800"/>
            <a:ext cx="8839200" cy="4826000"/>
          </a:xfrm>
          <a:prstGeom prst="rect">
            <a:avLst/>
          </a:prstGeom>
          <a:noFill/>
          <a:ln>
            <a:noFill/>
          </a:ln>
        </p:spPr>
        <p:txBody>
          <a:bodyPr spcFirstLastPara="1" wrap="square" lIns="91425" tIns="45700" rIns="130150" bIns="45700" anchor="t" anchorCtr="0">
            <a:normAutofit/>
          </a:bodyPr>
          <a:lstStyle/>
          <a:p>
            <a:pPr marL="457200" marR="0" lvl="0" indent="-368300" algn="l" rtl="0">
              <a:spcBef>
                <a:spcPts val="0"/>
              </a:spcBef>
              <a:spcAft>
                <a:spcPts val="0"/>
              </a:spcAft>
              <a:buClr>
                <a:schemeClr val="dk1"/>
              </a:buClr>
              <a:buSzPts val="2200"/>
              <a:buFont typeface="Calibri"/>
              <a:buChar char="●"/>
            </a:pPr>
            <a:r>
              <a:rPr lang="en-US" sz="2200" b="0" i="0" u="none" strike="noStrike" cap="none" dirty="0">
                <a:solidFill>
                  <a:schemeClr val="dk1"/>
                </a:solidFill>
                <a:latin typeface="Calibri"/>
                <a:ea typeface="Calibri"/>
                <a:cs typeface="Calibri"/>
                <a:sym typeface="Calibri"/>
              </a:rPr>
              <a:t>The simplest kind of agent is the </a:t>
            </a:r>
            <a:r>
              <a:rPr lang="en-US" sz="2200" b="1" i="0" u="none" strike="noStrike" cap="none" dirty="0">
                <a:solidFill>
                  <a:schemeClr val="dk1"/>
                </a:solidFill>
                <a:latin typeface="Calibri"/>
                <a:ea typeface="Calibri"/>
                <a:cs typeface="Calibri"/>
                <a:sym typeface="Calibri"/>
              </a:rPr>
              <a:t>simple reflex agent</a:t>
            </a:r>
            <a:r>
              <a:rPr lang="en-US" sz="2200" b="0" i="0" u="none" strike="noStrike" cap="none" dirty="0">
                <a:solidFill>
                  <a:schemeClr val="dk1"/>
                </a:solidFill>
                <a:latin typeface="Calibri"/>
                <a:ea typeface="Calibri"/>
                <a:cs typeface="Calibri"/>
                <a:sym typeface="Calibri"/>
              </a:rPr>
              <a:t>. </a:t>
            </a:r>
            <a:r>
              <a:rPr lang="en-US" sz="2200" b="0" i="0" u="none" strike="noStrike" cap="none" dirty="0">
                <a:solidFill>
                  <a:srgbClr val="FF0000"/>
                </a:solidFill>
                <a:latin typeface="Calibri"/>
                <a:ea typeface="Calibri"/>
                <a:cs typeface="Calibri"/>
                <a:sym typeface="Calibri"/>
              </a:rPr>
              <a:t>These agents select actions on the basis of the </a:t>
            </a:r>
            <a:r>
              <a:rPr lang="en-US" sz="2200" b="0" i="1" u="none" strike="noStrike" cap="none" dirty="0">
                <a:solidFill>
                  <a:srgbClr val="FF0000"/>
                </a:solidFill>
                <a:latin typeface="Calibri"/>
                <a:ea typeface="Calibri"/>
                <a:cs typeface="Calibri"/>
                <a:sym typeface="Calibri"/>
              </a:rPr>
              <a:t>current </a:t>
            </a:r>
            <a:r>
              <a:rPr lang="en-US" sz="2200" b="0" i="0" u="none" strike="noStrike" cap="none" dirty="0">
                <a:solidFill>
                  <a:srgbClr val="FF0000"/>
                </a:solidFill>
                <a:latin typeface="Calibri"/>
                <a:ea typeface="Calibri"/>
                <a:cs typeface="Calibri"/>
                <a:sym typeface="Calibri"/>
              </a:rPr>
              <a:t>percept</a:t>
            </a:r>
            <a:r>
              <a:rPr lang="en-US" sz="2200" b="0" i="0" u="none" strike="noStrike" cap="none" dirty="0">
                <a:solidFill>
                  <a:schemeClr val="dk1"/>
                </a:solidFill>
                <a:latin typeface="Calibri"/>
                <a:ea typeface="Calibri"/>
                <a:cs typeface="Calibri"/>
                <a:sym typeface="Calibri"/>
              </a:rPr>
              <a:t>, ignoring the rest of the percept history. </a:t>
            </a:r>
            <a:endParaRPr dirty="0"/>
          </a:p>
          <a:p>
            <a:pPr marL="457200" marR="0" lvl="0" indent="-368300" algn="l" rtl="0">
              <a:lnSpc>
                <a:spcPct val="100000"/>
              </a:lnSpc>
              <a:spcBef>
                <a:spcPts val="0"/>
              </a:spcBef>
              <a:spcAft>
                <a:spcPts val="0"/>
              </a:spcAft>
              <a:buClr>
                <a:schemeClr val="dk1"/>
              </a:buClr>
              <a:buSzPts val="2200"/>
              <a:buFont typeface="Calibri"/>
              <a:buChar char="●"/>
            </a:pPr>
            <a:r>
              <a:rPr lang="en-US" sz="2200" dirty="0">
                <a:solidFill>
                  <a:schemeClr val="dk1"/>
                </a:solidFill>
                <a:latin typeface="Calibri"/>
                <a:ea typeface="Calibri"/>
                <a:cs typeface="Calibri"/>
                <a:sym typeface="Calibri"/>
              </a:rPr>
              <a:t>Simple</a:t>
            </a:r>
            <a:r>
              <a:rPr lang="en-US" sz="2200" b="0" i="0" u="none" strike="noStrike" cap="none" dirty="0">
                <a:solidFill>
                  <a:schemeClr val="dk1"/>
                </a:solidFill>
                <a:latin typeface="Calibri"/>
                <a:ea typeface="Calibri"/>
                <a:cs typeface="Calibri"/>
                <a:sym typeface="Calibri"/>
              </a:rPr>
              <a:t> reflex behaviors occur even in more complex environments.</a:t>
            </a:r>
            <a:endParaRPr dirty="0"/>
          </a:p>
          <a:p>
            <a:pPr marL="971550" marR="0" lvl="1" indent="-368300" algn="l" rtl="0">
              <a:lnSpc>
                <a:spcPct val="100000"/>
              </a:lnSpc>
              <a:spcBef>
                <a:spcPts val="0"/>
              </a:spcBef>
              <a:spcAft>
                <a:spcPts val="0"/>
              </a:spcAft>
              <a:buClr>
                <a:schemeClr val="dk1"/>
              </a:buClr>
              <a:buSzPts val="2200"/>
              <a:buFont typeface="Calibri"/>
              <a:buChar char="○"/>
            </a:pPr>
            <a:r>
              <a:rPr lang="en-US" sz="2200" b="0" i="0" u="none" strike="noStrike" cap="none" dirty="0">
                <a:solidFill>
                  <a:schemeClr val="dk1"/>
                </a:solidFill>
                <a:latin typeface="Calibri"/>
                <a:ea typeface="Calibri"/>
                <a:cs typeface="Calibri"/>
                <a:sym typeface="Calibri"/>
              </a:rPr>
              <a:t>Imagine yourself as the driver of the automated taxi. If the car in front brakes and its brake lights come on, then you should notice this and initiate braking</a:t>
            </a:r>
            <a:endParaRPr dirty="0"/>
          </a:p>
          <a:p>
            <a:pPr marL="971550" marR="0" lvl="1" indent="-368300" algn="l" rtl="0">
              <a:lnSpc>
                <a:spcPct val="100000"/>
              </a:lnSpc>
              <a:spcBef>
                <a:spcPts val="0"/>
              </a:spcBef>
              <a:spcAft>
                <a:spcPts val="0"/>
              </a:spcAft>
              <a:buClr>
                <a:schemeClr val="dk1"/>
              </a:buClr>
              <a:buSzPts val="2200"/>
              <a:buFont typeface="Calibri"/>
              <a:buChar char="○"/>
            </a:pPr>
            <a:r>
              <a:rPr lang="en-US" sz="2200" dirty="0">
                <a:solidFill>
                  <a:schemeClr val="dk1"/>
                </a:solidFill>
                <a:latin typeface="Calibri"/>
                <a:ea typeface="Calibri"/>
                <a:cs typeface="Calibri"/>
                <a:sym typeface="Calibri"/>
              </a:rPr>
              <a:t>Visual</a:t>
            </a:r>
            <a:r>
              <a:rPr lang="en-US" sz="2200" b="0" i="0" u="none" strike="noStrike" cap="none" dirty="0">
                <a:solidFill>
                  <a:schemeClr val="dk1"/>
                </a:solidFill>
                <a:latin typeface="Calibri"/>
                <a:ea typeface="Calibri"/>
                <a:cs typeface="Calibri"/>
                <a:sym typeface="Calibri"/>
              </a:rPr>
              <a:t> input is used to establish the condition we call “The car in front is braking.” Then, this triggers some established connection in the agent program to the action “initiate braking.” We call such a connection a </a:t>
            </a:r>
            <a:r>
              <a:rPr lang="en-US" sz="2200" b="1" i="0" u="none" strike="noStrike" cap="none" dirty="0">
                <a:solidFill>
                  <a:schemeClr val="dk1"/>
                </a:solidFill>
                <a:latin typeface="Calibri"/>
                <a:ea typeface="Calibri"/>
                <a:cs typeface="Calibri"/>
                <a:sym typeface="Calibri"/>
              </a:rPr>
              <a:t>condition–action rule</a:t>
            </a:r>
            <a:r>
              <a:rPr lang="en-US" sz="2200" b="0" i="0" u="none" strike="noStrike" cap="none" dirty="0">
                <a:solidFill>
                  <a:schemeClr val="dk1"/>
                </a:solidFill>
                <a:latin typeface="Calibri"/>
                <a:ea typeface="Calibri"/>
                <a:cs typeface="Calibri"/>
                <a:sym typeface="Calibri"/>
              </a:rPr>
              <a:t>, written as</a:t>
            </a:r>
            <a:endParaRPr dirty="0"/>
          </a:p>
          <a:p>
            <a:pPr marL="1188720" marR="0" lvl="2" indent="-274319" algn="l" rtl="0">
              <a:spcBef>
                <a:spcPts val="600"/>
              </a:spcBef>
              <a:spcAft>
                <a:spcPts val="0"/>
              </a:spcAft>
              <a:buClr>
                <a:schemeClr val="accent1"/>
              </a:buClr>
              <a:buSzPts val="1540"/>
              <a:buFont typeface="Noto Sans Symbols"/>
              <a:buChar char="🞆"/>
            </a:pPr>
            <a:r>
              <a:rPr lang="en-US" sz="2200" b="1" i="0" u="none" strike="noStrike" cap="none" dirty="0">
                <a:solidFill>
                  <a:srgbClr val="FF0000"/>
                </a:solidFill>
                <a:latin typeface="Calibri"/>
                <a:ea typeface="Calibri"/>
                <a:cs typeface="Calibri"/>
                <a:sym typeface="Calibri"/>
              </a:rPr>
              <a:t>if </a:t>
            </a:r>
            <a:r>
              <a:rPr lang="en-US" sz="2200" b="0" i="1" u="none" strike="noStrike" cap="none" dirty="0">
                <a:solidFill>
                  <a:srgbClr val="FF0000"/>
                </a:solidFill>
                <a:latin typeface="Calibri"/>
                <a:ea typeface="Calibri"/>
                <a:cs typeface="Calibri"/>
                <a:sym typeface="Calibri"/>
              </a:rPr>
              <a:t>car-in-front-is-braking </a:t>
            </a:r>
            <a:r>
              <a:rPr lang="en-US" sz="2200" b="1" i="0" u="none" strike="noStrike" cap="none" dirty="0">
                <a:solidFill>
                  <a:srgbClr val="FF0000"/>
                </a:solidFill>
                <a:latin typeface="Calibri"/>
                <a:ea typeface="Calibri"/>
                <a:cs typeface="Calibri"/>
                <a:sym typeface="Calibri"/>
              </a:rPr>
              <a:t>then </a:t>
            </a:r>
            <a:r>
              <a:rPr lang="en-US" sz="2200" b="0" i="1" u="none" strike="noStrike" cap="none" dirty="0">
                <a:solidFill>
                  <a:srgbClr val="FF0000"/>
                </a:solidFill>
                <a:latin typeface="Calibri"/>
                <a:ea typeface="Calibri"/>
                <a:cs typeface="Calibri"/>
                <a:sym typeface="Calibri"/>
              </a:rPr>
              <a:t>initiate-braking</a:t>
            </a:r>
            <a:r>
              <a:rPr lang="en-US" sz="2200" b="0" i="0" u="none" strike="noStrike" cap="none" dirty="0">
                <a:solidFill>
                  <a:schemeClr val="dk1"/>
                </a:solidFill>
                <a:latin typeface="Calibri"/>
                <a:ea typeface="Calibri"/>
                <a:cs typeface="Calibri"/>
                <a:sym typeface="Calibri"/>
              </a:rPr>
              <a:t>. </a:t>
            </a:r>
            <a:endParaRPr sz="2000" b="0" i="0" u="none" strike="noStrike" cap="none"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457200" y="0"/>
            <a:ext cx="7467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Model-based reflex agents</a:t>
            </a:r>
            <a:endParaRPr/>
          </a:p>
        </p:txBody>
      </p:sp>
      <p:pic>
        <p:nvPicPr>
          <p:cNvPr id="232" name="Google Shape;232;p25" descr="reflex+state-agent"/>
          <p:cNvPicPr preferRelativeResize="0">
            <a:picLocks noGrp="1"/>
          </p:cNvPicPr>
          <p:nvPr>
            <p:ph type="body" idx="1"/>
          </p:nvPr>
        </p:nvPicPr>
        <p:blipFill rotWithShape="1">
          <a:blip r:embed="rId3">
            <a:alphaModFix/>
          </a:blip>
          <a:srcRect/>
          <a:stretch/>
        </p:blipFill>
        <p:spPr>
          <a:xfrm>
            <a:off x="1143000" y="1371600"/>
            <a:ext cx="6464648" cy="41148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Model-based reflex agents</a:t>
            </a:r>
            <a:endParaRPr/>
          </a:p>
        </p:txBody>
      </p:sp>
      <p:sp>
        <p:nvSpPr>
          <p:cNvPr id="226" name="Google Shape;226;p24"/>
          <p:cNvSpPr txBox="1">
            <a:spLocks noGrp="1"/>
          </p:cNvSpPr>
          <p:nvPr>
            <p:ph type="body" idx="1"/>
          </p:nvPr>
        </p:nvSpPr>
        <p:spPr>
          <a:xfrm>
            <a:off x="457200" y="1626577"/>
            <a:ext cx="8229600" cy="4809392"/>
          </a:xfrm>
          <a:prstGeom prst="rect">
            <a:avLst/>
          </a:prstGeom>
          <a:noFill/>
          <a:ln>
            <a:noFill/>
          </a:ln>
        </p:spPr>
        <p:txBody>
          <a:bodyPr spcFirstLastPara="1" wrap="square" lIns="91425" tIns="45700" rIns="91425" bIns="45700" anchor="t" anchorCtr="0">
            <a:normAutofit/>
          </a:bodyPr>
          <a:lstStyle/>
          <a:p>
            <a:pPr marL="342900" lvl="0">
              <a:spcBef>
                <a:spcPts val="0"/>
              </a:spcBef>
              <a:buSzPct val="100000"/>
            </a:pPr>
            <a:r>
              <a:rPr lang="en-US" sz="2400" dirty="0"/>
              <a:t>Simple reflex agents are simple, but they turn out to be</a:t>
            </a:r>
            <a:br>
              <a:rPr lang="en-US" sz="2400" dirty="0"/>
            </a:br>
            <a:r>
              <a:rPr lang="en-US" sz="2400" dirty="0"/>
              <a:t>of limited intelligence. </a:t>
            </a:r>
          </a:p>
          <a:p>
            <a:pPr marL="342900" lvl="0">
              <a:spcBef>
                <a:spcPts val="0"/>
              </a:spcBef>
              <a:buSzPct val="100000"/>
            </a:pPr>
            <a:r>
              <a:rPr lang="en-US" sz="2400" dirty="0"/>
              <a:t>A Model-Based Agent improves upon a Simple Reflex Agent by maintaining an internal </a:t>
            </a:r>
            <a:r>
              <a:rPr lang="en-US" sz="2400" dirty="0" smtClean="0"/>
              <a:t>state of </a:t>
            </a:r>
            <a:r>
              <a:rPr lang="en-US" sz="2400" dirty="0"/>
              <a:t>the environment.</a:t>
            </a:r>
            <a:endParaRPr lang="en-US" sz="2400" dirty="0" smtClean="0"/>
          </a:p>
          <a:p>
            <a:pPr marL="342900" lvl="0" indent="-342900" algn="l" rtl="0">
              <a:spcBef>
                <a:spcPts val="0"/>
              </a:spcBef>
              <a:spcAft>
                <a:spcPts val="0"/>
              </a:spcAft>
              <a:buClr>
                <a:schemeClr val="dk1"/>
              </a:buClr>
              <a:buSzPct val="100000"/>
              <a:buChar char="•"/>
            </a:pPr>
            <a:r>
              <a:rPr lang="en-US" sz="2400" dirty="0" smtClean="0"/>
              <a:t>Further, it stores how </a:t>
            </a:r>
            <a:r>
              <a:rPr lang="en-US" sz="2400" dirty="0"/>
              <a:t>the world evolves independently of the </a:t>
            </a:r>
            <a:r>
              <a:rPr lang="en-US" sz="2400" dirty="0" smtClean="0"/>
              <a:t>agent?</a:t>
            </a:r>
            <a:endParaRPr lang="en-US" dirty="0"/>
          </a:p>
          <a:p>
            <a:pPr marL="342900" lvl="0" indent="-342900" algn="l" rtl="0">
              <a:spcBef>
                <a:spcPts val="0"/>
              </a:spcBef>
              <a:spcAft>
                <a:spcPts val="0"/>
              </a:spcAft>
              <a:buClr>
                <a:schemeClr val="dk1"/>
              </a:buClr>
              <a:buSzPct val="100000"/>
              <a:buChar char="•"/>
            </a:pPr>
            <a:r>
              <a:rPr lang="en-US" sz="2400" dirty="0" smtClean="0"/>
              <a:t>Second</a:t>
            </a:r>
            <a:r>
              <a:rPr lang="en-US" sz="2400" dirty="0"/>
              <a:t>, we need some information about how the agent’s own actions affect the </a:t>
            </a:r>
            <a:r>
              <a:rPr lang="en-US" sz="2400" dirty="0" smtClean="0"/>
              <a:t>world.</a:t>
            </a:r>
          </a:p>
          <a:p>
            <a:pPr marL="342900" lvl="0" indent="-342900" algn="l" rtl="0">
              <a:spcBef>
                <a:spcPts val="0"/>
              </a:spcBef>
              <a:spcAft>
                <a:spcPts val="0"/>
              </a:spcAft>
              <a:buClr>
                <a:schemeClr val="dk1"/>
              </a:buClr>
              <a:buSzPct val="100000"/>
              <a:buChar char="•"/>
            </a:pPr>
            <a:r>
              <a:rPr lang="en-US" sz="2400" dirty="0" smtClean="0"/>
              <a:t>This </a:t>
            </a:r>
            <a:r>
              <a:rPr lang="en-US" sz="2400" dirty="0"/>
              <a:t>allows it to work in partially observable or dynamic environments </a:t>
            </a:r>
            <a:r>
              <a:rPr lang="en-US" sz="2400" dirty="0" smtClean="0"/>
              <a:t>where </a:t>
            </a:r>
            <a:r>
              <a:rPr lang="en-US" sz="2400" dirty="0"/>
              <a:t>the agent cannot see everything at once.</a:t>
            </a:r>
            <a:endParaRPr sz="24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Goal-based agents</a:t>
            </a:r>
            <a:endParaRPr/>
          </a:p>
        </p:txBody>
      </p:sp>
      <p:sp>
        <p:nvSpPr>
          <p:cNvPr id="244" name="Google Shape;244;p27"/>
          <p:cNvSpPr txBox="1">
            <a:spLocks noGrp="1"/>
          </p:cNvSpPr>
          <p:nvPr>
            <p:ph type="body" idx="4294967295"/>
          </p:nvPr>
        </p:nvSpPr>
        <p:spPr>
          <a:xfrm>
            <a:off x="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Font typeface="Calibri"/>
              <a:buNone/>
            </a:pPr>
            <a:r>
              <a:rPr lang="en-US"/>
              <a:t/>
            </a:r>
            <a:br>
              <a:rPr lang="en-US"/>
            </a:br>
            <a:endParaRPr/>
          </a:p>
        </p:txBody>
      </p:sp>
      <p:pic>
        <p:nvPicPr>
          <p:cNvPr id="245" name="Google Shape;245;p27" descr="goal-based-agent"/>
          <p:cNvPicPr preferRelativeResize="0">
            <a:picLocks noGrp="1"/>
          </p:cNvPicPr>
          <p:nvPr>
            <p:ph type="body" idx="1"/>
          </p:nvPr>
        </p:nvPicPr>
        <p:blipFill rotWithShape="1">
          <a:blip r:embed="rId3">
            <a:alphaModFix/>
          </a:blip>
          <a:srcRect/>
          <a:stretch/>
        </p:blipFill>
        <p:spPr>
          <a:xfrm>
            <a:off x="1295400" y="1600200"/>
            <a:ext cx="6463977" cy="41148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Goal-based agent</a:t>
            </a:r>
            <a:endParaRPr/>
          </a:p>
        </p:txBody>
      </p:sp>
      <p:sp>
        <p:nvSpPr>
          <p:cNvPr id="238" name="Google Shape;238;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a:t>Merely knowing about the current state of the environment is not always enough to decide what to do next.</a:t>
            </a:r>
            <a:endParaRPr/>
          </a:p>
          <a:p>
            <a:pPr marL="342900" lvl="0" indent="-342900" algn="l" rtl="0">
              <a:spcBef>
                <a:spcPts val="440"/>
              </a:spcBef>
              <a:spcAft>
                <a:spcPts val="0"/>
              </a:spcAft>
              <a:buClr>
                <a:schemeClr val="dk1"/>
              </a:buClr>
              <a:buSzPts val="2200"/>
              <a:buChar char="•"/>
            </a:pPr>
            <a:r>
              <a:rPr lang="en-US" sz="2200"/>
              <a:t>The right decision depends on where the taxi is trying to get to.</a:t>
            </a:r>
            <a:endParaRPr/>
          </a:p>
          <a:p>
            <a:pPr marL="342900" lvl="0" indent="-342900" algn="l" rtl="0">
              <a:spcBef>
                <a:spcPts val="440"/>
              </a:spcBef>
              <a:spcAft>
                <a:spcPts val="0"/>
              </a:spcAft>
              <a:buClr>
                <a:schemeClr val="dk1"/>
              </a:buClr>
              <a:buSzPts val="2200"/>
              <a:buChar char="•"/>
            </a:pPr>
            <a:r>
              <a:rPr lang="en-US" sz="2200"/>
              <a:t>So the </a:t>
            </a:r>
            <a:r>
              <a:rPr lang="en-US" sz="2200">
                <a:solidFill>
                  <a:srgbClr val="FF0000"/>
                </a:solidFill>
              </a:rPr>
              <a:t>goal</a:t>
            </a:r>
            <a:r>
              <a:rPr lang="en-US" sz="2200"/>
              <a:t> information is also needed.</a:t>
            </a:r>
            <a:endParaRPr/>
          </a:p>
          <a:p>
            <a:pPr marL="342900" lvl="0" indent="-342900" algn="l" rtl="0">
              <a:spcBef>
                <a:spcPts val="440"/>
              </a:spcBef>
              <a:spcAft>
                <a:spcPts val="0"/>
              </a:spcAft>
              <a:buClr>
                <a:schemeClr val="dk1"/>
              </a:buClr>
              <a:buSzPts val="2200"/>
              <a:buChar char="•"/>
            </a:pPr>
            <a:r>
              <a:rPr lang="en-US" sz="2200"/>
              <a:t>Decision making of this kind is fundamentally different from the condition– action rules described earlier.</a:t>
            </a:r>
            <a:endParaRPr/>
          </a:p>
          <a:p>
            <a:pPr marL="342900" lvl="0" indent="-342900" algn="l" rtl="0">
              <a:spcBef>
                <a:spcPts val="440"/>
              </a:spcBef>
              <a:spcAft>
                <a:spcPts val="0"/>
              </a:spcAft>
              <a:buClr>
                <a:schemeClr val="dk1"/>
              </a:buClr>
              <a:buSzPts val="2200"/>
              <a:buChar char="•"/>
            </a:pPr>
            <a:r>
              <a:rPr lang="en-US" sz="2200"/>
              <a:t>It involves consideration of the future—both “What will happen if I do such-and-such?” and “Would I be near to the goal?” </a:t>
            </a:r>
            <a:br>
              <a:rPr lang="en-US" sz="2200"/>
            </a:br>
            <a:endParaRPr sz="22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Utility-based agents</a:t>
            </a:r>
            <a:endParaRPr/>
          </a:p>
        </p:txBody>
      </p:sp>
      <p:pic>
        <p:nvPicPr>
          <p:cNvPr id="257" name="Google Shape;257;p29" descr="utility-based-agent"/>
          <p:cNvPicPr preferRelativeResize="0">
            <a:picLocks noGrp="1"/>
          </p:cNvPicPr>
          <p:nvPr>
            <p:ph type="body" idx="1"/>
          </p:nvPr>
        </p:nvPicPr>
        <p:blipFill rotWithShape="1">
          <a:blip r:embed="rId3">
            <a:alphaModFix/>
          </a:blip>
          <a:srcRect/>
          <a:stretch/>
        </p:blipFill>
        <p:spPr>
          <a:xfrm>
            <a:off x="980783" y="1371600"/>
            <a:ext cx="7182433" cy="4572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8"/>
          <p:cNvSpPr txBox="1">
            <a:spLocks noGrp="1"/>
          </p:cNvSpPr>
          <p:nvPr>
            <p:ph type="title"/>
          </p:nvPr>
        </p:nvSpPr>
        <p:spPr>
          <a:xfrm>
            <a:off x="457200" y="76200"/>
            <a:ext cx="8229600" cy="914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Utility-based agents</a:t>
            </a:r>
            <a:endParaRPr/>
          </a:p>
        </p:txBody>
      </p:sp>
      <p:sp>
        <p:nvSpPr>
          <p:cNvPr id="251" name="Google Shape;251;p28"/>
          <p:cNvSpPr txBox="1">
            <a:spLocks noGrp="1"/>
          </p:cNvSpPr>
          <p:nvPr>
            <p:ph type="body" idx="1"/>
          </p:nvPr>
        </p:nvSpPr>
        <p:spPr>
          <a:xfrm>
            <a:off x="457200" y="1371600"/>
            <a:ext cx="8229600" cy="57912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a:t>Goals are not really enough to generate </a:t>
            </a:r>
            <a:r>
              <a:rPr lang="en-US" sz="2200">
                <a:solidFill>
                  <a:srgbClr val="FF0000"/>
                </a:solidFill>
              </a:rPr>
              <a:t>high-quality</a:t>
            </a:r>
            <a:r>
              <a:rPr lang="en-US" sz="2200"/>
              <a:t> behavior.</a:t>
            </a:r>
            <a:endParaRPr/>
          </a:p>
          <a:p>
            <a:pPr marL="342900" lvl="0" indent="-342900" algn="l" rtl="0">
              <a:spcBef>
                <a:spcPts val="440"/>
              </a:spcBef>
              <a:spcAft>
                <a:spcPts val="0"/>
              </a:spcAft>
              <a:buClr>
                <a:schemeClr val="dk1"/>
              </a:buClr>
              <a:buSzPts val="2200"/>
              <a:buChar char="•"/>
            </a:pPr>
            <a:r>
              <a:rPr lang="en-US" sz="2200"/>
              <a:t>There are many ways to reach the destination, but some are qualitatively better than others.</a:t>
            </a:r>
            <a:endParaRPr/>
          </a:p>
          <a:p>
            <a:pPr marL="742950" lvl="1" indent="-285750" algn="l" rtl="0">
              <a:spcBef>
                <a:spcPts val="440"/>
              </a:spcBef>
              <a:spcAft>
                <a:spcPts val="0"/>
              </a:spcAft>
              <a:buClr>
                <a:schemeClr val="dk1"/>
              </a:buClr>
              <a:buSzPts val="2200"/>
              <a:buChar char="–"/>
            </a:pPr>
            <a:r>
              <a:rPr lang="en-US" sz="2200"/>
              <a:t>More safe</a:t>
            </a:r>
            <a:endParaRPr/>
          </a:p>
          <a:p>
            <a:pPr marL="742950" lvl="1" indent="-285750" algn="l" rtl="0">
              <a:spcBef>
                <a:spcPts val="440"/>
              </a:spcBef>
              <a:spcAft>
                <a:spcPts val="0"/>
              </a:spcAft>
              <a:buClr>
                <a:schemeClr val="dk1"/>
              </a:buClr>
              <a:buSzPts val="2200"/>
              <a:buChar char="–"/>
            </a:pPr>
            <a:r>
              <a:rPr lang="en-US" sz="2200"/>
              <a:t>Quicker</a:t>
            </a:r>
            <a:endParaRPr/>
          </a:p>
          <a:p>
            <a:pPr marL="742950" lvl="1" indent="-285750" algn="l" rtl="0">
              <a:spcBef>
                <a:spcPts val="440"/>
              </a:spcBef>
              <a:spcAft>
                <a:spcPts val="0"/>
              </a:spcAft>
              <a:buClr>
                <a:schemeClr val="dk1"/>
              </a:buClr>
              <a:buSzPts val="2200"/>
              <a:buChar char="–"/>
            </a:pPr>
            <a:r>
              <a:rPr lang="en-US" sz="2200"/>
              <a:t>Less expensive</a:t>
            </a:r>
            <a:endParaRPr/>
          </a:p>
          <a:p>
            <a:pPr marL="342900" lvl="0" indent="-342900" algn="l" rtl="0">
              <a:spcBef>
                <a:spcPts val="440"/>
              </a:spcBef>
              <a:spcAft>
                <a:spcPts val="0"/>
              </a:spcAft>
              <a:buClr>
                <a:schemeClr val="dk1"/>
              </a:buClr>
              <a:buSzPts val="2200"/>
              <a:buChar char="•"/>
            </a:pPr>
            <a:r>
              <a:rPr lang="en-US" sz="2200"/>
              <a:t>Goals just provide a crude binary distinction between “happy” and “unhappy” states.</a:t>
            </a:r>
            <a:endParaRPr/>
          </a:p>
          <a:p>
            <a:pPr marL="342900" lvl="0" indent="-342900" algn="l" rtl="0">
              <a:spcBef>
                <a:spcPts val="620"/>
              </a:spcBef>
              <a:spcAft>
                <a:spcPts val="0"/>
              </a:spcAft>
              <a:buClr>
                <a:schemeClr val="dk1"/>
              </a:buClr>
              <a:buSzPts val="2200"/>
              <a:buChar char="•"/>
            </a:pPr>
            <a:r>
              <a:rPr lang="en-US" sz="2200"/>
              <a:t> A more general performance measure should allow a comparison of different world states according to exactly how happy they would make the agent.</a:t>
            </a:r>
            <a:r>
              <a:rPr lang="en-US" sz="3100"/>
              <a:t/>
            </a:r>
            <a:br>
              <a:rPr lang="en-US" sz="3100"/>
            </a:br>
            <a:r>
              <a:rPr lang="en-US" sz="2400"/>
              <a:t/>
            </a:r>
            <a:br>
              <a:rPr lang="en-US" sz="2400"/>
            </a:br>
            <a:endParaRPr sz="22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Today’s Lecture</a:t>
            </a:r>
            <a:endParaRPr/>
          </a:p>
        </p:txBody>
      </p:sp>
      <p:sp>
        <p:nvSpPr>
          <p:cNvPr id="95" name="Google Shape;95;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dirty="0"/>
              <a:t>What is an agent?</a:t>
            </a:r>
            <a:endParaRPr dirty="0"/>
          </a:p>
          <a:p>
            <a:pPr marL="342900" lvl="0" indent="-342900" algn="l" rtl="0">
              <a:spcBef>
                <a:spcPts val="440"/>
              </a:spcBef>
              <a:spcAft>
                <a:spcPts val="0"/>
              </a:spcAft>
              <a:buClr>
                <a:schemeClr val="dk1"/>
              </a:buClr>
              <a:buSzPts val="2200"/>
              <a:buChar char="•"/>
            </a:pPr>
            <a:r>
              <a:rPr lang="en-US" sz="2200" dirty="0"/>
              <a:t>Agents &amp; </a:t>
            </a:r>
            <a:r>
              <a:rPr lang="en-US" sz="2200" dirty="0" smtClean="0"/>
              <a:t>Environments</a:t>
            </a:r>
          </a:p>
          <a:p>
            <a:pPr marL="342900" lvl="0" indent="-342900" algn="l" rtl="0">
              <a:spcBef>
                <a:spcPts val="440"/>
              </a:spcBef>
              <a:spcAft>
                <a:spcPts val="0"/>
              </a:spcAft>
              <a:buClr>
                <a:schemeClr val="dk1"/>
              </a:buClr>
              <a:buSzPts val="2200"/>
              <a:buChar char="•"/>
            </a:pPr>
            <a:r>
              <a:rPr lang="en-US" sz="2200" dirty="0" smtClean="0"/>
              <a:t>Task Environment</a:t>
            </a:r>
            <a:endParaRPr dirty="0"/>
          </a:p>
          <a:p>
            <a:pPr marL="800100" lvl="1">
              <a:spcBef>
                <a:spcPts val="440"/>
              </a:spcBef>
              <a:buSzPts val="2200"/>
              <a:buChar char="•"/>
            </a:pPr>
            <a:r>
              <a:rPr lang="en-US" sz="1800" dirty="0" smtClean="0"/>
              <a:t>Performance measure</a:t>
            </a:r>
            <a:endParaRPr dirty="0" smtClean="0"/>
          </a:p>
          <a:p>
            <a:pPr marL="800100" lvl="1">
              <a:spcBef>
                <a:spcPts val="440"/>
              </a:spcBef>
              <a:buSzPts val="2200"/>
              <a:buChar char="•"/>
            </a:pPr>
            <a:r>
              <a:rPr lang="en-US" sz="1800" dirty="0" smtClean="0"/>
              <a:t>Environment</a:t>
            </a:r>
            <a:endParaRPr dirty="0"/>
          </a:p>
          <a:p>
            <a:pPr marL="800100" lvl="1">
              <a:spcBef>
                <a:spcPts val="440"/>
              </a:spcBef>
              <a:buSzPts val="2200"/>
              <a:buChar char="•"/>
            </a:pPr>
            <a:r>
              <a:rPr lang="en-US" sz="1800" dirty="0"/>
              <a:t>Actuators</a:t>
            </a:r>
            <a:endParaRPr dirty="0"/>
          </a:p>
          <a:p>
            <a:pPr marL="800100" lvl="1">
              <a:spcBef>
                <a:spcPts val="440"/>
              </a:spcBef>
              <a:buSzPts val="2200"/>
              <a:buChar char="•"/>
            </a:pPr>
            <a:r>
              <a:rPr lang="en-US" sz="1800" dirty="0"/>
              <a:t>Sensors</a:t>
            </a:r>
            <a:endParaRPr dirty="0"/>
          </a:p>
          <a:p>
            <a:pPr marL="342900" lvl="0" indent="-342900" algn="l" rtl="0">
              <a:spcBef>
                <a:spcPts val="440"/>
              </a:spcBef>
              <a:spcAft>
                <a:spcPts val="0"/>
              </a:spcAft>
              <a:buClr>
                <a:schemeClr val="dk1"/>
              </a:buClr>
              <a:buSzPts val="2200"/>
              <a:buChar char="•"/>
            </a:pPr>
            <a:r>
              <a:rPr lang="en-US" sz="2200" dirty="0"/>
              <a:t>Types of </a:t>
            </a:r>
            <a:r>
              <a:rPr lang="en-US" sz="2200" dirty="0" smtClean="0"/>
              <a:t>agents</a:t>
            </a:r>
          </a:p>
          <a:p>
            <a:pPr marL="800100" lvl="1">
              <a:spcBef>
                <a:spcPts val="440"/>
              </a:spcBef>
              <a:buSzPts val="2200"/>
              <a:buChar char="•"/>
            </a:pPr>
            <a:r>
              <a:rPr lang="en-US" sz="1800" dirty="0" smtClean="0"/>
              <a:t>Simple Reflex Agent</a:t>
            </a:r>
          </a:p>
          <a:p>
            <a:pPr marL="800100" lvl="1">
              <a:spcBef>
                <a:spcPts val="440"/>
              </a:spcBef>
              <a:buSzPts val="2200"/>
              <a:buChar char="•"/>
            </a:pPr>
            <a:r>
              <a:rPr lang="en-US" sz="1800" dirty="0" smtClean="0"/>
              <a:t>Model based Agent</a:t>
            </a:r>
          </a:p>
          <a:p>
            <a:pPr marL="800100" lvl="1">
              <a:spcBef>
                <a:spcPts val="440"/>
              </a:spcBef>
              <a:buSzPts val="2200"/>
              <a:buChar char="•"/>
            </a:pPr>
            <a:r>
              <a:rPr lang="en-US" sz="1800" dirty="0" smtClean="0"/>
              <a:t>Goal based Agent</a:t>
            </a:r>
          </a:p>
          <a:p>
            <a:pPr marL="800100" lvl="1">
              <a:spcBef>
                <a:spcPts val="440"/>
              </a:spcBef>
              <a:buSzPts val="2200"/>
              <a:buChar char="•"/>
            </a:pPr>
            <a:r>
              <a:rPr lang="en-US" sz="1800" dirty="0" smtClean="0"/>
              <a:t>Utility based Agent</a:t>
            </a:r>
            <a:endParaRPr sz="1800" dirty="0"/>
          </a:p>
          <a:p>
            <a:pPr marL="342900" lvl="0" indent="-139700" algn="l" rtl="0">
              <a:spcBef>
                <a:spcPts val="640"/>
              </a:spcBef>
              <a:spcAft>
                <a:spcPts val="0"/>
              </a:spcAft>
              <a:buClr>
                <a:schemeClr val="dk1"/>
              </a:buClr>
              <a:buSzPts val="3200"/>
              <a:buNone/>
            </a:pPr>
            <a:endParaRPr dirty="0"/>
          </a:p>
          <a:p>
            <a:pPr marL="342900" lvl="0" indent="-139700" algn="l" rtl="0">
              <a:spcBef>
                <a:spcPts val="640"/>
              </a:spcBef>
              <a:spcAft>
                <a:spcPts val="0"/>
              </a:spcAft>
              <a:buClr>
                <a:schemeClr val="dk1"/>
              </a:buClr>
              <a:buSzPts val="3200"/>
              <a:buNone/>
            </a:pPr>
            <a:endParaRPr dirty="0"/>
          </a:p>
        </p:txBody>
      </p:sp>
    </p:spTree>
    <p:extLst>
      <p:ext uri="{BB962C8B-B14F-4D97-AF65-F5344CB8AC3E}">
        <p14:creationId xmlns:p14="http://schemas.microsoft.com/office/powerpoint/2010/main" val="1287047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3F296526D7BB4EB949B2D9BCC1BDA8" ma:contentTypeVersion="3" ma:contentTypeDescription="Create a new document." ma:contentTypeScope="" ma:versionID="54ebf3a4d97c1b18f8c02f93bf7dfe45">
  <xsd:schema xmlns:xsd="http://www.w3.org/2001/XMLSchema" xmlns:xs="http://www.w3.org/2001/XMLSchema" xmlns:p="http://schemas.microsoft.com/office/2006/metadata/properties" xmlns:ns2="71778b39-a39e-4048-b00f-99dfecabd0ec" targetNamespace="http://schemas.microsoft.com/office/2006/metadata/properties" ma:root="true" ma:fieldsID="a0869485a2b5bdb0dfad92a9ed9b6ec3" ns2:_="">
    <xsd:import namespace="71778b39-a39e-4048-b00f-99dfecabd0e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778b39-a39e-4048-b00f-99dfecabd0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FC58640-3CE4-428F-9B63-8E61A8CF2FB0}"/>
</file>

<file path=customXml/itemProps2.xml><?xml version="1.0" encoding="utf-8"?>
<ds:datastoreItem xmlns:ds="http://schemas.openxmlformats.org/officeDocument/2006/customXml" ds:itemID="{AB52A696-5FBE-46D2-BB96-FE36D706F8A2}"/>
</file>

<file path=customXml/itemProps3.xml><?xml version="1.0" encoding="utf-8"?>
<ds:datastoreItem xmlns:ds="http://schemas.openxmlformats.org/officeDocument/2006/customXml" ds:itemID="{B519938D-E29B-4A8D-8005-61D4E127B882}"/>
</file>

<file path=docProps/app.xml><?xml version="1.0" encoding="utf-8"?>
<Properties xmlns="http://schemas.openxmlformats.org/officeDocument/2006/extended-properties" xmlns:vt="http://schemas.openxmlformats.org/officeDocument/2006/docPropsVTypes">
  <TotalTime>9214</TotalTime>
  <Words>1218</Words>
  <Application>Microsoft Office PowerPoint</Application>
  <PresentationFormat>On-screen Show (4:3)</PresentationFormat>
  <Paragraphs>143</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Noto Sans Symbols</vt:lpstr>
      <vt:lpstr>Times</vt:lpstr>
      <vt:lpstr>Office Theme</vt:lpstr>
      <vt:lpstr>Artificial Intelligence</vt:lpstr>
      <vt:lpstr>Today’s Lecture</vt:lpstr>
      <vt:lpstr>Agent Definition</vt:lpstr>
      <vt:lpstr>Environments</vt:lpstr>
      <vt:lpstr>PowerPoint Presentation</vt:lpstr>
      <vt:lpstr>Agents example  </vt:lpstr>
      <vt:lpstr>Task Environment</vt:lpstr>
      <vt:lpstr>PEAS</vt:lpstr>
      <vt:lpstr>Properties of task environments</vt:lpstr>
      <vt:lpstr>Properties of task environments</vt:lpstr>
      <vt:lpstr>Properties of task environments</vt:lpstr>
      <vt:lpstr>Properties of task environments</vt:lpstr>
      <vt:lpstr>Properties of task environments</vt:lpstr>
      <vt:lpstr>Properties of task environments</vt:lpstr>
      <vt:lpstr>Agent types</vt:lpstr>
      <vt:lpstr>Simple reflex agents</vt:lpstr>
      <vt:lpstr>Simple Reflex Agent</vt:lpstr>
      <vt:lpstr>Model-based reflex agents</vt:lpstr>
      <vt:lpstr>Model-based reflex agents</vt:lpstr>
      <vt:lpstr>Goal-based agents</vt:lpstr>
      <vt:lpstr>Goal-based agent</vt:lpstr>
      <vt:lpstr>Utility-based agents</vt:lpstr>
      <vt:lpstr>Utility-based agents</vt:lpstr>
      <vt:lpstr>Today’s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GHAZALA</dc:creator>
  <cp:lastModifiedBy>Administrator</cp:lastModifiedBy>
  <cp:revision>10</cp:revision>
  <dcterms:created xsi:type="dcterms:W3CDTF">2012-02-27T05:45:45Z</dcterms:created>
  <dcterms:modified xsi:type="dcterms:W3CDTF">2025-10-16T18:44:48Z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0x010100263F296526D7BB4EB949B2D9BCC1BDA8</vt:lpwstr>
  </property>
</Properties>
</file>