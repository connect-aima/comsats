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8.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7.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jA3MlWlMseu5G1CKVtgbcxlv7YB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1460" y="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8da25a7dcd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8da25a7dcd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g38da25a7dcd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3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3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3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3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3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4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0"/>
          <p:cNvSpPr>
            <a:spLocks noGrp="1"/>
          </p:cNvSpPr>
          <p:nvPr>
            <p:ph type="pic" idx="2"/>
          </p:nvPr>
        </p:nvSpPr>
        <p:spPr>
          <a:xfrm>
            <a:off x="1792288" y="612775"/>
            <a:ext cx="5486400" cy="4114800"/>
          </a:xfrm>
          <a:prstGeom prst="rect">
            <a:avLst/>
          </a:prstGeom>
          <a:noFill/>
          <a:ln>
            <a:noFill/>
          </a:ln>
        </p:spPr>
      </p:sp>
      <p:sp>
        <p:nvSpPr>
          <p:cNvPr id="64" name="Google Shape;64;p4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Artificial Intelligence</a:t>
            </a:r>
            <a:endParaRPr>
              <a:latin typeface="Arial"/>
              <a:ea typeface="Arial"/>
              <a:cs typeface="Arial"/>
              <a:sym typeface="Arial"/>
            </a:endParaRPr>
          </a:p>
        </p:txBody>
      </p:sp>
      <p:sp>
        <p:nvSpPr>
          <p:cNvPr id="85" name="Google Shape;85;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88888"/>
              </a:buClr>
              <a:buSzPts val="3200"/>
              <a:buNone/>
            </a:pPr>
            <a:r>
              <a:rPr lang="en-US"/>
              <a:t>Lecture 5</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alibri"/>
              <a:buNone/>
            </a:pPr>
            <a:r>
              <a:rPr lang="en-US" sz="4000"/>
              <a:t>Today’s Lecture</a:t>
            </a:r>
            <a:endParaRPr/>
          </a:p>
        </p:txBody>
      </p:sp>
      <p:sp>
        <p:nvSpPr>
          <p:cNvPr id="91" name="Google Shape;91;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200"/>
              <a:buChar char="•"/>
            </a:pPr>
            <a:r>
              <a:rPr lang="en-US" sz="2200"/>
              <a:t>MiniMax Algorithm</a:t>
            </a:r>
            <a:endParaRPr/>
          </a:p>
          <a:p>
            <a:pPr marL="342900" lvl="0" indent="-342900" algn="l" rtl="0">
              <a:lnSpc>
                <a:spcPct val="100000"/>
              </a:lnSpc>
              <a:spcBef>
                <a:spcPts val="440"/>
              </a:spcBef>
              <a:spcAft>
                <a:spcPts val="0"/>
              </a:spcAft>
              <a:buClr>
                <a:schemeClr val="dk1"/>
              </a:buClr>
              <a:buSzPts val="2200"/>
              <a:buChar char="•"/>
            </a:pPr>
            <a:r>
              <a:rPr lang="en-US" sz="2200"/>
              <a:t>Alpha Beta Pruning</a:t>
            </a:r>
            <a:endParaRPr/>
          </a:p>
          <a:p>
            <a:pPr marL="342900" lvl="0" indent="-139700" algn="l" rtl="0">
              <a:lnSpc>
                <a:spcPct val="100000"/>
              </a:lnSpc>
              <a:spcBef>
                <a:spcPts val="640"/>
              </a:spcBef>
              <a:spcAft>
                <a:spcPts val="0"/>
              </a:spcAft>
              <a:buClr>
                <a:schemeClr val="dk1"/>
              </a:buClr>
              <a:buSzPts val="3200"/>
              <a:buNone/>
            </a:pPr>
            <a:endParaRPr/>
          </a:p>
          <a:p>
            <a:pPr marL="342900" lvl="0" indent="-139700" algn="l" rtl="0">
              <a:lnSpc>
                <a:spcPct val="100000"/>
              </a:lnSpc>
              <a:spcBef>
                <a:spcPts val="640"/>
              </a:spcBef>
              <a:spcAft>
                <a:spcPts val="0"/>
              </a:spcAft>
              <a:buClr>
                <a:schemeClr val="dk1"/>
              </a:buClr>
              <a:buSzPts val="3200"/>
              <a:buNone/>
            </a:pP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alibri"/>
              <a:buNone/>
            </a:pPr>
            <a:r>
              <a:rPr lang="en-US" sz="4000"/>
              <a:t>MiniMax Algorithm</a:t>
            </a:r>
            <a:endParaRPr/>
          </a:p>
        </p:txBody>
      </p:sp>
      <p:sp>
        <p:nvSpPr>
          <p:cNvPr id="97" name="Google Shape;9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lnSpc>
                <a:spcPct val="100000"/>
              </a:lnSpc>
              <a:spcBef>
                <a:spcPts val="0"/>
              </a:spcBef>
              <a:spcAft>
                <a:spcPts val="0"/>
              </a:spcAft>
              <a:buSzPct val="100000"/>
              <a:buChar char="•"/>
            </a:pPr>
            <a:r>
              <a:rPr lang="en-US"/>
              <a:t>Minimax is a kind of backtracking algorithm that is used in decision making and game theory to find the optimal move for a player, assuming that your opponent also plays optimally. </a:t>
            </a:r>
            <a:endParaRPr/>
          </a:p>
          <a:p>
            <a:pPr marL="342900" lvl="0" indent="-342900" algn="l" rtl="0">
              <a:lnSpc>
                <a:spcPct val="100000"/>
              </a:lnSpc>
              <a:spcBef>
                <a:spcPts val="0"/>
              </a:spcBef>
              <a:spcAft>
                <a:spcPts val="0"/>
              </a:spcAft>
              <a:buSzPct val="100000"/>
              <a:buChar char="•"/>
            </a:pPr>
            <a:r>
              <a:rPr lang="en-US"/>
              <a:t>It is widely used in two player turn-based games such as Tic-Tac-Toe, Chess, etc.</a:t>
            </a:r>
            <a:br>
              <a:rPr lang="en-US" sz="2800"/>
            </a:br>
            <a:r>
              <a:rPr lang="en-US">
                <a:solidFill>
                  <a:srgbClr val="FF0000"/>
                </a:solidFill>
              </a:rPr>
              <a:t>In Minimax the two players are called maximizer and minimizer</a:t>
            </a:r>
            <a:r>
              <a:rPr lang="en-US"/>
              <a:t>. </a:t>
            </a:r>
            <a:endParaRPr/>
          </a:p>
          <a:p>
            <a:pPr marL="342900" lvl="0" indent="-342900" algn="l" rtl="0">
              <a:lnSpc>
                <a:spcPct val="100000"/>
              </a:lnSpc>
              <a:spcBef>
                <a:spcPts val="0"/>
              </a:spcBef>
              <a:spcAft>
                <a:spcPts val="0"/>
              </a:spcAft>
              <a:buSzPct val="100000"/>
              <a:buChar char="•"/>
            </a:pPr>
            <a:r>
              <a:rPr lang="en-US">
                <a:solidFill>
                  <a:srgbClr val="FF0000"/>
                </a:solidFill>
              </a:rPr>
              <a:t>The maximizer tries to get the highest score possible while the minimizer tries to do the opposite and get the lowest score possible</a:t>
            </a:r>
            <a:r>
              <a:rPr lang="en-US"/>
              <a:t>.</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MiniMax Tree</a:t>
            </a:r>
            <a:endParaRPr/>
          </a:p>
        </p:txBody>
      </p:sp>
      <p:sp>
        <p:nvSpPr>
          <p:cNvPr id="103" name="Google Shape;103;p4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228600" algn="l" rtl="0">
              <a:lnSpc>
                <a:spcPct val="100000"/>
              </a:lnSpc>
              <a:spcBef>
                <a:spcPts val="360"/>
              </a:spcBef>
              <a:spcAft>
                <a:spcPts val="0"/>
              </a:spcAft>
              <a:buClr>
                <a:schemeClr val="dk1"/>
              </a:buClr>
              <a:buSzPts val="1800"/>
              <a:buNone/>
            </a:pPr>
            <a:endParaRPr/>
          </a:p>
        </p:txBody>
      </p:sp>
      <p:pic>
        <p:nvPicPr>
          <p:cNvPr id="104" name="Google Shape;104;p43"/>
          <p:cNvPicPr preferRelativeResize="0"/>
          <p:nvPr/>
        </p:nvPicPr>
        <p:blipFill rotWithShape="1">
          <a:blip r:embed="rId3">
            <a:alphaModFix/>
          </a:blip>
          <a:srcRect/>
          <a:stretch/>
        </p:blipFill>
        <p:spPr>
          <a:xfrm>
            <a:off x="457200" y="2039815"/>
            <a:ext cx="8103832" cy="3402623"/>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MiniMax Algorithm</a:t>
            </a:r>
            <a:endParaRPr/>
          </a:p>
        </p:txBody>
      </p:sp>
      <p:sp>
        <p:nvSpPr>
          <p:cNvPr id="110" name="Google Shape;110;p44"/>
          <p:cNvSpPr txBox="1">
            <a:spLocks noGrp="1"/>
          </p:cNvSpPr>
          <p:nvPr>
            <p:ph type="body" idx="1"/>
          </p:nvPr>
        </p:nvSpPr>
        <p:spPr>
          <a:xfrm>
            <a:off x="457200" y="1600200"/>
            <a:ext cx="8229600" cy="4686300"/>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l" rtl="0">
              <a:lnSpc>
                <a:spcPct val="100000"/>
              </a:lnSpc>
              <a:spcBef>
                <a:spcPts val="360"/>
              </a:spcBef>
              <a:spcAft>
                <a:spcPts val="0"/>
              </a:spcAft>
              <a:buClr>
                <a:schemeClr val="dk1"/>
              </a:buClr>
              <a:buSzPct val="60810"/>
              <a:buChar char="•"/>
            </a:pPr>
            <a:r>
              <a:rPr lang="en-US"/>
              <a:t>Compute for each node n </a:t>
            </a:r>
            <a:endParaRPr/>
          </a:p>
          <a:p>
            <a:pPr marL="457200" lvl="0" indent="-228600" algn="l" rtl="0">
              <a:lnSpc>
                <a:spcPct val="100000"/>
              </a:lnSpc>
              <a:spcBef>
                <a:spcPts val="360"/>
              </a:spcBef>
              <a:spcAft>
                <a:spcPts val="0"/>
              </a:spcAft>
              <a:buClr>
                <a:schemeClr val="dk1"/>
              </a:buClr>
              <a:buSzPct val="60810"/>
              <a:buNone/>
            </a:pPr>
            <a:endParaRPr/>
          </a:p>
          <a:p>
            <a:pPr marL="457200" lvl="0" indent="-228600" algn="l" rtl="0">
              <a:lnSpc>
                <a:spcPct val="100000"/>
              </a:lnSpc>
              <a:spcBef>
                <a:spcPts val="360"/>
              </a:spcBef>
              <a:spcAft>
                <a:spcPts val="0"/>
              </a:spcAft>
              <a:buClr>
                <a:schemeClr val="dk1"/>
              </a:buClr>
              <a:buSzPct val="60810"/>
              <a:buNone/>
            </a:pPr>
            <a:endParaRPr/>
          </a:p>
          <a:p>
            <a:pPr marL="457200" lvl="0" indent="-228600" algn="l" rtl="0">
              <a:lnSpc>
                <a:spcPct val="100000"/>
              </a:lnSpc>
              <a:spcBef>
                <a:spcPts val="360"/>
              </a:spcBef>
              <a:spcAft>
                <a:spcPts val="0"/>
              </a:spcAft>
              <a:buClr>
                <a:schemeClr val="dk1"/>
              </a:buClr>
              <a:buSzPct val="60810"/>
              <a:buNone/>
            </a:pPr>
            <a:endParaRPr/>
          </a:p>
          <a:p>
            <a:pPr marL="457200" lvl="0" indent="-228600" algn="l" rtl="0">
              <a:lnSpc>
                <a:spcPct val="100000"/>
              </a:lnSpc>
              <a:spcBef>
                <a:spcPts val="360"/>
              </a:spcBef>
              <a:spcAft>
                <a:spcPts val="0"/>
              </a:spcAft>
              <a:buClr>
                <a:schemeClr val="dk1"/>
              </a:buClr>
              <a:buSzPct val="60810"/>
              <a:buNone/>
            </a:pPr>
            <a:endParaRPr/>
          </a:p>
          <a:p>
            <a:pPr marL="457200" lvl="0" indent="-228600" algn="l" rtl="0">
              <a:lnSpc>
                <a:spcPct val="100000"/>
              </a:lnSpc>
              <a:spcBef>
                <a:spcPts val="360"/>
              </a:spcBef>
              <a:spcAft>
                <a:spcPts val="0"/>
              </a:spcAft>
              <a:buClr>
                <a:schemeClr val="dk1"/>
              </a:buClr>
              <a:buSzPct val="60810"/>
              <a:buNone/>
            </a:pPr>
            <a:endParaRPr/>
          </a:p>
          <a:p>
            <a:pPr marL="457200" lvl="0" indent="-342900" algn="l" rtl="0">
              <a:lnSpc>
                <a:spcPct val="100000"/>
              </a:lnSpc>
              <a:spcBef>
                <a:spcPts val="360"/>
              </a:spcBef>
              <a:spcAft>
                <a:spcPts val="0"/>
              </a:spcAft>
              <a:buClr>
                <a:schemeClr val="dk1"/>
              </a:buClr>
              <a:buSzPct val="60810"/>
              <a:buChar char="•"/>
            </a:pPr>
            <a:r>
              <a:rPr lang="en-US"/>
              <a:t>If </a:t>
            </a:r>
            <a:r>
              <a:rPr lang="en-US" i="1"/>
              <a:t>n</a:t>
            </a:r>
            <a:r>
              <a:rPr lang="en-US"/>
              <a:t> is the terminal node then return utility value</a:t>
            </a:r>
            <a:endParaRPr/>
          </a:p>
          <a:p>
            <a:pPr marL="457200" lvl="0" indent="-342900" algn="l" rtl="0">
              <a:lnSpc>
                <a:spcPct val="100000"/>
              </a:lnSpc>
              <a:spcBef>
                <a:spcPts val="360"/>
              </a:spcBef>
              <a:spcAft>
                <a:spcPts val="0"/>
              </a:spcAft>
              <a:buClr>
                <a:schemeClr val="dk1"/>
              </a:buClr>
              <a:buSzPct val="60810"/>
              <a:buChar char="•"/>
            </a:pPr>
            <a:r>
              <a:rPr lang="en-US"/>
              <a:t>If </a:t>
            </a:r>
            <a:r>
              <a:rPr lang="en-US" i="1"/>
              <a:t>n</a:t>
            </a:r>
            <a:r>
              <a:rPr lang="en-US"/>
              <a:t> is a MAX player’s turn then they want to maximize the final score.</a:t>
            </a:r>
            <a:endParaRPr/>
          </a:p>
          <a:p>
            <a:pPr marL="457200" lvl="0" indent="-342900" algn="l" rtl="0">
              <a:lnSpc>
                <a:spcPct val="100000"/>
              </a:lnSpc>
              <a:spcBef>
                <a:spcPts val="360"/>
              </a:spcBef>
              <a:spcAft>
                <a:spcPts val="0"/>
              </a:spcAft>
              <a:buClr>
                <a:schemeClr val="dk1"/>
              </a:buClr>
              <a:buSzPct val="60810"/>
              <a:buChar char="•"/>
            </a:pPr>
            <a:r>
              <a:rPr lang="en-US"/>
              <a:t>If </a:t>
            </a:r>
            <a:r>
              <a:rPr lang="en-US" i="1"/>
              <a:t>n</a:t>
            </a:r>
            <a:r>
              <a:rPr lang="en-US"/>
              <a:t> is a MIN player’s turn then they want to minimize the final score.</a:t>
            </a:r>
            <a:endParaRPr/>
          </a:p>
        </p:txBody>
      </p:sp>
      <p:pic>
        <p:nvPicPr>
          <p:cNvPr id="111" name="Google Shape;111;p44"/>
          <p:cNvPicPr preferRelativeResize="0"/>
          <p:nvPr/>
        </p:nvPicPr>
        <p:blipFill rotWithShape="1">
          <a:blip r:embed="rId3">
            <a:alphaModFix/>
          </a:blip>
          <a:srcRect/>
          <a:stretch/>
        </p:blipFill>
        <p:spPr>
          <a:xfrm>
            <a:off x="668216" y="2241755"/>
            <a:ext cx="8229600" cy="1728216"/>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8da25a7dcd_0_0"/>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MiniMax Algorithm</a:t>
            </a:r>
            <a:endParaRPr/>
          </a:p>
        </p:txBody>
      </p:sp>
      <p:sp>
        <p:nvSpPr>
          <p:cNvPr id="118" name="Google Shape;118;g38da25a7dcd_0_0"/>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lnSpcReduction="10000"/>
          </a:bodyPr>
          <a:lstStyle/>
          <a:p>
            <a:pPr marL="0" lvl="0" indent="0" algn="l" rtl="0">
              <a:spcBef>
                <a:spcPts val="360"/>
              </a:spcBef>
              <a:spcAft>
                <a:spcPts val="0"/>
              </a:spcAft>
              <a:buNone/>
            </a:pPr>
            <a:r>
              <a:rPr lang="en-US"/>
              <a:t>For each move by the computer: </a:t>
            </a:r>
            <a:endParaRPr/>
          </a:p>
          <a:p>
            <a:pPr marL="457200" lvl="0" indent="-431800" algn="l" rtl="0">
              <a:spcBef>
                <a:spcPts val="360"/>
              </a:spcBef>
              <a:spcAft>
                <a:spcPts val="0"/>
              </a:spcAft>
              <a:buSzPts val="3200"/>
              <a:buAutoNum type="arabicPeriod"/>
            </a:pPr>
            <a:r>
              <a:rPr lang="en-US"/>
              <a:t>Perform depth-first search to a terminal state</a:t>
            </a:r>
            <a:endParaRPr/>
          </a:p>
          <a:p>
            <a:pPr marL="457200" lvl="0" indent="-431800" algn="l" rtl="0">
              <a:spcBef>
                <a:spcPts val="0"/>
              </a:spcBef>
              <a:spcAft>
                <a:spcPts val="0"/>
              </a:spcAft>
              <a:buSzPts val="3200"/>
              <a:buAutoNum type="arabicPeriod"/>
            </a:pPr>
            <a:r>
              <a:rPr lang="en-US"/>
              <a:t>Evaluate each terminal state </a:t>
            </a:r>
            <a:endParaRPr/>
          </a:p>
          <a:p>
            <a:pPr marL="457200" lvl="0" indent="-431800" algn="l" rtl="0">
              <a:spcBef>
                <a:spcPts val="0"/>
              </a:spcBef>
              <a:spcAft>
                <a:spcPts val="0"/>
              </a:spcAft>
              <a:buSzPts val="3200"/>
              <a:buAutoNum type="arabicPeriod"/>
            </a:pPr>
            <a:r>
              <a:rPr lang="en-US"/>
              <a:t>Propagate upwards the minimax values </a:t>
            </a:r>
            <a:endParaRPr/>
          </a:p>
          <a:p>
            <a:pPr marL="914400" lvl="1" indent="-342900" algn="l" rtl="0">
              <a:spcBef>
                <a:spcPts val="0"/>
              </a:spcBef>
              <a:spcAft>
                <a:spcPts val="0"/>
              </a:spcAft>
              <a:buSzPts val="1800"/>
              <a:buAutoNum type="alphaLcPeriod"/>
            </a:pPr>
            <a:r>
              <a:rPr lang="en-US"/>
              <a:t>if min's move, propagate up minimum value of children </a:t>
            </a:r>
            <a:endParaRPr/>
          </a:p>
          <a:p>
            <a:pPr marL="914400" lvl="1" indent="-342900" algn="l" rtl="0">
              <a:spcBef>
                <a:spcPts val="0"/>
              </a:spcBef>
              <a:spcAft>
                <a:spcPts val="0"/>
              </a:spcAft>
              <a:buSzPts val="1800"/>
              <a:buAutoNum type="alphaLcPeriod"/>
            </a:pPr>
            <a:r>
              <a:rPr lang="en-US"/>
              <a:t>if max's move, propagate up maximum value of children </a:t>
            </a:r>
            <a:endParaRPr/>
          </a:p>
          <a:p>
            <a:pPr marL="457200" lvl="0" indent="-431800" algn="l" rtl="0">
              <a:spcBef>
                <a:spcPts val="0"/>
              </a:spcBef>
              <a:spcAft>
                <a:spcPts val="0"/>
              </a:spcAft>
              <a:buSzPts val="3200"/>
              <a:buAutoNum type="arabicPeriod"/>
            </a:pPr>
            <a:r>
              <a:rPr lang="en-US"/>
              <a:t>Choose move at root with the maximum of minimax values of children </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MiniMax Search</a:t>
            </a:r>
            <a:endParaRPr/>
          </a:p>
        </p:txBody>
      </p:sp>
      <p:pic>
        <p:nvPicPr>
          <p:cNvPr id="124" name="Google Shape;124;p7"/>
          <p:cNvPicPr preferRelativeResize="0"/>
          <p:nvPr/>
        </p:nvPicPr>
        <p:blipFill rotWithShape="1">
          <a:blip r:embed="rId3">
            <a:alphaModFix/>
          </a:blip>
          <a:srcRect/>
          <a:stretch/>
        </p:blipFill>
        <p:spPr>
          <a:xfrm>
            <a:off x="940776" y="2347545"/>
            <a:ext cx="7394331" cy="2956287"/>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MiniMax Search</a:t>
            </a:r>
            <a:endParaRPr/>
          </a:p>
        </p:txBody>
      </p:sp>
      <p:sp>
        <p:nvSpPr>
          <p:cNvPr id="130" name="Google Shape;130;p4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228600" algn="l" rtl="0">
              <a:lnSpc>
                <a:spcPct val="100000"/>
              </a:lnSpc>
              <a:spcBef>
                <a:spcPts val="360"/>
              </a:spcBef>
              <a:spcAft>
                <a:spcPts val="0"/>
              </a:spcAft>
              <a:buClr>
                <a:schemeClr val="dk1"/>
              </a:buClr>
              <a:buSzPts val="1800"/>
              <a:buNone/>
            </a:pPr>
            <a:endParaRPr/>
          </a:p>
        </p:txBody>
      </p:sp>
      <p:pic>
        <p:nvPicPr>
          <p:cNvPr id="131" name="Google Shape;131;p45"/>
          <p:cNvPicPr preferRelativeResize="0"/>
          <p:nvPr/>
        </p:nvPicPr>
        <p:blipFill rotWithShape="1">
          <a:blip r:embed="rId3">
            <a:alphaModFix/>
          </a:blip>
          <a:srcRect/>
          <a:stretch/>
        </p:blipFill>
        <p:spPr>
          <a:xfrm>
            <a:off x="593700" y="1982299"/>
            <a:ext cx="8093099" cy="3412183"/>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46"/>
          <p:cNvSpPr txBox="1">
            <a:spLocks noGrp="1"/>
          </p:cNvSpPr>
          <p:nvPr>
            <p:ph type="title"/>
          </p:nvPr>
        </p:nvSpPr>
        <p:spPr>
          <a:xfrm>
            <a:off x="457200" y="274638"/>
            <a:ext cx="8229600" cy="7101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t>Exercise</a:t>
            </a:r>
            <a:endParaRPr/>
          </a:p>
        </p:txBody>
      </p:sp>
      <p:sp>
        <p:nvSpPr>
          <p:cNvPr id="137" name="Google Shape;137;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Apply MiniMax algorithm on the following example.</a:t>
            </a:r>
            <a:endParaRPr/>
          </a:p>
        </p:txBody>
      </p:sp>
      <p:pic>
        <p:nvPicPr>
          <p:cNvPr id="138" name="Google Shape;138;p46" descr="Lightbox"/>
          <p:cNvPicPr preferRelativeResize="0"/>
          <p:nvPr/>
        </p:nvPicPr>
        <p:blipFill rotWithShape="1">
          <a:blip r:embed="rId3">
            <a:alphaModFix/>
          </a:blip>
          <a:srcRect/>
          <a:stretch/>
        </p:blipFill>
        <p:spPr>
          <a:xfrm>
            <a:off x="1485900" y="3377102"/>
            <a:ext cx="6629400" cy="2886076"/>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4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Alpha Beta Pruning</a:t>
            </a:r>
            <a:endParaRPr/>
          </a:p>
        </p:txBody>
      </p:sp>
      <p:sp>
        <p:nvSpPr>
          <p:cNvPr id="144" name="Google Shape;144;p4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457200" lvl="0" indent="-431800" algn="ctr" rtl="0">
              <a:lnSpc>
                <a:spcPct val="100000"/>
              </a:lnSpc>
              <a:spcBef>
                <a:spcPts val="640"/>
              </a:spcBef>
              <a:spcAft>
                <a:spcPts val="0"/>
              </a:spcAft>
              <a:buClr>
                <a:srgbClr val="888888"/>
              </a:buClr>
              <a:buSzPts val="3200"/>
              <a:buNone/>
            </a:pP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Alpha Beta Pruning</a:t>
            </a:r>
            <a:endParaRPr/>
          </a:p>
        </p:txBody>
      </p:sp>
      <p:sp>
        <p:nvSpPr>
          <p:cNvPr id="150" name="Google Shape;150;p4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10000"/>
          </a:bodyPr>
          <a:lstStyle/>
          <a:p>
            <a:pPr marL="457200" lvl="0" indent="-342900" algn="l" rtl="0">
              <a:lnSpc>
                <a:spcPct val="100000"/>
              </a:lnSpc>
              <a:spcBef>
                <a:spcPts val="360"/>
              </a:spcBef>
              <a:spcAft>
                <a:spcPts val="0"/>
              </a:spcAft>
              <a:buClr>
                <a:schemeClr val="dk1"/>
              </a:buClr>
              <a:buSzPct val="66176"/>
              <a:buChar char="•"/>
            </a:pPr>
            <a:r>
              <a:rPr lang="en-US">
                <a:solidFill>
                  <a:srgbClr val="FF0000"/>
                </a:solidFill>
              </a:rPr>
              <a:t>Alpha Beta Pruning optimizes decision-making in the minimax algorithm by reducing unnecessary node visits.</a:t>
            </a:r>
            <a:endParaRPr/>
          </a:p>
          <a:p>
            <a:pPr marL="457200" lvl="0" indent="-342900" algn="l" rtl="0">
              <a:lnSpc>
                <a:spcPct val="100000"/>
              </a:lnSpc>
              <a:spcBef>
                <a:spcPts val="360"/>
              </a:spcBef>
              <a:spcAft>
                <a:spcPts val="0"/>
              </a:spcAft>
              <a:buClr>
                <a:schemeClr val="dk1"/>
              </a:buClr>
              <a:buSzPct val="66176"/>
              <a:buChar char="•"/>
            </a:pPr>
            <a:r>
              <a:rPr lang="en-US"/>
              <a:t>The word ‘pruning’ means cutting down branches and leaves. In Artificial Intelligence, Alpha-beta pruning is the pruning of useless branches in minimax tree.</a:t>
            </a:r>
            <a:endParaRPr b="1"/>
          </a:p>
          <a:p>
            <a:pPr marL="457200" lvl="0" indent="-342900" algn="l" rtl="0">
              <a:lnSpc>
                <a:spcPct val="100000"/>
              </a:lnSpc>
              <a:spcBef>
                <a:spcPts val="360"/>
              </a:spcBef>
              <a:spcAft>
                <a:spcPts val="0"/>
              </a:spcAft>
              <a:buClr>
                <a:schemeClr val="dk1"/>
              </a:buClr>
              <a:buSzPct val="66176"/>
              <a:buChar char="•"/>
            </a:pPr>
            <a:r>
              <a:rPr lang="en-US"/>
              <a:t>The key idea behind Alpha Beta Pruning is to avoid evaluating branches of the game tree that cannot influence the final decision based on the values already discovered during the search. </a:t>
            </a:r>
            <a:endParaRPr/>
          </a:p>
          <a:p>
            <a:pPr marL="457200" lvl="0" indent="-342900" algn="l" rtl="0">
              <a:lnSpc>
                <a:spcPct val="100000"/>
              </a:lnSpc>
              <a:spcBef>
                <a:spcPts val="360"/>
              </a:spcBef>
              <a:spcAft>
                <a:spcPts val="0"/>
              </a:spcAft>
              <a:buClr>
                <a:schemeClr val="dk1"/>
              </a:buClr>
              <a:buSzPct val="66176"/>
              <a:buChar char="•"/>
            </a:pPr>
            <a:r>
              <a:rPr lang="en-US">
                <a:solidFill>
                  <a:srgbClr val="FF0000"/>
                </a:solidFill>
              </a:rPr>
              <a:t>It achieves this using two values: Alpha and Beta.</a:t>
            </a:r>
            <a:endParaRPr/>
          </a:p>
          <a:p>
            <a:pPr marL="457200" lvl="0" indent="-228600" algn="l" rtl="0">
              <a:lnSpc>
                <a:spcPct val="100000"/>
              </a:lnSpc>
              <a:spcBef>
                <a:spcPts val="360"/>
              </a:spcBef>
              <a:spcAft>
                <a:spcPts val="0"/>
              </a:spcAft>
              <a:buClr>
                <a:schemeClr val="dk1"/>
              </a:buClr>
              <a:buSzPct val="66176"/>
              <a:buNone/>
            </a:pP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a:t>Alpha Beta Pruning</a:t>
            </a:r>
            <a:endParaRPr/>
          </a:p>
        </p:txBody>
      </p:sp>
      <p:sp>
        <p:nvSpPr>
          <p:cNvPr id="156" name="Google Shape;156;p4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457200" lvl="0" indent="-342900" algn="l" rtl="0">
              <a:lnSpc>
                <a:spcPct val="100000"/>
              </a:lnSpc>
              <a:spcBef>
                <a:spcPts val="360"/>
              </a:spcBef>
              <a:spcAft>
                <a:spcPts val="0"/>
              </a:spcAft>
              <a:buClr>
                <a:schemeClr val="dk1"/>
              </a:buClr>
              <a:buSzPct val="66176"/>
              <a:buChar char="•"/>
            </a:pPr>
            <a:r>
              <a:rPr lang="en-US">
                <a:solidFill>
                  <a:srgbClr val="FF0000"/>
                </a:solidFill>
              </a:rPr>
              <a:t>Alpha represents the best (highest-value) value that the maximizing player (usually the AI) can guarantee so far.</a:t>
            </a:r>
            <a:r>
              <a:rPr lang="en-US"/>
              <a:t> The initial value of alpha is −∞.</a:t>
            </a:r>
            <a:endParaRPr/>
          </a:p>
          <a:p>
            <a:pPr marL="457200" lvl="0" indent="-342900" algn="l" rtl="0">
              <a:lnSpc>
                <a:spcPct val="100000"/>
              </a:lnSpc>
              <a:spcBef>
                <a:spcPts val="360"/>
              </a:spcBef>
              <a:spcAft>
                <a:spcPts val="0"/>
              </a:spcAft>
              <a:buClr>
                <a:schemeClr val="dk1"/>
              </a:buClr>
              <a:buSzPct val="66176"/>
              <a:buChar char="•"/>
            </a:pPr>
            <a:r>
              <a:rPr lang="en-US">
                <a:solidFill>
                  <a:srgbClr val="FF0000"/>
                </a:solidFill>
              </a:rPr>
              <a:t>Beta represents the best (lowest-value) value that the minimizing player (the opponent) can guarantee so far</a:t>
            </a:r>
            <a:r>
              <a:rPr lang="en-US"/>
              <a:t>. The initial value of alpha is +∞.</a:t>
            </a:r>
            <a:endParaRPr/>
          </a:p>
          <a:p>
            <a:pPr marL="457200" lvl="0" indent="-342900" algn="l" rtl="0">
              <a:lnSpc>
                <a:spcPct val="100000"/>
              </a:lnSpc>
              <a:spcBef>
                <a:spcPts val="360"/>
              </a:spcBef>
              <a:spcAft>
                <a:spcPts val="0"/>
              </a:spcAft>
              <a:buClr>
                <a:schemeClr val="dk1"/>
              </a:buClr>
              <a:buSzPct val="66176"/>
              <a:buChar char="•"/>
            </a:pPr>
            <a:r>
              <a:rPr lang="en-US">
                <a:solidFill>
                  <a:srgbClr val="FF0000"/>
                </a:solidFill>
              </a:rPr>
              <a:t>If, at any point, Alpha becomes greater than or equal to Beta, this branch is pruned</a:t>
            </a:r>
            <a:r>
              <a:rPr lang="en-US"/>
              <a:t>, and the algorithm moves on to the next branch.</a:t>
            </a:r>
            <a:endParaRPr/>
          </a:p>
          <a:p>
            <a:pPr marL="457200" lvl="0" indent="-342900" algn="l" rtl="0">
              <a:lnSpc>
                <a:spcPct val="100000"/>
              </a:lnSpc>
              <a:spcBef>
                <a:spcPts val="360"/>
              </a:spcBef>
              <a:spcAft>
                <a:spcPts val="0"/>
              </a:spcAft>
              <a:buClr>
                <a:schemeClr val="dk1"/>
              </a:buClr>
              <a:buSzPct val="66176"/>
              <a:buChar char="•"/>
            </a:pPr>
            <a:r>
              <a:rPr lang="en-US"/>
              <a:t>This process allows the algorithm to skip large parts of the tree, significantly reducing the number of nodes to be evaluated.</a:t>
            </a:r>
            <a:endParaRPr/>
          </a:p>
          <a:p>
            <a:pPr marL="457200" lvl="0" indent="-228600" algn="l" rtl="0">
              <a:lnSpc>
                <a:spcPct val="100000"/>
              </a:lnSpc>
              <a:spcBef>
                <a:spcPts val="360"/>
              </a:spcBef>
              <a:spcAft>
                <a:spcPts val="0"/>
              </a:spcAft>
              <a:buClr>
                <a:schemeClr val="dk1"/>
              </a:buClr>
              <a:buSzPct val="66176"/>
              <a:buNone/>
            </a:pPr>
            <a:endParaRPr/>
          </a:p>
          <a:p>
            <a:pPr marL="457200" lvl="0" indent="-228600" algn="l" rtl="0">
              <a:lnSpc>
                <a:spcPct val="100000"/>
              </a:lnSpc>
              <a:spcBef>
                <a:spcPts val="360"/>
              </a:spcBef>
              <a:spcAft>
                <a:spcPts val="0"/>
              </a:spcAft>
              <a:buClr>
                <a:schemeClr val="dk1"/>
              </a:buClr>
              <a:buSzPct val="66176"/>
              <a:buNone/>
            </a:pPr>
            <a:endParaRPr/>
          </a:p>
          <a:p>
            <a:pPr marL="457200" lvl="0" indent="-228600" algn="l" rtl="0">
              <a:lnSpc>
                <a:spcPct val="100000"/>
              </a:lnSpc>
              <a:spcBef>
                <a:spcPts val="360"/>
              </a:spcBef>
              <a:spcAft>
                <a:spcPts val="0"/>
              </a:spcAft>
              <a:buClr>
                <a:schemeClr val="dk1"/>
              </a:buClr>
              <a:buSzPct val="66176"/>
              <a:buNone/>
            </a:pP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50"/>
          <p:cNvSpPr txBox="1">
            <a:spLocks noGrp="1"/>
          </p:cNvSpPr>
          <p:nvPr>
            <p:ph type="title"/>
          </p:nvPr>
        </p:nvSpPr>
        <p:spPr>
          <a:xfrm>
            <a:off x="457200" y="265846"/>
            <a:ext cx="8229600" cy="674931"/>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t>Alpha Beta Pruning Example</a:t>
            </a:r>
            <a:endParaRPr/>
          </a:p>
        </p:txBody>
      </p:sp>
      <p:sp>
        <p:nvSpPr>
          <p:cNvPr id="162" name="Google Shape;162;p50"/>
          <p:cNvSpPr txBox="1">
            <a:spLocks noGrp="1"/>
          </p:cNvSpPr>
          <p:nvPr>
            <p:ph type="body" idx="1"/>
          </p:nvPr>
        </p:nvSpPr>
        <p:spPr>
          <a:xfrm>
            <a:off x="457200" y="5319345"/>
            <a:ext cx="8229600" cy="1213339"/>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Initially, we will define </a:t>
            </a:r>
            <a:r>
              <a:rPr lang="en-US">
                <a:solidFill>
                  <a:srgbClr val="FF0000"/>
                </a:solidFill>
              </a:rPr>
              <a:t>α = −∞ and β = +∞</a:t>
            </a:r>
            <a:r>
              <a:rPr lang="en-US"/>
              <a:t>. </a:t>
            </a:r>
            <a:endParaRPr/>
          </a:p>
        </p:txBody>
      </p:sp>
      <p:pic>
        <p:nvPicPr>
          <p:cNvPr id="163" name="Google Shape;163;p50" descr="Game tree with initial alpha = -∞ and beta = +∞."/>
          <p:cNvPicPr preferRelativeResize="0"/>
          <p:nvPr/>
        </p:nvPicPr>
        <p:blipFill rotWithShape="1">
          <a:blip r:embed="rId3">
            <a:alphaModFix/>
          </a:blip>
          <a:srcRect/>
          <a:stretch/>
        </p:blipFill>
        <p:spPr>
          <a:xfrm>
            <a:off x="1421665" y="1046287"/>
            <a:ext cx="6226874" cy="3636396"/>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51"/>
          <p:cNvSpPr txBox="1">
            <a:spLocks noGrp="1"/>
          </p:cNvSpPr>
          <p:nvPr>
            <p:ph type="body" idx="1"/>
          </p:nvPr>
        </p:nvSpPr>
        <p:spPr>
          <a:xfrm>
            <a:off x="457200" y="4718543"/>
            <a:ext cx="8229600" cy="1972402"/>
          </a:xfrm>
          <a:prstGeom prst="rect">
            <a:avLst/>
          </a:prstGeom>
          <a:noFill/>
          <a:ln>
            <a:noFill/>
          </a:ln>
        </p:spPr>
        <p:txBody>
          <a:bodyPr spcFirstLastPara="1" wrap="square" lIns="91425" tIns="45700" rIns="91425" bIns="45700" anchor="t" anchorCtr="0">
            <a:normAutofit fontScale="70000" lnSpcReduction="20000"/>
          </a:bodyPr>
          <a:lstStyle/>
          <a:p>
            <a:pPr marL="457200" lvl="0" indent="-355146" algn="l" rtl="0">
              <a:lnSpc>
                <a:spcPct val="100000"/>
              </a:lnSpc>
              <a:spcBef>
                <a:spcPts val="360"/>
              </a:spcBef>
              <a:spcAft>
                <a:spcPts val="0"/>
              </a:spcAft>
              <a:buClr>
                <a:schemeClr val="dk1"/>
              </a:buClr>
              <a:buSzPct val="80357"/>
              <a:buChar char="•"/>
            </a:pPr>
            <a:r>
              <a:rPr lang="en-US"/>
              <a:t>Now it’s turn for MAX. Therefore, we will calculate the value of alpha at node D. </a:t>
            </a:r>
            <a:r>
              <a:rPr lang="en-US">
                <a:solidFill>
                  <a:srgbClr val="FF0000"/>
                </a:solidFill>
              </a:rPr>
              <a:t>At node D, the value of alpha will be MAX (– ∞, 2) = 2 and then MAX (2, 3) = 3.</a:t>
            </a:r>
            <a:endParaRPr/>
          </a:p>
          <a:p>
            <a:pPr marL="457200" lvl="0" indent="-355146" algn="l" rtl="0">
              <a:lnSpc>
                <a:spcPct val="100000"/>
              </a:lnSpc>
              <a:spcBef>
                <a:spcPts val="360"/>
              </a:spcBef>
              <a:spcAft>
                <a:spcPts val="0"/>
              </a:spcAft>
              <a:buClr>
                <a:schemeClr val="dk1"/>
              </a:buClr>
              <a:buSzPct val="80357"/>
              <a:buChar char="•"/>
            </a:pPr>
            <a:r>
              <a:rPr lang="en-US"/>
              <a:t>Now, node B’s turn is MIN. </a:t>
            </a:r>
            <a:r>
              <a:rPr lang="en-US">
                <a:solidFill>
                  <a:srgbClr val="FF0000"/>
                </a:solidFill>
              </a:rPr>
              <a:t>It means that the value of beta at node B will be MIN (3, ∞)</a:t>
            </a:r>
            <a:r>
              <a:rPr lang="en-US"/>
              <a:t>. </a:t>
            </a:r>
            <a:r>
              <a:rPr lang="en-US">
                <a:solidFill>
                  <a:srgbClr val="FF0000"/>
                </a:solidFill>
              </a:rPr>
              <a:t>Therefore, alpha will be – ∞ and beta will be 3 at node B.</a:t>
            </a:r>
            <a:endParaRPr/>
          </a:p>
        </p:txBody>
      </p:sp>
      <p:pic>
        <p:nvPicPr>
          <p:cNvPr id="169" name="Google Shape;169;p51" descr="Node B showing MIN calculation; beta updated to 3."/>
          <p:cNvPicPr preferRelativeResize="0"/>
          <p:nvPr/>
        </p:nvPicPr>
        <p:blipFill rotWithShape="1">
          <a:blip r:embed="rId3">
            <a:alphaModFix/>
          </a:blip>
          <a:srcRect/>
          <a:stretch/>
        </p:blipFill>
        <p:spPr>
          <a:xfrm>
            <a:off x="1140312" y="993533"/>
            <a:ext cx="6727355" cy="3725010"/>
          </a:xfrm>
          <a:prstGeom prst="rect">
            <a:avLst/>
          </a:prstGeom>
          <a:noFill/>
          <a:ln>
            <a:noFill/>
          </a:ln>
        </p:spPr>
      </p:pic>
      <p:sp>
        <p:nvSpPr>
          <p:cNvPr id="170" name="Google Shape;170;p51"/>
          <p:cNvSpPr txBox="1">
            <a:spLocks noGrp="1"/>
          </p:cNvSpPr>
          <p:nvPr>
            <p:ph type="title"/>
          </p:nvPr>
        </p:nvSpPr>
        <p:spPr>
          <a:xfrm>
            <a:off x="457200" y="274638"/>
            <a:ext cx="8229600" cy="736477"/>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t>Alpha Beta Pruning Example</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52"/>
          <p:cNvSpPr txBox="1">
            <a:spLocks noGrp="1"/>
          </p:cNvSpPr>
          <p:nvPr>
            <p:ph type="body" idx="1"/>
          </p:nvPr>
        </p:nvSpPr>
        <p:spPr>
          <a:xfrm>
            <a:off x="457200" y="4334608"/>
            <a:ext cx="8229600" cy="2417884"/>
          </a:xfrm>
          <a:prstGeom prst="rect">
            <a:avLst/>
          </a:prstGeom>
          <a:noFill/>
          <a:ln>
            <a:noFill/>
          </a:ln>
        </p:spPr>
        <p:txBody>
          <a:bodyPr spcFirstLastPara="1" wrap="square" lIns="91425" tIns="45700" rIns="91425" bIns="45700" anchor="t" anchorCtr="0">
            <a:normAutofit fontScale="70000" lnSpcReduction="20000"/>
          </a:bodyPr>
          <a:lstStyle/>
          <a:p>
            <a:pPr marL="457200" lvl="0" indent="-342900" algn="l" rtl="0">
              <a:lnSpc>
                <a:spcPct val="100000"/>
              </a:lnSpc>
              <a:spcBef>
                <a:spcPts val="360"/>
              </a:spcBef>
              <a:spcAft>
                <a:spcPts val="0"/>
              </a:spcAft>
              <a:buClr>
                <a:schemeClr val="dk1"/>
              </a:buClr>
              <a:buSzPct val="80357"/>
              <a:buChar char="•"/>
            </a:pPr>
            <a:r>
              <a:rPr lang="en-US"/>
              <a:t>Next, </a:t>
            </a:r>
            <a:r>
              <a:rPr lang="en-US">
                <a:solidFill>
                  <a:srgbClr val="FF0000"/>
                </a:solidFill>
              </a:rPr>
              <a:t>algorithm will pass the values of α= -∞ and β= 3 to the next successor of Node B, that is node E</a:t>
            </a:r>
            <a:r>
              <a:rPr lang="en-US"/>
              <a:t>.</a:t>
            </a:r>
            <a:endParaRPr/>
          </a:p>
          <a:p>
            <a:pPr marL="457200" lvl="0" indent="-342900" algn="l" rtl="0">
              <a:lnSpc>
                <a:spcPct val="100000"/>
              </a:lnSpc>
              <a:spcBef>
                <a:spcPts val="360"/>
              </a:spcBef>
              <a:spcAft>
                <a:spcPts val="0"/>
              </a:spcAft>
              <a:buSzPct val="80357"/>
              <a:buChar char="•"/>
            </a:pPr>
            <a:r>
              <a:rPr lang="en-US"/>
              <a:t>Now it’s turn for MAX. Therefore, we will search for MAX at node E. </a:t>
            </a:r>
            <a:r>
              <a:rPr lang="en-US">
                <a:solidFill>
                  <a:srgbClr val="FF0000"/>
                </a:solidFill>
              </a:rPr>
              <a:t>The value of alpha at E is – ∞ and will be compared with 5. So, MAX (- ∞, 5) will be 5. Thus, at node E, alpha = 5, Beta = 3.</a:t>
            </a:r>
            <a:endParaRPr>
              <a:solidFill>
                <a:srgbClr val="FF0000"/>
              </a:solidFill>
            </a:endParaRPr>
          </a:p>
          <a:p>
            <a:pPr marL="457200" lvl="0" indent="-342900" algn="l" rtl="0">
              <a:lnSpc>
                <a:spcPct val="100000"/>
              </a:lnSpc>
              <a:spcBef>
                <a:spcPts val="360"/>
              </a:spcBef>
              <a:spcAft>
                <a:spcPts val="0"/>
              </a:spcAft>
              <a:buClr>
                <a:schemeClr val="dk1"/>
              </a:buClr>
              <a:buSzPct val="80357"/>
              <a:buChar char="•"/>
            </a:pPr>
            <a:r>
              <a:rPr lang="en-US">
                <a:solidFill>
                  <a:srgbClr val="FF0000"/>
                </a:solidFill>
              </a:rPr>
              <a:t>We now know that alpha is greater than beta and is also a pruning condition, so we can prune the right successor of node E, and the algorithm will not be visited, and the value of node E will be 5.</a:t>
            </a:r>
            <a:endParaRPr>
              <a:solidFill>
                <a:srgbClr val="FF0000"/>
              </a:solidFill>
            </a:endParaRPr>
          </a:p>
        </p:txBody>
      </p:sp>
      <p:pic>
        <p:nvPicPr>
          <p:cNvPr id="176" name="Google Shape;176;p52" descr="Node E showing MAX calculation; alpha updated to 5, right branch pruned."/>
          <p:cNvPicPr preferRelativeResize="0"/>
          <p:nvPr/>
        </p:nvPicPr>
        <p:blipFill rotWithShape="1">
          <a:blip r:embed="rId3">
            <a:alphaModFix/>
          </a:blip>
          <a:srcRect/>
          <a:stretch/>
        </p:blipFill>
        <p:spPr>
          <a:xfrm>
            <a:off x="1576875" y="914407"/>
            <a:ext cx="6014715" cy="3512500"/>
          </a:xfrm>
          <a:prstGeom prst="rect">
            <a:avLst/>
          </a:prstGeom>
          <a:noFill/>
          <a:ln>
            <a:noFill/>
          </a:ln>
        </p:spPr>
      </p:pic>
      <p:sp>
        <p:nvSpPr>
          <p:cNvPr id="177" name="Google Shape;177;p52"/>
          <p:cNvSpPr txBox="1">
            <a:spLocks noGrp="1"/>
          </p:cNvSpPr>
          <p:nvPr>
            <p:ph type="title"/>
          </p:nvPr>
        </p:nvSpPr>
        <p:spPr>
          <a:xfrm>
            <a:off x="457200" y="274638"/>
            <a:ext cx="8229600" cy="657347"/>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t>Alpha Beta Pruning Example</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53"/>
          <p:cNvSpPr txBox="1">
            <a:spLocks noGrp="1"/>
          </p:cNvSpPr>
          <p:nvPr>
            <p:ph type="body" idx="1"/>
          </p:nvPr>
        </p:nvSpPr>
        <p:spPr>
          <a:xfrm>
            <a:off x="457200" y="4299438"/>
            <a:ext cx="8229600" cy="2655279"/>
          </a:xfrm>
          <a:prstGeom prst="rect">
            <a:avLst/>
          </a:prstGeom>
          <a:noFill/>
          <a:ln>
            <a:noFill/>
          </a:ln>
        </p:spPr>
        <p:txBody>
          <a:bodyPr spcFirstLastPara="1" wrap="square" lIns="91425" tIns="45700" rIns="91425" bIns="45700" anchor="t" anchorCtr="0">
            <a:normAutofit fontScale="70000" lnSpcReduction="20000"/>
          </a:bodyPr>
          <a:lstStyle/>
          <a:p>
            <a:pPr marL="457200" lvl="0" indent="-342900" algn="l" rtl="0">
              <a:lnSpc>
                <a:spcPct val="100000"/>
              </a:lnSpc>
              <a:spcBef>
                <a:spcPts val="360"/>
              </a:spcBef>
              <a:spcAft>
                <a:spcPts val="0"/>
              </a:spcAft>
              <a:buClr>
                <a:schemeClr val="dk1"/>
              </a:buClr>
              <a:buSzPct val="80357"/>
              <a:buChar char="•"/>
            </a:pPr>
            <a:r>
              <a:rPr lang="en-US"/>
              <a:t>In the next step, the algorithm again comes from node B to node A. </a:t>
            </a:r>
            <a:r>
              <a:rPr lang="en-US">
                <a:solidFill>
                  <a:srgbClr val="FF0000"/>
                </a:solidFill>
              </a:rPr>
              <a:t>The alpha of node A is changed to the max value of MAX(- ∞, 3)</a:t>
            </a:r>
            <a:r>
              <a:rPr lang="en-US"/>
              <a:t>. Now, alpha and beta at node A are (3, + ∞) and will be transmitted to node C. The same values will be transferred to node F.</a:t>
            </a:r>
            <a:endParaRPr/>
          </a:p>
          <a:p>
            <a:pPr marL="457200" lvl="0" indent="-342900" algn="l" rtl="0">
              <a:lnSpc>
                <a:spcPct val="100000"/>
              </a:lnSpc>
              <a:spcBef>
                <a:spcPts val="360"/>
              </a:spcBef>
              <a:spcAft>
                <a:spcPts val="0"/>
              </a:spcAft>
              <a:buClr>
                <a:schemeClr val="dk1"/>
              </a:buClr>
              <a:buSzPct val="80357"/>
              <a:buChar char="•"/>
            </a:pPr>
            <a:r>
              <a:rPr lang="en-US">
                <a:solidFill>
                  <a:srgbClr val="FF0000"/>
                </a:solidFill>
              </a:rPr>
              <a:t>The value of alpha will be compared to the left branch, which is 0 at node F. Now, MAX (0, 3) will be 3 and is compared with the right child (1) and MAX(3, 1) = 3 still α is 3, </a:t>
            </a:r>
            <a:r>
              <a:rPr lang="en-US">
                <a:solidFill>
                  <a:schemeClr val="dk1"/>
                </a:solidFill>
              </a:rPr>
              <a:t>but the node value of F will be 1.</a:t>
            </a:r>
            <a:endParaRPr/>
          </a:p>
        </p:txBody>
      </p:sp>
      <p:pic>
        <p:nvPicPr>
          <p:cNvPr id="183" name="Google Shape;183;p53" descr="Node F updates alpha to 3; evaluates children, node value is 1."/>
          <p:cNvPicPr preferRelativeResize="0"/>
          <p:nvPr/>
        </p:nvPicPr>
        <p:blipFill rotWithShape="1">
          <a:blip r:embed="rId3">
            <a:alphaModFix/>
          </a:blip>
          <a:srcRect/>
          <a:stretch/>
        </p:blipFill>
        <p:spPr>
          <a:xfrm>
            <a:off x="1377706" y="777251"/>
            <a:ext cx="6174886" cy="3606037"/>
          </a:xfrm>
          <a:prstGeom prst="rect">
            <a:avLst/>
          </a:prstGeom>
          <a:noFill/>
          <a:ln>
            <a:noFill/>
          </a:ln>
        </p:spPr>
      </p:pic>
      <p:sp>
        <p:nvSpPr>
          <p:cNvPr id="184" name="Google Shape;184;p53"/>
          <p:cNvSpPr txBox="1">
            <a:spLocks noGrp="1"/>
          </p:cNvSpPr>
          <p:nvPr>
            <p:ph type="title"/>
          </p:nvPr>
        </p:nvSpPr>
        <p:spPr>
          <a:xfrm>
            <a:off x="457200" y="133966"/>
            <a:ext cx="8229600" cy="736477"/>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t>Alpha Beta Pruning Example</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54"/>
          <p:cNvSpPr txBox="1">
            <a:spLocks noGrp="1"/>
          </p:cNvSpPr>
          <p:nvPr>
            <p:ph type="body" idx="1"/>
          </p:nvPr>
        </p:nvSpPr>
        <p:spPr>
          <a:xfrm>
            <a:off x="457200" y="4352192"/>
            <a:ext cx="8229600" cy="2417885"/>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l" rtl="0">
              <a:lnSpc>
                <a:spcPct val="100000"/>
              </a:lnSpc>
              <a:spcBef>
                <a:spcPts val="360"/>
              </a:spcBef>
              <a:spcAft>
                <a:spcPts val="0"/>
              </a:spcAft>
              <a:buClr>
                <a:schemeClr val="dk1"/>
              </a:buClr>
              <a:buSzPct val="72580"/>
              <a:buChar char="•"/>
            </a:pPr>
            <a:r>
              <a:rPr lang="en-US"/>
              <a:t>The node F will pass the node value 1 to C and compare it to the beta value at C. </a:t>
            </a:r>
            <a:r>
              <a:rPr lang="en-US">
                <a:solidFill>
                  <a:srgbClr val="FF0000"/>
                </a:solidFill>
              </a:rPr>
              <a:t>Now it’s turn for MIN. So, MIN (+ ∞, 1) will be 1. </a:t>
            </a:r>
            <a:endParaRPr>
              <a:solidFill>
                <a:srgbClr val="FF0000"/>
              </a:solidFill>
            </a:endParaRPr>
          </a:p>
          <a:p>
            <a:pPr marL="457200" lvl="0" indent="-342900" algn="l" rtl="0">
              <a:lnSpc>
                <a:spcPct val="100000"/>
              </a:lnSpc>
              <a:spcBef>
                <a:spcPts val="360"/>
              </a:spcBef>
              <a:spcAft>
                <a:spcPts val="0"/>
              </a:spcAft>
              <a:buClr>
                <a:schemeClr val="dk1"/>
              </a:buClr>
              <a:buSzPct val="72580"/>
              <a:buChar char="•"/>
            </a:pPr>
            <a:r>
              <a:rPr lang="en-US">
                <a:solidFill>
                  <a:srgbClr val="FF0000"/>
                </a:solidFill>
              </a:rPr>
              <a:t>Now, at node C, α = 3, β= 1, and alpha is greater than beta, which again satisfies the pruning condition. Then, the right successor of node C, G, will be pruned</a:t>
            </a:r>
            <a:r>
              <a:rPr lang="en-US"/>
              <a:t>, and the algorithm did not calculate the whole subtree G.</a:t>
            </a:r>
            <a:endParaRPr/>
          </a:p>
        </p:txBody>
      </p:sp>
      <p:pic>
        <p:nvPicPr>
          <p:cNvPr id="190" name="Google Shape;190;p54" descr="Node C prunes subtree G as alpha &gt; beta; returns value 1 to node A."/>
          <p:cNvPicPr preferRelativeResize="0"/>
          <p:nvPr/>
        </p:nvPicPr>
        <p:blipFill rotWithShape="1">
          <a:blip r:embed="rId3">
            <a:alphaModFix/>
          </a:blip>
          <a:srcRect/>
          <a:stretch/>
        </p:blipFill>
        <p:spPr>
          <a:xfrm>
            <a:off x="1502140" y="620104"/>
            <a:ext cx="5918567" cy="3456350"/>
          </a:xfrm>
          <a:prstGeom prst="rect">
            <a:avLst/>
          </a:prstGeom>
          <a:noFill/>
          <a:ln>
            <a:noFill/>
          </a:ln>
        </p:spPr>
      </p:pic>
      <p:sp>
        <p:nvSpPr>
          <p:cNvPr id="191" name="Google Shape;191;p54"/>
          <p:cNvSpPr txBox="1">
            <a:spLocks noGrp="1"/>
          </p:cNvSpPr>
          <p:nvPr>
            <p:ph type="title"/>
          </p:nvPr>
        </p:nvSpPr>
        <p:spPr>
          <a:xfrm>
            <a:off x="457200" y="107584"/>
            <a:ext cx="8229600" cy="55183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t>Alpha Beta Pruning Example</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55"/>
          <p:cNvSpPr txBox="1">
            <a:spLocks noGrp="1"/>
          </p:cNvSpPr>
          <p:nvPr>
            <p:ph type="body" idx="1"/>
          </p:nvPr>
        </p:nvSpPr>
        <p:spPr>
          <a:xfrm>
            <a:off x="457200" y="4482314"/>
            <a:ext cx="8229600" cy="2155878"/>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l" rtl="0">
              <a:lnSpc>
                <a:spcPct val="100000"/>
              </a:lnSpc>
              <a:spcBef>
                <a:spcPts val="360"/>
              </a:spcBef>
              <a:spcAft>
                <a:spcPts val="0"/>
              </a:spcAft>
              <a:buClr>
                <a:schemeClr val="dk1"/>
              </a:buClr>
              <a:buSzPct val="72580"/>
              <a:buChar char="•"/>
            </a:pPr>
            <a:r>
              <a:rPr lang="en-US">
                <a:solidFill>
                  <a:srgbClr val="FF0000"/>
                </a:solidFill>
              </a:rPr>
              <a:t>Now, C will return its node value to A, and A will calculate MAX(1, 3), resulting in 3</a:t>
            </a:r>
            <a:r>
              <a:rPr lang="en-US"/>
              <a:t>.</a:t>
            </a:r>
            <a:endParaRPr/>
          </a:p>
          <a:p>
            <a:pPr marL="457200" lvl="0" indent="-342900" algn="l" rtl="0">
              <a:lnSpc>
                <a:spcPct val="100000"/>
              </a:lnSpc>
              <a:spcBef>
                <a:spcPts val="360"/>
              </a:spcBef>
              <a:spcAft>
                <a:spcPts val="0"/>
              </a:spcAft>
              <a:buClr>
                <a:schemeClr val="dk1"/>
              </a:buClr>
              <a:buSzPct val="72580"/>
              <a:buChar char="•"/>
            </a:pPr>
            <a:r>
              <a:rPr lang="en-US"/>
              <a:t>This above-represented tree is the final tree that has nodes that are computed and nodes that are not computed. Therefore, in this example, the optimal value of the maximizer would be 3.</a:t>
            </a:r>
            <a:endParaRPr/>
          </a:p>
        </p:txBody>
      </p:sp>
      <p:pic>
        <p:nvPicPr>
          <p:cNvPr id="197" name="Google Shape;197;p55" descr="Final game tree with pruned branches and optimal value of 3 for the maximizer."/>
          <p:cNvPicPr preferRelativeResize="0"/>
          <p:nvPr/>
        </p:nvPicPr>
        <p:blipFill rotWithShape="1">
          <a:blip r:embed="rId3">
            <a:alphaModFix/>
          </a:blip>
          <a:srcRect/>
          <a:stretch/>
        </p:blipFill>
        <p:spPr>
          <a:xfrm>
            <a:off x="1502141" y="896814"/>
            <a:ext cx="6139717" cy="3585499"/>
          </a:xfrm>
          <a:prstGeom prst="rect">
            <a:avLst/>
          </a:prstGeom>
          <a:noFill/>
          <a:ln>
            <a:noFill/>
          </a:ln>
        </p:spPr>
      </p:pic>
      <p:sp>
        <p:nvSpPr>
          <p:cNvPr id="198" name="Google Shape;198;p55"/>
          <p:cNvSpPr txBox="1">
            <a:spLocks noGrp="1"/>
          </p:cNvSpPr>
          <p:nvPr>
            <p:ph type="title"/>
          </p:nvPr>
        </p:nvSpPr>
        <p:spPr>
          <a:xfrm>
            <a:off x="457200" y="274638"/>
            <a:ext cx="8229600" cy="648554"/>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t>Alpha Beta Pruning Example</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56"/>
          <p:cNvSpPr txBox="1">
            <a:spLocks noGrp="1"/>
          </p:cNvSpPr>
          <p:nvPr>
            <p:ph type="title"/>
          </p:nvPr>
        </p:nvSpPr>
        <p:spPr>
          <a:xfrm>
            <a:off x="457200" y="274638"/>
            <a:ext cx="8229600" cy="7101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a:t>Exercise</a:t>
            </a:r>
            <a:endParaRPr/>
          </a:p>
        </p:txBody>
      </p:sp>
      <p:sp>
        <p:nvSpPr>
          <p:cNvPr id="204" name="Google Shape;204;p5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Clr>
                <a:schemeClr val="dk1"/>
              </a:buClr>
              <a:buSzPts val="1800"/>
              <a:buChar char="•"/>
            </a:pPr>
            <a:r>
              <a:rPr lang="en-US"/>
              <a:t>Apply Aplha Beta on the following example.</a:t>
            </a:r>
            <a:endParaRPr/>
          </a:p>
        </p:txBody>
      </p:sp>
      <p:pic>
        <p:nvPicPr>
          <p:cNvPr id="205" name="Google Shape;205;p56" descr="Lightbox"/>
          <p:cNvPicPr preferRelativeResize="0"/>
          <p:nvPr/>
        </p:nvPicPr>
        <p:blipFill rotWithShape="1">
          <a:blip r:embed="rId3">
            <a:alphaModFix/>
          </a:blip>
          <a:srcRect/>
          <a:stretch/>
        </p:blipFill>
        <p:spPr>
          <a:xfrm>
            <a:off x="1485900" y="3377102"/>
            <a:ext cx="6629400" cy="2886076"/>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5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alibri"/>
              <a:buNone/>
            </a:pPr>
            <a:r>
              <a:rPr lang="en-US" sz="4000"/>
              <a:t>Today’s Lecture</a:t>
            </a:r>
            <a:endParaRPr/>
          </a:p>
        </p:txBody>
      </p:sp>
      <p:sp>
        <p:nvSpPr>
          <p:cNvPr id="211" name="Google Shape;211;p5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200"/>
              <a:buChar char="•"/>
            </a:pPr>
            <a:r>
              <a:rPr lang="en-US" sz="2200"/>
              <a:t>MiniMax Algorithm</a:t>
            </a:r>
            <a:endParaRPr/>
          </a:p>
          <a:p>
            <a:pPr marL="342900" lvl="0" indent="-342900" algn="l" rtl="0">
              <a:lnSpc>
                <a:spcPct val="100000"/>
              </a:lnSpc>
              <a:spcBef>
                <a:spcPts val="440"/>
              </a:spcBef>
              <a:spcAft>
                <a:spcPts val="0"/>
              </a:spcAft>
              <a:buClr>
                <a:schemeClr val="dk1"/>
              </a:buClr>
              <a:buSzPts val="2200"/>
              <a:buChar char="•"/>
            </a:pPr>
            <a:r>
              <a:rPr lang="en-US" sz="2200"/>
              <a:t>Alpha Beta Pruning</a:t>
            </a:r>
            <a:endParaRPr/>
          </a:p>
          <a:p>
            <a:pPr marL="342900" lvl="0" indent="-139700" algn="l" rtl="0">
              <a:lnSpc>
                <a:spcPct val="100000"/>
              </a:lnSpc>
              <a:spcBef>
                <a:spcPts val="640"/>
              </a:spcBef>
              <a:spcAft>
                <a:spcPts val="0"/>
              </a:spcAft>
              <a:buClr>
                <a:schemeClr val="dk1"/>
              </a:buClr>
              <a:buSzPts val="3200"/>
              <a:buNone/>
            </a:pPr>
            <a:endParaRPr/>
          </a:p>
          <a:p>
            <a:pPr marL="342900" lvl="0" indent="-139700" algn="l" rtl="0">
              <a:lnSpc>
                <a:spcPct val="100000"/>
              </a:lnSpc>
              <a:spcBef>
                <a:spcPts val="640"/>
              </a:spcBef>
              <a:spcAft>
                <a:spcPts val="0"/>
              </a:spcAft>
              <a:buClr>
                <a:schemeClr val="dk1"/>
              </a:buClr>
              <a:buSzPts val="3200"/>
              <a:buNone/>
            </a:pP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3F296526D7BB4EB949B2D9BCC1BDA8" ma:contentTypeVersion="3" ma:contentTypeDescription="Create a new document." ma:contentTypeScope="" ma:versionID="54ebf3a4d97c1b18f8c02f93bf7dfe45">
  <xsd:schema xmlns:xsd="http://www.w3.org/2001/XMLSchema" xmlns:xs="http://www.w3.org/2001/XMLSchema" xmlns:p="http://schemas.microsoft.com/office/2006/metadata/properties" xmlns:ns2="71778b39-a39e-4048-b00f-99dfecabd0ec" targetNamespace="http://schemas.microsoft.com/office/2006/metadata/properties" ma:root="true" ma:fieldsID="a0869485a2b5bdb0dfad92a9ed9b6ec3" ns2:_="">
    <xsd:import namespace="71778b39-a39e-4048-b00f-99dfecabd0e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778b39-a39e-4048-b00f-99dfecabd0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BF58AEB-EC3E-48FA-B340-4F609F274E08}"/>
</file>

<file path=customXml/itemProps2.xml><?xml version="1.0" encoding="utf-8"?>
<ds:datastoreItem xmlns:ds="http://schemas.openxmlformats.org/officeDocument/2006/customXml" ds:itemID="{598C6263-7875-451F-8592-B14D95861755}"/>
</file>

<file path=customXml/itemProps3.xml><?xml version="1.0" encoding="utf-8"?>
<ds:datastoreItem xmlns:ds="http://schemas.openxmlformats.org/officeDocument/2006/customXml" ds:itemID="{CCA66940-A027-4E7B-B464-0A61FB00C2F1}"/>
</file>

<file path=docProps/app.xml><?xml version="1.0" encoding="utf-8"?>
<Properties xmlns="http://schemas.openxmlformats.org/officeDocument/2006/extended-properties" xmlns:vt="http://schemas.openxmlformats.org/officeDocument/2006/docPropsVTypes">
  <TotalTime>0</TotalTime>
  <Words>991</Words>
  <Application>Microsoft Office PowerPoint</Application>
  <PresentationFormat>On-screen Show (4:3)</PresentationFormat>
  <Paragraphs>68</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Artificial Intelligence</vt:lpstr>
      <vt:lpstr>Today’s Lecture</vt:lpstr>
      <vt:lpstr>MiniMax Algorithm</vt:lpstr>
      <vt:lpstr>MiniMax Tree</vt:lpstr>
      <vt:lpstr>MiniMax Algorithm</vt:lpstr>
      <vt:lpstr>MiniMax Algorithm</vt:lpstr>
      <vt:lpstr>MiniMax Search</vt:lpstr>
      <vt:lpstr>MiniMax Search</vt:lpstr>
      <vt:lpstr>Exercise</vt:lpstr>
      <vt:lpstr>Alpha Beta Pruning</vt:lpstr>
      <vt:lpstr>Alpha Beta Pruning</vt:lpstr>
      <vt:lpstr>Alpha Beta Pruning</vt:lpstr>
      <vt:lpstr>Alpha Beta Pruning Example</vt:lpstr>
      <vt:lpstr>Alpha Beta Pruning Example</vt:lpstr>
      <vt:lpstr>Alpha Beta Pruning Example</vt:lpstr>
      <vt:lpstr>Alpha Beta Pruning Example</vt:lpstr>
      <vt:lpstr>Alpha Beta Pruning Example</vt:lpstr>
      <vt:lpstr>Alpha Beta Pruning Example</vt:lpstr>
      <vt:lpstr>Exercise</vt:lpstr>
      <vt:lpstr>Today’s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creator>GHAZALA</dc:creator>
  <cp:lastModifiedBy>Muhammad-Imran</cp:lastModifiedBy>
  <cp:revision>1</cp:revision>
  <dcterms:created xsi:type="dcterms:W3CDTF">2012-02-27T05:45:45Z</dcterms:created>
  <dcterms:modified xsi:type="dcterms:W3CDTF">2025-10-17T12:33:31Z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0x010100263F296526D7BB4EB949B2D9BCC1BDA8</vt:lpwstr>
  </property>
</Properties>
</file>