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6" r:id="rId5"/>
    <p:sldId id="261" r:id="rId6"/>
    <p:sldId id="266" r:id="rId7"/>
    <p:sldId id="267" r:id="rId8"/>
    <p:sldId id="277" r:id="rId9"/>
    <p:sldId id="259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A3MlWlMseu5G1CKVtgbcxlv7Y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da25a7d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da25a7d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8da25a7dc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00771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140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Artificial Intelligence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dirty="0"/>
              <a:t>Lecture </a:t>
            </a:r>
            <a:r>
              <a:rPr lang="en-US" dirty="0" smtClean="0"/>
              <a:t>6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Today’s Lecture</a:t>
            </a:r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 smtClean="0"/>
              <a:t>Constraint Satisfaction Problem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 smtClean="0"/>
              <a:t>Backtracking Search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dirty="0" smtClean="0"/>
              <a:t>Constraint Satisfaction Problem</a:t>
            </a:r>
            <a:endParaRPr dirty="0"/>
          </a:p>
        </p:txBody>
      </p:sp>
      <p:sp>
        <p:nvSpPr>
          <p:cNvPr id="97" name="Google Shape;97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spcBef>
                <a:spcPts val="0"/>
              </a:spcBef>
              <a:buSzPct val="100000"/>
            </a:pPr>
            <a:r>
              <a:rPr lang="en-US" sz="2200" dirty="0"/>
              <a:t>A constraint satisfaction problem (CSP) is a type of mathematical problem that involves </a:t>
            </a:r>
            <a:r>
              <a:rPr lang="en-US" sz="2200" dirty="0">
                <a:solidFill>
                  <a:srgbClr val="FF0000"/>
                </a:solidFill>
              </a:rPr>
              <a:t>a set of variables, each with a domain of possible values, and a set of constraints that define the allowable combinations of values for the variables</a:t>
            </a:r>
            <a:r>
              <a:rPr lang="en-US" sz="2200" dirty="0"/>
              <a:t>. </a:t>
            </a:r>
            <a:endParaRPr lang="en-US" sz="2200" dirty="0" smtClean="0"/>
          </a:p>
          <a:p>
            <a:pPr marL="0" lvl="0" indent="0">
              <a:spcBef>
                <a:spcPts val="0"/>
              </a:spcBef>
              <a:buSzPct val="100000"/>
              <a:buNone/>
            </a:pPr>
            <a:endParaRPr lang="en-US" sz="2200" dirty="0" smtClean="0"/>
          </a:p>
          <a:p>
            <a:pPr marL="342900" lvl="0">
              <a:spcBef>
                <a:spcPts val="0"/>
              </a:spcBef>
              <a:buSzPct val="100000"/>
            </a:pPr>
            <a:r>
              <a:rPr lang="en-US" sz="2200" dirty="0" smtClean="0">
                <a:solidFill>
                  <a:srgbClr val="FF0000"/>
                </a:solidFill>
              </a:rPr>
              <a:t>The </a:t>
            </a:r>
            <a:r>
              <a:rPr lang="en-US" sz="2200" dirty="0">
                <a:solidFill>
                  <a:srgbClr val="FF0000"/>
                </a:solidFill>
              </a:rPr>
              <a:t>goal is to find an assignment of a value to each variable so that all constraints are satisfied</a:t>
            </a:r>
            <a:r>
              <a:rPr lang="en-US" sz="2200" dirty="0"/>
              <a:t>. </a:t>
            </a:r>
            <a:endParaRPr lang="en-US" sz="2200" dirty="0" smtClean="0"/>
          </a:p>
          <a:p>
            <a:pPr marL="342900" lvl="0">
              <a:spcBef>
                <a:spcPts val="0"/>
              </a:spcBef>
              <a:buSzPct val="100000"/>
            </a:pPr>
            <a:endParaRPr lang="en-US" sz="2200" dirty="0" smtClean="0"/>
          </a:p>
          <a:p>
            <a:pPr marL="342900" lvl="0">
              <a:spcBef>
                <a:spcPts val="0"/>
              </a:spcBef>
              <a:buSzPct val="100000"/>
            </a:pPr>
            <a:r>
              <a:rPr lang="en-US" sz="2200" dirty="0" smtClean="0"/>
              <a:t>CSPs </a:t>
            </a:r>
            <a:r>
              <a:rPr lang="en-US" sz="2200" dirty="0"/>
              <a:t>are used in a wide variety of applications, from scheduling to logic puzzles, and are solved using algorithms like backtracking search.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Satisfaction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b="1" dirty="0" smtClean="0"/>
              <a:t>Variables: </a:t>
            </a:r>
            <a:r>
              <a:rPr lang="en-US" dirty="0" smtClean="0"/>
              <a:t>These </a:t>
            </a:r>
            <a:r>
              <a:rPr lang="en-US" dirty="0"/>
              <a:t>are the unknowns in the problem. </a:t>
            </a:r>
            <a:r>
              <a:rPr lang="en-US" dirty="0">
                <a:solidFill>
                  <a:srgbClr val="FF0000"/>
                </a:solidFill>
              </a:rPr>
              <a:t>For example, in the N-Queens problem, a variable could be the position of a queen on the board. </a:t>
            </a:r>
            <a:endParaRPr lang="en-US" dirty="0" smtClean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endParaRPr lang="en-US" dirty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b="1" dirty="0" smtClean="0"/>
              <a:t>Domain: </a:t>
            </a:r>
            <a:r>
              <a:rPr lang="en-US" dirty="0" smtClean="0"/>
              <a:t>This </a:t>
            </a:r>
            <a:r>
              <a:rPr lang="en-US" dirty="0"/>
              <a:t>is the set of all possible values that a variable can take. </a:t>
            </a:r>
            <a:r>
              <a:rPr lang="en-US" dirty="0">
                <a:solidFill>
                  <a:srgbClr val="FF0000"/>
                </a:solidFill>
              </a:rPr>
              <a:t>In the N-Queens problem, the domain for each queen would be the set of rows and columns where it can be placed. </a:t>
            </a:r>
            <a:endParaRPr lang="en-US" dirty="0" smtClean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endParaRPr lang="en-US" dirty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b="1" dirty="0" smtClean="0"/>
              <a:t>Constraints: </a:t>
            </a:r>
            <a:r>
              <a:rPr lang="en-US" dirty="0" smtClean="0"/>
              <a:t>These </a:t>
            </a:r>
            <a:r>
              <a:rPr lang="en-US" dirty="0"/>
              <a:t>are the rules that restrict the values variables can take.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>
                <a:solidFill>
                  <a:srgbClr val="FF0000"/>
                </a:solidFill>
              </a:rPr>
              <a:t>For instance, in N-Queens, a constraint is that no two queens can share the same row, column, or diagonal. </a:t>
            </a:r>
          </a:p>
        </p:txBody>
      </p:sp>
    </p:spTree>
    <p:extLst>
      <p:ext uri="{BB962C8B-B14F-4D97-AF65-F5344CB8AC3E}">
        <p14:creationId xmlns:p14="http://schemas.microsoft.com/office/powerpoint/2010/main" val="52677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da25a7dcd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sz="3300" dirty="0"/>
              <a:t>Formulating 4-Queens Problem as a CSP</a:t>
            </a:r>
            <a:r>
              <a:rPr lang="en-US" sz="3300" dirty="0"/>
              <a:t> </a:t>
            </a:r>
            <a:endParaRPr dirty="0"/>
          </a:p>
        </p:txBody>
      </p:sp>
      <p:sp>
        <p:nvSpPr>
          <p:cNvPr id="118" name="Google Shape;118;g38da25a7dcd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2420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sz="3900" dirty="0">
                <a:solidFill>
                  <a:srgbClr val="FF0000"/>
                </a:solidFill>
              </a:rPr>
              <a:t>We will make an assumption that there is exactly one queen each column. </a:t>
            </a:r>
            <a:endParaRPr lang="en-US" sz="3900" dirty="0" smtClean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endParaRPr lang="en-US" sz="3900" dirty="0">
              <a:solidFill>
                <a:srgbClr val="FF0000"/>
              </a:solidFill>
            </a:endParaRP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sz="3900" dirty="0"/>
              <a:t>Having </a:t>
            </a:r>
            <a:r>
              <a:rPr lang="en-US" sz="3900" dirty="0"/>
              <a:t>assumed this, we no longer need to keep track of the column positions of the </a:t>
            </a:r>
            <a:r>
              <a:rPr lang="en-US" sz="3900" dirty="0"/>
              <a:t>queens.</a:t>
            </a:r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endParaRPr lang="en-US" sz="3800" dirty="0" smtClean="0"/>
          </a:p>
          <a:p>
            <a:pPr marL="342900">
              <a:lnSpc>
                <a:spcPct val="110000"/>
              </a:lnSpc>
              <a:spcBef>
                <a:spcPts val="0"/>
              </a:spcBef>
              <a:buSzPct val="100000"/>
            </a:pPr>
            <a:r>
              <a:rPr lang="en-US" sz="3800" dirty="0" smtClean="0"/>
              <a:t>We </a:t>
            </a:r>
            <a:r>
              <a:rPr lang="en-US" sz="3800" dirty="0"/>
              <a:t>also </a:t>
            </a:r>
            <a:r>
              <a:rPr lang="en-US" sz="3800" dirty="0" smtClean="0"/>
              <a:t>do not </a:t>
            </a:r>
            <a:r>
              <a:rPr lang="en-US" sz="3800" dirty="0"/>
              <a:t>have to worry about the column constraints. </a:t>
            </a:r>
            <a:endParaRPr sz="3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0" y="4119924"/>
            <a:ext cx="7977190" cy="17181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 smtClean="0"/>
              <a:t>4-Queens Problem</a:t>
            </a:r>
            <a:endParaRPr dirty="0"/>
          </a:p>
        </p:txBody>
      </p:sp>
      <p:sp>
        <p:nvSpPr>
          <p:cNvPr id="150" name="Google Shape;150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lvl="0">
              <a:buSzPct val="66176"/>
            </a:pPr>
            <a:r>
              <a:rPr lang="en-US" dirty="0"/>
              <a:t>For the 4-queens problem, </a:t>
            </a:r>
            <a:r>
              <a:rPr lang="en-US" dirty="0" smtClean="0"/>
              <a:t>we will </a:t>
            </a:r>
            <a:r>
              <a:rPr lang="en-US" dirty="0"/>
              <a:t>use an </a:t>
            </a:r>
            <a:r>
              <a:rPr lang="en-US" dirty="0">
                <a:solidFill>
                  <a:srgbClr val="FF0000"/>
                </a:solidFill>
              </a:rPr>
              <a:t>incremental formulation</a:t>
            </a:r>
            <a:r>
              <a:rPr lang="en-US" dirty="0"/>
              <a:t>, which means the state will be built step-by-step</a:t>
            </a:r>
            <a:r>
              <a:rPr lang="en-US" dirty="0" smtClean="0"/>
              <a:t>.</a:t>
            </a:r>
          </a:p>
          <a:p>
            <a:pPr lvl="0">
              <a:buSzPct val="66176"/>
            </a:pPr>
            <a:endParaRPr lang="en-US" dirty="0" smtClean="0"/>
          </a:p>
          <a:p>
            <a:r>
              <a:rPr lang="en-US" b="1" dirty="0"/>
              <a:t>State: </a:t>
            </a:r>
            <a:r>
              <a:rPr lang="en-US" dirty="0"/>
              <a:t>one queen per column in the leftmost </a:t>
            </a:r>
            <a:r>
              <a:rPr lang="en-US" i="1" dirty="0"/>
              <a:t>k </a:t>
            </a:r>
            <a:r>
              <a:rPr lang="en-US" dirty="0"/>
              <a:t>columns with no pair of queens </a:t>
            </a:r>
            <a:r>
              <a:rPr lang="en-US" dirty="0" smtClean="0"/>
              <a:t>attacking each other.</a:t>
            </a:r>
            <a:endParaRPr lang="en-US" dirty="0"/>
          </a:p>
          <a:p>
            <a:endParaRPr lang="en-US" b="1" dirty="0" smtClean="0"/>
          </a:p>
          <a:p>
            <a:r>
              <a:rPr lang="en-US" b="1" dirty="0" smtClean="0"/>
              <a:t>Initial </a:t>
            </a:r>
            <a:r>
              <a:rPr lang="en-US" b="1" dirty="0"/>
              <a:t>state: </a:t>
            </a:r>
            <a:r>
              <a:rPr lang="en-US" dirty="0"/>
              <a:t>no queens on the board.</a:t>
            </a:r>
            <a:r>
              <a:rPr lang="en-US" dirty="0"/>
              <a:t> </a:t>
            </a: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Goal </a:t>
            </a:r>
            <a:r>
              <a:rPr lang="en-US" b="1" dirty="0"/>
              <a:t>state: </a:t>
            </a:r>
            <a:r>
              <a:rPr lang="en-US" dirty="0"/>
              <a:t>4 queens on the board. No pair of queens are attacking each other.</a:t>
            </a:r>
          </a:p>
          <a:p>
            <a:endParaRPr lang="en-US" b="1" dirty="0" smtClean="0"/>
          </a:p>
          <a:p>
            <a:r>
              <a:rPr lang="en-US" b="1" dirty="0" smtClean="0"/>
              <a:t>Successor </a:t>
            </a:r>
            <a:r>
              <a:rPr lang="en-US" b="1" dirty="0"/>
              <a:t>function:</a:t>
            </a:r>
            <a:r>
              <a:rPr lang="en-US" dirty="0"/>
              <a:t> add a queen to the leftmost empty column such that it is </a:t>
            </a:r>
            <a:r>
              <a:rPr lang="en-US" dirty="0" smtClean="0"/>
              <a:t>not attacked </a:t>
            </a:r>
            <a:r>
              <a:rPr lang="en-US" dirty="0"/>
              <a:t>by any other existing queen.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1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 smtClean="0"/>
              <a:t>N-Queens as CSP Problem</a:t>
            </a:r>
            <a:endParaRPr dirty="0"/>
          </a:p>
        </p:txBody>
      </p:sp>
      <p:sp>
        <p:nvSpPr>
          <p:cNvPr id="156" name="Google Shape;156;p49"/>
          <p:cNvSpPr txBox="1">
            <a:spLocks noGrp="1"/>
          </p:cNvSpPr>
          <p:nvPr>
            <p:ph type="body" idx="1"/>
          </p:nvPr>
        </p:nvSpPr>
        <p:spPr>
          <a:xfrm>
            <a:off x="457200" y="1055874"/>
            <a:ext cx="8229600" cy="380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sz="2600" dirty="0" smtClean="0"/>
              <a:t>The </a:t>
            </a:r>
            <a:r>
              <a:rPr lang="en-US" sz="2600" dirty="0"/>
              <a:t>empty board is a valid state. </a:t>
            </a:r>
            <a:endParaRPr lang="en-US" sz="2600" dirty="0" smtClean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endParaRPr lang="en-US" sz="2600" dirty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sz="2600" dirty="0">
                <a:solidFill>
                  <a:srgbClr val="FF0000"/>
                </a:solidFill>
              </a:rPr>
              <a:t>This </a:t>
            </a:r>
            <a:r>
              <a:rPr lang="en-US" sz="2600" dirty="0">
                <a:solidFill>
                  <a:srgbClr val="FF0000"/>
                </a:solidFill>
              </a:rPr>
              <a:t>is the state _ _ _ </a:t>
            </a:r>
            <a:r>
              <a:rPr lang="en-US" sz="2600" dirty="0" smtClean="0">
                <a:solidFill>
                  <a:srgbClr val="FF0000"/>
                </a:solidFill>
              </a:rPr>
              <a:t>_</a:t>
            </a:r>
            <a:r>
              <a:rPr lang="en-US" sz="2600" dirty="0" smtClean="0"/>
              <a:t>.</a:t>
            </a:r>
            <a:endParaRPr lang="en-US" sz="2600" dirty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endParaRPr lang="en-US" sz="2600" dirty="0" smtClean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endParaRPr lang="en-US" sz="2600" dirty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endParaRPr lang="en-US" sz="2600" dirty="0" smtClean="0"/>
          </a:p>
          <a:p>
            <a:pPr marL="342900">
              <a:lnSpc>
                <a:spcPct val="120000"/>
              </a:lnSpc>
              <a:spcBef>
                <a:spcPts val="0"/>
              </a:spcBef>
              <a:buSzPct val="100000"/>
            </a:pPr>
            <a:r>
              <a:rPr lang="en-US" sz="2600" dirty="0" smtClean="0">
                <a:solidFill>
                  <a:srgbClr val="FF0000"/>
                </a:solidFill>
              </a:rPr>
              <a:t>We </a:t>
            </a:r>
            <a:r>
              <a:rPr lang="en-US" sz="2600" dirty="0">
                <a:solidFill>
                  <a:srgbClr val="FF0000"/>
                </a:solidFill>
              </a:rPr>
              <a:t>can add the first queen in row 2. This is the state 2 </a:t>
            </a:r>
            <a:r>
              <a:rPr lang="en-US" sz="2600" dirty="0" smtClean="0">
                <a:solidFill>
                  <a:srgbClr val="FF0000"/>
                </a:solidFill>
              </a:rPr>
              <a:t>_ _ _</a:t>
            </a:r>
            <a:r>
              <a:rPr lang="en-US" sz="2600" dirty="0"/>
              <a:t>.</a:t>
            </a:r>
            <a:r>
              <a:rPr lang="en-US" sz="2600" dirty="0" smtClean="0"/>
              <a:t> </a:t>
            </a:r>
            <a:endParaRPr dirty="0" smtClean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None/>
            </a:pPr>
            <a:endParaRPr dirty="0" smtClean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6176"/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83" y="1163884"/>
            <a:ext cx="1924050" cy="20097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483" y="4540553"/>
            <a:ext cx="1943100" cy="19335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3193"/>
          </a:xfrm>
        </p:spPr>
        <p:txBody>
          <a:bodyPr/>
          <a:lstStyle/>
          <a:p>
            <a:r>
              <a:rPr lang="en-US" dirty="0"/>
              <a:t>N-Queens as CSP 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7492"/>
            <a:ext cx="8229600" cy="32326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Then we can add the second queen in row 0. </a:t>
            </a:r>
            <a:r>
              <a:rPr lang="en-US" dirty="0">
                <a:solidFill>
                  <a:srgbClr val="FF0000"/>
                </a:solidFill>
              </a:rPr>
              <a:t>This is the state 2 </a:t>
            </a:r>
            <a:r>
              <a:rPr lang="en-US" dirty="0" smtClean="0">
                <a:solidFill>
                  <a:srgbClr val="FF0000"/>
                </a:solidFill>
              </a:rPr>
              <a:t>0 _ _ </a:t>
            </a:r>
            <a:r>
              <a:rPr lang="en-US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Then </a:t>
            </a:r>
            <a:r>
              <a:rPr lang="en-US" dirty="0"/>
              <a:t>we can add the third queen in row 3. This is the state </a:t>
            </a:r>
            <a:r>
              <a:rPr lang="en-US" dirty="0">
                <a:solidFill>
                  <a:srgbClr val="FF0000"/>
                </a:solidFill>
              </a:rPr>
              <a:t>2 0 3 </a:t>
            </a:r>
            <a:r>
              <a:rPr lang="en-US" dirty="0" smtClean="0">
                <a:solidFill>
                  <a:srgbClr val="FF0000"/>
                </a:solidFill>
              </a:rPr>
              <a:t>_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Finally</a:t>
            </a:r>
            <a:r>
              <a:rPr lang="en-US" dirty="0"/>
              <a:t>, we can add the fourth queen in row 1. This is the state </a:t>
            </a:r>
            <a:r>
              <a:rPr lang="en-US" dirty="0">
                <a:solidFill>
                  <a:srgbClr val="FF0000"/>
                </a:solidFill>
              </a:rPr>
              <a:t>2 0 3 1 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have now arrived at a goal state. None of the queens are attacking each other, and all 4 queens are on the board.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45" y="4298705"/>
            <a:ext cx="1914525" cy="1924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4279655"/>
            <a:ext cx="1885950" cy="1962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8387" y="4270130"/>
            <a:ext cx="19050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44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dirty="0" smtClean="0"/>
              <a:t>Backtracking Search</a:t>
            </a:r>
            <a:endParaRPr dirty="0"/>
          </a:p>
        </p:txBody>
      </p:sp>
      <p:sp>
        <p:nvSpPr>
          <p:cNvPr id="103" name="Google Shape;103;p4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>
              <a:spcBef>
                <a:spcPts val="0"/>
              </a:spcBef>
              <a:buSzPct val="100000"/>
            </a:pPr>
            <a:r>
              <a:rPr lang="en-US" sz="2400" dirty="0"/>
              <a:t>Backtracking search is a general algorithmic technique used to solve Constraint Satisfaction Problems (CSPs). </a:t>
            </a:r>
          </a:p>
          <a:p>
            <a:pPr marL="342900">
              <a:spcBef>
                <a:spcPts val="0"/>
              </a:spcBef>
              <a:buSzPct val="100000"/>
            </a:pPr>
            <a:endParaRPr lang="en-US" sz="2400" dirty="0" smtClean="0">
              <a:solidFill>
                <a:srgbClr val="FF0000"/>
              </a:solidFill>
            </a:endParaRPr>
          </a:p>
          <a:p>
            <a:pPr marL="342900">
              <a:spcBef>
                <a:spcPts val="0"/>
              </a:spcBef>
              <a:buSzPct val="100000"/>
            </a:pPr>
            <a:r>
              <a:rPr lang="en-US" sz="2400" dirty="0" smtClean="0">
                <a:solidFill>
                  <a:srgbClr val="FF0000"/>
                </a:solidFill>
              </a:rPr>
              <a:t>It is </a:t>
            </a:r>
            <a:r>
              <a:rPr lang="en-US" sz="2400" dirty="0">
                <a:solidFill>
                  <a:srgbClr val="FF0000"/>
                </a:solidFill>
              </a:rPr>
              <a:t>just a special type of DFS. </a:t>
            </a:r>
            <a:r>
              <a:rPr lang="en-US" sz="2400" dirty="0"/>
              <a:t>We go deep into the tree until we hit a dead end or a solution. 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en-US" sz="2400" dirty="0"/>
          </a:p>
          <a:p>
            <a:pPr marL="342900">
              <a:spcBef>
                <a:spcPts val="0"/>
              </a:spcBef>
              <a:buSzPct val="100000"/>
            </a:pPr>
            <a:r>
              <a:rPr lang="en-US" sz="2400" dirty="0"/>
              <a:t>It operates by systematically searching for a solution by incrementally building a candidate solution and abandoning ("backtracking") a partial candidate as soon as it determines that the candidate cannot possibly be completed to a valid solution. </a:t>
            </a:r>
            <a:endParaRPr lang="en-US" sz="2400" dirty="0" smtClean="0"/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en-US" sz="2400" dirty="0"/>
          </a:p>
          <a:p>
            <a:pPr marL="342900">
              <a:spcBef>
                <a:spcPts val="0"/>
              </a:spcBef>
              <a:buSzPct val="100000"/>
            </a:pPr>
            <a:r>
              <a:rPr lang="en-US" sz="2400" dirty="0">
                <a:solidFill>
                  <a:srgbClr val="FF0000"/>
                </a:solidFill>
              </a:rPr>
              <a:t>If we hit a dead end, then we backtrack to the previous parent and try to explore the other successors of the parent. </a:t>
            </a:r>
          </a:p>
          <a:p>
            <a:pPr marL="342900">
              <a:spcBef>
                <a:spcPts val="0"/>
              </a:spcBef>
              <a:buSzPct val="100000"/>
            </a:pPr>
            <a:endParaRPr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14299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The initial state is the empty state, and it has 4 possible successors since there are 4 possible rows to put the first queen on the </a:t>
            </a:r>
            <a:r>
              <a:rPr lang="en-US" sz="2400" dirty="0" smtClean="0">
                <a:solidFill>
                  <a:srgbClr val="FF0000"/>
                </a:solidFill>
              </a:rPr>
              <a:t>board.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2" y="3326851"/>
            <a:ext cx="63150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28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213337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next </a:t>
            </a:r>
            <a:r>
              <a:rPr lang="en-US" dirty="0">
                <a:solidFill>
                  <a:srgbClr val="FF0000"/>
                </a:solidFill>
              </a:rPr>
              <a:t>node to expand is </a:t>
            </a:r>
            <a:r>
              <a:rPr lang="en-US" dirty="0" smtClean="0">
                <a:solidFill>
                  <a:srgbClr val="FF0000"/>
                </a:solidFill>
              </a:rPr>
              <a:t>0. </a:t>
            </a:r>
          </a:p>
          <a:p>
            <a:r>
              <a:rPr lang="en-US" dirty="0" smtClean="0"/>
              <a:t>We will </a:t>
            </a:r>
            <a:r>
              <a:rPr lang="en-US" dirty="0"/>
              <a:t>add the queen to the board, and also cross out all the positions that the other queens cannot be in: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31" y="3255352"/>
            <a:ext cx="64008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30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80009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So the second queen can only be in row 2 or row 3, which means the state 0 has two </a:t>
            </a:r>
            <a:r>
              <a:rPr lang="en-US" dirty="0" smtClean="0">
                <a:solidFill>
                  <a:srgbClr val="FF0000"/>
                </a:solidFill>
              </a:rPr>
              <a:t>successors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006" y="3215420"/>
            <a:ext cx="65722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44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21072"/>
            <a:ext cx="8229600" cy="1951891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We expand state 0 </a:t>
            </a:r>
            <a:r>
              <a:rPr lang="en-US" dirty="0" smtClean="0">
                <a:solidFill>
                  <a:srgbClr val="FF0000"/>
                </a:solidFill>
              </a:rPr>
              <a:t>2. </a:t>
            </a:r>
            <a:r>
              <a:rPr lang="en-US" dirty="0"/>
              <a:t>We add the queen to the board, and also cross out all the positions that the other queens cannot be </a:t>
            </a:r>
            <a:r>
              <a:rPr lang="en-US" dirty="0" smtClean="0"/>
              <a:t>in. </a:t>
            </a:r>
          </a:p>
          <a:p>
            <a:endParaRPr lang="en-US" dirty="0" smtClean="0"/>
          </a:p>
          <a:p>
            <a:r>
              <a:rPr lang="en-US" dirty="0"/>
              <a:t>Unfortunately, adding the second queen in row 2 has resulted in no possible positions for the third queen, and therefore </a:t>
            </a:r>
            <a:r>
              <a:rPr lang="en-US" dirty="0">
                <a:solidFill>
                  <a:srgbClr val="FF0000"/>
                </a:solidFill>
              </a:rPr>
              <a:t>there are no successors for the state 0 </a:t>
            </a:r>
            <a:r>
              <a:rPr lang="en-US" dirty="0" smtClean="0">
                <a:solidFill>
                  <a:srgbClr val="FF0000"/>
                </a:solidFill>
              </a:rPr>
              <a:t>2</a:t>
            </a:r>
            <a:r>
              <a:rPr lang="en-US" dirty="0" smtClean="0"/>
              <a:t>. 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342" y="3841139"/>
            <a:ext cx="66675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162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18851"/>
            <a:ext cx="8229600" cy="264648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We need </a:t>
            </a:r>
            <a:r>
              <a:rPr lang="en-US" dirty="0">
                <a:solidFill>
                  <a:srgbClr val="FF0000"/>
                </a:solidFill>
              </a:rPr>
              <a:t>to backtrack to the parent node, and try the other successors of the parent node.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There </a:t>
            </a:r>
            <a:r>
              <a:rPr lang="en-US" dirty="0">
                <a:solidFill>
                  <a:srgbClr val="FF0000"/>
                </a:solidFill>
              </a:rPr>
              <a:t>is only one other successor of the parent node 0 and that is 0 3 , so we expand this state next.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also cross out all the positions that the other queens cannot be </a:t>
            </a:r>
            <a:r>
              <a:rPr lang="en-US" dirty="0" smtClean="0"/>
              <a:t>in.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706" y="4259140"/>
            <a:ext cx="68008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5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22860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The third queen can only be in row 1.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add the queen to the board, and also cross out all the positions that the remaining queens cannot be </a:t>
            </a:r>
            <a:r>
              <a:rPr lang="en-US" dirty="0" smtClean="0"/>
              <a:t>in.</a:t>
            </a:r>
          </a:p>
          <a:p>
            <a:pPr marL="114300" indent="0">
              <a:buNone/>
            </a:pPr>
            <a:r>
              <a:rPr lang="en-US" dirty="0" smtClean="0"/>
              <a:t> </a:t>
            </a:r>
          </a:p>
          <a:p>
            <a:r>
              <a:rPr lang="en-US" dirty="0">
                <a:solidFill>
                  <a:srgbClr val="FF0000"/>
                </a:solidFill>
              </a:rPr>
              <a:t>Unfortunately, </a:t>
            </a:r>
            <a:r>
              <a:rPr lang="en-US" dirty="0" smtClean="0">
                <a:solidFill>
                  <a:srgbClr val="FF0000"/>
                </a:solidFill>
              </a:rPr>
              <a:t>there is </a:t>
            </a:r>
            <a:r>
              <a:rPr lang="en-US" dirty="0">
                <a:solidFill>
                  <a:srgbClr val="FF0000"/>
                </a:solidFill>
              </a:rPr>
              <a:t>no possible position for the last queen, so the state 0 3 1 _ does not have a successor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2" y="4165476"/>
            <a:ext cx="665797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6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949567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search algorithm will backtrack all the way to the state </a:t>
            </a:r>
            <a:r>
              <a:rPr lang="en-US" dirty="0" smtClean="0">
                <a:solidFill>
                  <a:srgbClr val="FF0000"/>
                </a:solidFill>
              </a:rPr>
              <a:t>_ _ _ _ and </a:t>
            </a:r>
            <a:r>
              <a:rPr lang="en-US" dirty="0">
                <a:solidFill>
                  <a:srgbClr val="FF0000"/>
                </a:solidFill>
              </a:rPr>
              <a:t>explore the next successor of that initial state, which is </a:t>
            </a:r>
            <a:r>
              <a:rPr lang="en-US" dirty="0" smtClean="0">
                <a:solidFill>
                  <a:srgbClr val="FF0000"/>
                </a:solidFill>
              </a:rPr>
              <a:t>1 _ _ _.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3180250"/>
            <a:ext cx="68389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800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652953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There is only one possible place for the second queen, which is in row 3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11430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We </a:t>
            </a:r>
            <a:r>
              <a:rPr lang="en-US" dirty="0"/>
              <a:t>add the queen to the board, and also cross out all the positions that the remaining queens cannot be in:</a:t>
            </a:r>
            <a:r>
              <a:rPr lang="en-US" dirty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4030540"/>
            <a:ext cx="71056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36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661745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There is only one possible place for the third queen, which is in row 0. </a:t>
            </a:r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add the queen to the board, and also cross out all the positions that the remaining queens cannot be </a:t>
            </a:r>
            <a:r>
              <a:rPr lang="en-US" dirty="0" smtClean="0"/>
              <a:t>in.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98" y="3727940"/>
            <a:ext cx="71818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5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Backtracking Search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1705707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Finally, the only possible position for the last queen is in row 2. We add the queen to the </a:t>
            </a:r>
            <a:r>
              <a:rPr lang="en-US" dirty="0" smtClean="0">
                <a:solidFill>
                  <a:srgbClr val="FF0000"/>
                </a:solidFill>
              </a:rPr>
              <a:t>board.</a:t>
            </a:r>
          </a:p>
          <a:p>
            <a:endParaRPr lang="en-US" dirty="0" smtClean="0"/>
          </a:p>
          <a:p>
            <a:r>
              <a:rPr lang="en-US" dirty="0"/>
              <a:t>At this point, we’ve reached a goal node and we stop searching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79" y="3634889"/>
            <a:ext cx="72104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59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Today’s Lecture</a:t>
            </a:r>
            <a:endParaRPr/>
          </a:p>
        </p:txBody>
      </p:sp>
      <p:sp>
        <p:nvSpPr>
          <p:cNvPr id="91" name="Google Shape;91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 smtClean="0"/>
              <a:t>Constraint Satisfaction Problem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 dirty="0" smtClean="0"/>
              <a:t>Backtracking Search</a:t>
            </a: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6860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3F296526D7BB4EB949B2D9BCC1BDA8" ma:contentTypeVersion="3" ma:contentTypeDescription="Create a new document." ma:contentTypeScope="" ma:versionID="54ebf3a4d97c1b18f8c02f93bf7dfe45">
  <xsd:schema xmlns:xsd="http://www.w3.org/2001/XMLSchema" xmlns:xs="http://www.w3.org/2001/XMLSchema" xmlns:p="http://schemas.microsoft.com/office/2006/metadata/properties" xmlns:ns2="71778b39-a39e-4048-b00f-99dfecabd0ec" targetNamespace="http://schemas.microsoft.com/office/2006/metadata/properties" ma:root="true" ma:fieldsID="a0869485a2b5bdb0dfad92a9ed9b6ec3" ns2:_="">
    <xsd:import namespace="71778b39-a39e-4048-b00f-99dfecabd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778b39-a39e-4048-b00f-99dfecabd0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BF2D98-741B-4398-8922-FD875814A00E}"/>
</file>

<file path=customXml/itemProps2.xml><?xml version="1.0" encoding="utf-8"?>
<ds:datastoreItem xmlns:ds="http://schemas.openxmlformats.org/officeDocument/2006/customXml" ds:itemID="{BF48B5C5-A24D-4A40-BF5C-9D77C3FD9EDC}"/>
</file>

<file path=customXml/itemProps3.xml><?xml version="1.0" encoding="utf-8"?>
<ds:datastoreItem xmlns:ds="http://schemas.openxmlformats.org/officeDocument/2006/customXml" ds:itemID="{95E4FDC6-3D24-41EE-9696-80D63630A52B}"/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766</Words>
  <Application>Microsoft Office PowerPoint</Application>
  <PresentationFormat>On-screen Show (4:3)</PresentationFormat>
  <Paragraphs>99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Artificial Intelligence</vt:lpstr>
      <vt:lpstr>Today’s Lecture</vt:lpstr>
      <vt:lpstr>Constraint Satisfaction Problem</vt:lpstr>
      <vt:lpstr>Constraint Satisfaction Problem</vt:lpstr>
      <vt:lpstr>Formulating 4-Queens Problem as a CSP </vt:lpstr>
      <vt:lpstr>4-Queens Problem</vt:lpstr>
      <vt:lpstr>N-Queens as CSP Problem</vt:lpstr>
      <vt:lpstr>N-Queens as CSP Problem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Backtracking Search</vt:lpstr>
      <vt:lpstr>Today’s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GHAZALA</dc:creator>
  <cp:lastModifiedBy>Administrator</cp:lastModifiedBy>
  <cp:revision>75</cp:revision>
  <dcterms:created xsi:type="dcterms:W3CDTF">2012-02-27T05:45:45Z</dcterms:created>
  <dcterms:modified xsi:type="dcterms:W3CDTF">2025-10-23T17:17:23Z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0x010100263F296526D7BB4EB949B2D9BCC1BDA8</vt:lpwstr>
  </property>
</Properties>
</file>