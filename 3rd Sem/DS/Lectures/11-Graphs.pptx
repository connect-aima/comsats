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4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5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92.xml" ContentType="application/vnd.openxmlformats-officedocument.presentationml.tags+xml"/>
  <Override PartName="/ppt/notesSlides/notesSlide34.xml" ContentType="application/vnd.openxmlformats-officedocument.presentationml.notesSlide+xml"/>
  <Override PartName="/ppt/tags/tag93.xml" ContentType="application/vnd.openxmlformats-officedocument.presentationml.tags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63" r:id="rId5"/>
    <p:sldMasterId id="2147483675" r:id="rId6"/>
    <p:sldMasterId id="2147483687" r:id="rId7"/>
  </p:sldMasterIdLst>
  <p:notesMasterIdLst>
    <p:notesMasterId r:id="rId117"/>
  </p:notesMasterIdLst>
  <p:handoutMasterIdLst>
    <p:handoutMasterId r:id="rId118"/>
  </p:handoutMasterIdLst>
  <p:sldIdLst>
    <p:sldId id="765" r:id="rId8"/>
    <p:sldId id="1065" r:id="rId9"/>
    <p:sldId id="873" r:id="rId10"/>
    <p:sldId id="1063" r:id="rId11"/>
    <p:sldId id="1072" r:id="rId12"/>
    <p:sldId id="884" r:id="rId13"/>
    <p:sldId id="808" r:id="rId14"/>
    <p:sldId id="1066" r:id="rId15"/>
    <p:sldId id="960" r:id="rId16"/>
    <p:sldId id="1068" r:id="rId17"/>
    <p:sldId id="1069" r:id="rId18"/>
    <p:sldId id="962" r:id="rId19"/>
    <p:sldId id="1070" r:id="rId20"/>
    <p:sldId id="1071" r:id="rId21"/>
    <p:sldId id="1074" r:id="rId22"/>
    <p:sldId id="970" r:id="rId23"/>
    <p:sldId id="971" r:id="rId24"/>
    <p:sldId id="1075" r:id="rId25"/>
    <p:sldId id="974" r:id="rId26"/>
    <p:sldId id="1067" r:id="rId27"/>
    <p:sldId id="1082" r:id="rId28"/>
    <p:sldId id="874" r:id="rId29"/>
    <p:sldId id="810" r:id="rId30"/>
    <p:sldId id="811" r:id="rId31"/>
    <p:sldId id="812" r:id="rId32"/>
    <p:sldId id="815" r:id="rId33"/>
    <p:sldId id="975" r:id="rId34"/>
    <p:sldId id="976" r:id="rId35"/>
    <p:sldId id="977" r:id="rId36"/>
    <p:sldId id="978" r:id="rId37"/>
    <p:sldId id="979" r:id="rId38"/>
    <p:sldId id="980" r:id="rId39"/>
    <p:sldId id="981" r:id="rId40"/>
    <p:sldId id="1077" r:id="rId41"/>
    <p:sldId id="982" r:id="rId42"/>
    <p:sldId id="1078" r:id="rId43"/>
    <p:sldId id="983" r:id="rId44"/>
    <p:sldId id="818" r:id="rId45"/>
    <p:sldId id="984" r:id="rId46"/>
    <p:sldId id="985" r:id="rId47"/>
    <p:sldId id="1079" r:id="rId48"/>
    <p:sldId id="819" r:id="rId49"/>
    <p:sldId id="986" r:id="rId50"/>
    <p:sldId id="1181" r:id="rId51"/>
    <p:sldId id="987" r:id="rId52"/>
    <p:sldId id="847" r:id="rId53"/>
    <p:sldId id="988" r:id="rId54"/>
    <p:sldId id="990" r:id="rId55"/>
    <p:sldId id="1081" r:id="rId56"/>
    <p:sldId id="1180" r:id="rId57"/>
    <p:sldId id="909" r:id="rId58"/>
    <p:sldId id="910" r:id="rId59"/>
    <p:sldId id="911" r:id="rId60"/>
    <p:sldId id="912" r:id="rId61"/>
    <p:sldId id="913" r:id="rId62"/>
    <p:sldId id="914" r:id="rId63"/>
    <p:sldId id="915" r:id="rId64"/>
    <p:sldId id="916" r:id="rId65"/>
    <p:sldId id="917" r:id="rId66"/>
    <p:sldId id="918" r:id="rId67"/>
    <p:sldId id="919" r:id="rId68"/>
    <p:sldId id="1170" r:id="rId69"/>
    <p:sldId id="1171" r:id="rId70"/>
    <p:sldId id="1172" r:id="rId71"/>
    <p:sldId id="1173" r:id="rId72"/>
    <p:sldId id="920" r:id="rId73"/>
    <p:sldId id="921" r:id="rId74"/>
    <p:sldId id="922" r:id="rId75"/>
    <p:sldId id="923" r:id="rId76"/>
    <p:sldId id="924" r:id="rId77"/>
    <p:sldId id="925" r:id="rId78"/>
    <p:sldId id="926" r:id="rId79"/>
    <p:sldId id="927" r:id="rId80"/>
    <p:sldId id="928" r:id="rId81"/>
    <p:sldId id="929" r:id="rId82"/>
    <p:sldId id="930" r:id="rId83"/>
    <p:sldId id="931" r:id="rId84"/>
    <p:sldId id="932" r:id="rId85"/>
    <p:sldId id="933" r:id="rId86"/>
    <p:sldId id="934" r:id="rId87"/>
    <p:sldId id="935" r:id="rId88"/>
    <p:sldId id="936" r:id="rId89"/>
    <p:sldId id="937" r:id="rId90"/>
    <p:sldId id="938" r:id="rId91"/>
    <p:sldId id="939" r:id="rId92"/>
    <p:sldId id="940" r:id="rId93"/>
    <p:sldId id="941" r:id="rId94"/>
    <p:sldId id="942" r:id="rId95"/>
    <p:sldId id="943" r:id="rId96"/>
    <p:sldId id="944" r:id="rId97"/>
    <p:sldId id="945" r:id="rId98"/>
    <p:sldId id="946" r:id="rId99"/>
    <p:sldId id="947" r:id="rId100"/>
    <p:sldId id="948" r:id="rId101"/>
    <p:sldId id="1166" r:id="rId102"/>
    <p:sldId id="1165" r:id="rId103"/>
    <p:sldId id="1167" r:id="rId104"/>
    <p:sldId id="1168" r:id="rId105"/>
    <p:sldId id="1169" r:id="rId106"/>
    <p:sldId id="1155" r:id="rId107"/>
    <p:sldId id="1156" r:id="rId108"/>
    <p:sldId id="1157" r:id="rId109"/>
    <p:sldId id="1158" r:id="rId110"/>
    <p:sldId id="1159" r:id="rId111"/>
    <p:sldId id="1160" r:id="rId112"/>
    <p:sldId id="1161" r:id="rId113"/>
    <p:sldId id="1162" r:id="rId114"/>
    <p:sldId id="1174" r:id="rId115"/>
    <p:sldId id="898" r:id="rId116"/>
  </p:sldIdLst>
  <p:sldSz cx="9144000" cy="6858000" type="screen4x3"/>
  <p:notesSz cx="7010400" cy="92964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B3FFE9"/>
    <a:srgbClr val="BF119A"/>
    <a:srgbClr val="CC3300"/>
    <a:srgbClr val="33CC33"/>
    <a:srgbClr val="6666FF"/>
    <a:srgbClr val="979797"/>
    <a:srgbClr val="FFFF99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2"/>
    <p:restoredTop sz="95667"/>
  </p:normalViewPr>
  <p:slideViewPr>
    <p:cSldViewPr snapToGrid="0" showGuides="1">
      <p:cViewPr varScale="1">
        <p:scale>
          <a:sx n="79" d="100"/>
          <a:sy n="79" d="100"/>
        </p:scale>
        <p:origin x="67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12" Type="http://schemas.openxmlformats.org/officeDocument/2006/relationships/slide" Target="slides/slide105.xml"/><Relationship Id="rId16" Type="http://schemas.openxmlformats.org/officeDocument/2006/relationships/slide" Target="slides/slide9.xml"/><Relationship Id="rId107" Type="http://schemas.openxmlformats.org/officeDocument/2006/relationships/slide" Target="slides/slide100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123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3.xml"/><Relationship Id="rId95" Type="http://schemas.openxmlformats.org/officeDocument/2006/relationships/slide" Target="slides/slide88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113" Type="http://schemas.openxmlformats.org/officeDocument/2006/relationships/slide" Target="slides/slide106.xml"/><Relationship Id="rId118" Type="http://schemas.openxmlformats.org/officeDocument/2006/relationships/handoutMaster" Target="handoutMasters/handoutMaster1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08" Type="http://schemas.openxmlformats.org/officeDocument/2006/relationships/slide" Target="slides/slide101.xml"/><Relationship Id="rId54" Type="http://schemas.openxmlformats.org/officeDocument/2006/relationships/slide" Target="slides/slide47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91" Type="http://schemas.openxmlformats.org/officeDocument/2006/relationships/slide" Target="slides/slide84.xml"/><Relationship Id="rId96" Type="http://schemas.openxmlformats.org/officeDocument/2006/relationships/slide" Target="slides/slide8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49" Type="http://schemas.openxmlformats.org/officeDocument/2006/relationships/slide" Target="slides/slide42.xml"/><Relationship Id="rId114" Type="http://schemas.openxmlformats.org/officeDocument/2006/relationships/slide" Target="slides/slide107.xml"/><Relationship Id="rId119" Type="http://schemas.openxmlformats.org/officeDocument/2006/relationships/presProps" Target="presProps.xml"/><Relationship Id="rId44" Type="http://schemas.openxmlformats.org/officeDocument/2006/relationships/slide" Target="slides/slide37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109" Type="http://schemas.openxmlformats.org/officeDocument/2006/relationships/slide" Target="slides/slide10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04" Type="http://schemas.openxmlformats.org/officeDocument/2006/relationships/slide" Target="slides/slide97.xml"/><Relationship Id="rId120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openxmlformats.org/officeDocument/2006/relationships/slide" Target="slides/slide103.xml"/><Relationship Id="rId115" Type="http://schemas.openxmlformats.org/officeDocument/2006/relationships/slide" Target="slides/slide108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slide" Target="slides/slide98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121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116" Type="http://schemas.openxmlformats.org/officeDocument/2006/relationships/slide" Target="slides/slide10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openxmlformats.org/officeDocument/2006/relationships/slide" Target="slides/slide104.xml"/><Relationship Id="rId15" Type="http://schemas.openxmlformats.org/officeDocument/2006/relationships/slide" Target="slides/slide8.xml"/><Relationship Id="rId36" Type="http://schemas.openxmlformats.org/officeDocument/2006/relationships/slide" Target="slides/slide29.xml"/><Relationship Id="rId57" Type="http://schemas.openxmlformats.org/officeDocument/2006/relationships/slide" Target="slides/slide50.xml"/><Relationship Id="rId106" Type="http://schemas.openxmlformats.org/officeDocument/2006/relationships/slide" Target="slides/slide99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52" Type="http://schemas.openxmlformats.org/officeDocument/2006/relationships/slide" Target="slides/slide45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1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ique Ahmad Zafar" userId="3c3190ae-5c8d-4775-903c-57da784da929" providerId="ADAL" clId="{939B054C-F8A9-4478-8F2C-9BA32CC365B5}"/>
    <pc:docChg chg="modSld">
      <pc:chgData name="Atique Ahmad Zafar" userId="3c3190ae-5c8d-4775-903c-57da784da929" providerId="ADAL" clId="{939B054C-F8A9-4478-8F2C-9BA32CC365B5}" dt="2025-11-25T08:48:29.279" v="2" actId="20577"/>
      <pc:docMkLst>
        <pc:docMk/>
      </pc:docMkLst>
      <pc:sldChg chg="modSp mod">
        <pc:chgData name="Atique Ahmad Zafar" userId="3c3190ae-5c8d-4775-903c-57da784da929" providerId="ADAL" clId="{939B054C-F8A9-4478-8F2C-9BA32CC365B5}" dt="2025-11-25T08:40:13.985" v="0" actId="6549"/>
        <pc:sldMkLst>
          <pc:docMk/>
          <pc:sldMk cId="0" sldId="884"/>
        </pc:sldMkLst>
        <pc:spChg chg="mod">
          <ac:chgData name="Atique Ahmad Zafar" userId="3c3190ae-5c8d-4775-903c-57da784da929" providerId="ADAL" clId="{939B054C-F8A9-4478-8F2C-9BA32CC365B5}" dt="2025-11-25T08:40:13.985" v="0" actId="6549"/>
          <ac:spMkLst>
            <pc:docMk/>
            <pc:sldMk cId="0" sldId="884"/>
            <ac:spMk id="9218" creationId="{6AFF9D23-2290-A4CE-22CA-EAC6CF1A47FA}"/>
          </ac:spMkLst>
        </pc:spChg>
      </pc:sldChg>
      <pc:sldChg chg="modSp mod">
        <pc:chgData name="Atique Ahmad Zafar" userId="3c3190ae-5c8d-4775-903c-57da784da929" providerId="ADAL" clId="{939B054C-F8A9-4478-8F2C-9BA32CC365B5}" dt="2025-11-25T08:48:29.279" v="2" actId="20577"/>
        <pc:sldMkLst>
          <pc:docMk/>
          <pc:sldMk cId="0" sldId="1066"/>
        </pc:sldMkLst>
        <pc:spChg chg="mod">
          <ac:chgData name="Atique Ahmad Zafar" userId="3c3190ae-5c8d-4775-903c-57da784da929" providerId="ADAL" clId="{939B054C-F8A9-4478-8F2C-9BA32CC365B5}" dt="2025-11-25T08:48:29.279" v="2" actId="20577"/>
          <ac:spMkLst>
            <pc:docMk/>
            <pc:sldMk cId="0" sldId="1066"/>
            <ac:spMk id="2355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l"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l"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01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ar-SA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ar-SA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l"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7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Textmasterformate durch Klicken bearbeiten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Zweite Ebene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Dritte Ebene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Vierte Ebene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Fünfte Ebene</a:t>
            </a:r>
          </a:p>
        </p:txBody>
      </p:sp>
      <p:sp>
        <p:nvSpPr>
          <p:cNvPr id="87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l" eaLnBrk="1" hangingPunct="1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ar-SA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ar-SA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dirty="0"/>
              <a:t>1</a:t>
            </a:fld>
            <a:endParaRPr lang="en-US" altLang="en-US" dirty="0"/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lstStyle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68D5C3-A6E8-4D51-8861-BD450EA89ED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49156D-3ED5-484D-BD76-634A58480E2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158D1B-70C0-49D1-B6E4-1058EF6F4A9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0BA229-BED7-4B25-9212-1EB4FC3EEA1F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defTabSz="967105"/>
            <a:fld id="{9A0DB2DC-4C9A-4742-B13C-FB6460FD3503}" type="slidenum">
              <a:rPr lang="en-US" altLang="x-none" sz="1300" dirty="0"/>
              <a:t>19</a:t>
            </a:fld>
            <a:endParaRPr lang="en-US" altLang="x-none" sz="1300" dirty="0"/>
          </a:p>
        </p:txBody>
      </p:sp>
      <p:sp>
        <p:nvSpPr>
          <p:cNvPr id="62466" name="Slide Image Placeholder 624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Text Placeholder 62466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lIns="96661" tIns="48331" rIns="96661" bIns="48331"/>
          <a:lstStyle/>
          <a:p>
            <a:pPr lvl="0"/>
            <a:r>
              <a:rPr lang="en-US" altLang="zh-TW"/>
              <a:t>Not too useful!!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CCA2-2949-4325-A78A-A7C3B63D73CE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49156D-3ED5-484D-BD76-634A58480E2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BF5A6884-C0C1-D75B-2290-A3A1CC4418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31C201-14D5-476F-932C-810F783610CF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A3AAED5-8791-E358-658C-44B8AA099A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9CBA8AA-8BF2-CC5B-F602-199C8F475F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7907347A-01ED-9451-7C21-A8CBC312F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5521BB-6325-4AA8-9509-9AFD373A7D7D}" type="slidenum">
              <a:rPr lang="en-CA" altLang="en-US"/>
              <a:pPr>
                <a:spcBef>
                  <a:spcPct val="0"/>
                </a:spcBef>
              </a:pPr>
              <a:t>24</a:t>
            </a:fld>
            <a:endParaRPr lang="en-CA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340C7A2-12C6-B73F-707F-802A6F17E4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8985EF-D219-BA5C-6136-80AFFFA8E9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5F9E4A45-B19F-692F-7599-A095F490A2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E215E61-035B-4E08-9D10-A53ECCFBDE2B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A8BD8F9-4BCE-5C20-0B47-E306D704D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F71A3E6-CBFB-D15D-AD90-F2638AC97C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3459700F-DEB7-E797-996C-5AB82F621F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AD0899-63A0-4ED8-9228-EBBADD06EF1F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9DECBFC-1AE5-60EF-09FB-F1FC602646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509D68A-D957-3936-2792-C3C653FE3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6656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9EA7E0-5880-4A0F-974F-4E4DD4409A30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632DC7B9-FBEE-0248-9ABE-4B6D4026B2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964915-1CE0-48E4-9C9E-676925B6CEE1}" type="slidenum">
              <a:rPr lang="en-CA" altLang="en-US"/>
              <a:pPr>
                <a:spcBef>
                  <a:spcPct val="0"/>
                </a:spcBef>
              </a:pPr>
              <a:t>38</a:t>
            </a:fld>
            <a:endParaRPr lang="en-CA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DA77E0A9-5499-1A8E-34EC-A8934F7EF4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190EA7F-F472-5EAB-DDC2-AA1A1AE1C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7270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A74279-D5C9-48CA-97F6-0C6FAD49F467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76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6A9A33FE-8335-9B69-39D5-0D1A2AF88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566746-AA36-4B66-A7EE-44F5F9F91A72}" type="slidenum">
              <a:rPr lang="en-CA" altLang="en-US"/>
              <a:pPr>
                <a:spcBef>
                  <a:spcPct val="0"/>
                </a:spcBef>
              </a:pPr>
              <a:t>42</a:t>
            </a:fld>
            <a:endParaRPr lang="en-CA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E4C2F00-E383-8127-B77B-DA6CBABE24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FDAA75D-ED5D-E98F-8541-CCA3DE062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2B15E677-5198-493A-4F5B-81FCAEF54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223D22-708F-4DDE-8FAC-B5DBF08ED90E}" type="slidenum">
              <a:rPr lang="en-CA" altLang="en-US"/>
              <a:pPr>
                <a:spcBef>
                  <a:spcPct val="0"/>
                </a:spcBef>
              </a:pPr>
              <a:t>46</a:t>
            </a:fld>
            <a:endParaRPr lang="en-CA" altLang="en-U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6CDE746C-387C-E585-38E6-53263BE331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0EE1DE2-0964-5439-12B7-564136128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7583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7680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205475-BCD8-4734-97D6-C3DB66BAE7BE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51</a:t>
            </a:fld>
            <a:endParaRPr lang="en-US" altLang="en-US" sz="1300" dirty="0"/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52</a:t>
            </a:fld>
            <a:endParaRPr lang="en-US" altLang="en-US" sz="1300" dirty="0"/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53</a:t>
            </a:fld>
            <a:endParaRPr lang="en-US" altLang="en-US" sz="1300" dirty="0"/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54</a:t>
            </a:fld>
            <a:endParaRPr lang="en-US" altLang="en-US" sz="130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55</a:t>
            </a:fld>
            <a:endParaRPr lang="en-US" altLang="en-US" sz="1300" dirty="0"/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7300" y="720725"/>
            <a:ext cx="4799013" cy="3600450"/>
          </a:xfrm>
          <a:solidFill>
            <a:srgbClr val="FFFFFF">
              <a:alpha val="100000"/>
            </a:srgbClr>
          </a:solidFill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56</a:t>
            </a:fld>
            <a:endParaRPr lang="en-US" altLang="en-US" sz="1300" dirty="0"/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7300" y="720725"/>
            <a:ext cx="4799013" cy="3600450"/>
          </a:xfrm>
          <a:solidFill>
            <a:srgbClr val="FFFFFF">
              <a:alpha val="100000"/>
            </a:srgbClr>
          </a:solidFill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57</a:t>
            </a:fld>
            <a:endParaRPr lang="en-US" altLang="en-US" sz="1300" dirty="0"/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7300" y="720725"/>
            <a:ext cx="4799013" cy="3600450"/>
          </a:xfrm>
          <a:solidFill>
            <a:srgbClr val="FFFFFF">
              <a:alpha val="100000"/>
            </a:srgbClr>
          </a:solidFill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58</a:t>
            </a:fld>
            <a:endParaRPr lang="en-US" altLang="en-US" sz="1300" dirty="0"/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59</a:t>
            </a:fld>
            <a:endParaRPr lang="en-US" altLang="en-US" sz="1300" dirty="0"/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60</a:t>
            </a:fld>
            <a:endParaRPr lang="en-US" altLang="en-US" sz="1300" dirty="0"/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61</a:t>
            </a:fld>
            <a:endParaRPr lang="en-US" altLang="en-US" sz="1300" dirty="0"/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r>
              <a:rPr lang="en-US" altLang="en-US" dirty="0"/>
              <a:t>Start of Lecture 26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62</a:t>
            </a:fld>
            <a:endParaRPr lang="en-US" altLang="en-US" sz="1300" dirty="0"/>
          </a:p>
        </p:txBody>
      </p:sp>
      <p:sp>
        <p:nvSpPr>
          <p:cNvPr id="65539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63</a:t>
            </a:fld>
            <a:endParaRPr lang="en-US" altLang="en-US" sz="13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64</a:t>
            </a:fld>
            <a:endParaRPr lang="en-US" altLang="en-US" sz="1300" dirty="0"/>
          </a:p>
        </p:txBody>
      </p:sp>
      <p:sp>
        <p:nvSpPr>
          <p:cNvPr id="696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sz="1300" dirty="0"/>
              <a:t>65</a:t>
            </a:fld>
            <a:endParaRPr lang="en-US" altLang="en-US" sz="1300" dirty="0"/>
          </a:p>
        </p:txBody>
      </p:sp>
      <p:sp>
        <p:nvSpPr>
          <p:cNvPr id="716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177" tIns="46589" rIns="93177" bIns="46589" anchor="t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49156D-3ED5-484D-BD76-634A58480E22}" type="slidenum">
              <a:rPr lang="en-US"/>
              <a:t>95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49156D-3ED5-484D-BD76-634A58480E22}" type="slidenum">
              <a:rPr lang="en-US"/>
              <a:t>108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de-DE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5123" name="Group 33"/>
          <p:cNvGrpSpPr/>
          <p:nvPr/>
        </p:nvGrpSpPr>
        <p:grpSpPr>
          <a:xfrm>
            <a:off x="0" y="3090863"/>
            <a:ext cx="9144000" cy="781050"/>
            <a:chOff x="0" y="1947"/>
            <a:chExt cx="5760" cy="492"/>
          </a:xfrm>
        </p:grpSpPr>
        <p:sp>
          <p:nvSpPr>
            <p:cNvPr id="4" name="Rectangle 6"/>
            <p:cNvSpPr>
              <a:spLocks noChangeAspect="1" noChangeArrowheads="1"/>
            </p:cNvSpPr>
            <p:nvPr/>
          </p:nvSpPr>
          <p:spPr bwMode="hidden">
            <a:xfrm>
              <a:off x="267" y="2143"/>
              <a:ext cx="5493" cy="199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tint val="0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5133" name="Group 22"/>
            <p:cNvGrpSpPr>
              <a:grpSpLocks noChangeAspect="1"/>
            </p:cNvGrpSpPr>
            <p:nvPr userDrawn="1"/>
          </p:nvGrpSpPr>
          <p:grpSpPr>
            <a:xfrm>
              <a:off x="1" y="1947"/>
              <a:ext cx="447" cy="492"/>
              <a:chOff x="0" y="672"/>
              <a:chExt cx="1806" cy="1989"/>
            </a:xfrm>
          </p:grpSpPr>
          <p:sp>
            <p:nvSpPr>
              <p:cNvPr id="6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60" y="2257"/>
                <a:ext cx="364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7" name="Rectangle 6"/>
              <p:cNvSpPr>
                <a:spLocks noChangeAspect="1" noChangeArrowheads="1"/>
              </p:cNvSpPr>
              <p:nvPr/>
            </p:nvSpPr>
            <p:spPr bwMode="auto">
              <a:xfrm>
                <a:off x="1083" y="1064"/>
                <a:ext cx="360" cy="404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8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38" y="672"/>
                <a:ext cx="368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8"/>
              <p:cNvSpPr>
                <a:spLocks noChangeAspect="1"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9"/>
              <p:cNvSpPr>
                <a:spLocks noChangeAspect="1" noChangeArrowheads="1"/>
              </p:cNvSpPr>
              <p:nvPr/>
            </p:nvSpPr>
            <p:spPr bwMode="auto">
              <a:xfrm>
                <a:off x="1438" y="1064"/>
                <a:ext cx="368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719" y="1464"/>
                <a:ext cx="368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0" y="1464"/>
                <a:ext cx="368" cy="4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1083" y="1464"/>
                <a:ext cx="360" cy="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360" y="1857"/>
                <a:ext cx="364" cy="408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4"/>
              <p:cNvSpPr>
                <a:spLocks noChangeAspect="1" noChangeArrowheads="1"/>
              </p:cNvSpPr>
              <p:nvPr/>
            </p:nvSpPr>
            <p:spPr bwMode="auto">
              <a:xfrm>
                <a:off x="719" y="1857"/>
                <a:ext cx="368" cy="4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de-DE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0" y="5692775"/>
            <a:ext cx="5181600" cy="831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Department of Computer Science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COMSATS University, Islamabad</a:t>
            </a:r>
          </a:p>
        </p:txBody>
      </p:sp>
      <p:pic>
        <p:nvPicPr>
          <p:cNvPr id="5125" name="Picture 2" descr="C:\Users\noors\Desktop\CIIT_IS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95900" y="0"/>
            <a:ext cx="3848100" cy="2212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Picture 42" descr="Image result for COMSATS University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587"/>
            <a:ext cx="1641475" cy="1581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53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2790825" y="1504950"/>
            <a:ext cx="6105525" cy="1990725"/>
          </a:xfrm>
        </p:spPr>
        <p:txBody>
          <a:bodyPr/>
          <a:lstStyle>
            <a:lvl1pPr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US"/>
              <a:t>Titelmasterformat durch Klicken bearbeiten</a:t>
            </a:r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3352800" y="4267200"/>
            <a:ext cx="554355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en-US" dirty="0" err="1"/>
              <a:t>Formatvorlage</a:t>
            </a:r>
            <a:r>
              <a:rPr lang="en-US" dirty="0"/>
              <a:t> des </a:t>
            </a:r>
            <a:r>
              <a:rPr lang="en-US" dirty="0" err="1"/>
              <a:t>Untertitelmasters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9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E913DB-9231-4023-AFE3-6F140FACCFEE}" type="datetime1">
              <a:rPr kumimoji="0" lang="de-AT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25.11.2025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defRPr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ar-SA" altLang="en-US" dirty="0">
                <a:latin typeface="Arial Black" panose="020B0A0402010202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0" y="1270000"/>
            <a:ext cx="8134350" cy="452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346200"/>
            <a:ext cx="3990975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5825" y="1346200"/>
            <a:ext cx="3990975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3213" y="115888"/>
            <a:ext cx="2033587" cy="57515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2450" y="115888"/>
            <a:ext cx="5948363" cy="57515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188" y="115888"/>
            <a:ext cx="6645275" cy="9366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52450" y="1346200"/>
            <a:ext cx="8134350" cy="4521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008188" y="115888"/>
            <a:ext cx="6645275" cy="9366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52450" y="1346200"/>
            <a:ext cx="3990975" cy="218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95825" y="1346200"/>
            <a:ext cx="3990975" cy="218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52450" y="3683000"/>
            <a:ext cx="3990975" cy="218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825" y="3683000"/>
            <a:ext cx="3990975" cy="218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ctr" eaLnBrk="1" hangingPunct="1"/>
            <a:fld id="{9A0DB2DC-4C9A-4742-B13C-FB6460FD3503}" type="slidenum">
              <a:rPr lang="en-US" altLang="en-US" dirty="0">
                <a:cs typeface="Arial" panose="020B0604020202020204" pitchFamily="34" charset="0"/>
              </a:rPr>
              <a:t>‹#›</a:t>
            </a:fld>
            <a:endParaRPr lang="en-US" altLang="en-US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1"/>
          <p:cNvSpPr>
            <a:spLocks noChangeArrowheads="1"/>
          </p:cNvSpPr>
          <p:nvPr/>
        </p:nvSpPr>
        <p:spPr bwMode="auto">
          <a:xfrm>
            <a:off x="827088" y="0"/>
            <a:ext cx="179388" cy="6858000"/>
          </a:xfrm>
          <a:prstGeom prst="rect">
            <a:avLst/>
          </a:prstGeom>
          <a:gradFill rotWithShape="1">
            <a:gsLst>
              <a:gs pos="0">
                <a:srgbClr val="BFBFDA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27" name="Rectangle 45"/>
          <p:cNvSpPr>
            <a:spLocks noChangeArrowheads="1"/>
          </p:cNvSpPr>
          <p:nvPr/>
        </p:nvSpPr>
        <p:spPr bwMode="auto">
          <a:xfrm>
            <a:off x="0" y="0"/>
            <a:ext cx="827088" cy="6858000"/>
          </a:xfrm>
          <a:prstGeom prst="rect">
            <a:avLst/>
          </a:prstGeom>
          <a:solidFill>
            <a:srgbClr val="BFBFDA"/>
          </a:soli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28" name="Rectangle 14"/>
          <p:cNvSpPr>
            <a:spLocks noGrp="1"/>
          </p:cNvSpPr>
          <p:nvPr>
            <p:ph type="title"/>
          </p:nvPr>
        </p:nvSpPr>
        <p:spPr>
          <a:xfrm>
            <a:off x="2008188" y="115888"/>
            <a:ext cx="6645275" cy="9366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en-US" altLang="en-US" dirty="0"/>
              <a:t>Titelmasterformat durch Klicken bearbeiten</a:t>
            </a:r>
          </a:p>
        </p:txBody>
      </p:sp>
      <p:sp>
        <p:nvSpPr>
          <p:cNvPr id="1029" name="Rectangle 15"/>
          <p:cNvSpPr>
            <a:spLocks noGrp="1"/>
          </p:cNvSpPr>
          <p:nvPr>
            <p:ph type="body" idx="1"/>
          </p:nvPr>
        </p:nvSpPr>
        <p:spPr>
          <a:xfrm>
            <a:off x="552450" y="1346200"/>
            <a:ext cx="8134350" cy="4521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Textmasterformate durch Klicken bearbeiten</a:t>
            </a:r>
          </a:p>
          <a:p>
            <a:pPr lvl="1"/>
            <a:r>
              <a:rPr lang="en-US" altLang="en-US" dirty="0"/>
              <a:t>Zweite Ebene</a:t>
            </a:r>
          </a:p>
          <a:p>
            <a:pPr lvl="2"/>
            <a:r>
              <a:rPr lang="en-US" altLang="en-US" dirty="0"/>
              <a:t>Dritte Ebene</a:t>
            </a:r>
          </a:p>
          <a:p>
            <a:pPr lvl="3"/>
            <a:r>
              <a:rPr lang="en-US" altLang="en-US" dirty="0"/>
              <a:t>Vierte Ebene</a:t>
            </a:r>
          </a:p>
          <a:p>
            <a:pPr lvl="4"/>
            <a:r>
              <a:rPr lang="en-US" altLang="en-US" dirty="0"/>
              <a:t>Fünfte Ebene</a:t>
            </a:r>
          </a:p>
        </p:txBody>
      </p:sp>
      <p:grpSp>
        <p:nvGrpSpPr>
          <p:cNvPr id="1030" name="Group 77"/>
          <p:cNvGrpSpPr/>
          <p:nvPr/>
        </p:nvGrpSpPr>
        <p:grpSpPr>
          <a:xfrm>
            <a:off x="663575" y="6226175"/>
            <a:ext cx="6184900" cy="336550"/>
            <a:chOff x="418" y="3922"/>
            <a:chExt cx="3896" cy="212"/>
          </a:xfrm>
        </p:grpSpPr>
        <p:sp>
          <p:nvSpPr>
            <p:cNvPr id="1044" name="Rectangle 48"/>
            <p:cNvSpPr>
              <a:spLocks noChangeArrowheads="1"/>
            </p:cNvSpPr>
            <p:nvPr/>
          </p:nvSpPr>
          <p:spPr bwMode="auto">
            <a:xfrm>
              <a:off x="421" y="3976"/>
              <a:ext cx="3893" cy="5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de-DE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45" name="Rectangle 50"/>
            <p:cNvSpPr>
              <a:spLocks noChangeAspect="1"/>
            </p:cNvSpPr>
            <p:nvPr userDrawn="1"/>
          </p:nvSpPr>
          <p:spPr>
            <a:xfrm flipV="1">
              <a:off x="471" y="4029"/>
              <a:ext cx="54" cy="53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rot="10800000"/>
            <a:lstStyle/>
            <a:p>
              <a:pPr lvl="0" eaLnBrk="1" hangingPunct="1">
                <a:buNone/>
              </a:pPr>
              <a:endParaRPr lang="de-DE" altLang="en-US" sz="1800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6" name="Rectangle 54"/>
            <p:cNvSpPr>
              <a:spLocks noChangeAspect="1"/>
            </p:cNvSpPr>
            <p:nvPr userDrawn="1"/>
          </p:nvSpPr>
          <p:spPr>
            <a:xfrm flipV="1">
              <a:off x="472" y="3976"/>
              <a:ext cx="53" cy="53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rot="10800000"/>
            <a:lstStyle/>
            <a:p>
              <a:pPr lvl="0" eaLnBrk="1" hangingPunct="1">
                <a:buNone/>
              </a:pPr>
              <a:endParaRPr lang="de-DE" altLang="en-US" sz="1800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7" name="Rectangle 62"/>
            <p:cNvSpPr>
              <a:spLocks noChangeAspect="1"/>
            </p:cNvSpPr>
            <p:nvPr userDrawn="1"/>
          </p:nvSpPr>
          <p:spPr>
            <a:xfrm flipV="1">
              <a:off x="525" y="4029"/>
              <a:ext cx="53" cy="53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rot="10800000"/>
            <a:lstStyle/>
            <a:p>
              <a:pPr lvl="0" eaLnBrk="1" hangingPunct="1">
                <a:buNone/>
              </a:pPr>
              <a:endParaRPr lang="de-DE" altLang="en-US" sz="1800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8" name="Rectangle 64"/>
            <p:cNvSpPr>
              <a:spLocks noChangeAspect="1"/>
            </p:cNvSpPr>
            <p:nvPr userDrawn="1"/>
          </p:nvSpPr>
          <p:spPr>
            <a:xfrm flipV="1">
              <a:off x="419" y="3922"/>
              <a:ext cx="53" cy="53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rot="10800000"/>
            <a:lstStyle/>
            <a:p>
              <a:pPr lvl="0" eaLnBrk="1" hangingPunct="1">
                <a:buNone/>
              </a:pPr>
              <a:endParaRPr lang="de-DE" altLang="en-US" sz="1800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9" name="Rectangle 65"/>
            <p:cNvSpPr>
              <a:spLocks noChangeAspect="1"/>
            </p:cNvSpPr>
            <p:nvPr userDrawn="1"/>
          </p:nvSpPr>
          <p:spPr>
            <a:xfrm flipV="1">
              <a:off x="524" y="4081"/>
              <a:ext cx="54" cy="53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rot="10800000"/>
            <a:lstStyle/>
            <a:p>
              <a:pPr lvl="0" eaLnBrk="1" hangingPunct="1">
                <a:buNone/>
              </a:pPr>
              <a:endParaRPr lang="de-DE" altLang="en-US" sz="1800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0" name="Rectangle 66"/>
            <p:cNvSpPr>
              <a:spLocks noChangeAspect="1"/>
            </p:cNvSpPr>
            <p:nvPr userDrawn="1"/>
          </p:nvSpPr>
          <p:spPr>
            <a:xfrm flipV="1">
              <a:off x="418" y="3976"/>
              <a:ext cx="54" cy="53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rot="10800000"/>
            <a:lstStyle/>
            <a:p>
              <a:pPr lvl="0" eaLnBrk="1" hangingPunct="1">
                <a:buNone/>
              </a:pPr>
              <a:endParaRPr lang="de-DE" altLang="en-US" sz="1800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31" name="Group 78"/>
          <p:cNvGrpSpPr/>
          <p:nvPr/>
        </p:nvGrpSpPr>
        <p:grpSpPr>
          <a:xfrm flipH="1" flipV="1">
            <a:off x="2670175" y="798513"/>
            <a:ext cx="6184900" cy="336550"/>
            <a:chOff x="418" y="3922"/>
            <a:chExt cx="3896" cy="212"/>
          </a:xfrm>
        </p:grpSpPr>
        <p:sp>
          <p:nvSpPr>
            <p:cNvPr id="1037" name="Rectangle 79"/>
            <p:cNvSpPr/>
            <p:nvPr userDrawn="1"/>
          </p:nvSpPr>
          <p:spPr>
            <a:xfrm>
              <a:off x="421" y="3976"/>
              <a:ext cx="3893" cy="5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10800000"/>
            <a:lstStyle/>
            <a:p>
              <a:pPr lvl="0" eaLnBrk="1" hangingPunct="1">
                <a:buNone/>
              </a:pPr>
              <a:endParaRPr lang="de-DE" altLang="en-US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8" name="Rectangle 80"/>
            <p:cNvSpPr>
              <a:spLocks noChangeAspect="1" noChangeArrowheads="1"/>
            </p:cNvSpPr>
            <p:nvPr/>
          </p:nvSpPr>
          <p:spPr bwMode="auto">
            <a:xfrm flipV="1">
              <a:off x="471" y="4029"/>
              <a:ext cx="54" cy="5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de-DE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9" name="Rectangle 81"/>
            <p:cNvSpPr>
              <a:spLocks noChangeAspect="1" noChangeArrowheads="1"/>
            </p:cNvSpPr>
            <p:nvPr/>
          </p:nvSpPr>
          <p:spPr bwMode="auto">
            <a:xfrm flipV="1">
              <a:off x="472" y="3976"/>
              <a:ext cx="53" cy="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de-DE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0" name="Rectangle 82"/>
            <p:cNvSpPr>
              <a:spLocks noChangeAspect="1" noChangeArrowheads="1"/>
            </p:cNvSpPr>
            <p:nvPr/>
          </p:nvSpPr>
          <p:spPr bwMode="auto">
            <a:xfrm flipV="1">
              <a:off x="525" y="4029"/>
              <a:ext cx="53" cy="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de-DE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1" name="Rectangle 83"/>
            <p:cNvSpPr>
              <a:spLocks noChangeAspect="1" noChangeArrowheads="1"/>
            </p:cNvSpPr>
            <p:nvPr/>
          </p:nvSpPr>
          <p:spPr bwMode="auto">
            <a:xfrm flipV="1">
              <a:off x="419" y="3922"/>
              <a:ext cx="53" cy="5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de-DE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2" name="Rectangle 84"/>
            <p:cNvSpPr>
              <a:spLocks noChangeAspect="1" noChangeArrowheads="1"/>
            </p:cNvSpPr>
            <p:nvPr/>
          </p:nvSpPr>
          <p:spPr bwMode="auto">
            <a:xfrm flipV="1">
              <a:off x="524" y="4081"/>
              <a:ext cx="54" cy="5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de-DE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3" name="Rectangle 85"/>
            <p:cNvSpPr>
              <a:spLocks noChangeAspect="1" noChangeArrowheads="1"/>
            </p:cNvSpPr>
            <p:nvPr/>
          </p:nvSpPr>
          <p:spPr bwMode="auto">
            <a:xfrm flipV="1">
              <a:off x="418" y="3976"/>
              <a:ext cx="54" cy="5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de-DE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032" name="Text Box 86"/>
          <p:cNvSpPr txBox="1">
            <a:spLocks noChangeArrowheads="1"/>
          </p:cNvSpPr>
          <p:nvPr/>
        </p:nvSpPr>
        <p:spPr bwMode="auto">
          <a:xfrm>
            <a:off x="908050" y="6443663"/>
            <a:ext cx="2425700" cy="2746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de-DE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Department of Computer Science</a:t>
            </a:r>
          </a:p>
        </p:txBody>
      </p:sp>
      <p:sp>
        <p:nvSpPr>
          <p:cNvPr id="3892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754813" y="6265863"/>
            <a:ext cx="1319213" cy="454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2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27B25-8098-4646-AB32-003DC40245B2}" type="datetime1">
              <a:rPr kumimoji="0" lang="de-A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25.11.2025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9125" y="6259513"/>
            <a:ext cx="35687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2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5775" y="6261100"/>
            <a:ext cx="5810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1">
                <a:solidFill>
                  <a:schemeClr val="bg2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ar-SA" altLang="en-US" dirty="0">
                <a:latin typeface="Tahoma" panose="020B0604030504040204" pitchFamily="34" charset="0"/>
                <a:cs typeface="Arial" panose="020B0604020202020204" pitchFamily="34" charset="0"/>
              </a:rPr>
              <a:t>‹#›</a:t>
            </a:fld>
            <a:endParaRPr lang="ar-SA" altLang="en-US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1036" name="Picture 26" descr="Image result for COMSATS University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588" y="6310313"/>
            <a:ext cx="742950" cy="5365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anose="020B0604030504040204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anose="020B0604030504040204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anose="020B0604030504040204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anose="020B0604030504040204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anose="020B0604030504040204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anose="020B0604030504040204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anose="020B0604030504040204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6E432F-AA06-4C5C-A9B1-C48B32CF588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D6B45-971E-41D0-B7D3-17286D555C07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B3BA6-6797-4583-994E-F0C01F95AF6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11/25/2025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en-US" altLang="en-US" dirty="0">
                <a:latin typeface="Tahoma" panose="020B0604030504040204" pitchFamily="34" charset="0"/>
              </a:rPr>
              <a:t>‹#›</a:t>
            </a:fld>
            <a:endParaRPr lang="en-US" altLang="en-US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image" Target="../media/image9.png"/><Relationship Id="rId2" Type="http://schemas.openxmlformats.org/officeDocument/2006/relationships/tags" Target="../tags/tag14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26" Type="http://schemas.openxmlformats.org/officeDocument/2006/relationships/tags" Target="../tags/tag52.xml"/><Relationship Id="rId3" Type="http://schemas.openxmlformats.org/officeDocument/2006/relationships/tags" Target="../tags/tag29.xml"/><Relationship Id="rId21" Type="http://schemas.openxmlformats.org/officeDocument/2006/relationships/tags" Target="../tags/tag47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5" Type="http://schemas.openxmlformats.org/officeDocument/2006/relationships/tags" Target="../tags/tag51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20" Type="http://schemas.openxmlformats.org/officeDocument/2006/relationships/tags" Target="../tags/tag46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24" Type="http://schemas.openxmlformats.org/officeDocument/2006/relationships/tags" Target="../tags/tag50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23" Type="http://schemas.openxmlformats.org/officeDocument/2006/relationships/tags" Target="../tags/tag49.xml"/><Relationship Id="rId28" Type="http://schemas.openxmlformats.org/officeDocument/2006/relationships/tags" Target="../tags/tag54.xml"/><Relationship Id="rId10" Type="http://schemas.openxmlformats.org/officeDocument/2006/relationships/tags" Target="../tags/tag36.xml"/><Relationship Id="rId19" Type="http://schemas.openxmlformats.org/officeDocument/2006/relationships/tags" Target="../tags/tag45.xml"/><Relationship Id="rId31" Type="http://schemas.openxmlformats.org/officeDocument/2006/relationships/image" Target="../media/image9.png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tags" Target="../tags/tag48.xml"/><Relationship Id="rId27" Type="http://schemas.openxmlformats.org/officeDocument/2006/relationships/tags" Target="../tags/tag53.xml"/><Relationship Id="rId30" Type="http://schemas.openxmlformats.org/officeDocument/2006/relationships/notesSlide" Target="../notesSlides/notesSlid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3" Type="http://schemas.openxmlformats.org/officeDocument/2006/relationships/tags" Target="../tags/tag59.xml"/><Relationship Id="rId21" Type="http://schemas.openxmlformats.org/officeDocument/2006/relationships/image" Target="../media/image9.png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notesSlide" Target="../notesSlides/notesSlide15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10" Type="http://schemas.openxmlformats.org/officeDocument/2006/relationships/tags" Target="../tags/tag66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tags" Target="../tags/tag91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20" Type="http://schemas.openxmlformats.org/officeDocument/2006/relationships/image" Target="../media/image9.pn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19" Type="http://schemas.openxmlformats.org/officeDocument/2006/relationships/notesSlide" Target="../notesSlides/notesSlide18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32.wmf"/><Relationship Id="rId4" Type="http://schemas.openxmlformats.org/officeDocument/2006/relationships/oleObject" Target="../embeddings/oleObject7.bin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32.wmf"/><Relationship Id="rId4" Type="http://schemas.openxmlformats.org/officeDocument/2006/relationships/oleObject" Target="../embeddings/oleObject7.bin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Relationship Id="rId4" Type="http://schemas.openxmlformats.org/officeDocument/2006/relationships/image" Target="../media/image9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ctrTitle"/>
          </p:nvPr>
        </p:nvSpPr>
        <p:spPr>
          <a:xfrm>
            <a:off x="327025" y="2636838"/>
            <a:ext cx="8434388" cy="600075"/>
          </a:xfrm>
        </p:spPr>
        <p:txBody>
          <a:bodyPr vert="horz" wrap="square" lIns="91440" tIns="45720" rIns="91440" bIns="45720" anchor="b" anchorCtr="0"/>
          <a:lstStyle/>
          <a:p>
            <a:pPr algn="l">
              <a:buClrTx/>
              <a:buSzTx/>
              <a:buFontTx/>
            </a:pPr>
            <a:r>
              <a:rPr lang="en-US" altLang="he-IL" sz="40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US" altLang="he-IL" sz="36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Data Structure (and Algorithm)</a:t>
            </a:r>
            <a:endParaRPr lang="en-US" altLang="en-US" sz="3600" b="1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219" name="Picture 4" descr="Bismilla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675" y="395288"/>
            <a:ext cx="2490788" cy="1368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4183380" y="0"/>
          <a:ext cx="4960620" cy="352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60620" imgH="3520440" progId="Paint.Picture">
                  <p:embed/>
                </p:oleObj>
              </mc:Choice>
              <mc:Fallback>
                <p:oleObj r:id="rId2" imgW="4960620" imgH="3520440" progId="Paint.Picture">
                  <p:embed/>
                  <p:pic>
                    <p:nvPicPr>
                      <p:cNvPr id="4" name="Content Placeholder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83380" y="0"/>
                        <a:ext cx="4960620" cy="3520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/>
          <p:nvPr/>
        </p:nvGraphicFramePr>
        <p:xfrm>
          <a:off x="0" y="0"/>
          <a:ext cx="2932430" cy="2766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65960" imgH="1981200" progId="Paint.Picture">
                  <p:embed/>
                </p:oleObj>
              </mc:Choice>
              <mc:Fallback>
                <p:oleObj r:id="rId4" imgW="1965960" imgH="1981200" progId="Paint.Picture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932430" cy="2766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/>
          <p:nvPr/>
        </p:nvGraphicFramePr>
        <p:xfrm>
          <a:off x="0" y="2766060"/>
          <a:ext cx="4530090" cy="321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26280" imgH="3208020" progId="Paint.Picture">
                  <p:embed/>
                </p:oleObj>
              </mc:Choice>
              <mc:Fallback>
                <p:oleObj r:id="rId6" imgW="4526280" imgH="3208020" progId="Paint.Picture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2766060"/>
                        <a:ext cx="4530090" cy="3210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/>
          <p:nvPr/>
        </p:nvGraphicFramePr>
        <p:xfrm>
          <a:off x="5307965" y="3784600"/>
          <a:ext cx="3836035" cy="307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832860" imgH="3070860" progId="Paint.Picture">
                  <p:embed/>
                </p:oleObj>
              </mc:Choice>
              <mc:Fallback>
                <p:oleObj r:id="rId8" imgW="3832860" imgH="3070860" progId="Paint.Picture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07965" y="3784600"/>
                        <a:ext cx="3836035" cy="307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4" name="Title 44033"/>
          <p:cNvSpPr>
            <a:spLocks noGrp="1"/>
          </p:cNvSpPr>
          <p:nvPr/>
        </p:nvSpPr>
        <p:spPr>
          <a:xfrm>
            <a:off x="1981835" y="5731510"/>
            <a:ext cx="2548255" cy="93726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</a:pPr>
            <a:r>
              <a:rPr lang="en-US" altLang="zh-TW" sz="4400" kern="1200" baseline="0">
                <a:solidFill>
                  <a:srgbClr val="C00000"/>
                </a:solidFill>
                <a:latin typeface="Arial" panose="020B0604020202020204" pitchFamily="34" charset="0"/>
                <a:ea typeface="PMingLiU" pitchFamily="18" charset="-120"/>
              </a:rPr>
              <a:t>Graphs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AutoShape 1026">
            <a:extLst>
              <a:ext uri="{FF2B5EF4-FFF2-40B4-BE49-F238E27FC236}">
                <a16:creationId xmlns:a16="http://schemas.microsoft.com/office/drawing/2014/main" id="{D553CCE5-6EB1-765E-2A6A-271E8879E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1341438"/>
            <a:ext cx="7712075" cy="4419600"/>
          </a:xfrm>
          <a:prstGeom prst="verticalScroll">
            <a:avLst>
              <a:gd name="adj" fmla="val 125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0659" name="Rectangle 1027">
            <a:extLst>
              <a:ext uri="{FF2B5EF4-FFF2-40B4-BE49-F238E27FC236}">
                <a16:creationId xmlns:a16="http://schemas.microsoft.com/office/drawing/2014/main" id="{F4EC63CE-3FA8-5E7D-609F-3BCEEE085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138488"/>
            <a:ext cx="605948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TW" sz="4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  <a:ea typeface="新細明體" charset="-120"/>
              </a:rPr>
              <a:t>WHAT IS GRAPH</a:t>
            </a:r>
          </a:p>
        </p:txBody>
      </p:sp>
      <p:pic>
        <p:nvPicPr>
          <p:cNvPr id="10244" name="Picture 6" descr="siide bar">
            <a:extLst>
              <a:ext uri="{FF2B5EF4-FFF2-40B4-BE49-F238E27FC236}">
                <a16:creationId xmlns:a16="http://schemas.microsoft.com/office/drawing/2014/main" id="{FC341AE2-7526-ADB7-B610-25C261E46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009650" y="574040"/>
            <a:ext cx="8134350" cy="4521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A graph is a formalism for representing </a:t>
            </a:r>
            <a:r>
              <a:rPr lang="en-US" sz="2400" dirty="0">
                <a:solidFill>
                  <a:srgbClr val="BF119A"/>
                </a:solidFill>
                <a:sym typeface="+mn-ea"/>
              </a:rPr>
              <a:t>relationships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 among </a:t>
            </a:r>
            <a:r>
              <a:rPr lang="en-US" sz="2400" dirty="0">
                <a:solidFill>
                  <a:srgbClr val="C00000"/>
                </a:solidFill>
                <a:sym typeface="+mn-ea"/>
              </a:rPr>
              <a:t>items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. </a:t>
            </a:r>
          </a:p>
          <a:p>
            <a:pPr algn="just"/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graph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is a pair: </a:t>
            </a:r>
            <a:r>
              <a:rPr lang="en-US" sz="2800" dirty="0">
                <a:solidFill>
                  <a:srgbClr val="00B050"/>
                </a:solidFill>
              </a:rPr>
              <a:t>G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 = (</a:t>
            </a:r>
            <a:r>
              <a:rPr lang="en-US" sz="2800" dirty="0">
                <a:solidFill>
                  <a:srgbClr val="C00000"/>
                </a:solidFill>
              </a:rPr>
              <a:t>V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sz="2800" dirty="0">
                <a:solidFill>
                  <a:srgbClr val="BF119A"/>
                </a:solidFill>
              </a:rPr>
              <a:t>E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sz="2800" dirty="0"/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 set of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vertices</a:t>
            </a:r>
            <a:r>
              <a:rPr lang="en-US" sz="2400" dirty="0">
                <a:solidFill>
                  <a:schemeClr val="accent2"/>
                </a:solidFill>
              </a:rPr>
              <a:t>,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also known </a:t>
            </a:r>
            <a:br>
              <a:rPr lang="en-US" sz="2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nodes: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V = {v</a:t>
            </a:r>
            <a:r>
              <a:rPr lang="en-US" sz="2400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,v</a:t>
            </a:r>
            <a:r>
              <a:rPr lang="en-US" sz="2400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,…,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v</a:t>
            </a:r>
            <a:r>
              <a:rPr lang="en-US" sz="2400" baseline="-25000" dirty="0" err="1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}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 set of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BF119A"/>
                </a:solidFill>
              </a:rPr>
              <a:t>edges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E = {e</a:t>
            </a:r>
            <a:r>
              <a:rPr lang="en-US" sz="2400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,e</a:t>
            </a:r>
            <a:r>
              <a:rPr lang="en-US" sz="2400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,…,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sz="2400" baseline="-25000" dirty="0" err="1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}</a:t>
            </a:r>
            <a:endParaRPr lang="en-US" sz="2400" dirty="0"/>
          </a:p>
          <a:p>
            <a:pPr lvl="1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Each edge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sz="2400" baseline="-25000" dirty="0" err="1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is a pair of vertices (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v</a:t>
            </a:r>
            <a:r>
              <a:rPr lang="en-US" sz="2400" baseline="-25000" dirty="0" err="1">
                <a:solidFill>
                  <a:schemeClr val="accent1">
                    <a:lumMod val="50000"/>
                  </a:schemeClr>
                </a:solidFill>
              </a:rPr>
              <a:t>j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,v</a:t>
            </a:r>
            <a:r>
              <a:rPr lang="en-US" sz="2400" baseline="-25000" dirty="0" err="1">
                <a:solidFill>
                  <a:schemeClr val="accent1">
                    <a:lumMod val="50000"/>
                  </a:schemeClr>
                </a:solidFill>
              </a:rPr>
              <a:t>k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An edge "connects" the vertices</a:t>
            </a:r>
          </a:p>
          <a:p>
            <a:pPr lvl="0"/>
            <a:r>
              <a:rPr lang="en-US" sz="3265" dirty="0">
                <a:solidFill>
                  <a:schemeClr val="accent1">
                    <a:lumMod val="50000"/>
                  </a:schemeClr>
                </a:solidFill>
              </a:rPr>
              <a:t>Graphs can be</a:t>
            </a:r>
            <a:r>
              <a:rPr lang="en-US" sz="3265" dirty="0"/>
              <a:t> </a:t>
            </a:r>
            <a:r>
              <a:rPr lang="en-US" sz="3265" dirty="0">
                <a:solidFill>
                  <a:srgbClr val="00B0F0"/>
                </a:solidFill>
              </a:rPr>
              <a:t>directed</a:t>
            </a:r>
            <a:r>
              <a:rPr lang="en-US" sz="3265" dirty="0"/>
              <a:t> </a:t>
            </a:r>
            <a:r>
              <a:rPr lang="en-US" sz="3265" dirty="0">
                <a:solidFill>
                  <a:schemeClr val="accent1">
                    <a:lumMod val="50000"/>
                  </a:schemeClr>
                </a:solidFill>
              </a:rPr>
              <a:t>or</a:t>
            </a:r>
            <a:r>
              <a:rPr lang="en-US" sz="3265" dirty="0"/>
              <a:t> </a:t>
            </a:r>
            <a:r>
              <a:rPr lang="en-US" sz="3265" dirty="0">
                <a:solidFill>
                  <a:srgbClr val="CC3300"/>
                </a:solidFill>
              </a:rPr>
              <a:t>undirected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191885" y="1495425"/>
            <a:ext cx="2952115" cy="2639060"/>
            <a:chOff x="6268085" y="2362200"/>
            <a:chExt cx="2952115" cy="2639060"/>
          </a:xfrm>
        </p:grpSpPr>
        <p:sp>
          <p:nvSpPr>
            <p:cNvPr id="7" name="Oval 5"/>
            <p:cNvSpPr>
              <a:spLocks noChangeAspect="1"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419850" y="2693988"/>
              <a:ext cx="285750" cy="28575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000">
                <a:latin typeface="+mj-lt"/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569075" y="2419350"/>
              <a:ext cx="947420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solidFill>
                    <a:srgbClr val="FF0000"/>
                  </a:solidFill>
                  <a:latin typeface="+mj-lt"/>
                </a:rPr>
                <a:t>Hamza</a:t>
              </a:r>
              <a:endParaRPr lang="en-US" sz="2000" dirty="0">
                <a:latin typeface="+mj-lt"/>
              </a:endParaRPr>
            </a:p>
          </p:txBody>
        </p:sp>
        <p:sp>
          <p:nvSpPr>
            <p:cNvPr id="9" name="Oval 7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188200" y="3149600"/>
              <a:ext cx="285750" cy="28575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000">
                <a:latin typeface="+mj-lt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445375" y="3257550"/>
              <a:ext cx="859155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 err="1">
                  <a:solidFill>
                    <a:srgbClr val="008000"/>
                  </a:solidFill>
                  <a:latin typeface="+mj-lt"/>
                </a:rPr>
                <a:t>Liaqat</a:t>
              </a:r>
              <a:endParaRPr lang="en-US" sz="2000" dirty="0">
                <a:latin typeface="+mj-lt"/>
              </a:endParaRPr>
            </a:p>
          </p:txBody>
        </p:sp>
        <p:sp>
          <p:nvSpPr>
            <p:cNvPr id="11" name="Oval 9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096250" y="2362200"/>
              <a:ext cx="285750" cy="28575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000">
                <a:latin typeface="+mj-lt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283575" y="2541588"/>
              <a:ext cx="818515" cy="3987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solidFill>
                    <a:srgbClr val="0000FF"/>
                  </a:solidFill>
                  <a:latin typeface="+mj-lt"/>
                </a:rPr>
                <a:t>Javed</a:t>
              </a:r>
              <a:endParaRPr lang="en-US" sz="2000" dirty="0">
                <a:latin typeface="+mj-lt"/>
              </a:endParaRPr>
            </a:p>
          </p:txBody>
        </p:sp>
        <p:cxnSp>
          <p:nvCxnSpPr>
            <p:cNvPr id="19467" name="AutoShape 11"/>
            <p:cNvCxnSpPr>
              <a:cxnSpLocks noChangeShapeType="1"/>
              <a:stCxn id="11" idx="4"/>
              <a:endCxn id="9" idx="6"/>
            </p:cNvCxnSpPr>
            <p:nvPr>
              <p:custDataLst>
                <p:tags r:id="rId8"/>
              </p:custDataLst>
            </p:nvPr>
          </p:nvCxnSpPr>
          <p:spPr bwMode="auto">
            <a:xfrm rot="5400000">
              <a:off x="7534275" y="2587625"/>
              <a:ext cx="644525" cy="76517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9468" name="AutoShape 12"/>
            <p:cNvCxnSpPr>
              <a:cxnSpLocks noChangeShapeType="1"/>
              <a:stCxn id="9" idx="2"/>
              <a:endCxn id="7" idx="4"/>
            </p:cNvCxnSpPr>
            <p:nvPr>
              <p:custDataLst>
                <p:tags r:id="rId9"/>
              </p:custDataLst>
            </p:nvPr>
          </p:nvCxnSpPr>
          <p:spPr bwMode="auto">
            <a:xfrm rot="10800000">
              <a:off x="6562725" y="2979738"/>
              <a:ext cx="625475" cy="31273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9469" name="AutoShape 13"/>
            <p:cNvCxnSpPr>
              <a:cxnSpLocks noChangeShapeType="1"/>
              <a:stCxn id="7" idx="6"/>
              <a:endCxn id="9" idx="0"/>
            </p:cNvCxnSpPr>
            <p:nvPr>
              <p:custDataLst>
                <p:tags r:id="rId10"/>
              </p:custDataLst>
            </p:nvPr>
          </p:nvCxnSpPr>
          <p:spPr bwMode="auto">
            <a:xfrm>
              <a:off x="6705600" y="2836863"/>
              <a:ext cx="625475" cy="31273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19470" name="Text Box 1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268085" y="3679190"/>
              <a:ext cx="2952115" cy="13220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2000" dirty="0">
                  <a:latin typeface="Cambria Math" panose="02040503050406030204" pitchFamily="18" charset="0"/>
                </a:rPr>
                <a:t>V = {</a:t>
              </a:r>
              <a:r>
                <a:rPr lang="en-US" sz="2000" dirty="0" err="1">
                  <a:solidFill>
                    <a:srgbClr val="FF0000"/>
                  </a:solidFill>
                  <a:latin typeface="Cambria Math" panose="02040503050406030204" pitchFamily="18" charset="0"/>
                </a:rPr>
                <a:t>Hamza</a:t>
              </a:r>
              <a:r>
                <a:rPr lang="en-US" sz="2000" dirty="0" err="1">
                  <a:latin typeface="Cambria Math" panose="02040503050406030204" pitchFamily="18" charset="0"/>
                </a:rPr>
                <a:t>,</a:t>
              </a:r>
              <a:r>
                <a:rPr lang="en-US" sz="2000" dirty="0" err="1">
                  <a:solidFill>
                    <a:srgbClr val="008000"/>
                  </a:solidFill>
                  <a:latin typeface="Cambria Math" panose="02040503050406030204" pitchFamily="18" charset="0"/>
                </a:rPr>
                <a:t>Liaqat</a:t>
              </a:r>
              <a:r>
                <a:rPr lang="en-US" sz="2000" dirty="0" err="1">
                  <a:latin typeface="Cambria Math" panose="02040503050406030204" pitchFamily="18" charset="0"/>
                </a:rPr>
                <a:t>,</a:t>
              </a:r>
              <a:r>
                <a:rPr lang="en-US" sz="2000" dirty="0" err="1">
                  <a:solidFill>
                    <a:srgbClr val="0000FF"/>
                  </a:solidFill>
                  <a:latin typeface="Cambria Math" panose="02040503050406030204" pitchFamily="18" charset="0"/>
                </a:rPr>
                <a:t>Javed</a:t>
              </a:r>
              <a:r>
                <a:rPr lang="en-US" sz="2000" dirty="0">
                  <a:latin typeface="Cambria Math" panose="02040503050406030204" pitchFamily="18" charset="0"/>
                </a:rPr>
                <a:t>}</a:t>
              </a:r>
            </a:p>
            <a:p>
              <a:pPr algn="l"/>
              <a:r>
                <a:rPr lang="en-US" sz="2000" dirty="0">
                  <a:latin typeface="Cambria Math" panose="02040503050406030204" pitchFamily="18" charset="0"/>
                </a:rPr>
                <a:t>E = {(</a:t>
              </a:r>
              <a:r>
                <a:rPr lang="en-US" sz="2000" dirty="0" err="1">
                  <a:solidFill>
                    <a:srgbClr val="0000FF"/>
                  </a:solidFill>
                  <a:latin typeface="Cambria Math" panose="02040503050406030204" pitchFamily="18" charset="0"/>
                </a:rPr>
                <a:t>Javed</a:t>
              </a:r>
              <a:r>
                <a:rPr lang="en-US" sz="2000" dirty="0" err="1">
                  <a:latin typeface="Cambria Math" panose="02040503050406030204" pitchFamily="18" charset="0"/>
                </a:rPr>
                <a:t>,</a:t>
              </a:r>
              <a:r>
                <a:rPr lang="en-US" sz="2000" dirty="0" err="1">
                  <a:solidFill>
                    <a:srgbClr val="008000"/>
                  </a:solidFill>
                  <a:latin typeface="Cambria Math" panose="02040503050406030204" pitchFamily="18" charset="0"/>
                </a:rPr>
                <a:t>Liaqat</a:t>
              </a:r>
              <a:r>
                <a:rPr lang="en-US" sz="2000" dirty="0">
                  <a:latin typeface="Cambria Math" panose="02040503050406030204" pitchFamily="18" charset="0"/>
                </a:rPr>
                <a:t>), </a:t>
              </a:r>
            </a:p>
            <a:p>
              <a:pPr algn="l"/>
              <a:r>
                <a:rPr lang="en-US" sz="2000" dirty="0">
                  <a:latin typeface="Cambria Math" panose="02040503050406030204" pitchFamily="18" charset="0"/>
                </a:rPr>
                <a:t>              (</a:t>
              </a:r>
              <a:r>
                <a:rPr lang="en-US" sz="2000" dirty="0" err="1">
                  <a:solidFill>
                    <a:srgbClr val="FF0000"/>
                  </a:solidFill>
                  <a:latin typeface="Cambria Math" panose="02040503050406030204" pitchFamily="18" charset="0"/>
                </a:rPr>
                <a:t>Hamza</a:t>
              </a:r>
              <a:r>
                <a:rPr lang="en-US" sz="2000" dirty="0" err="1">
                  <a:latin typeface="Cambria Math" panose="02040503050406030204" pitchFamily="18" charset="0"/>
                </a:rPr>
                <a:t>,</a:t>
              </a:r>
              <a:r>
                <a:rPr lang="en-US" dirty="0" err="1">
                  <a:solidFill>
                    <a:srgbClr val="008000"/>
                  </a:solidFill>
                  <a:latin typeface="Cambria Math" panose="02040503050406030204" pitchFamily="18" charset="0"/>
                  <a:sym typeface="+mn-ea"/>
                </a:rPr>
                <a:t>Liaqat</a:t>
              </a:r>
              <a:r>
                <a:rPr lang="en-US" sz="2000" dirty="0">
                  <a:latin typeface="Cambria Math" panose="02040503050406030204" pitchFamily="18" charset="0"/>
                </a:rPr>
                <a:t>), </a:t>
              </a:r>
            </a:p>
            <a:p>
              <a:pPr algn="l"/>
              <a:r>
                <a:rPr lang="en-US" sz="2000" dirty="0">
                  <a:latin typeface="Cambria Math" panose="02040503050406030204" pitchFamily="18" charset="0"/>
                </a:rPr>
                <a:t>                (</a:t>
              </a:r>
              <a:r>
                <a:rPr lang="en-US" dirty="0" err="1">
                  <a:solidFill>
                    <a:srgbClr val="008000"/>
                  </a:solidFill>
                  <a:latin typeface="Cambria Math" panose="02040503050406030204" pitchFamily="18" charset="0"/>
                  <a:sym typeface="+mn-ea"/>
                </a:rPr>
                <a:t>Liaqat</a:t>
              </a:r>
              <a:r>
                <a:rPr lang="en-US" sz="2000" dirty="0" err="1">
                  <a:latin typeface="Cambria Math" panose="02040503050406030204" pitchFamily="18" charset="0"/>
                </a:rPr>
                <a:t>,</a:t>
              </a:r>
              <a:r>
                <a:rPr lang="en-US" sz="2000" dirty="0" err="1">
                  <a:solidFill>
                    <a:srgbClr val="FF0000"/>
                  </a:solidFill>
                  <a:latin typeface="Cambria Math" panose="02040503050406030204" pitchFamily="18" charset="0"/>
                </a:rPr>
                <a:t>Hamza</a:t>
              </a:r>
              <a:r>
                <a:rPr lang="en-US" sz="2000" dirty="0">
                  <a:latin typeface="Cambria Math" panose="02040503050406030204" pitchFamily="18" charset="0"/>
                </a:rPr>
                <a:t>)}</a:t>
              </a:r>
            </a:p>
          </p:txBody>
        </p: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4</a:t>
            </a:fld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What is Graph?</a:t>
            </a:r>
            <a:r>
              <a:rPr lang="en-US" altLang="en-US" b="1" dirty="0">
                <a:solidFill>
                  <a:srgbClr val="E5E5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52830" y="2345690"/>
            <a:ext cx="7772400" cy="1083310"/>
          </a:xfrm>
          <a:solidFill>
            <a:srgbClr val="FFC000"/>
          </a:solidFill>
        </p:spPr>
        <p:txBody>
          <a:bodyPr/>
          <a:lstStyle/>
          <a:p>
            <a:r>
              <a:rPr lang="en-US" dirty="0"/>
              <a:t>Graph Terminology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8102600" cy="95948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To make formulating graphs easy and standard, we hav</a:t>
            </a:r>
            <a:r>
              <a:rPr 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e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a lot of</a:t>
            </a:r>
            <a:r>
              <a:rPr 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 </a:t>
            </a:r>
            <a:r>
              <a:rPr lang="en-US" sz="2400" i="1" dirty="0">
                <a:solidFill>
                  <a:srgbClr val="C00000"/>
                </a:solidFill>
                <a:cs typeface="Courier New" panose="02070309020205020404" pitchFamily="49" charset="0"/>
              </a:rPr>
              <a:t>standard terminology</a:t>
            </a:r>
            <a:r>
              <a:rPr lang="en-US" sz="24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for graphs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3474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AFF9D23-2290-A4CE-22CA-EAC6CF1A47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2950" y="846138"/>
            <a:ext cx="8401050" cy="5791200"/>
          </a:xfrm>
        </p:spPr>
        <p:txBody>
          <a:bodyPr/>
          <a:lstStyle/>
          <a:p>
            <a:pPr>
              <a:defRPr/>
            </a:pPr>
            <a:r>
              <a:rPr lang="en-US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Graph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 consists of two finite sets </a:t>
            </a:r>
            <a:r>
              <a:rPr lang="en-US" alt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V(G)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E(G)</a:t>
            </a:r>
          </a:p>
          <a:p>
            <a:pPr>
              <a:defRPr/>
            </a:pPr>
            <a:r>
              <a:rPr lang="en-US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Endpoints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 set of one or two vertices of an edge </a:t>
            </a:r>
          </a:p>
          <a:p>
            <a:pPr>
              <a:defRPr/>
            </a:pPr>
            <a:r>
              <a:rPr lang="en-US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Loop 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an edge with just one endpoint</a:t>
            </a:r>
          </a:p>
          <a:p>
            <a:pPr>
              <a:defRPr/>
            </a:pPr>
            <a:r>
              <a:rPr lang="en-US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Parallel edges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two distinct edges with same endpoints</a:t>
            </a:r>
          </a:p>
          <a:p>
            <a:pPr>
              <a:defRPr/>
            </a:pPr>
            <a:r>
              <a:rPr lang="en-US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Adjacent vertices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vertices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 connected by an edge</a:t>
            </a:r>
          </a:p>
          <a:p>
            <a:pPr>
              <a:defRPr/>
            </a:pPr>
            <a:r>
              <a:rPr lang="en-US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Vertex adjacent to itself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vertex endpoint of a loop</a:t>
            </a:r>
          </a:p>
          <a:p>
            <a:pPr>
              <a:defRPr/>
            </a:pPr>
            <a:r>
              <a:rPr lang="en-US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Adjacent edges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two edges incident on the same endpoint</a:t>
            </a:r>
          </a:p>
          <a:p>
            <a:pPr>
              <a:defRPr/>
            </a:pPr>
            <a:r>
              <a:rPr lang="en-US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Isolated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 vertex on which no edge is incident </a:t>
            </a:r>
          </a:p>
          <a:p>
            <a:pPr>
              <a:defRPr/>
            </a:pPr>
            <a:r>
              <a:rPr lang="en-US" alt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Empty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 graph with no vertices, otherwise </a:t>
            </a:r>
            <a:r>
              <a:rPr lang="en-US" altLang="en-US" b="1" dirty="0">
                <a:solidFill>
                  <a:srgbClr val="FF3399"/>
                </a:solidFill>
                <a:latin typeface="Times New Roman" panose="02020603050405020304" pitchFamily="18" charset="0"/>
              </a:rPr>
              <a:t>nonempty</a:t>
            </a:r>
            <a:r>
              <a:rPr lang="en-US" altLang="en-US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15363" name="Picture 3" descr="siide bar">
            <a:extLst>
              <a:ext uri="{FF2B5EF4-FFF2-40B4-BE49-F238E27FC236}">
                <a16:creationId xmlns:a16="http://schemas.microsoft.com/office/drawing/2014/main" id="{323F700C-0761-0CE3-BEC9-436C5FA9A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5">
            <a:extLst>
              <a:ext uri="{FF2B5EF4-FFF2-40B4-BE49-F238E27FC236}">
                <a16:creationId xmlns:a16="http://schemas.microsoft.com/office/drawing/2014/main" id="{957AA974-BE19-F07F-9AAF-088B31732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/>
          <a:lstStyle/>
          <a:p>
            <a:r>
              <a:rPr lang="en-US" altLang="zh-TW">
                <a:solidFill>
                  <a:schemeClr val="bg1"/>
                </a:solidFill>
                <a:ea typeface="PMingLiU" panose="02020500000000000000" pitchFamily="18" charset="-120"/>
              </a:rPr>
              <a:t>Definitions</a:t>
            </a:r>
            <a:endParaRPr lang="en-US" altLang="en-US">
              <a:solidFill>
                <a:schemeClr val="bg1"/>
              </a:solidFill>
              <a:ea typeface="PMingLiU" panose="02020500000000000000" pitchFamily="18" charset="-12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 descr="siide bar">
            <a:extLst>
              <a:ext uri="{FF2B5EF4-FFF2-40B4-BE49-F238E27FC236}">
                <a16:creationId xmlns:a16="http://schemas.microsoft.com/office/drawing/2014/main" id="{49FCA322-1CC8-51AE-5368-2DDD5748A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5">
            <a:extLst>
              <a:ext uri="{FF2B5EF4-FFF2-40B4-BE49-F238E27FC236}">
                <a16:creationId xmlns:a16="http://schemas.microsoft.com/office/drawing/2014/main" id="{6439C15D-543E-BBF4-8C41-CD636EEF4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/>
          <a:lstStyle/>
          <a:p>
            <a:r>
              <a:rPr lang="en-US" altLang="zh-TW">
                <a:solidFill>
                  <a:schemeClr val="bg1"/>
                </a:solidFill>
                <a:ea typeface="PMingLiU" panose="02020500000000000000" pitchFamily="18" charset="-120"/>
              </a:rPr>
              <a:t>Examples</a:t>
            </a:r>
            <a:endParaRPr lang="en-US" altLang="en-US">
              <a:solidFill>
                <a:schemeClr val="bg1"/>
              </a:solidFill>
              <a:ea typeface="PMingLiU" panose="02020500000000000000" pitchFamily="18" charset="-120"/>
            </a:endParaRPr>
          </a:p>
        </p:txBody>
      </p:sp>
      <p:grpSp>
        <p:nvGrpSpPr>
          <p:cNvPr id="16388" name="Group 39">
            <a:extLst>
              <a:ext uri="{FF2B5EF4-FFF2-40B4-BE49-F238E27FC236}">
                <a16:creationId xmlns:a16="http://schemas.microsoft.com/office/drawing/2014/main" id="{F19AC3AE-3CFC-34EB-6B3B-DA56DC082E86}"/>
              </a:ext>
            </a:extLst>
          </p:cNvPr>
          <p:cNvGrpSpPr>
            <a:grpSpLocks/>
          </p:cNvGrpSpPr>
          <p:nvPr/>
        </p:nvGrpSpPr>
        <p:grpSpPr bwMode="auto">
          <a:xfrm>
            <a:off x="5240338" y="3802063"/>
            <a:ext cx="2455862" cy="2141537"/>
            <a:chOff x="3541" y="2448"/>
            <a:chExt cx="1547" cy="1349"/>
          </a:xfrm>
        </p:grpSpPr>
        <p:sp>
          <p:nvSpPr>
            <p:cNvPr id="16400" name="Text Box 14">
              <a:extLst>
                <a:ext uri="{FF2B5EF4-FFF2-40B4-BE49-F238E27FC236}">
                  <a16:creationId xmlns:a16="http://schemas.microsoft.com/office/drawing/2014/main" id="{B2B1CBB1-58F4-6999-249B-4FF5AB534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9" y="2923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000" b="1" i="1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r>
                <a:rPr kumimoji="1" lang="en-US" altLang="zh-TW" sz="2000" b="1" i="1" baseline="-25000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3</a:t>
              </a:r>
            </a:p>
          </p:txBody>
        </p:sp>
        <p:sp>
          <p:nvSpPr>
            <p:cNvPr id="16401" name="Oval 15">
              <a:extLst>
                <a:ext uri="{FF2B5EF4-FFF2-40B4-BE49-F238E27FC236}">
                  <a16:creationId xmlns:a16="http://schemas.microsoft.com/office/drawing/2014/main" id="{30A13A3C-48A9-6012-97D9-EC85BBC90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" y="3405"/>
              <a:ext cx="345" cy="345"/>
            </a:xfrm>
            <a:prstGeom prst="ellipse">
              <a:avLst/>
            </a:prstGeom>
            <a:solidFill>
              <a:srgbClr val="E5E5FF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1" i="1">
                  <a:latin typeface="Times New Roman" panose="02020603050405020304" pitchFamily="18" charset="0"/>
                  <a:ea typeface="PMingLiU" panose="02020500000000000000" pitchFamily="18" charset="-120"/>
                </a:rPr>
                <a:t>v</a:t>
              </a:r>
              <a:r>
                <a:rPr kumimoji="1" lang="en-US" altLang="zh-TW" sz="2400" b="1" i="1" baseline="-25000">
                  <a:latin typeface="Times New Roman" panose="02020603050405020304" pitchFamily="18" charset="0"/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6402" name="Oval 16">
              <a:extLst>
                <a:ext uri="{FF2B5EF4-FFF2-40B4-BE49-F238E27FC236}">
                  <a16:creationId xmlns:a16="http://schemas.microsoft.com/office/drawing/2014/main" id="{ACEC2249-E6D8-D63C-0B2F-1BF2DFCEB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" y="2448"/>
              <a:ext cx="345" cy="345"/>
            </a:xfrm>
            <a:prstGeom prst="ellipse">
              <a:avLst/>
            </a:prstGeom>
            <a:solidFill>
              <a:srgbClr val="E5E5FF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1" i="1">
                  <a:latin typeface="Times New Roman" panose="02020603050405020304" pitchFamily="18" charset="0"/>
                  <a:ea typeface="PMingLiU" panose="02020500000000000000" pitchFamily="18" charset="-120"/>
                </a:rPr>
                <a:t>v</a:t>
              </a:r>
              <a:r>
                <a:rPr kumimoji="1" lang="en-US" altLang="zh-TW" sz="2400" b="1" i="1" baseline="-25000">
                  <a:latin typeface="Times New Roman" panose="02020603050405020304" pitchFamily="18" charset="0"/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6403" name="Oval 17">
              <a:extLst>
                <a:ext uri="{FF2B5EF4-FFF2-40B4-BE49-F238E27FC236}">
                  <a16:creationId xmlns:a16="http://schemas.microsoft.com/office/drawing/2014/main" id="{34A2EC27-7F7B-2A5A-26B0-4310191B6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" y="3403"/>
              <a:ext cx="345" cy="345"/>
            </a:xfrm>
            <a:prstGeom prst="ellipse">
              <a:avLst/>
            </a:prstGeom>
            <a:solidFill>
              <a:srgbClr val="E5E5FF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1" i="1">
                  <a:latin typeface="Times New Roman" panose="02020603050405020304" pitchFamily="18" charset="0"/>
                  <a:ea typeface="PMingLiU" panose="02020500000000000000" pitchFamily="18" charset="-120"/>
                </a:rPr>
                <a:t>v</a:t>
              </a:r>
              <a:r>
                <a:rPr kumimoji="1" lang="en-US" altLang="zh-TW" sz="2400" b="1" i="1" baseline="-25000">
                  <a:latin typeface="Times New Roman" panose="02020603050405020304" pitchFamily="18" charset="0"/>
                  <a:ea typeface="PMingLiU" panose="02020500000000000000" pitchFamily="18" charset="-120"/>
                </a:rPr>
                <a:t>3</a:t>
              </a:r>
            </a:p>
          </p:txBody>
        </p:sp>
        <p:cxnSp>
          <p:nvCxnSpPr>
            <p:cNvPr id="16404" name="AutoShape 21">
              <a:extLst>
                <a:ext uri="{FF2B5EF4-FFF2-40B4-BE49-F238E27FC236}">
                  <a16:creationId xmlns:a16="http://schemas.microsoft.com/office/drawing/2014/main" id="{038FAA1D-6C36-C9C6-30E7-8B84C393B138}"/>
                </a:ext>
              </a:extLst>
            </p:cNvPr>
            <p:cNvCxnSpPr>
              <a:cxnSpLocks noChangeShapeType="1"/>
              <a:stCxn id="16401" idx="7"/>
              <a:endCxn id="16402" idx="2"/>
            </p:cNvCxnSpPr>
            <p:nvPr/>
          </p:nvCxnSpPr>
          <p:spPr bwMode="auto">
            <a:xfrm flipV="1">
              <a:off x="3835" y="2621"/>
              <a:ext cx="517" cy="8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5" name="AutoShape 22">
              <a:extLst>
                <a:ext uri="{FF2B5EF4-FFF2-40B4-BE49-F238E27FC236}">
                  <a16:creationId xmlns:a16="http://schemas.microsoft.com/office/drawing/2014/main" id="{CA26C2C4-1603-3BF4-6A3C-37334ECF6973}"/>
                </a:ext>
              </a:extLst>
            </p:cNvPr>
            <p:cNvCxnSpPr>
              <a:cxnSpLocks noChangeShapeType="1"/>
              <a:stCxn id="16401" idx="6"/>
              <a:endCxn id="16403" idx="2"/>
            </p:cNvCxnSpPr>
            <p:nvPr/>
          </p:nvCxnSpPr>
          <p:spPr bwMode="auto">
            <a:xfrm flipV="1">
              <a:off x="3891" y="3576"/>
              <a:ext cx="644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6" name="AutoShape 23">
              <a:extLst>
                <a:ext uri="{FF2B5EF4-FFF2-40B4-BE49-F238E27FC236}">
                  <a16:creationId xmlns:a16="http://schemas.microsoft.com/office/drawing/2014/main" id="{2144F34D-4B96-235F-13A1-3A53E4798ECF}"/>
                </a:ext>
              </a:extLst>
            </p:cNvPr>
            <p:cNvCxnSpPr>
              <a:cxnSpLocks noChangeShapeType="1"/>
              <a:stCxn id="16402" idx="6"/>
              <a:endCxn id="16403" idx="7"/>
            </p:cNvCxnSpPr>
            <p:nvPr/>
          </p:nvCxnSpPr>
          <p:spPr bwMode="auto">
            <a:xfrm>
              <a:off x="4707" y="2621"/>
              <a:ext cx="127" cy="828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7" name="AutoShape 25">
              <a:extLst>
                <a:ext uri="{FF2B5EF4-FFF2-40B4-BE49-F238E27FC236}">
                  <a16:creationId xmlns:a16="http://schemas.microsoft.com/office/drawing/2014/main" id="{45FB3368-6218-E95F-4E79-5D24D7E221A6}"/>
                </a:ext>
              </a:extLst>
            </p:cNvPr>
            <p:cNvCxnSpPr>
              <a:cxnSpLocks noChangeShapeType="1"/>
              <a:stCxn id="16402" idx="3"/>
              <a:endCxn id="16403" idx="2"/>
            </p:cNvCxnSpPr>
            <p:nvPr/>
          </p:nvCxnSpPr>
          <p:spPr bwMode="auto">
            <a:xfrm rot="16200000" flipH="1">
              <a:off x="4057" y="3098"/>
              <a:ext cx="829" cy="12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8" name="Text Box 26">
              <a:extLst>
                <a:ext uri="{FF2B5EF4-FFF2-40B4-BE49-F238E27FC236}">
                  <a16:creationId xmlns:a16="http://schemas.microsoft.com/office/drawing/2014/main" id="{B8AF6AE2-25C5-1CBC-E6F6-9A368985F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4" y="2923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000" b="1" i="1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r>
                <a:rPr kumimoji="1" lang="en-US" altLang="zh-TW" sz="2000" b="1" i="1" baseline="-25000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6409" name="Text Box 27">
              <a:extLst>
                <a:ext uri="{FF2B5EF4-FFF2-40B4-BE49-F238E27FC236}">
                  <a16:creationId xmlns:a16="http://schemas.microsoft.com/office/drawing/2014/main" id="{997AF7A3-630C-8569-DB77-F2C87B2A4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" y="2923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000" b="1" i="1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r>
                <a:rPr kumimoji="1" lang="en-US" altLang="zh-TW" sz="2000" b="1" i="1" baseline="-25000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6410" name="Text Box 28">
              <a:extLst>
                <a:ext uri="{FF2B5EF4-FFF2-40B4-BE49-F238E27FC236}">
                  <a16:creationId xmlns:a16="http://schemas.microsoft.com/office/drawing/2014/main" id="{F0A12855-9253-79FC-F99B-9A220CC36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3547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000" b="1" i="1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r>
                <a:rPr kumimoji="1" lang="en-US" altLang="zh-TW" sz="2000" b="1" i="1" baseline="-25000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4</a:t>
              </a:r>
            </a:p>
          </p:txBody>
        </p:sp>
      </p:grpSp>
      <p:sp>
        <p:nvSpPr>
          <p:cNvPr id="39972" name="Rectangle 36">
            <a:extLst>
              <a:ext uri="{FF2B5EF4-FFF2-40B4-BE49-F238E27FC236}">
                <a16:creationId xmlns:a16="http://schemas.microsoft.com/office/drawing/2014/main" id="{509E8B77-39DE-72BF-9FBD-C12564C83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5791200" cy="5562600"/>
          </a:xfrm>
        </p:spPr>
        <p:txBody>
          <a:bodyPr/>
          <a:lstStyle/>
          <a:p>
            <a:pPr marL="609600" indent="-609600">
              <a:buFontTx/>
              <a:buAutoNum type="arabicPeriod"/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Vertex set =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{v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1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3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4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5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6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}</a:t>
            </a:r>
          </a:p>
          <a:p>
            <a:pPr marL="609600" indent="-609600">
              <a:buFontTx/>
              <a:buAutoNum type="arabicPeriod"/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Edge set =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{e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1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3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4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5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6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7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}</a:t>
            </a:r>
          </a:p>
          <a:p>
            <a:pPr marL="609600" indent="-609600">
              <a:buFontTx/>
              <a:buAutoNum type="arabicPeriod"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1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and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3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are </a:t>
            </a:r>
            <a:r>
              <a:rPr lang="en-US" dirty="0">
                <a:solidFill>
                  <a:srgbClr val="FF3399"/>
                </a:solidFill>
                <a:latin typeface="Times New Roman" pitchFamily="18" charset="0"/>
              </a:rPr>
              <a:t>incident on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1</a:t>
            </a:r>
          </a:p>
          <a:p>
            <a:pPr marL="609600" indent="-609600">
              <a:buFontTx/>
              <a:buAutoNum type="arabicPeriod"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and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3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are </a:t>
            </a:r>
            <a:r>
              <a:rPr lang="en-US" dirty="0">
                <a:solidFill>
                  <a:srgbClr val="FF3399"/>
                </a:solidFill>
                <a:latin typeface="Times New Roman" pitchFamily="18" charset="0"/>
              </a:rPr>
              <a:t>adjacent to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1</a:t>
            </a:r>
          </a:p>
          <a:p>
            <a:pPr marL="609600" indent="-609600">
              <a:buFontTx/>
              <a:buAutoNum type="arabicPeriod"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2,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3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and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4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are </a:t>
            </a:r>
            <a:r>
              <a:rPr lang="en-US" dirty="0">
                <a:solidFill>
                  <a:srgbClr val="FF3399"/>
                </a:solidFill>
                <a:latin typeface="Times New Roman" pitchFamily="18" charset="0"/>
              </a:rPr>
              <a:t>adjacent to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1</a:t>
            </a:r>
            <a:endParaRPr lang="en-US" i="1" dirty="0">
              <a:solidFill>
                <a:schemeClr val="bg2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  <a:p>
            <a:pPr marL="609600" indent="-609600">
              <a:buFontTx/>
              <a:buAutoNum type="arabicPeriod"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6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and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7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are </a:t>
            </a:r>
            <a:r>
              <a:rPr lang="en-US" dirty="0">
                <a:solidFill>
                  <a:srgbClr val="FF3399"/>
                </a:solidFill>
                <a:latin typeface="Times New Roman" pitchFamily="18" charset="0"/>
              </a:rPr>
              <a:t>loops</a:t>
            </a:r>
          </a:p>
          <a:p>
            <a:pPr marL="609600" indent="-609600">
              <a:buFontTx/>
              <a:buAutoNum type="arabicPeriod"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and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3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are </a:t>
            </a:r>
            <a:r>
              <a:rPr lang="en-US" dirty="0">
                <a:solidFill>
                  <a:srgbClr val="FF3399"/>
                </a:solidFill>
                <a:latin typeface="Times New Roman" pitchFamily="18" charset="0"/>
              </a:rPr>
              <a:t>parallel</a:t>
            </a:r>
          </a:p>
          <a:p>
            <a:pPr marL="609600" indent="-609600">
              <a:buFontTx/>
              <a:buAutoNum type="arabicPeriod"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5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and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6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are </a:t>
            </a:r>
            <a:r>
              <a:rPr lang="en-US" dirty="0">
                <a:solidFill>
                  <a:srgbClr val="FF3399"/>
                </a:solidFill>
                <a:latin typeface="Times New Roman" pitchFamily="18" charset="0"/>
              </a:rPr>
              <a:t>adjacent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to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>
                <a:solidFill>
                  <a:srgbClr val="FF3399"/>
                </a:solidFill>
                <a:latin typeface="Times New Roman" pitchFamily="18" charset="0"/>
              </a:rPr>
              <a:t>themselves</a:t>
            </a:r>
            <a:endParaRPr lang="en-US" i="1" baseline="-25000" dirty="0">
              <a:solidFill>
                <a:srgbClr val="FF3399"/>
              </a:solidFill>
              <a:latin typeface="Times New Roman" pitchFamily="18" charset="0"/>
            </a:endParaRPr>
          </a:p>
          <a:p>
            <a:pPr marL="609600" indent="-609600">
              <a:buFontTx/>
              <a:buAutoNum type="arabicPeriod"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4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is an </a:t>
            </a:r>
            <a:r>
              <a:rPr lang="en-US" dirty="0">
                <a:solidFill>
                  <a:srgbClr val="FF3399"/>
                </a:solidFill>
                <a:latin typeface="Times New Roman" pitchFamily="18" charset="0"/>
              </a:rPr>
              <a:t>isolated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vertex</a:t>
            </a:r>
          </a:p>
          <a:p>
            <a:pPr marL="609600" indent="-609600">
              <a:buFontTx/>
              <a:buAutoNum type="arabicPeriod"/>
              <a:defRPr/>
            </a:pP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Endpoint(e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5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) = (v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5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, v</a:t>
            </a:r>
            <a:r>
              <a:rPr lang="en-US" i="1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6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)</a:t>
            </a:r>
          </a:p>
        </p:txBody>
      </p:sp>
      <p:grpSp>
        <p:nvGrpSpPr>
          <p:cNvPr id="16390" name="Group 40">
            <a:extLst>
              <a:ext uri="{FF2B5EF4-FFF2-40B4-BE49-F238E27FC236}">
                <a16:creationId xmlns:a16="http://schemas.microsoft.com/office/drawing/2014/main" id="{BA147489-DA75-F726-CF70-C37C38D54B3A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1736725"/>
            <a:ext cx="2133600" cy="2759075"/>
            <a:chOff x="4080" y="518"/>
            <a:chExt cx="1344" cy="1738"/>
          </a:xfrm>
        </p:grpSpPr>
        <p:sp>
          <p:nvSpPr>
            <p:cNvPr id="16391" name="Oval 29">
              <a:extLst>
                <a:ext uri="{FF2B5EF4-FFF2-40B4-BE49-F238E27FC236}">
                  <a16:creationId xmlns:a16="http://schemas.microsoft.com/office/drawing/2014/main" id="{AB25F748-B620-0A74-BF76-E54B0F75B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094"/>
              <a:ext cx="345" cy="345"/>
            </a:xfrm>
            <a:prstGeom prst="ellipse">
              <a:avLst/>
            </a:prstGeom>
            <a:solidFill>
              <a:srgbClr val="E5E5FF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1" i="1">
                  <a:latin typeface="Times New Roman" panose="02020603050405020304" pitchFamily="18" charset="0"/>
                  <a:ea typeface="PMingLiU" panose="02020500000000000000" pitchFamily="18" charset="-120"/>
                </a:rPr>
                <a:t>v</a:t>
              </a:r>
              <a:r>
                <a:rPr kumimoji="1" lang="en-US" altLang="zh-TW" sz="2400" b="1" i="1" baseline="-25000">
                  <a:latin typeface="Times New Roman" panose="02020603050405020304" pitchFamily="18" charset="0"/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6392" name="Oval 30">
              <a:extLst>
                <a:ext uri="{FF2B5EF4-FFF2-40B4-BE49-F238E27FC236}">
                  <a16:creationId xmlns:a16="http://schemas.microsoft.com/office/drawing/2014/main" id="{C2249CFE-DB0D-559C-8F0F-1C919D9C7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710"/>
              <a:ext cx="345" cy="345"/>
            </a:xfrm>
            <a:prstGeom prst="ellipse">
              <a:avLst/>
            </a:prstGeom>
            <a:solidFill>
              <a:srgbClr val="E5E5FF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1" i="1">
                  <a:latin typeface="Times New Roman" panose="02020603050405020304" pitchFamily="18" charset="0"/>
                  <a:ea typeface="PMingLiU" panose="02020500000000000000" pitchFamily="18" charset="-120"/>
                </a:rPr>
                <a:t>v</a:t>
              </a:r>
              <a:r>
                <a:rPr kumimoji="1" lang="en-US" altLang="zh-TW" sz="2400" b="1" i="1" baseline="-25000">
                  <a:latin typeface="Times New Roman" panose="02020603050405020304" pitchFamily="18" charset="0"/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6393" name="Oval 31">
              <a:extLst>
                <a:ext uri="{FF2B5EF4-FFF2-40B4-BE49-F238E27FC236}">
                  <a16:creationId xmlns:a16="http://schemas.microsoft.com/office/drawing/2014/main" id="{D0C527AF-0D07-A967-C99D-6BD3045F0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670"/>
              <a:ext cx="345" cy="345"/>
            </a:xfrm>
            <a:prstGeom prst="ellipse">
              <a:avLst/>
            </a:prstGeom>
            <a:solidFill>
              <a:srgbClr val="E5E5FF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1" i="1">
                  <a:latin typeface="Times New Roman" panose="02020603050405020304" pitchFamily="18" charset="0"/>
                  <a:ea typeface="PMingLiU" panose="02020500000000000000" pitchFamily="18" charset="-120"/>
                </a:rPr>
                <a:t>v</a:t>
              </a:r>
              <a:r>
                <a:rPr kumimoji="1" lang="en-US" altLang="zh-TW" sz="2400" b="1" i="1" baseline="-25000">
                  <a:latin typeface="Times New Roman" panose="02020603050405020304" pitchFamily="18" charset="0"/>
                  <a:ea typeface="PMingLiU" panose="02020500000000000000" pitchFamily="18" charset="-120"/>
                </a:rPr>
                <a:t>5</a:t>
              </a:r>
            </a:p>
          </p:txBody>
        </p:sp>
        <p:cxnSp>
          <p:nvCxnSpPr>
            <p:cNvPr id="16394" name="AutoShape 32">
              <a:extLst>
                <a:ext uri="{FF2B5EF4-FFF2-40B4-BE49-F238E27FC236}">
                  <a16:creationId xmlns:a16="http://schemas.microsoft.com/office/drawing/2014/main" id="{6C6398E5-FDFD-BD90-87AE-E359E7D253FB}"/>
                </a:ext>
              </a:extLst>
            </p:cNvPr>
            <p:cNvCxnSpPr>
              <a:cxnSpLocks noChangeShapeType="1"/>
              <a:stCxn id="16392" idx="4"/>
              <a:endCxn id="16393" idx="0"/>
            </p:cNvCxnSpPr>
            <p:nvPr/>
          </p:nvCxnSpPr>
          <p:spPr bwMode="auto">
            <a:xfrm flipH="1">
              <a:off x="4733" y="1060"/>
              <a:ext cx="87" cy="6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5" name="AutoShape 33">
              <a:extLst>
                <a:ext uri="{FF2B5EF4-FFF2-40B4-BE49-F238E27FC236}">
                  <a16:creationId xmlns:a16="http://schemas.microsoft.com/office/drawing/2014/main" id="{1F65E3E2-D2DA-BA3A-703F-C1DCB008D8BD}"/>
                </a:ext>
              </a:extLst>
            </p:cNvPr>
            <p:cNvCxnSpPr>
              <a:cxnSpLocks noChangeShapeType="1"/>
              <a:stCxn id="16392" idx="0"/>
              <a:endCxn id="16392" idx="6"/>
            </p:cNvCxnSpPr>
            <p:nvPr/>
          </p:nvCxnSpPr>
          <p:spPr bwMode="auto">
            <a:xfrm rot="5400000" flipV="1">
              <a:off x="4820" y="705"/>
              <a:ext cx="178" cy="177"/>
            </a:xfrm>
            <a:prstGeom prst="curvedConnector4">
              <a:avLst>
                <a:gd name="adj1" fmla="val -137644"/>
                <a:gd name="adj2" fmla="val 21525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6" name="AutoShape 34">
              <a:extLst>
                <a:ext uri="{FF2B5EF4-FFF2-40B4-BE49-F238E27FC236}">
                  <a16:creationId xmlns:a16="http://schemas.microsoft.com/office/drawing/2014/main" id="{D268B458-3B4A-1E7F-82EF-1734283AB765}"/>
                </a:ext>
              </a:extLst>
            </p:cNvPr>
            <p:cNvCxnSpPr>
              <a:cxnSpLocks noChangeShapeType="1"/>
              <a:stCxn id="16393" idx="7"/>
              <a:endCxn id="16393" idx="5"/>
            </p:cNvCxnSpPr>
            <p:nvPr/>
          </p:nvCxnSpPr>
          <p:spPr bwMode="auto">
            <a:xfrm rot="5400000" flipV="1">
              <a:off x="4728" y="1842"/>
              <a:ext cx="253" cy="1"/>
            </a:xfrm>
            <a:prstGeom prst="curvedConnector5">
              <a:avLst>
                <a:gd name="adj1" fmla="val -32412"/>
                <a:gd name="adj2" fmla="val 30500009"/>
                <a:gd name="adj3" fmla="val 138338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97" name="Text Box 35">
              <a:extLst>
                <a:ext uri="{FF2B5EF4-FFF2-40B4-BE49-F238E27FC236}">
                  <a16:creationId xmlns:a16="http://schemas.microsoft.com/office/drawing/2014/main" id="{A66E9929-A9AE-AF33-DD4A-D2092440F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9" y="1190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000" b="1" i="1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r>
                <a:rPr kumimoji="1" lang="en-US" altLang="zh-TW" sz="2000" b="1" i="1" baseline="-25000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5</a:t>
              </a:r>
            </a:p>
          </p:txBody>
        </p:sp>
        <p:sp>
          <p:nvSpPr>
            <p:cNvPr id="16398" name="Text Box 37">
              <a:extLst>
                <a:ext uri="{FF2B5EF4-FFF2-40B4-BE49-F238E27FC236}">
                  <a16:creationId xmlns:a16="http://schemas.microsoft.com/office/drawing/2014/main" id="{70C92B7D-494E-2D6C-2762-40B1E9777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5" y="518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000" b="1" i="1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r>
                <a:rPr kumimoji="1" lang="en-US" altLang="zh-TW" sz="2000" b="1" i="1" baseline="-25000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6399" name="Text Box 38">
              <a:extLst>
                <a:ext uri="{FF2B5EF4-FFF2-40B4-BE49-F238E27FC236}">
                  <a16:creationId xmlns:a16="http://schemas.microsoft.com/office/drawing/2014/main" id="{BC3BF31A-4BE2-1494-36EB-2051AFD69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5" y="2006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000" b="1" i="1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r>
                <a:rPr kumimoji="1" lang="en-US" altLang="zh-TW" sz="2000" b="1" i="1" baseline="-25000">
                  <a:solidFill>
                    <a:srgbClr val="0033CC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6</a:t>
              </a: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009650" y="1168400"/>
            <a:ext cx="8134350" cy="4521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For each example, what are the vertices and what are the edges?</a:t>
            </a:r>
          </a:p>
          <a:p>
            <a:pPr marL="0" indent="0">
              <a:buNone/>
            </a:pPr>
            <a:endParaRPr lang="en-US" sz="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Web pages with links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Facebook friends</a:t>
            </a:r>
          </a:p>
          <a:p>
            <a:r>
              <a:rPr lang="en-US" sz="2400">
                <a:solidFill>
                  <a:schemeClr val="accent1">
                    <a:lumMod val="50000"/>
                  </a:schemeClr>
                </a:solidFill>
              </a:rPr>
              <a:t>Methods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in a program that call each other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Road maps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Airline routes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Family trees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Course pre-requisites</a:t>
            </a:r>
          </a:p>
          <a:p>
            <a:pPr marL="0" indent="0">
              <a:buNone/>
            </a:pP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8</a:t>
            </a:fld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Some Graphs</a:t>
            </a:r>
            <a:r>
              <a:rPr lang="en-US" altLang="en-US" b="1" dirty="0">
                <a:solidFill>
                  <a:srgbClr val="E5E5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9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46083" name="Oval 46082"/>
          <p:cNvSpPr/>
          <p:nvPr/>
        </p:nvSpPr>
        <p:spPr>
          <a:xfrm>
            <a:off x="2133600" y="3929063"/>
            <a:ext cx="392113" cy="349250"/>
          </a:xfrm>
          <a:prstGeom prst="ellipse">
            <a:avLst/>
          </a:prstGeom>
          <a:solidFill>
            <a:schemeClr val="hlink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24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46084" name="Oval 46083"/>
          <p:cNvSpPr/>
          <p:nvPr/>
        </p:nvSpPr>
        <p:spPr>
          <a:xfrm>
            <a:off x="2133600" y="2405063"/>
            <a:ext cx="392113" cy="349250"/>
          </a:xfrm>
          <a:prstGeom prst="ellipse">
            <a:avLst/>
          </a:prstGeom>
          <a:solidFill>
            <a:schemeClr val="hlink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24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46085" name="Oval 46084"/>
          <p:cNvSpPr/>
          <p:nvPr/>
        </p:nvSpPr>
        <p:spPr>
          <a:xfrm>
            <a:off x="2133600" y="32432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2400"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6086" name="Oval 46085"/>
          <p:cNvSpPr/>
          <p:nvPr/>
        </p:nvSpPr>
        <p:spPr>
          <a:xfrm>
            <a:off x="2971800" y="3243263"/>
            <a:ext cx="392113" cy="349250"/>
          </a:xfrm>
          <a:prstGeom prst="ellipse">
            <a:avLst/>
          </a:prstGeom>
          <a:solidFill>
            <a:schemeClr val="hlink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24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46087" name="Oval 46086"/>
          <p:cNvSpPr/>
          <p:nvPr/>
        </p:nvSpPr>
        <p:spPr>
          <a:xfrm>
            <a:off x="1295400" y="3243263"/>
            <a:ext cx="392113" cy="349250"/>
          </a:xfrm>
          <a:prstGeom prst="ellipse">
            <a:avLst/>
          </a:prstGeom>
          <a:solidFill>
            <a:schemeClr val="hlink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2400">
                <a:latin typeface="Tahoma" panose="020B0604030504040204" pitchFamily="34" charset="0"/>
              </a:rPr>
              <a:t>H</a:t>
            </a:r>
          </a:p>
        </p:txBody>
      </p:sp>
      <p:sp>
        <p:nvSpPr>
          <p:cNvPr id="46088" name="Straight Connector 46087"/>
          <p:cNvSpPr/>
          <p:nvPr/>
        </p:nvSpPr>
        <p:spPr>
          <a:xfrm flipV="1">
            <a:off x="2286000" y="2709863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89" name="Straight Connector 46088"/>
          <p:cNvSpPr/>
          <p:nvPr/>
        </p:nvSpPr>
        <p:spPr>
          <a:xfrm>
            <a:off x="2514600" y="3395663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90" name="Straight Connector 46089"/>
          <p:cNvSpPr/>
          <p:nvPr/>
        </p:nvSpPr>
        <p:spPr>
          <a:xfrm flipV="1">
            <a:off x="2286000" y="354806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91" name="Straight Connector 46090"/>
          <p:cNvSpPr/>
          <p:nvPr/>
        </p:nvSpPr>
        <p:spPr>
          <a:xfrm>
            <a:off x="1676400" y="3395663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92" name="Text Box 46091"/>
          <p:cNvSpPr txBox="1"/>
          <p:nvPr/>
        </p:nvSpPr>
        <p:spPr>
          <a:xfrm>
            <a:off x="1066800" y="1795463"/>
            <a:ext cx="2794000" cy="457200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folHlink"/>
                </a:solidFill>
                <a:latin typeface="Tahoma" panose="020B0604030504040204" pitchFamily="34" charset="0"/>
              </a:rPr>
              <a:t>Molecular Structure</a:t>
            </a:r>
          </a:p>
        </p:txBody>
      </p:sp>
      <p:sp>
        <p:nvSpPr>
          <p:cNvPr id="46093" name="Oval 46092"/>
          <p:cNvSpPr/>
          <p:nvPr/>
        </p:nvSpPr>
        <p:spPr>
          <a:xfrm>
            <a:off x="5791200" y="27860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094" name="Oval 46093"/>
          <p:cNvSpPr/>
          <p:nvPr/>
        </p:nvSpPr>
        <p:spPr>
          <a:xfrm>
            <a:off x="6934200" y="28622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095" name="Oval 46094"/>
          <p:cNvSpPr/>
          <p:nvPr/>
        </p:nvSpPr>
        <p:spPr>
          <a:xfrm>
            <a:off x="6858000" y="38528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096" name="Oval 46095"/>
          <p:cNvSpPr/>
          <p:nvPr/>
        </p:nvSpPr>
        <p:spPr>
          <a:xfrm>
            <a:off x="5257800" y="37004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097" name="Text Box 46096"/>
          <p:cNvSpPr txBox="1"/>
          <p:nvPr/>
        </p:nvSpPr>
        <p:spPr>
          <a:xfrm>
            <a:off x="5334000" y="2405063"/>
            <a:ext cx="1308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Server 1</a:t>
            </a:r>
          </a:p>
        </p:txBody>
      </p:sp>
      <p:sp>
        <p:nvSpPr>
          <p:cNvPr id="46098" name="Text Box 46097"/>
          <p:cNvSpPr txBox="1"/>
          <p:nvPr/>
        </p:nvSpPr>
        <p:spPr>
          <a:xfrm>
            <a:off x="4876800" y="4005263"/>
            <a:ext cx="1308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Server 2</a:t>
            </a:r>
          </a:p>
        </p:txBody>
      </p:sp>
      <p:sp>
        <p:nvSpPr>
          <p:cNvPr id="46099" name="Text Box 46098"/>
          <p:cNvSpPr txBox="1"/>
          <p:nvPr/>
        </p:nvSpPr>
        <p:spPr>
          <a:xfrm>
            <a:off x="7223125" y="2514600"/>
            <a:ext cx="1619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Terminal 1</a:t>
            </a:r>
          </a:p>
        </p:txBody>
      </p:sp>
      <p:sp>
        <p:nvSpPr>
          <p:cNvPr id="46100" name="Text Box 46099"/>
          <p:cNvSpPr txBox="1"/>
          <p:nvPr/>
        </p:nvSpPr>
        <p:spPr>
          <a:xfrm>
            <a:off x="7146925" y="3581400"/>
            <a:ext cx="1619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Terminal 2</a:t>
            </a:r>
          </a:p>
        </p:txBody>
      </p:sp>
      <p:sp>
        <p:nvSpPr>
          <p:cNvPr id="46101" name="Straight Connector 46100"/>
          <p:cNvSpPr/>
          <p:nvPr/>
        </p:nvSpPr>
        <p:spPr>
          <a:xfrm flipH="1" flipV="1">
            <a:off x="6172200" y="2938463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102" name="Straight Connector 46101"/>
          <p:cNvSpPr/>
          <p:nvPr/>
        </p:nvSpPr>
        <p:spPr>
          <a:xfrm flipH="1" flipV="1">
            <a:off x="5638800" y="3852863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103" name="Straight Connector 46102"/>
          <p:cNvSpPr/>
          <p:nvPr/>
        </p:nvSpPr>
        <p:spPr>
          <a:xfrm flipH="1">
            <a:off x="5638800" y="3090863"/>
            <a:ext cx="12954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104" name="Straight Connector 46103"/>
          <p:cNvSpPr/>
          <p:nvPr/>
        </p:nvSpPr>
        <p:spPr>
          <a:xfrm flipH="1">
            <a:off x="5562600" y="3090863"/>
            <a:ext cx="3048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105" name="Text Box 46104"/>
          <p:cNvSpPr txBox="1"/>
          <p:nvPr/>
        </p:nvSpPr>
        <p:spPr>
          <a:xfrm>
            <a:off x="5241925" y="1752600"/>
            <a:ext cx="2711450" cy="457200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folHlink"/>
                </a:solidFill>
                <a:latin typeface="Tahoma" panose="020B0604030504040204" pitchFamily="34" charset="0"/>
              </a:rPr>
              <a:t>Computer Network</a:t>
            </a:r>
          </a:p>
        </p:txBody>
      </p:sp>
      <p:sp>
        <p:nvSpPr>
          <p:cNvPr id="46106" name="Text Box 46105"/>
          <p:cNvSpPr txBox="1"/>
          <p:nvPr/>
        </p:nvSpPr>
        <p:spPr>
          <a:xfrm>
            <a:off x="904875" y="4909185"/>
            <a:ext cx="80772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Other examples: electrical and communication networks, airline routes, flow chart, graphs for planning projects</a:t>
            </a:r>
          </a:p>
          <a:p>
            <a:pPr algn="just"/>
            <a:endParaRPr lang="en-US" altLang="zh-TW" sz="240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</a:endParaRP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Examples of Graphs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42000" y="65151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890" y="1149985"/>
            <a:ext cx="8373110" cy="5486400"/>
          </a:xfrm>
        </p:spPr>
        <p:txBody>
          <a:bodyPr/>
          <a:lstStyle/>
          <a:p>
            <a:pPr marL="0" algn="just" defTabSz="914400">
              <a:buClrTx/>
              <a:buSzTx/>
              <a:buFontTx/>
              <a:buNone/>
            </a:pPr>
            <a:r>
              <a:rPr lang="en-US" altLang="zh-TW" sz="2400" kern="1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Graphs are a powerful representation and have been studied deeply</a:t>
            </a:r>
          </a:p>
          <a:p>
            <a:pPr marL="0" algn="just" defTabSz="914400">
              <a:buClrTx/>
              <a:buSzTx/>
              <a:buFontTx/>
              <a:buNone/>
            </a:pPr>
            <a:endParaRPr lang="en-US" altLang="zh-TW" sz="2400" kern="120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</a:endParaRPr>
          </a:p>
          <a:p>
            <a:pPr marL="0" algn="just" defTabSz="914400">
              <a:buClrTx/>
              <a:buSzTx/>
              <a:buFontTx/>
              <a:buNone/>
            </a:pPr>
            <a:r>
              <a:rPr lang="en-US" altLang="zh-TW" sz="2400" kern="1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Graph theory is a major branch of research in combinatorics and discrete mathematics</a:t>
            </a:r>
          </a:p>
          <a:p>
            <a:pPr marL="0" algn="just" defTabSz="914400">
              <a:buClrTx/>
              <a:buSzTx/>
              <a:buFontTx/>
              <a:buNone/>
            </a:pPr>
            <a:endParaRPr lang="en-US" altLang="zh-TW" sz="2400" kern="120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</a:endParaRPr>
          </a:p>
          <a:p>
            <a:pPr marL="0" algn="just" defTabSz="914400">
              <a:buClrTx/>
              <a:buSzTx/>
              <a:buFontTx/>
              <a:buNone/>
            </a:pPr>
            <a:r>
              <a:rPr lang="en-US" altLang="zh-TW" sz="2400" kern="1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Every branch of computer science involves graph theory to some extent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23, 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10</a:t>
            </a:fld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Scratching the surface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842000" y="65151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9480" y="1141730"/>
            <a:ext cx="8331200" cy="5486400"/>
          </a:xfrm>
        </p:spPr>
        <p:txBody>
          <a:bodyPr/>
          <a:lstStyle/>
          <a:p>
            <a:pPr marL="0" algn="just" defTabSz="914400">
              <a:buClrTx/>
              <a:buSzTx/>
              <a:buFontTx/>
              <a:buNone/>
            </a:pPr>
            <a:r>
              <a:rPr lang="en-US" altLang="zh-TW" sz="2400" kern="1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Graphs are a powerful representation and have been studied deeply</a:t>
            </a:r>
          </a:p>
          <a:p>
            <a:pPr marL="0" algn="just" defTabSz="914400">
              <a:buClrTx/>
              <a:buSzTx/>
              <a:buFontTx/>
              <a:buNone/>
            </a:pPr>
            <a:endParaRPr lang="en-US" altLang="zh-TW" sz="2400" kern="120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</a:endParaRPr>
          </a:p>
          <a:p>
            <a:pPr marL="0" algn="just" defTabSz="914400">
              <a:buClrTx/>
              <a:buSzTx/>
              <a:buFontTx/>
              <a:buNone/>
            </a:pPr>
            <a:r>
              <a:rPr lang="en-US" altLang="zh-TW" sz="2400" kern="1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Graph theory is a major branch of research in combinatorics and discrete mathematics</a:t>
            </a:r>
          </a:p>
          <a:p>
            <a:pPr marL="0" algn="just" defTabSz="914400">
              <a:buClrTx/>
              <a:buSzTx/>
              <a:buFontTx/>
              <a:buNone/>
            </a:pPr>
            <a:endParaRPr lang="en-US" altLang="zh-TW" sz="2400" kern="120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</a:endParaRPr>
          </a:p>
          <a:p>
            <a:pPr marL="0" algn="just" defTabSz="914400">
              <a:buClrTx/>
              <a:buSzTx/>
              <a:buFontTx/>
              <a:buNone/>
            </a:pPr>
            <a:r>
              <a:rPr lang="en-US" altLang="zh-TW" sz="2400" kern="1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Every branch of computer science involves graph theory to some extent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23, 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11</a:t>
            </a:fld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Scratching the surface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12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48131" name="Text Placeholder 48130"/>
          <p:cNvSpPr>
            <a:spLocks noGrp="1"/>
          </p:cNvSpPr>
          <p:nvPr>
            <p:ph type="body" idx="1"/>
          </p:nvPr>
        </p:nvSpPr>
        <p:spPr>
          <a:xfrm>
            <a:off x="958850" y="1052830"/>
            <a:ext cx="8268335" cy="4521200"/>
          </a:xfrm>
        </p:spPr>
        <p:txBody>
          <a:bodyPr/>
          <a:lstStyle/>
          <a:p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Two nodes u and v are said to be adjacent if (u, v) </a:t>
            </a:r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ea typeface="PMingLiU" pitchFamily="18" charset="-120"/>
                <a:sym typeface="Symbol" panose="05050102010706020507" pitchFamily="18" charset="2"/>
              </a:rPr>
              <a:t> E</a:t>
            </a:r>
          </a:p>
        </p:txBody>
      </p:sp>
      <p:sp>
        <p:nvSpPr>
          <p:cNvPr id="48132" name="Oval 48131"/>
          <p:cNvSpPr/>
          <p:nvPr/>
        </p:nvSpPr>
        <p:spPr>
          <a:xfrm>
            <a:off x="7042150" y="31242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2400">
                <a:latin typeface="Tahoma" panose="020B0604030504040204" pitchFamily="34" charset="0"/>
              </a:rPr>
              <a:t>v</a:t>
            </a:r>
          </a:p>
        </p:txBody>
      </p:sp>
      <p:sp>
        <p:nvSpPr>
          <p:cNvPr id="48133" name="Oval 48132"/>
          <p:cNvSpPr/>
          <p:nvPr/>
        </p:nvSpPr>
        <p:spPr>
          <a:xfrm>
            <a:off x="8185150" y="32004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134" name="Oval 48133"/>
          <p:cNvSpPr/>
          <p:nvPr/>
        </p:nvSpPr>
        <p:spPr>
          <a:xfrm>
            <a:off x="8108950" y="41910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2400">
                <a:latin typeface="Tahoma" panose="020B0604030504040204" pitchFamily="34" charset="0"/>
              </a:rPr>
              <a:t>w</a:t>
            </a:r>
          </a:p>
        </p:txBody>
      </p:sp>
      <p:sp>
        <p:nvSpPr>
          <p:cNvPr id="48135" name="Oval 48134"/>
          <p:cNvSpPr/>
          <p:nvPr/>
        </p:nvSpPr>
        <p:spPr>
          <a:xfrm>
            <a:off x="6508750" y="40386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2400">
                <a:latin typeface="Tahoma" panose="020B0604030504040204" pitchFamily="34" charset="0"/>
              </a:rPr>
              <a:t>u</a:t>
            </a:r>
          </a:p>
        </p:txBody>
      </p:sp>
      <p:sp>
        <p:nvSpPr>
          <p:cNvPr id="48136" name="Straight Connector 48135"/>
          <p:cNvSpPr/>
          <p:nvPr/>
        </p:nvSpPr>
        <p:spPr>
          <a:xfrm flipH="1" flipV="1">
            <a:off x="7423150" y="3276600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137" name="Straight Connector 48136"/>
          <p:cNvSpPr/>
          <p:nvPr/>
        </p:nvSpPr>
        <p:spPr>
          <a:xfrm flipH="1" flipV="1">
            <a:off x="6889750" y="4191000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138" name="Straight Connector 48137"/>
          <p:cNvSpPr/>
          <p:nvPr/>
        </p:nvSpPr>
        <p:spPr>
          <a:xfrm flipH="1">
            <a:off x="6889750" y="3429000"/>
            <a:ext cx="12954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139" name="Straight Connector 48138"/>
          <p:cNvSpPr/>
          <p:nvPr/>
        </p:nvSpPr>
        <p:spPr>
          <a:xfrm flipH="1">
            <a:off x="6813550" y="3429000"/>
            <a:ext cx="3048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140" name="Text Box 48139"/>
          <p:cNvSpPr txBox="1"/>
          <p:nvPr/>
        </p:nvSpPr>
        <p:spPr>
          <a:xfrm>
            <a:off x="5029200" y="3386138"/>
            <a:ext cx="928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rgbClr val="FF0000"/>
                </a:solidFill>
                <a:latin typeface="Tahoma" panose="020B0604030504040204" pitchFamily="34" charset="0"/>
              </a:rPr>
              <a:t>(u, v)</a:t>
            </a:r>
          </a:p>
        </p:txBody>
      </p:sp>
      <p:sp>
        <p:nvSpPr>
          <p:cNvPr id="48141" name="Straight Connector 48140"/>
          <p:cNvSpPr/>
          <p:nvPr/>
        </p:nvSpPr>
        <p:spPr>
          <a:xfrm>
            <a:off x="5959475" y="3657600"/>
            <a:ext cx="914400" cy="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8142" name="Text Box 48141"/>
          <p:cNvSpPr txBox="1"/>
          <p:nvPr/>
        </p:nvSpPr>
        <p:spPr>
          <a:xfrm>
            <a:off x="1676400" y="4300538"/>
            <a:ext cx="3552825" cy="822325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rgbClr val="00B050"/>
                </a:solidFill>
                <a:latin typeface="Tahoma" panose="020B0604030504040204" pitchFamily="34" charset="0"/>
              </a:rPr>
              <a:t>u and v are adjacent</a:t>
            </a:r>
          </a:p>
          <a:p>
            <a:r>
              <a:rPr lang="en-US" altLang="zh-TW" sz="2400">
                <a:solidFill>
                  <a:srgbClr val="00B050"/>
                </a:solidFill>
                <a:latin typeface="Tahoma" panose="020B0604030504040204" pitchFamily="34" charset="0"/>
              </a:rPr>
              <a:t>v and w are not adjacent</a:t>
            </a:r>
          </a:p>
        </p:txBody>
      </p:sp>
      <p:sp>
        <p:nvSpPr>
          <p:cNvPr id="48143" name="Straight Connector 48142"/>
          <p:cNvSpPr/>
          <p:nvPr/>
        </p:nvSpPr>
        <p:spPr>
          <a:xfrm flipV="1">
            <a:off x="3581400" y="3690938"/>
            <a:ext cx="1371600" cy="533400"/>
          </a:xfrm>
          <a:prstGeom prst="line">
            <a:avLst/>
          </a:prstGeom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Adjacent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009650" y="995045"/>
            <a:ext cx="8134350" cy="4521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In </a:t>
            </a:r>
            <a:r>
              <a:rPr lang="en-US" sz="2800" dirty="0">
                <a:solidFill>
                  <a:srgbClr val="C00000"/>
                </a:solidFill>
              </a:rPr>
              <a:t>undirected graphs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, edges have no specific direction</a:t>
            </a:r>
          </a:p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Edges are always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6600"/>
                </a:solidFill>
              </a:rPr>
              <a:t>"two-way"</a:t>
            </a:r>
            <a:endParaRPr lang="en-US" sz="24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Thus,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(u, v)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Cambria Math" panose="02040503050406030204"/>
                <a:ea typeface="Cambria Math" panose="02040503050406030204"/>
              </a:rPr>
              <a:t>∊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E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implies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(v, u) ∊ E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Only one of these edges needs to be in the set</a:t>
            </a:r>
          </a:p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The other is implicit, so normalize how you check for it</a:t>
            </a:r>
          </a:p>
          <a:p>
            <a:pPr marL="57150" indent="0" algn="just">
              <a:buNone/>
            </a:pPr>
            <a:r>
              <a:rPr lang="en-US" sz="2800" dirty="0">
                <a:solidFill>
                  <a:srgbClr val="C00000"/>
                </a:solidFill>
              </a:rPr>
              <a:t>Degree of a vertex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: number of edges containing that vertex</a:t>
            </a:r>
          </a:p>
          <a:p>
            <a:pPr algn="just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Put another way: the number of adjacent vertices</a:t>
            </a:r>
          </a:p>
          <a:p>
            <a:pPr lvl="1"/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13</a:t>
            </a:fld>
            <a:endParaRPr lang="en-US"/>
          </a:p>
        </p:txBody>
      </p:sp>
      <p:grpSp>
        <p:nvGrpSpPr>
          <p:cNvPr id="25606" name="Group 81"/>
          <p:cNvGrpSpPr/>
          <p:nvPr>
            <p:custDataLst>
              <p:tags r:id="rId2"/>
            </p:custDataLst>
          </p:nvPr>
        </p:nvGrpSpPr>
        <p:grpSpPr bwMode="auto">
          <a:xfrm>
            <a:off x="6195853" y="1496377"/>
            <a:ext cx="2947988" cy="1814513"/>
            <a:chOff x="1838" y="1257"/>
            <a:chExt cx="1857" cy="1143"/>
          </a:xfrm>
        </p:grpSpPr>
        <p:sp>
          <p:nvSpPr>
            <p:cNvPr id="25608" name="Oval 68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056" y="1795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5609" name="Text Box 6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838" y="1603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A</a:t>
              </a:r>
              <a:endParaRPr lang="en-US" sz="2000"/>
            </a:p>
          </p:txBody>
        </p:sp>
        <p:sp>
          <p:nvSpPr>
            <p:cNvPr id="25610" name="Oval 70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772" y="2082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8000"/>
              </a:solidFill>
              <a:round/>
            </a:ln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25611" name="Text Box 7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934" y="2150"/>
              <a:ext cx="223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8000"/>
                  </a:solidFill>
                </a:rPr>
                <a:t>B</a:t>
              </a:r>
              <a:endParaRPr lang="en-US" sz="2000"/>
            </a:p>
          </p:txBody>
        </p:sp>
        <p:sp>
          <p:nvSpPr>
            <p:cNvPr id="25612" name="Oval 72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312" y="1651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pPr algn="ctr"/>
              <a:endParaRPr lang="en-US" sz="2000"/>
            </a:p>
          </p:txBody>
        </p:sp>
        <p:sp>
          <p:nvSpPr>
            <p:cNvPr id="25613" name="Text Box 7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462" y="1699"/>
              <a:ext cx="233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00FF"/>
                  </a:solidFill>
                </a:rPr>
                <a:t>C</a:t>
              </a:r>
              <a:endParaRPr lang="en-US" sz="2000"/>
            </a:p>
          </p:txBody>
        </p:sp>
        <p:cxnSp>
          <p:nvCxnSpPr>
            <p:cNvPr id="25614" name="AutoShape 74"/>
            <p:cNvCxnSpPr>
              <a:cxnSpLocks noChangeShapeType="1"/>
              <a:stCxn id="25612" idx="3"/>
              <a:endCxn id="25610" idx="6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2961" y="1814"/>
              <a:ext cx="377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5615" name="AutoShape 75"/>
            <p:cNvCxnSpPr>
              <a:cxnSpLocks noChangeShapeType="1"/>
              <a:stCxn id="25610" idx="2"/>
              <a:endCxn id="25608" idx="5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2210" y="1958"/>
              <a:ext cx="553" cy="21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sp>
          <p:nvSpPr>
            <p:cNvPr id="25616" name="Oval 77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646" y="1459"/>
              <a:ext cx="180" cy="18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FF"/>
              </a:solidFill>
              <a:round/>
            </a:ln>
          </p:spPr>
          <p:txBody>
            <a:bodyPr wrap="none" anchor="ctr"/>
            <a:lstStyle/>
            <a:p>
              <a:pPr algn="ctr"/>
              <a:endParaRPr lang="en-US" sz="2000"/>
            </a:p>
          </p:txBody>
        </p:sp>
        <p:cxnSp>
          <p:nvCxnSpPr>
            <p:cNvPr id="25617" name="AutoShape 78"/>
            <p:cNvCxnSpPr>
              <a:cxnSpLocks noChangeShapeType="1"/>
              <a:stCxn id="25612" idx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2838" y="1553"/>
              <a:ext cx="500" cy="1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sp>
          <p:nvSpPr>
            <p:cNvPr id="25618" name="Text Box 79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742" y="1257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FF"/>
                  </a:solidFill>
                </a:rPr>
                <a:t>D</a:t>
              </a:r>
            </a:p>
          </p:txBody>
        </p:sp>
      </p:grpSp>
      <p:cxnSp>
        <p:nvCxnSpPr>
          <p:cNvPr id="25607" name="Straight Connector 21"/>
          <p:cNvCxnSpPr>
            <a:cxnSpLocks noChangeShapeType="1"/>
            <a:stCxn id="25608" idx="6"/>
            <a:endCxn id="25612" idx="2"/>
          </p:cNvCxnSpPr>
          <p:nvPr>
            <p:custDataLst>
              <p:tags r:id="rId3"/>
            </p:custDataLst>
          </p:nvPr>
        </p:nvCxnSpPr>
        <p:spPr bwMode="auto">
          <a:xfrm flipV="1">
            <a:off x="6827678" y="2264727"/>
            <a:ext cx="1708150" cy="2286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</p:spPr>
      </p:cxn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Undirected Graphs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59155" y="945515"/>
            <a:ext cx="8284845" cy="5486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In </a:t>
            </a:r>
            <a:r>
              <a:rPr lang="en-US" sz="2400" dirty="0">
                <a:solidFill>
                  <a:srgbClr val="C00000"/>
                </a:solidFill>
              </a:rPr>
              <a:t>directed graphs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or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digraphs</a:t>
            </a:r>
            <a:r>
              <a:rPr lang="en-US" sz="2400" dirty="0"/>
              <a:t>),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edges have direction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Thus,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(u, v) ∊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 E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does not imply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(v, u) ∊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 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. </a:t>
            </a:r>
          </a:p>
          <a:p>
            <a:pPr marL="0" indent="0" algn="just">
              <a:buNone/>
            </a:pPr>
            <a:endParaRPr lang="en-US" sz="1000" dirty="0">
              <a:solidFill>
                <a:schemeClr val="accent1">
                  <a:lumMod val="50000"/>
                </a:schemeClr>
              </a:solidFill>
              <a:sym typeface="Symbol" panose="05050102010706020507" pitchFamily="18" charset="2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Let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(u, v)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 E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mean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u → v </a:t>
            </a:r>
          </a:p>
          <a:p>
            <a:pPr algn="just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Call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u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 the </a:t>
            </a:r>
            <a:r>
              <a:rPr 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source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 and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v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 the </a:t>
            </a:r>
            <a:r>
              <a:rPr lang="en-US" sz="2400" dirty="0">
                <a:solidFill>
                  <a:srgbClr val="C00000"/>
                </a:solidFill>
                <a:sym typeface="Symbol" panose="05050102010706020507" pitchFamily="18" charset="2"/>
              </a:rPr>
              <a:t>destination</a:t>
            </a:r>
            <a:endParaRPr lang="en-US" sz="2400" dirty="0">
              <a:solidFill>
                <a:schemeClr val="accent1">
                  <a:lumMod val="50000"/>
                </a:schemeClr>
              </a:solidFill>
              <a:sym typeface="Symbol" panose="05050102010706020507" pitchFamily="18" charset="2"/>
            </a:endParaRPr>
          </a:p>
          <a:p>
            <a:pPr algn="just"/>
            <a:r>
              <a:rPr lang="en-US" sz="2400" dirty="0">
                <a:solidFill>
                  <a:srgbClr val="006600"/>
                </a:solidFill>
                <a:sym typeface="Symbol" panose="05050102010706020507" pitchFamily="18" charset="2"/>
              </a:rPr>
              <a:t>In-Degree of a vertex: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 number of in-bound edges (edges where the vertex is the destination)</a:t>
            </a:r>
          </a:p>
          <a:p>
            <a:pPr algn="just"/>
            <a:r>
              <a:rPr lang="en-US" sz="2400" dirty="0">
                <a:solidFill>
                  <a:srgbClr val="006600"/>
                </a:solidFill>
                <a:sym typeface="Symbol" panose="05050102010706020507" pitchFamily="18" charset="2"/>
              </a:rPr>
              <a:t>Out-Degree of a vertex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sym typeface="Symbol" panose="05050102010706020507" pitchFamily="18" charset="2"/>
              </a:rPr>
              <a:t>: number of out-bound edges (edges where the vertex is the source)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14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666866" y="1289768"/>
            <a:ext cx="7562734" cy="1528382"/>
            <a:chOff x="533400" y="1341743"/>
            <a:chExt cx="7562734" cy="1528382"/>
          </a:xfrm>
        </p:grpSpPr>
        <p:sp>
          <p:nvSpPr>
            <p:cNvPr id="27654" name="Text Box 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825081" y="1889043"/>
              <a:ext cx="427038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or</a:t>
              </a:r>
            </a:p>
          </p:txBody>
        </p:sp>
        <p:grpSp>
          <p:nvGrpSpPr>
            <p:cNvPr id="23" name="Group 22"/>
            <p:cNvGrpSpPr/>
            <p:nvPr>
              <p:custDataLst>
                <p:tags r:id="rId3"/>
              </p:custDataLst>
            </p:nvPr>
          </p:nvGrpSpPr>
          <p:grpSpPr>
            <a:xfrm>
              <a:off x="533400" y="1471901"/>
              <a:ext cx="2971800" cy="1268067"/>
              <a:chOff x="533400" y="1415934"/>
              <a:chExt cx="2971800" cy="1268067"/>
            </a:xfrm>
          </p:grpSpPr>
          <p:sp>
            <p:nvSpPr>
              <p:cNvPr id="27668" name="Oval 8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882270" y="1967934"/>
                <a:ext cx="288058" cy="27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7669" name="Text Box 9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533400" y="1673534"/>
                <a:ext cx="371275" cy="3833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FF0000"/>
                    </a:solidFill>
                  </a:rPr>
                  <a:t>A</a:t>
                </a:r>
                <a:endParaRPr lang="en-US" sz="2000"/>
              </a:p>
            </p:txBody>
          </p:sp>
          <p:sp>
            <p:nvSpPr>
              <p:cNvPr id="27670" name="Oval 10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2028102" y="2408001"/>
                <a:ext cx="288058" cy="27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8000"/>
                </a:solidFill>
                <a:round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7671" name="Text Box 11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2287354" y="1967934"/>
                <a:ext cx="356872" cy="3833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srgbClr val="008000"/>
                    </a:solidFill>
                  </a:rPr>
                  <a:t>B</a:t>
                </a:r>
                <a:endParaRPr lang="en-US" sz="2000" dirty="0"/>
              </a:p>
            </p:txBody>
          </p:sp>
          <p:sp>
            <p:nvSpPr>
              <p:cNvPr id="27672" name="Oval 12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892276" y="1747134"/>
                <a:ext cx="288058" cy="27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FF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7673" name="Text Box 13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132325" y="1820734"/>
                <a:ext cx="372875" cy="3864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0000FF"/>
                    </a:solidFill>
                  </a:rPr>
                  <a:t>C</a:t>
                </a:r>
                <a:endParaRPr lang="en-US" sz="2000"/>
              </a:p>
            </p:txBody>
          </p:sp>
          <p:cxnSp>
            <p:nvCxnSpPr>
              <p:cNvPr id="27674" name="AutoShape 14"/>
              <p:cNvCxnSpPr>
                <a:cxnSpLocks noChangeShapeType="1"/>
                <a:stCxn id="27672" idx="4"/>
                <a:endCxn id="27670" idx="6"/>
              </p:cNvCxnSpPr>
              <p:nvPr>
                <p:custDataLst>
                  <p:tags r:id="rId23"/>
                </p:custDataLst>
              </p:nvPr>
            </p:nvCxnSpPr>
            <p:spPr bwMode="auto">
              <a:xfrm rot="5400000">
                <a:off x="2426567" y="1934696"/>
                <a:ext cx="512133" cy="708943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7675" name="AutoShape 15"/>
              <p:cNvCxnSpPr>
                <a:cxnSpLocks noChangeShapeType="1"/>
                <a:stCxn id="27670" idx="2"/>
                <a:endCxn id="27668" idx="4"/>
              </p:cNvCxnSpPr>
              <p:nvPr>
                <p:custDataLst>
                  <p:tags r:id="rId24"/>
                </p:custDataLst>
              </p:nvPr>
            </p:nvCxnSpPr>
            <p:spPr bwMode="auto">
              <a:xfrm rot="10800000">
                <a:off x="1026300" y="2253134"/>
                <a:ext cx="992200" cy="292867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7676" name="AutoShape 16"/>
              <p:cNvCxnSpPr>
                <a:cxnSpLocks noChangeShapeType="1"/>
                <a:stCxn id="27668" idx="6"/>
                <a:endCxn id="27670" idx="0"/>
              </p:cNvCxnSpPr>
              <p:nvPr>
                <p:custDataLst>
                  <p:tags r:id="rId25"/>
                </p:custDataLst>
              </p:nvPr>
            </p:nvCxnSpPr>
            <p:spPr bwMode="auto">
              <a:xfrm>
                <a:off x="1179931" y="2105934"/>
                <a:ext cx="992200" cy="292867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sp>
            <p:nvSpPr>
              <p:cNvPr id="27677" name="Oval 17"/>
              <p:cNvSpPr>
                <a:spLocks noChangeAspect="1"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1826461" y="1452734"/>
                <a:ext cx="288058" cy="27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FF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27678" name="AutoShape 18"/>
              <p:cNvCxnSpPr>
                <a:cxnSpLocks noChangeShapeType="1"/>
                <a:stCxn id="27672" idx="1"/>
              </p:cNvCxnSpPr>
              <p:nvPr>
                <p:custDataLst>
                  <p:tags r:id="rId27"/>
                </p:custDataLst>
              </p:nvPr>
            </p:nvCxnSpPr>
            <p:spPr bwMode="auto">
              <a:xfrm rot="5400000" flipH="1">
                <a:off x="2444837" y="1285720"/>
                <a:ext cx="176333" cy="800162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sp>
            <p:nvSpPr>
              <p:cNvPr id="27679" name="Text Box 19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423180" y="1415934"/>
                <a:ext cx="371275" cy="3833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srgbClr val="FF00FF"/>
                    </a:solidFill>
                  </a:rPr>
                  <a:t>D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572000" y="1341743"/>
              <a:ext cx="3524134" cy="1528382"/>
              <a:chOff x="6554004" y="2005393"/>
              <a:chExt cx="3524134" cy="1528382"/>
            </a:xfrm>
          </p:grpSpPr>
          <p:sp>
            <p:nvSpPr>
              <p:cNvPr id="27655" name="Text Box 5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6554004" y="3133665"/>
                <a:ext cx="2076334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2 edges here</a:t>
                </a:r>
              </a:p>
            </p:txBody>
          </p:sp>
          <p:sp>
            <p:nvSpPr>
              <p:cNvPr id="27656" name="Line 6"/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 flipV="1">
                <a:off x="8031851" y="3047537"/>
                <a:ext cx="76200" cy="15240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58" name="Oval 20"/>
              <p:cNvSpPr>
                <a:spLocks noChangeAspect="1"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7476226" y="2590337"/>
                <a:ext cx="285750" cy="2857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7659" name="Text Box 21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7130151" y="2285537"/>
                <a:ext cx="368300" cy="3968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srgbClr val="FF0000"/>
                    </a:solidFill>
                  </a:rPr>
                  <a:t>A</a:t>
                </a:r>
                <a:endParaRPr lang="en-US" sz="2000" dirty="0"/>
              </a:p>
            </p:txBody>
          </p:sp>
          <p:sp>
            <p:nvSpPr>
              <p:cNvPr id="27660" name="Oval 22"/>
              <p:cNvSpPr>
                <a:spLocks noChangeAspect="1"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8612876" y="3045950"/>
                <a:ext cx="285750" cy="2857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8000"/>
                </a:solidFill>
                <a:round/>
              </a:ln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7661" name="Text Box 23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779811" y="2613908"/>
                <a:ext cx="354012" cy="3968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srgbClr val="008000"/>
                    </a:solidFill>
                  </a:rPr>
                  <a:t>B</a:t>
                </a:r>
                <a:endParaRPr lang="en-US" sz="2000" dirty="0"/>
              </a:p>
            </p:txBody>
          </p:sp>
          <p:sp>
            <p:nvSpPr>
              <p:cNvPr id="27662" name="Oval 24"/>
              <p:cNvSpPr>
                <a:spLocks noChangeAspect="1"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470126" y="2361737"/>
                <a:ext cx="285750" cy="2857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00FF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7663" name="Text Box 25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9708251" y="2437937"/>
                <a:ext cx="369887" cy="4000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rgbClr val="0000FF"/>
                    </a:solidFill>
                  </a:rPr>
                  <a:t>C</a:t>
                </a:r>
                <a:endParaRPr lang="en-US" sz="2000"/>
              </a:p>
            </p:txBody>
          </p:sp>
          <p:cxnSp>
            <p:nvCxnSpPr>
              <p:cNvPr id="27664" name="AutoShape 26"/>
              <p:cNvCxnSpPr>
                <a:cxnSpLocks noChangeShapeType="1"/>
                <a:stCxn id="27662" idx="4"/>
                <a:endCxn id="27660" idx="6"/>
              </p:cNvCxnSpPr>
              <p:nvPr>
                <p:custDataLst>
                  <p:tags r:id="rId12"/>
                </p:custDataLst>
              </p:nvPr>
            </p:nvCxnSpPr>
            <p:spPr bwMode="auto">
              <a:xfrm rot="5400000">
                <a:off x="8996257" y="2572081"/>
                <a:ext cx="530225" cy="703263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7665" name="AutoShape 27"/>
              <p:cNvCxnSpPr>
                <a:cxnSpLocks noChangeShapeType="1"/>
                <a:stCxn id="27660" idx="2"/>
                <a:endCxn id="27658" idx="5"/>
              </p:cNvCxnSpPr>
              <p:nvPr>
                <p:custDataLst>
                  <p:tags r:id="rId13"/>
                </p:custDataLst>
              </p:nvPr>
            </p:nvCxnSpPr>
            <p:spPr bwMode="auto">
              <a:xfrm flipH="1" flipV="1">
                <a:off x="7720129" y="2834240"/>
                <a:ext cx="892747" cy="35458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7666" name="Oval 28"/>
              <p:cNvSpPr>
                <a:spLocks noChangeAspect="1"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8412851" y="2056937"/>
                <a:ext cx="285750" cy="2857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FF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27667" name="AutoShape 29"/>
              <p:cNvCxnSpPr>
                <a:cxnSpLocks noChangeShapeType="1"/>
                <a:stCxn id="27662" idx="1"/>
              </p:cNvCxnSpPr>
              <p:nvPr>
                <p:custDataLst>
                  <p:tags r:id="rId15"/>
                </p:custDataLst>
              </p:nvPr>
            </p:nvCxnSpPr>
            <p:spPr bwMode="auto">
              <a:xfrm rot="5400000" flipH="1">
                <a:off x="9023244" y="1900569"/>
                <a:ext cx="182563" cy="79375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sp>
            <p:nvSpPr>
              <p:cNvPr id="50" name="Text Box 19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7980864" y="2005393"/>
                <a:ext cx="371275" cy="3833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solidFill>
                      <a:srgbClr val="FF00FF"/>
                    </a:solidFill>
                  </a:rPr>
                  <a:t>D</a:t>
                </a:r>
              </a:p>
            </p:txBody>
          </p:sp>
        </p:grpSp>
      </p:grp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Directed Graphs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15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58371" name="Text Placeholder 58370"/>
          <p:cNvSpPr>
            <a:spLocks noGrp="1"/>
          </p:cNvSpPr>
          <p:nvPr>
            <p:ph type="body" idx="1"/>
          </p:nvPr>
        </p:nvSpPr>
        <p:spPr>
          <a:xfrm>
            <a:off x="838200" y="1647825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x-none" dirty="0"/>
          </a:p>
          <a:p>
            <a:pPr>
              <a:lnSpc>
                <a:spcPct val="90000"/>
              </a:lnSpc>
            </a:pPr>
            <a:endParaRPr lang="en-US" altLang="x-none" dirty="0"/>
          </a:p>
          <a:p>
            <a:pPr>
              <a:lnSpc>
                <a:spcPct val="90000"/>
              </a:lnSpc>
            </a:pP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If (x, y) is a directed edge, we say </a:t>
            </a:r>
            <a:endParaRPr lang="en-US" altLang="x-none" dirty="0"/>
          </a:p>
          <a:p>
            <a:pPr lvl="1">
              <a:lnSpc>
                <a:spcPct val="90000"/>
              </a:lnSpc>
            </a:pP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y is</a:t>
            </a:r>
            <a:r>
              <a:rPr lang="en-US" altLang="x-none" dirty="0"/>
              <a:t> </a:t>
            </a:r>
            <a:r>
              <a:rPr lang="en-US" altLang="x-none" dirty="0">
                <a:solidFill>
                  <a:srgbClr val="FF3300"/>
                </a:solidFill>
              </a:rPr>
              <a:t>adjacent </a:t>
            </a: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to x</a:t>
            </a:r>
          </a:p>
          <a:p>
            <a:pPr lvl="1">
              <a:lnSpc>
                <a:spcPct val="90000"/>
              </a:lnSpc>
            </a:pP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y is</a:t>
            </a:r>
            <a:r>
              <a:rPr lang="en-US" altLang="x-none" dirty="0"/>
              <a:t> </a:t>
            </a:r>
            <a:r>
              <a:rPr lang="en-US" altLang="x-none" dirty="0">
                <a:solidFill>
                  <a:srgbClr val="FF3300"/>
                </a:solidFill>
              </a:rPr>
              <a:t>successor</a:t>
            </a:r>
            <a:r>
              <a:rPr lang="en-US" altLang="x-none" dirty="0"/>
              <a:t> </a:t>
            </a: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of x</a:t>
            </a:r>
          </a:p>
          <a:p>
            <a:pPr lvl="1">
              <a:lnSpc>
                <a:spcPct val="90000"/>
              </a:lnSpc>
            </a:pP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x is </a:t>
            </a:r>
            <a:r>
              <a:rPr lang="en-US" altLang="x-none" dirty="0">
                <a:solidFill>
                  <a:srgbClr val="FF3300"/>
                </a:solidFill>
              </a:rPr>
              <a:t>predecessor</a:t>
            </a:r>
            <a:r>
              <a:rPr lang="en-US" altLang="x-none" dirty="0"/>
              <a:t> </a:t>
            </a: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of y</a:t>
            </a:r>
            <a:endParaRPr lang="en-US" altLang="x-none" dirty="0"/>
          </a:p>
          <a:p>
            <a:pPr>
              <a:lnSpc>
                <a:spcPct val="90000"/>
              </a:lnSpc>
            </a:pP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In a directed graph, </a:t>
            </a:r>
            <a:r>
              <a:rPr lang="en-US" altLang="x-none" dirty="0">
                <a:solidFill>
                  <a:srgbClr val="FF3300"/>
                </a:solidFill>
              </a:rPr>
              <a:t>directed path</a:t>
            </a:r>
            <a:r>
              <a:rPr lang="en-US" altLang="x-none" dirty="0"/>
              <a:t>, </a:t>
            </a:r>
            <a:r>
              <a:rPr lang="en-US" altLang="x-none" dirty="0">
                <a:solidFill>
                  <a:srgbClr val="FF3300"/>
                </a:solidFill>
              </a:rPr>
              <a:t>directed cycle</a:t>
            </a:r>
            <a:r>
              <a:rPr lang="en-US" altLang="x-none" dirty="0"/>
              <a:t> </a:t>
            </a:r>
            <a:r>
              <a:rPr lang="en-US" altLang="x-none" dirty="0">
                <a:solidFill>
                  <a:schemeClr val="accent1">
                    <a:lumMod val="50000"/>
                  </a:schemeClr>
                </a:solidFill>
              </a:rPr>
              <a:t>can be defined similarly</a:t>
            </a:r>
          </a:p>
        </p:txBody>
      </p:sp>
      <p:sp>
        <p:nvSpPr>
          <p:cNvPr id="58372" name="Oval 58371"/>
          <p:cNvSpPr/>
          <p:nvPr/>
        </p:nvSpPr>
        <p:spPr>
          <a:xfrm>
            <a:off x="4541838" y="1752600"/>
            <a:ext cx="392112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x-none" sz="2400">
                <a:latin typeface="Tahoma" panose="020B0604030504040204" pitchFamily="34" charset="0"/>
              </a:rPr>
              <a:t>y</a:t>
            </a:r>
          </a:p>
        </p:txBody>
      </p:sp>
      <p:sp>
        <p:nvSpPr>
          <p:cNvPr id="58373" name="Oval 58372"/>
          <p:cNvSpPr/>
          <p:nvPr/>
        </p:nvSpPr>
        <p:spPr>
          <a:xfrm>
            <a:off x="3398838" y="1752600"/>
            <a:ext cx="392112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x-none" sz="2400"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58374" name="Straight Connector 58373"/>
          <p:cNvSpPr/>
          <p:nvPr/>
        </p:nvSpPr>
        <p:spPr>
          <a:xfrm>
            <a:off x="3779838" y="19050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Directed Graph(Digraph)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16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56323" name="Text Placeholder 56322"/>
          <p:cNvSpPr>
            <a:spLocks noGrp="1"/>
          </p:cNvSpPr>
          <p:nvPr>
            <p:ph type="body" idx="1"/>
          </p:nvPr>
        </p:nvSpPr>
        <p:spPr>
          <a:xfrm>
            <a:off x="985520" y="1061085"/>
            <a:ext cx="8229600" cy="4754563"/>
          </a:xfrm>
        </p:spPr>
        <p:txBody>
          <a:bodyPr/>
          <a:lstStyle/>
          <a:p>
            <a:pPr algn="just"/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If each edge in G is assigned a weight, it is called a </a:t>
            </a:r>
            <a:r>
              <a:rPr lang="en-US" altLang="zh-TW">
                <a:solidFill>
                  <a:srgbClr val="C00000"/>
                </a:solidFill>
                <a:ea typeface="PMingLiU" pitchFamily="18" charset="-120"/>
              </a:rPr>
              <a:t>weighted graph</a:t>
            </a:r>
          </a:p>
        </p:txBody>
      </p:sp>
      <p:sp>
        <p:nvSpPr>
          <p:cNvPr id="56324" name="Oval 56323"/>
          <p:cNvSpPr/>
          <p:nvPr/>
        </p:nvSpPr>
        <p:spPr>
          <a:xfrm>
            <a:off x="5867400" y="338931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>
              <a:latin typeface="Tahoma" panose="020B0604030504040204" pitchFamily="34" charset="0"/>
            </a:endParaRPr>
          </a:p>
        </p:txBody>
      </p:sp>
      <p:sp>
        <p:nvSpPr>
          <p:cNvPr id="56325" name="Oval 56324"/>
          <p:cNvSpPr/>
          <p:nvPr/>
        </p:nvSpPr>
        <p:spPr>
          <a:xfrm>
            <a:off x="2667000" y="529431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326" name="Oval 56325"/>
          <p:cNvSpPr/>
          <p:nvPr/>
        </p:nvSpPr>
        <p:spPr>
          <a:xfrm>
            <a:off x="1676400" y="338931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>
              <a:latin typeface="Tahoma" panose="020B0604030504040204" pitchFamily="34" charset="0"/>
            </a:endParaRPr>
          </a:p>
        </p:txBody>
      </p:sp>
      <p:sp>
        <p:nvSpPr>
          <p:cNvPr id="56327" name="Straight Connector 56326"/>
          <p:cNvSpPr/>
          <p:nvPr/>
        </p:nvSpPr>
        <p:spPr>
          <a:xfrm>
            <a:off x="2057400" y="3541713"/>
            <a:ext cx="685800" cy="1828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28" name="Straight Connector 56327"/>
          <p:cNvSpPr/>
          <p:nvPr/>
        </p:nvSpPr>
        <p:spPr>
          <a:xfrm>
            <a:off x="2057400" y="3541713"/>
            <a:ext cx="3810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29" name="Straight Connector 56328"/>
          <p:cNvSpPr/>
          <p:nvPr/>
        </p:nvSpPr>
        <p:spPr>
          <a:xfrm flipV="1">
            <a:off x="3048000" y="3694113"/>
            <a:ext cx="2895600" cy="1676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31" name="Text Box 56330"/>
          <p:cNvSpPr txBox="1"/>
          <p:nvPr/>
        </p:nvSpPr>
        <p:spPr>
          <a:xfrm>
            <a:off x="2868930" y="5643563"/>
            <a:ext cx="86614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Gilgit</a:t>
            </a:r>
          </a:p>
        </p:txBody>
      </p:sp>
      <p:sp>
        <p:nvSpPr>
          <p:cNvPr id="56332" name="Text Box 56331"/>
          <p:cNvSpPr txBox="1"/>
          <p:nvPr/>
        </p:nvSpPr>
        <p:spPr>
          <a:xfrm>
            <a:off x="1279525" y="2895600"/>
            <a:ext cx="158940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Islamabad</a:t>
            </a:r>
          </a:p>
        </p:txBody>
      </p:sp>
      <p:sp>
        <p:nvSpPr>
          <p:cNvPr id="56333" name="Text Box 56332"/>
          <p:cNvSpPr txBox="1"/>
          <p:nvPr/>
        </p:nvSpPr>
        <p:spPr>
          <a:xfrm>
            <a:off x="3260725" y="3041650"/>
            <a:ext cx="850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1000</a:t>
            </a:r>
          </a:p>
        </p:txBody>
      </p:sp>
      <p:sp>
        <p:nvSpPr>
          <p:cNvPr id="56334" name="Text Box 56333"/>
          <p:cNvSpPr txBox="1"/>
          <p:nvPr/>
        </p:nvSpPr>
        <p:spPr>
          <a:xfrm>
            <a:off x="1524000" y="4227513"/>
            <a:ext cx="850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2000</a:t>
            </a:r>
          </a:p>
        </p:txBody>
      </p:sp>
      <p:sp>
        <p:nvSpPr>
          <p:cNvPr id="56335" name="Text Box 56334"/>
          <p:cNvSpPr txBox="1"/>
          <p:nvPr/>
        </p:nvSpPr>
        <p:spPr>
          <a:xfrm>
            <a:off x="4441825" y="4617403"/>
            <a:ext cx="850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3500</a:t>
            </a:r>
          </a:p>
        </p:txBody>
      </p:sp>
      <p:sp>
        <p:nvSpPr>
          <p:cNvPr id="56336" name="Text Box 56335"/>
          <p:cNvSpPr txBox="1"/>
          <p:nvPr/>
        </p:nvSpPr>
        <p:spPr>
          <a:xfrm>
            <a:off x="6400800" y="2932430"/>
            <a:ext cx="21386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4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Bahawalpur</a:t>
            </a: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Weighted Graph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17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57347" name="Text Placeholder 57346"/>
          <p:cNvSpPr>
            <a:spLocks noGrp="1"/>
          </p:cNvSpPr>
          <p:nvPr>
            <p:ph type="body" idx="1"/>
          </p:nvPr>
        </p:nvSpPr>
        <p:spPr>
          <a:xfrm>
            <a:off x="762000" y="1036320"/>
            <a:ext cx="8382635" cy="4754880"/>
          </a:xfrm>
        </p:spPr>
        <p:txBody>
          <a:bodyPr/>
          <a:lstStyle/>
          <a:p>
            <a:pPr algn="just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  <a:ea typeface="PMingLiU" pitchFamily="18" charset="-120"/>
              </a:rPr>
              <a:t>All previous graphs are</a:t>
            </a:r>
            <a:r>
              <a:rPr lang="en-US" altLang="zh-TW" sz="2400">
                <a:ea typeface="PMingLiU" pitchFamily="18" charset="-120"/>
              </a:rPr>
              <a:t> </a:t>
            </a:r>
            <a:r>
              <a:rPr lang="en-US" altLang="zh-TW" sz="2400">
                <a:solidFill>
                  <a:srgbClr val="FF3300"/>
                </a:solidFill>
                <a:ea typeface="PMingLiU" pitchFamily="18" charset="-120"/>
              </a:rPr>
              <a:t>undirected graph</a:t>
            </a:r>
          </a:p>
          <a:p>
            <a:pPr algn="just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  <a:ea typeface="PMingLiU" pitchFamily="18" charset="-120"/>
              </a:rPr>
              <a:t>If each edge in E has a direction, it is called a </a:t>
            </a:r>
            <a:r>
              <a:rPr lang="en-US" altLang="zh-TW" sz="2400">
                <a:solidFill>
                  <a:srgbClr val="FF3300"/>
                </a:solidFill>
                <a:ea typeface="PMingLiU" pitchFamily="18" charset="-120"/>
              </a:rPr>
              <a:t>directed edge</a:t>
            </a:r>
          </a:p>
          <a:p>
            <a:pPr algn="just"/>
            <a:r>
              <a:rPr lang="en-US" altLang="zh-TW" sz="2400">
                <a:solidFill>
                  <a:schemeClr val="accent1">
                    <a:lumMod val="75000"/>
                  </a:schemeClr>
                </a:solidFill>
                <a:ea typeface="PMingLiU" pitchFamily="18" charset="-120"/>
              </a:rPr>
              <a:t>A directed graph is a graph where every edges is a</a:t>
            </a:r>
            <a:r>
              <a:rPr lang="en-US" altLang="zh-TW" sz="2400">
                <a:ea typeface="PMingLiU" pitchFamily="18" charset="-120"/>
              </a:rPr>
              <a:t> </a:t>
            </a:r>
            <a:r>
              <a:rPr lang="en-US" altLang="zh-TW" sz="2400">
                <a:solidFill>
                  <a:srgbClr val="FF3300"/>
                </a:solidFill>
                <a:ea typeface="PMingLiU" pitchFamily="18" charset="-120"/>
              </a:rPr>
              <a:t>directed edge</a:t>
            </a:r>
          </a:p>
        </p:txBody>
      </p:sp>
      <p:sp>
        <p:nvSpPr>
          <p:cNvPr id="57358" name="Text Box 57357"/>
          <p:cNvSpPr txBox="1"/>
          <p:nvPr/>
        </p:nvSpPr>
        <p:spPr>
          <a:xfrm>
            <a:off x="5562600" y="4419600"/>
            <a:ext cx="2054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rgbClr val="C00000"/>
                </a:solidFill>
                <a:latin typeface="Tahoma" panose="020B0604030504040204" pitchFamily="34" charset="0"/>
              </a:rPr>
              <a:t>Directed edge</a:t>
            </a:r>
          </a:p>
        </p:txBody>
      </p:sp>
      <p:sp>
        <p:nvSpPr>
          <p:cNvPr id="57359" name="Straight Connector 57358"/>
          <p:cNvSpPr/>
          <p:nvPr/>
        </p:nvSpPr>
        <p:spPr>
          <a:xfrm flipH="1">
            <a:off x="4876800" y="4648200"/>
            <a:ext cx="649288" cy="73025"/>
          </a:xfrm>
          <a:prstGeom prst="line">
            <a:avLst/>
          </a:prstGeom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7385" name="Oval 57384"/>
          <p:cNvSpPr/>
          <p:nvPr/>
        </p:nvSpPr>
        <p:spPr>
          <a:xfrm>
            <a:off x="5349875" y="38862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>
              <a:latin typeface="Tahoma" panose="020B0604030504040204" pitchFamily="34" charset="0"/>
            </a:endParaRPr>
          </a:p>
        </p:txBody>
      </p:sp>
      <p:sp>
        <p:nvSpPr>
          <p:cNvPr id="57386" name="Oval 57385"/>
          <p:cNvSpPr/>
          <p:nvPr/>
        </p:nvSpPr>
        <p:spPr>
          <a:xfrm>
            <a:off x="2149475" y="57912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387" name="Oval 57386"/>
          <p:cNvSpPr/>
          <p:nvPr/>
        </p:nvSpPr>
        <p:spPr>
          <a:xfrm>
            <a:off x="1158875" y="38862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>
              <a:latin typeface="Tahoma" panose="020B0604030504040204" pitchFamily="34" charset="0"/>
            </a:endParaRPr>
          </a:p>
        </p:txBody>
      </p:sp>
      <p:sp>
        <p:nvSpPr>
          <p:cNvPr id="57388" name="Straight Connector 57387"/>
          <p:cNvSpPr/>
          <p:nvPr/>
        </p:nvSpPr>
        <p:spPr>
          <a:xfrm>
            <a:off x="1539875" y="4038600"/>
            <a:ext cx="685800" cy="1828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7389" name="Straight Connector 57388"/>
          <p:cNvSpPr/>
          <p:nvPr/>
        </p:nvSpPr>
        <p:spPr>
          <a:xfrm>
            <a:off x="1539875" y="4038600"/>
            <a:ext cx="3810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7390" name="Straight Connector 57389"/>
          <p:cNvSpPr/>
          <p:nvPr/>
        </p:nvSpPr>
        <p:spPr>
          <a:xfrm flipV="1">
            <a:off x="2438400" y="4114800"/>
            <a:ext cx="2895600" cy="1676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7391" name="Text Box 57390"/>
          <p:cNvSpPr txBox="1"/>
          <p:nvPr/>
        </p:nvSpPr>
        <p:spPr>
          <a:xfrm>
            <a:off x="2667000" y="5943600"/>
            <a:ext cx="86614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Gilgit</a:t>
            </a:r>
          </a:p>
        </p:txBody>
      </p:sp>
      <p:sp>
        <p:nvSpPr>
          <p:cNvPr id="57392" name="Text Box 57391"/>
          <p:cNvSpPr txBox="1"/>
          <p:nvPr/>
        </p:nvSpPr>
        <p:spPr>
          <a:xfrm>
            <a:off x="762000" y="3392488"/>
            <a:ext cx="158940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Islamabad</a:t>
            </a:r>
          </a:p>
        </p:txBody>
      </p:sp>
      <p:sp>
        <p:nvSpPr>
          <p:cNvPr id="57393" name="Text Box 57392"/>
          <p:cNvSpPr txBox="1"/>
          <p:nvPr/>
        </p:nvSpPr>
        <p:spPr>
          <a:xfrm>
            <a:off x="2743200" y="3538538"/>
            <a:ext cx="850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1000</a:t>
            </a:r>
          </a:p>
        </p:txBody>
      </p:sp>
      <p:sp>
        <p:nvSpPr>
          <p:cNvPr id="57394" name="Text Box 57393"/>
          <p:cNvSpPr txBox="1"/>
          <p:nvPr/>
        </p:nvSpPr>
        <p:spPr>
          <a:xfrm>
            <a:off x="1006475" y="4724400"/>
            <a:ext cx="850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2000</a:t>
            </a:r>
          </a:p>
        </p:txBody>
      </p:sp>
      <p:sp>
        <p:nvSpPr>
          <p:cNvPr id="57395" name="Text Box 57394"/>
          <p:cNvSpPr txBox="1"/>
          <p:nvPr/>
        </p:nvSpPr>
        <p:spPr>
          <a:xfrm>
            <a:off x="4191000" y="4876800"/>
            <a:ext cx="850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3500</a:t>
            </a:r>
          </a:p>
        </p:txBody>
      </p:sp>
      <p:sp>
        <p:nvSpPr>
          <p:cNvPr id="57396" name="Text Box 57395"/>
          <p:cNvSpPr txBox="1"/>
          <p:nvPr/>
        </p:nvSpPr>
        <p:spPr>
          <a:xfrm>
            <a:off x="5883275" y="3429000"/>
            <a:ext cx="21882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Bahawalpur</a:t>
            </a:r>
          </a:p>
        </p:txBody>
      </p:sp>
      <p:sp>
        <p:nvSpPr>
          <p:cNvPr id="57397" name="Straight Connector 57396"/>
          <p:cNvSpPr/>
          <p:nvPr/>
        </p:nvSpPr>
        <p:spPr>
          <a:xfrm flipH="1">
            <a:off x="2514600" y="4267200"/>
            <a:ext cx="2971800" cy="1752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  <p:txBody>
          <a:bodyPr/>
          <a:lstStyle/>
          <a:p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Directed Graph(Digraph)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18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55299" name="Text Placeholder 55298"/>
          <p:cNvSpPr>
            <a:spLocks noGrp="1"/>
          </p:cNvSpPr>
          <p:nvPr>
            <p:ph type="body" idx="1"/>
          </p:nvPr>
        </p:nvSpPr>
        <p:spPr>
          <a:xfrm>
            <a:off x="969010" y="1188720"/>
            <a:ext cx="8229600" cy="4754563"/>
          </a:xfrm>
        </p:spPr>
        <p:txBody>
          <a:bodyPr/>
          <a:lstStyle/>
          <a:p>
            <a:pPr algn="just"/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A </a:t>
            </a:r>
            <a:r>
              <a:rPr lang="en-US" altLang="zh-TW" sz="2400" dirty="0">
                <a:solidFill>
                  <a:srgbClr val="C00000"/>
                </a:solidFill>
                <a:ea typeface="PMingLiU" pitchFamily="18" charset="-120"/>
              </a:rPr>
              <a:t>subgraph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of a graph G =(V, E) is a graph H = (U, F) such that U 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ea typeface="PMingLiU" pitchFamily="18" charset="-120"/>
                <a:sym typeface="Symbol" panose="05050102010706020507" pitchFamily="18" charset="2"/>
              </a:rPr>
              <a:t> V and F  E.</a:t>
            </a:r>
          </a:p>
        </p:txBody>
      </p:sp>
      <p:sp>
        <p:nvSpPr>
          <p:cNvPr id="55300" name="Oval 55299"/>
          <p:cNvSpPr/>
          <p:nvPr/>
        </p:nvSpPr>
        <p:spPr>
          <a:xfrm>
            <a:off x="2447925" y="35814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301" name="Oval 55300"/>
          <p:cNvSpPr/>
          <p:nvPr/>
        </p:nvSpPr>
        <p:spPr>
          <a:xfrm>
            <a:off x="3590925" y="36576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302" name="Oval 55301"/>
          <p:cNvSpPr/>
          <p:nvPr/>
        </p:nvSpPr>
        <p:spPr>
          <a:xfrm>
            <a:off x="3514725" y="46482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303" name="Oval 55302"/>
          <p:cNvSpPr/>
          <p:nvPr/>
        </p:nvSpPr>
        <p:spPr>
          <a:xfrm>
            <a:off x="1914525" y="44958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304" name="Straight Connector 55303"/>
          <p:cNvSpPr/>
          <p:nvPr/>
        </p:nvSpPr>
        <p:spPr>
          <a:xfrm flipH="1" flipV="1">
            <a:off x="2828925" y="3733800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05" name="Straight Connector 55304"/>
          <p:cNvSpPr/>
          <p:nvPr/>
        </p:nvSpPr>
        <p:spPr>
          <a:xfrm flipH="1" flipV="1">
            <a:off x="2295525" y="4648200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06" name="Straight Connector 55305"/>
          <p:cNvSpPr/>
          <p:nvPr/>
        </p:nvSpPr>
        <p:spPr>
          <a:xfrm flipH="1">
            <a:off x="2295525" y="3886200"/>
            <a:ext cx="12954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07" name="Straight Connector 55306"/>
          <p:cNvSpPr/>
          <p:nvPr/>
        </p:nvSpPr>
        <p:spPr>
          <a:xfrm flipH="1">
            <a:off x="2219325" y="3886200"/>
            <a:ext cx="3048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08" name="Oval 55307"/>
          <p:cNvSpPr/>
          <p:nvPr/>
        </p:nvSpPr>
        <p:spPr>
          <a:xfrm>
            <a:off x="1060450" y="38100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>
              <a:latin typeface="Tahoma" panose="020B0604030504040204" pitchFamily="34" charset="0"/>
            </a:endParaRPr>
          </a:p>
        </p:txBody>
      </p:sp>
      <p:sp>
        <p:nvSpPr>
          <p:cNvPr id="55309" name="Straight Connector 55308"/>
          <p:cNvSpPr/>
          <p:nvPr/>
        </p:nvSpPr>
        <p:spPr>
          <a:xfrm flipV="1">
            <a:off x="1441450" y="3810000"/>
            <a:ext cx="9906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0" name="Text Box 55309"/>
          <p:cNvSpPr txBox="1"/>
          <p:nvPr/>
        </p:nvSpPr>
        <p:spPr>
          <a:xfrm>
            <a:off x="679450" y="32766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55311" name="Text Box 55310"/>
          <p:cNvSpPr txBox="1"/>
          <p:nvPr/>
        </p:nvSpPr>
        <p:spPr>
          <a:xfrm>
            <a:off x="1501775" y="45799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55312" name="Text Box 55311"/>
          <p:cNvSpPr txBox="1"/>
          <p:nvPr/>
        </p:nvSpPr>
        <p:spPr>
          <a:xfrm>
            <a:off x="4032250" y="3200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55313" name="Text Box 55312"/>
          <p:cNvSpPr txBox="1"/>
          <p:nvPr/>
        </p:nvSpPr>
        <p:spPr>
          <a:xfrm>
            <a:off x="3956050" y="44196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55314" name="Straight Connector 55313"/>
          <p:cNvSpPr/>
          <p:nvPr/>
        </p:nvSpPr>
        <p:spPr>
          <a:xfrm flipV="1">
            <a:off x="3727450" y="3962400"/>
            <a:ext cx="762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15" name="Text Box 55314"/>
          <p:cNvSpPr txBox="1"/>
          <p:nvPr/>
        </p:nvSpPr>
        <p:spPr>
          <a:xfrm>
            <a:off x="1981200" y="30480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55316" name="Text Box 55315"/>
          <p:cNvSpPr txBox="1"/>
          <p:nvPr/>
        </p:nvSpPr>
        <p:spPr>
          <a:xfrm>
            <a:off x="2274888" y="5283200"/>
            <a:ext cx="455612" cy="57943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3200">
                <a:solidFill>
                  <a:schemeClr val="folHlink"/>
                </a:solidFill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55317" name="Oval 55316"/>
          <p:cNvSpPr/>
          <p:nvPr/>
        </p:nvSpPr>
        <p:spPr>
          <a:xfrm>
            <a:off x="6340475" y="35861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318" name="Oval 55317"/>
          <p:cNvSpPr/>
          <p:nvPr/>
        </p:nvSpPr>
        <p:spPr>
          <a:xfrm>
            <a:off x="7483475" y="36623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319" name="Oval 55318"/>
          <p:cNvSpPr/>
          <p:nvPr/>
        </p:nvSpPr>
        <p:spPr>
          <a:xfrm>
            <a:off x="7407275" y="46529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320" name="Oval 55319"/>
          <p:cNvSpPr/>
          <p:nvPr/>
        </p:nvSpPr>
        <p:spPr>
          <a:xfrm>
            <a:off x="5807075" y="45005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321" name="Straight Connector 55320"/>
          <p:cNvSpPr/>
          <p:nvPr/>
        </p:nvSpPr>
        <p:spPr>
          <a:xfrm flipH="1" flipV="1">
            <a:off x="6721475" y="3738563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22" name="Straight Connector 55321"/>
          <p:cNvSpPr/>
          <p:nvPr/>
        </p:nvSpPr>
        <p:spPr>
          <a:xfrm flipH="1" flipV="1">
            <a:off x="6188075" y="4652963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23" name="Straight Connector 55322"/>
          <p:cNvSpPr/>
          <p:nvPr/>
        </p:nvSpPr>
        <p:spPr>
          <a:xfrm flipH="1">
            <a:off x="6111875" y="3890963"/>
            <a:ext cx="3048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24" name="Text Box 55323"/>
          <p:cNvSpPr txBox="1"/>
          <p:nvPr/>
        </p:nvSpPr>
        <p:spPr>
          <a:xfrm>
            <a:off x="5394325" y="45847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55325" name="Text Box 55324"/>
          <p:cNvSpPr txBox="1"/>
          <p:nvPr/>
        </p:nvSpPr>
        <p:spPr>
          <a:xfrm>
            <a:off x="7924800" y="3205163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55326" name="Text Box 55325"/>
          <p:cNvSpPr txBox="1"/>
          <p:nvPr/>
        </p:nvSpPr>
        <p:spPr>
          <a:xfrm>
            <a:off x="7848600" y="4424363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55327" name="Text Box 55326"/>
          <p:cNvSpPr txBox="1"/>
          <p:nvPr/>
        </p:nvSpPr>
        <p:spPr>
          <a:xfrm>
            <a:off x="6019800" y="29718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55328" name="Text Box 55327"/>
          <p:cNvSpPr txBox="1"/>
          <p:nvPr/>
        </p:nvSpPr>
        <p:spPr>
          <a:xfrm>
            <a:off x="6542088" y="5229225"/>
            <a:ext cx="458787" cy="57943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3200">
                <a:solidFill>
                  <a:schemeClr val="folHlink"/>
                </a:solidFill>
                <a:latin typeface="Tahoma" panose="020B0604030504040204" pitchFamily="34" charset="0"/>
              </a:rPr>
              <a:t>H</a:t>
            </a: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Sub Graph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19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60419" name="Text Placeholder 60418"/>
          <p:cNvSpPr>
            <a:spLocks noGrp="1"/>
          </p:cNvSpPr>
          <p:nvPr>
            <p:ph type="body" idx="1"/>
          </p:nvPr>
        </p:nvSpPr>
        <p:spPr>
          <a:xfrm>
            <a:off x="828675" y="1052830"/>
            <a:ext cx="8229600" cy="3810000"/>
          </a:xfrm>
        </p:spPr>
        <p:txBody>
          <a:bodyPr/>
          <a:lstStyle/>
          <a:p>
            <a:pPr algn="just"/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A </a:t>
            </a:r>
            <a:r>
              <a:rPr lang="en-US" altLang="zh-TW">
                <a:solidFill>
                  <a:srgbClr val="00B050"/>
                </a:solidFill>
                <a:ea typeface="PMingLiU" pitchFamily="18" charset="-120"/>
              </a:rPr>
              <a:t>undirected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graph that is </a:t>
            </a:r>
            <a:r>
              <a:rPr lang="en-US" altLang="zh-TW">
                <a:solidFill>
                  <a:srgbClr val="C00000"/>
                </a:solidFill>
                <a:ea typeface="PMingLiU" pitchFamily="18" charset="-120"/>
              </a:rPr>
              <a:t>connected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and has </a:t>
            </a:r>
            <a:r>
              <a:rPr lang="en-US" altLang="zh-TW">
                <a:solidFill>
                  <a:srgbClr val="BF119A"/>
                </a:solidFill>
                <a:ea typeface="PMingLiU" pitchFamily="18" charset="-120"/>
              </a:rPr>
              <a:t>no cycle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is a tree.</a:t>
            </a:r>
          </a:p>
          <a:p>
            <a:pPr algn="just"/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A tree with n nodes have exactly n-1 edges.</a:t>
            </a:r>
          </a:p>
          <a:p>
            <a:pPr algn="just"/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A connected undirected graph with n nodes must have at least n-1 edges.</a:t>
            </a:r>
          </a:p>
          <a:p>
            <a:pPr algn="just"/>
            <a:endParaRPr lang="en-US" altLang="zh-TW">
              <a:solidFill>
                <a:schemeClr val="accent1">
                  <a:lumMod val="50000"/>
                </a:schemeClr>
              </a:solidFill>
              <a:ea typeface="PMingLiU" pitchFamily="18" charset="-120"/>
            </a:endParaRP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Property of a Graph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650" y="1005840"/>
            <a:ext cx="8134350" cy="4521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We can think of graphs as an ADT </a:t>
            </a:r>
          </a:p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Operations would </a:t>
            </a:r>
            <a:r>
              <a:rPr lang="en-US" sz="2600" dirty="0" err="1">
                <a:solidFill>
                  <a:schemeClr val="accent1">
                    <a:lumMod val="50000"/>
                  </a:schemeClr>
                </a:solidFill>
              </a:rPr>
              <a:t>inlude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600" b="1" dirty="0" err="1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cs typeface="Courier New" panose="02070309020205020404" pitchFamily="49" charset="0"/>
              </a:rPr>
              <a:t>isEdge</a:t>
            </a:r>
            <a:r>
              <a:rPr lang="en-US" sz="26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cs typeface="Courier New" panose="02070309020205020404" pitchFamily="49" charset="0"/>
              </a:rPr>
              <a:t>(</a:t>
            </a:r>
            <a:r>
              <a:rPr lang="en-US" sz="2600" b="1" dirty="0" err="1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cs typeface="Courier New" panose="02070309020205020404" pitchFamily="49" charset="0"/>
              </a:rPr>
              <a:t>v</a:t>
            </a:r>
            <a:r>
              <a:rPr lang="en-US" sz="2600" b="1" baseline="-25000" dirty="0" err="1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cs typeface="Courier New" panose="02070309020205020404" pitchFamily="49" charset="0"/>
              </a:rPr>
              <a:t>j</a:t>
            </a:r>
            <a:r>
              <a:rPr lang="en-US" sz="2600" b="1" dirty="0" err="1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cs typeface="Courier New" panose="02070309020205020404" pitchFamily="49" charset="0"/>
              </a:rPr>
              <a:t>,v</a:t>
            </a:r>
            <a:r>
              <a:rPr lang="en-US" sz="2600" b="1" baseline="-25000" dirty="0" err="1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cs typeface="Courier New" panose="02070309020205020404" pitchFamily="49" charset="0"/>
              </a:rPr>
              <a:t>k</a:t>
            </a:r>
            <a:r>
              <a:rPr lang="en-US" sz="26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+mj-lt"/>
                <a:cs typeface="Courier New" panose="02070309020205020404" pitchFamily="49" charset="0"/>
              </a:rPr>
              <a:t>But it is unclear what the "</a:t>
            </a:r>
            <a:r>
              <a:rPr lang="en-US" sz="260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standard operations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+mj-lt"/>
                <a:cs typeface="Courier New" panose="02070309020205020404" pitchFamily="49" charset="0"/>
              </a:rPr>
              <a:t>" would be for such an ADT</a:t>
            </a:r>
          </a:p>
          <a:p>
            <a:pPr marL="0" indent="0" algn="just"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+mj-lt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+mj-lt"/>
                <a:cs typeface="Courier New" panose="02070309020205020404" pitchFamily="49" charset="0"/>
              </a:rPr>
              <a:t>Instead we tend to </a:t>
            </a:r>
            <a:r>
              <a:rPr lang="en-US" sz="260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develop algorithms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+mj-lt"/>
                <a:cs typeface="Courier New" panose="02070309020205020404" pitchFamily="49" charset="0"/>
              </a:rPr>
              <a:t> over graphs and then use </a:t>
            </a:r>
            <a:r>
              <a:rPr lang="en-US" sz="260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data structures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+mj-lt"/>
                <a:cs typeface="Courier New" panose="02070309020205020404" pitchFamily="49" charset="0"/>
              </a:rPr>
              <a:t> that are efficient for those algorithms</a:t>
            </a:r>
          </a:p>
          <a:p>
            <a:pPr marL="0" indent="0" algn="just"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+mj-lt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+mj-lt"/>
                <a:cs typeface="Courier New" panose="02070309020205020404" pitchFamily="49" charset="0"/>
              </a:rPr>
              <a:t>Many important problems can be solved by: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+mj-lt"/>
                <a:cs typeface="Courier New" panose="02070309020205020404" pitchFamily="49" charset="0"/>
              </a:rPr>
              <a:t>Formulating them in terms of graphs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+mj-lt"/>
                <a:cs typeface="Courier New" panose="02070309020205020404" pitchFamily="49" charset="0"/>
              </a:rPr>
              <a:t>Applying a standard graph algorithm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20</a:t>
            </a:fld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 A Graph ADT?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009650" y="1168400"/>
            <a:ext cx="8134350" cy="45212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 power distribution network consists of 8 consumption points labeled A to H. The details of the connections between the consumption points and their respective distances are provided below:</a:t>
            </a:r>
          </a:p>
          <a:p>
            <a:pPr lvl="1"/>
            <a:r>
              <a:rPr lang="en-US" sz="1885" dirty="0">
                <a:solidFill>
                  <a:schemeClr val="accent1">
                    <a:lumMod val="50000"/>
                  </a:schemeClr>
                </a:solidFill>
              </a:rPr>
              <a:t>A &lt;-&gt; C: 15 miles, B &lt;-&gt; C: 20 miles, B &lt;-&gt; D: 25 miles, </a:t>
            </a:r>
          </a:p>
          <a:p>
            <a:pPr lvl="1"/>
            <a:r>
              <a:rPr lang="en-US" sz="1885" dirty="0">
                <a:solidFill>
                  <a:schemeClr val="accent1">
                    <a:lumMod val="50000"/>
                  </a:schemeClr>
                </a:solidFill>
              </a:rPr>
              <a:t>C &lt;-&gt; E: 30 miles, D &lt;-&gt; E: 35 miles, E &lt;-&gt; F: 40 miles, E &lt;-&gt; G: 45 miles, </a:t>
            </a:r>
          </a:p>
          <a:p>
            <a:pPr lvl="1"/>
            <a:r>
              <a:rPr lang="en-US" sz="1885" dirty="0">
                <a:solidFill>
                  <a:schemeClr val="accent1">
                    <a:lumMod val="50000"/>
                  </a:schemeClr>
                </a:solidFill>
              </a:rPr>
              <a:t>F &lt;-&gt; G: 50 miles, F &lt;-&gt; H: 55 miles, G &lt;-&gt; H: 60 miles</a:t>
            </a:r>
          </a:p>
          <a:p>
            <a:pPr lvl="0" algn="just"/>
            <a:r>
              <a:rPr lang="en-US" sz="2195" dirty="0">
                <a:solidFill>
                  <a:schemeClr val="accent1">
                    <a:lumMod val="50000"/>
                  </a:schemeClr>
                </a:solidFill>
              </a:rPr>
              <a:t>Represent above information as a linked list of wheated </a:t>
            </a:r>
            <a:r>
              <a:rPr lang="en-US" sz="2195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undirected graph.</a:t>
            </a:r>
          </a:p>
          <a:p>
            <a:pPr lvl="0" algn="just"/>
            <a:r>
              <a:rPr lang="en-US" sz="2195" dirty="0">
                <a:solidFill>
                  <a:schemeClr val="accent1">
                    <a:lumMod val="50000"/>
                  </a:schemeClr>
                </a:solidFill>
              </a:rPr>
              <a:t>Draw an undirected graph based on the information given above, clearly showing all the connections and distances between the consumption points.</a:t>
            </a:r>
          </a:p>
          <a:p>
            <a:pPr marL="0" indent="0">
              <a:buNone/>
            </a:pP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21</a:t>
            </a:fld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Your Turn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AutoShape 1026">
            <a:extLst>
              <a:ext uri="{FF2B5EF4-FFF2-40B4-BE49-F238E27FC236}">
                <a16:creationId xmlns:a16="http://schemas.microsoft.com/office/drawing/2014/main" id="{CF7B0A03-E601-DEBD-8D97-A5C99BEB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1341438"/>
            <a:ext cx="7712075" cy="4419600"/>
          </a:xfrm>
          <a:prstGeom prst="verticalScroll">
            <a:avLst>
              <a:gd name="adj" fmla="val 125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0659" name="Rectangle 1027">
            <a:extLst>
              <a:ext uri="{FF2B5EF4-FFF2-40B4-BE49-F238E27FC236}">
                <a16:creationId xmlns:a16="http://schemas.microsoft.com/office/drawing/2014/main" id="{CB51932B-32C1-5302-2CF1-EA55B738F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2732088"/>
            <a:ext cx="6008688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TW" sz="6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  <a:ea typeface="新細明體" charset="-120"/>
              </a:rPr>
              <a:t>How we represent it?</a:t>
            </a:r>
          </a:p>
        </p:txBody>
      </p:sp>
      <p:pic>
        <p:nvPicPr>
          <p:cNvPr id="17412" name="Picture 6" descr="siide bar">
            <a:extLst>
              <a:ext uri="{FF2B5EF4-FFF2-40B4-BE49-F238E27FC236}">
                <a16:creationId xmlns:a16="http://schemas.microsoft.com/office/drawing/2014/main" id="{05ADCB51-D90D-EEBF-F022-4F02C29D4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0344596F-B7D7-9156-F5C1-FAB604EE5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3763" y="1041400"/>
            <a:ext cx="8174037" cy="2179638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</a:rPr>
              <a:t>Two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standard ways to represent a graph</a:t>
            </a:r>
          </a:p>
          <a:p>
            <a:pPr lvl="1"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Adjacency Matrix</a:t>
            </a:r>
          </a:p>
          <a:p>
            <a:pPr lvl="1"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Adjacency lists 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</a:rPr>
              <a:t>Applicable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to directed and undirected graphs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.</a:t>
            </a:r>
          </a:p>
        </p:txBody>
      </p:sp>
      <p:pic>
        <p:nvPicPr>
          <p:cNvPr id="18435" name="Picture 3" descr="siide bar">
            <a:extLst>
              <a:ext uri="{FF2B5EF4-FFF2-40B4-BE49-F238E27FC236}">
                <a16:creationId xmlns:a16="http://schemas.microsoft.com/office/drawing/2014/main" id="{51F13983-2690-B4DF-2374-4E3FC9603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5">
            <a:extLst>
              <a:ext uri="{FF2B5EF4-FFF2-40B4-BE49-F238E27FC236}">
                <a16:creationId xmlns:a16="http://schemas.microsoft.com/office/drawing/2014/main" id="{13405F3C-4395-F16A-77E9-C8806B56E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bg1"/>
                </a:solidFill>
              </a:rPr>
              <a:t>                               Representations of Graphs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8E5463F9-D113-4CEA-30C9-DCB6AE67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379596-CFB5-47E5-B0CE-8C0623253107}" type="slidenum">
              <a:rPr lang="en-CA" altLang="en-US" sz="120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CA" altLang="en-US" sz="1200">
              <a:solidFill>
                <a:schemeClr val="bg2"/>
              </a:solidFill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3106A28A-4D2F-D4C5-E7DD-0D7744C71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784225"/>
            <a:ext cx="8240712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solidFill>
                  <a:srgbClr val="C00000"/>
                </a:solidFill>
              </a:rPr>
              <a:t>Adjacency matrix</a:t>
            </a:r>
          </a:p>
          <a:p>
            <a:pPr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A graph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G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(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V, E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) assuming the vertices are numbered 1, 2, 3, … , |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V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| in some arbitrary manner, then representation of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G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  consists of: |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V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|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  <a:cs typeface="Times New Roman" charset="0"/>
              </a:rPr>
              <a:t>×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 |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V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| matrix A =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(</a:t>
            </a:r>
            <a:r>
              <a:rPr lang="en-US" i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a</a:t>
            </a:r>
            <a:r>
              <a:rPr lang="en-US" i="1" baseline="-25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ij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)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such that</a:t>
            </a:r>
          </a:p>
          <a:p>
            <a:pPr algn="ctr">
              <a:buFontTx/>
              <a:buNone/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            1      if (</a:t>
            </a:r>
            <a:r>
              <a:rPr lang="en-US" i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i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, j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)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/>
                <a:cs typeface="Times New Roman"/>
                <a:sym typeface="Zed" pitchFamily="2" charset="2"/>
              </a:rPr>
              <a:t>€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  <a:sym typeface="Zed" pitchFamily="2" charset="2"/>
              </a:rPr>
              <a:t> E</a:t>
            </a:r>
          </a:p>
          <a:p>
            <a:pPr algn="ctr">
              <a:buFontTx/>
              <a:buNone/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  <a:sym typeface="Zed" pitchFamily="2" charset="2"/>
              </a:rPr>
              <a:t>          0      otherwise</a:t>
            </a:r>
          </a:p>
          <a:p>
            <a:pPr algn="ctr">
              <a:buFontTx/>
              <a:buNone/>
              <a:defRPr/>
            </a:pPr>
            <a:endParaRPr lang="en-US" dirty="0">
              <a:latin typeface="Times New Roman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Preferred when graph is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 dense</a:t>
            </a:r>
          </a:p>
          <a:p>
            <a:pPr marL="854075" lvl="1" indent="-396875">
              <a:spcBef>
                <a:spcPct val="0"/>
              </a:spcBef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|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E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| is close to |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V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|</a:t>
            </a:r>
            <a:r>
              <a:rPr lang="en-US" baseline="30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charset="0"/>
              </a:rPr>
              <a:t>2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  <a:latin typeface="Times New Roman" charset="0"/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endParaRPr lang="en-US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endParaRPr lang="en-US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endParaRPr lang="en-US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endParaRPr lang="en-US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endParaRPr lang="en-US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0484" name="Picture 3" descr="siide bar">
            <a:extLst>
              <a:ext uri="{FF2B5EF4-FFF2-40B4-BE49-F238E27FC236}">
                <a16:creationId xmlns:a16="http://schemas.microsoft.com/office/drawing/2014/main" id="{8956EE8F-642F-5961-B43C-01CADC0FF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ctangle 5">
            <a:extLst>
              <a:ext uri="{FF2B5EF4-FFF2-40B4-BE49-F238E27FC236}">
                <a16:creationId xmlns:a16="http://schemas.microsoft.com/office/drawing/2014/main" id="{91B3FEC6-7FEF-F758-BFD1-FE2CE0A9B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bg1"/>
                </a:solidFill>
              </a:rPr>
              <a:t>                               Representations of Graphs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15" descr="siide bar">
            <a:extLst>
              <a:ext uri="{FF2B5EF4-FFF2-40B4-BE49-F238E27FC236}">
                <a16:creationId xmlns:a16="http://schemas.microsoft.com/office/drawing/2014/main" id="{0B2ACA3D-39C0-2CFC-2454-46406C522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17">
            <a:extLst>
              <a:ext uri="{FF2B5EF4-FFF2-40B4-BE49-F238E27FC236}">
                <a16:creationId xmlns:a16="http://schemas.microsoft.com/office/drawing/2014/main" id="{583D215A-20A5-8457-7428-7BD2DA8E4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/>
          <a:lstStyle/>
          <a:p>
            <a:r>
              <a:rPr lang="en-US" altLang="en-US" sz="3000" dirty="0">
                <a:solidFill>
                  <a:schemeClr val="bg1"/>
                </a:solidFill>
              </a:rPr>
              <a:t>Adjacency matrix of undirected </a:t>
            </a:r>
          </a:p>
        </p:txBody>
      </p:sp>
      <p:grpSp>
        <p:nvGrpSpPr>
          <p:cNvPr id="22532" name="Group 40">
            <a:extLst>
              <a:ext uri="{FF2B5EF4-FFF2-40B4-BE49-F238E27FC236}">
                <a16:creationId xmlns:a16="http://schemas.microsoft.com/office/drawing/2014/main" id="{ECE2DA4B-72E4-AA39-8F28-72AC14C66DDE}"/>
              </a:ext>
            </a:extLst>
          </p:cNvPr>
          <p:cNvGrpSpPr>
            <a:grpSpLocks/>
          </p:cNvGrpSpPr>
          <p:nvPr/>
        </p:nvGrpSpPr>
        <p:grpSpPr bwMode="auto">
          <a:xfrm>
            <a:off x="1141413" y="984250"/>
            <a:ext cx="6773862" cy="2338388"/>
            <a:chOff x="471" y="1455"/>
            <a:chExt cx="4267" cy="1473"/>
          </a:xfrm>
        </p:grpSpPr>
        <p:graphicFrame>
          <p:nvGraphicFramePr>
            <p:cNvPr id="22550" name="Object 3">
              <a:extLst>
                <a:ext uri="{FF2B5EF4-FFF2-40B4-BE49-F238E27FC236}">
                  <a16:creationId xmlns:a16="http://schemas.microsoft.com/office/drawing/2014/main" id="{1236C150-1C46-C9CE-DB55-D7D794894E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8" y="1455"/>
            <a:ext cx="1330" cy="1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038939" imgH="1148715" progId="">
                    <p:embed/>
                  </p:oleObj>
                </mc:Choice>
                <mc:Fallback>
                  <p:oleObj name="Visio" r:id="rId4" imgW="1038939" imgH="1148715" progId="">
                    <p:embed/>
                    <p:pic>
                      <p:nvPicPr>
                        <p:cNvPr id="22550" name="Object 3">
                          <a:extLst>
                            <a:ext uri="{FF2B5EF4-FFF2-40B4-BE49-F238E27FC236}">
                              <a16:creationId xmlns:a16="http://schemas.microsoft.com/office/drawing/2014/main" id="{1236C150-1C46-C9CE-DB55-D7D794894E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455"/>
                          <a:ext cx="1330" cy="1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1" name="Oval 21">
              <a:extLst>
                <a:ext uri="{FF2B5EF4-FFF2-40B4-BE49-F238E27FC236}">
                  <a16:creationId xmlns:a16="http://schemas.microsoft.com/office/drawing/2014/main" id="{F750612A-F00C-1ED7-A8C3-E3011B9BD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" y="1719"/>
              <a:ext cx="288" cy="288"/>
            </a:xfrm>
            <a:prstGeom prst="ellipse">
              <a:avLst/>
            </a:prstGeom>
            <a:solidFill>
              <a:srgbClr val="E5E5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552" name="Oval 22">
              <a:extLst>
                <a:ext uri="{FF2B5EF4-FFF2-40B4-BE49-F238E27FC236}">
                  <a16:creationId xmlns:a16="http://schemas.microsoft.com/office/drawing/2014/main" id="{6B7822F1-E9DA-E83B-46C8-A9E55BB08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487"/>
              <a:ext cx="288" cy="288"/>
            </a:xfrm>
            <a:prstGeom prst="ellipse">
              <a:avLst/>
            </a:prstGeom>
            <a:solidFill>
              <a:srgbClr val="E5E5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553" name="Oval 23">
              <a:extLst>
                <a:ext uri="{FF2B5EF4-FFF2-40B4-BE49-F238E27FC236}">
                  <a16:creationId xmlns:a16="http://schemas.microsoft.com/office/drawing/2014/main" id="{6918EEB9-3524-D5DB-74D2-B746AAB07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" y="2487"/>
              <a:ext cx="288" cy="288"/>
            </a:xfrm>
            <a:prstGeom prst="ellipse">
              <a:avLst/>
            </a:prstGeom>
            <a:solidFill>
              <a:srgbClr val="E5E5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2554" name="Oval 24">
              <a:extLst>
                <a:ext uri="{FF2B5EF4-FFF2-40B4-BE49-F238E27FC236}">
                  <a16:creationId xmlns:a16="http://schemas.microsoft.com/office/drawing/2014/main" id="{9B0D00FE-0C22-A502-9BB1-4D6F87D0E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1719"/>
              <a:ext cx="288" cy="288"/>
            </a:xfrm>
            <a:prstGeom prst="ellipse">
              <a:avLst/>
            </a:prstGeom>
            <a:solidFill>
              <a:srgbClr val="E5E5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2555" name="Oval 25">
              <a:extLst>
                <a:ext uri="{FF2B5EF4-FFF2-40B4-BE49-F238E27FC236}">
                  <a16:creationId xmlns:a16="http://schemas.microsoft.com/office/drawing/2014/main" id="{22ECCB9E-26C1-359E-15DB-18446932E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2055"/>
              <a:ext cx="288" cy="288"/>
            </a:xfrm>
            <a:prstGeom prst="ellipse">
              <a:avLst/>
            </a:prstGeom>
            <a:solidFill>
              <a:srgbClr val="E5E5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22556" name="AutoShape 26">
              <a:extLst>
                <a:ext uri="{FF2B5EF4-FFF2-40B4-BE49-F238E27FC236}">
                  <a16:creationId xmlns:a16="http://schemas.microsoft.com/office/drawing/2014/main" id="{783EA5EF-0E0A-C845-8F87-778BB6CB9792}"/>
                </a:ext>
              </a:extLst>
            </p:cNvPr>
            <p:cNvCxnSpPr>
              <a:cxnSpLocks noChangeShapeType="1"/>
              <a:stCxn id="22551" idx="6"/>
              <a:endCxn id="22554" idx="2"/>
            </p:cNvCxnSpPr>
            <p:nvPr/>
          </p:nvCxnSpPr>
          <p:spPr bwMode="auto">
            <a:xfrm>
              <a:off x="759" y="1863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7" name="AutoShape 27">
              <a:extLst>
                <a:ext uri="{FF2B5EF4-FFF2-40B4-BE49-F238E27FC236}">
                  <a16:creationId xmlns:a16="http://schemas.microsoft.com/office/drawing/2014/main" id="{6D7D9E63-0331-790A-82D8-738B280A26D5}"/>
                </a:ext>
              </a:extLst>
            </p:cNvPr>
            <p:cNvCxnSpPr>
              <a:cxnSpLocks noChangeShapeType="1"/>
              <a:stCxn id="22551" idx="4"/>
              <a:endCxn id="22553" idx="0"/>
            </p:cNvCxnSpPr>
            <p:nvPr/>
          </p:nvCxnSpPr>
          <p:spPr bwMode="auto">
            <a:xfrm>
              <a:off x="615" y="2007"/>
              <a:ext cx="0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8" name="AutoShape 28">
              <a:extLst>
                <a:ext uri="{FF2B5EF4-FFF2-40B4-BE49-F238E27FC236}">
                  <a16:creationId xmlns:a16="http://schemas.microsoft.com/office/drawing/2014/main" id="{8FF66574-8DE5-3027-1F03-0BF8E0ACDF1C}"/>
                </a:ext>
              </a:extLst>
            </p:cNvPr>
            <p:cNvCxnSpPr>
              <a:cxnSpLocks noChangeShapeType="1"/>
              <a:stCxn id="22553" idx="7"/>
              <a:endCxn id="22554" idx="3"/>
            </p:cNvCxnSpPr>
            <p:nvPr/>
          </p:nvCxnSpPr>
          <p:spPr bwMode="auto">
            <a:xfrm flipV="1">
              <a:off x="717" y="1965"/>
              <a:ext cx="564" cy="5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9" name="AutoShape 29">
              <a:extLst>
                <a:ext uri="{FF2B5EF4-FFF2-40B4-BE49-F238E27FC236}">
                  <a16:creationId xmlns:a16="http://schemas.microsoft.com/office/drawing/2014/main" id="{D57F6F99-77F9-938E-E45B-41710A692CF0}"/>
                </a:ext>
              </a:extLst>
            </p:cNvPr>
            <p:cNvCxnSpPr>
              <a:cxnSpLocks noChangeShapeType="1"/>
              <a:stCxn id="22553" idx="6"/>
              <a:endCxn id="22552" idx="2"/>
            </p:cNvCxnSpPr>
            <p:nvPr/>
          </p:nvCxnSpPr>
          <p:spPr bwMode="auto">
            <a:xfrm>
              <a:off x="759" y="2631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0" name="AutoShape 30">
              <a:extLst>
                <a:ext uri="{FF2B5EF4-FFF2-40B4-BE49-F238E27FC236}">
                  <a16:creationId xmlns:a16="http://schemas.microsoft.com/office/drawing/2014/main" id="{4EA75FBF-BDC3-DF56-256F-A718E4642B35}"/>
                </a:ext>
              </a:extLst>
            </p:cNvPr>
            <p:cNvCxnSpPr>
              <a:cxnSpLocks noChangeShapeType="1"/>
              <a:stCxn id="22554" idx="6"/>
              <a:endCxn id="22555" idx="1"/>
            </p:cNvCxnSpPr>
            <p:nvPr/>
          </p:nvCxnSpPr>
          <p:spPr bwMode="auto">
            <a:xfrm>
              <a:off x="1527" y="1863"/>
              <a:ext cx="474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1" name="AutoShape 31">
              <a:extLst>
                <a:ext uri="{FF2B5EF4-FFF2-40B4-BE49-F238E27FC236}">
                  <a16:creationId xmlns:a16="http://schemas.microsoft.com/office/drawing/2014/main" id="{F4E8B341-9962-A280-0D85-4E5F65F59639}"/>
                </a:ext>
              </a:extLst>
            </p:cNvPr>
            <p:cNvCxnSpPr>
              <a:cxnSpLocks noChangeShapeType="1"/>
              <a:stCxn id="22552" idx="6"/>
              <a:endCxn id="22555" idx="3"/>
            </p:cNvCxnSpPr>
            <p:nvPr/>
          </p:nvCxnSpPr>
          <p:spPr bwMode="auto">
            <a:xfrm flipV="1">
              <a:off x="1527" y="2301"/>
              <a:ext cx="474" cy="33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62" name="AutoShape 32">
              <a:extLst>
                <a:ext uri="{FF2B5EF4-FFF2-40B4-BE49-F238E27FC236}">
                  <a16:creationId xmlns:a16="http://schemas.microsoft.com/office/drawing/2014/main" id="{727B86B7-CF87-1853-529B-541CAB0B6245}"/>
                </a:ext>
              </a:extLst>
            </p:cNvPr>
            <p:cNvCxnSpPr>
              <a:cxnSpLocks noChangeShapeType="1"/>
              <a:stCxn id="22552" idx="0"/>
              <a:endCxn id="22554" idx="4"/>
            </p:cNvCxnSpPr>
            <p:nvPr/>
          </p:nvCxnSpPr>
          <p:spPr bwMode="auto">
            <a:xfrm flipV="1">
              <a:off x="1383" y="2007"/>
              <a:ext cx="0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4623D83-5BC8-2541-92AB-35AF1D985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9775" y="774700"/>
            <a:ext cx="8404225" cy="5638800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</a:rPr>
              <a:t>Adjacency lists </a:t>
            </a:r>
          </a:p>
          <a:p>
            <a:pPr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Graph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G(V, E)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is represented by array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Adj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of |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V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| lists</a:t>
            </a:r>
          </a:p>
          <a:p>
            <a:pPr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For each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u €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V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, the adjacency list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Adj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[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u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] consists of all the vertices adjacent to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u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 in </a:t>
            </a:r>
            <a:r>
              <a:rPr lang="en-US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sym typeface="Zed" pitchFamily="2" charset="2"/>
              </a:rPr>
              <a:t>G</a:t>
            </a:r>
          </a:p>
          <a:p>
            <a:pPr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A compact way to represent </a:t>
            </a:r>
            <a:r>
              <a:rPr lang="en-US" b="1" dirty="0">
                <a:solidFill>
                  <a:srgbClr val="FF00FF"/>
                </a:solidFill>
                <a:latin typeface="Times New Roman" pitchFamily="18" charset="0"/>
              </a:rPr>
              <a:t>sparse graphs</a:t>
            </a:r>
            <a:r>
              <a:rPr lang="en-US" dirty="0">
                <a:solidFill>
                  <a:schemeClr val="accent2"/>
                </a:solidFill>
                <a:latin typeface="Times New Roman" pitchFamily="18" charset="0"/>
              </a:rPr>
              <a:t>.</a:t>
            </a:r>
          </a:p>
          <a:p>
            <a:pPr lvl="2">
              <a:spcBef>
                <a:spcPct val="0"/>
              </a:spcBef>
              <a:defRPr/>
            </a:pP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|</a:t>
            </a:r>
            <a:r>
              <a:rPr lang="en-US" sz="2800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E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| is much less than |</a:t>
            </a:r>
            <a:r>
              <a:rPr lang="en-US" sz="2800" i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V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|</a:t>
            </a:r>
            <a:r>
              <a:rPr lang="en-US" sz="2800" baseline="30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2</a:t>
            </a:r>
          </a:p>
          <a:p>
            <a:pPr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The amount of memory required is: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rgbClr val="C00000"/>
                </a:solidFill>
                <a:latin typeface="Times New Roman" pitchFamily="18" charset="0"/>
              </a:rPr>
              <a:t>V + E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</a:rPr>
              <a:t>)</a:t>
            </a:r>
          </a:p>
        </p:txBody>
      </p:sp>
      <p:pic>
        <p:nvPicPr>
          <p:cNvPr id="24579" name="Picture 3" descr="siide bar">
            <a:extLst>
              <a:ext uri="{FF2B5EF4-FFF2-40B4-BE49-F238E27FC236}">
                <a16:creationId xmlns:a16="http://schemas.microsoft.com/office/drawing/2014/main" id="{9447430E-9F5F-9DB1-A56E-50CDF6CF1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5">
            <a:extLst>
              <a:ext uri="{FF2B5EF4-FFF2-40B4-BE49-F238E27FC236}">
                <a16:creationId xmlns:a16="http://schemas.microsoft.com/office/drawing/2014/main" id="{CB6BD139-799A-3A84-D2E3-61D3DCE76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bg1"/>
                </a:solidFill>
              </a:rPr>
              <a:t>                               Representations of Graphs</a:t>
            </a:r>
          </a:p>
        </p:txBody>
      </p:sp>
      <p:pic>
        <p:nvPicPr>
          <p:cNvPr id="24581" name="Picture 4" descr="2">
            <a:extLst>
              <a:ext uri="{FF2B5EF4-FFF2-40B4-BE49-F238E27FC236}">
                <a16:creationId xmlns:a16="http://schemas.microsoft.com/office/drawing/2014/main" id="{BCFF1A99-A35C-8BEA-D213-8645F103D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013" y="4389438"/>
            <a:ext cx="5106987" cy="246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5" descr="1">
            <a:extLst>
              <a:ext uri="{FF2B5EF4-FFF2-40B4-BE49-F238E27FC236}">
                <a16:creationId xmlns:a16="http://schemas.microsoft.com/office/drawing/2014/main" id="{0866DFDA-A456-CC34-7113-DDB7F5633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63" y="4187825"/>
            <a:ext cx="295275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27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64515" name="Text Placeholder 64514"/>
          <p:cNvSpPr>
            <a:spLocks noGrp="1"/>
          </p:cNvSpPr>
          <p:nvPr>
            <p:ph type="body" idx="1"/>
          </p:nvPr>
        </p:nvSpPr>
        <p:spPr>
          <a:xfrm>
            <a:off x="876300" y="1270000"/>
            <a:ext cx="8208645" cy="4521200"/>
          </a:xfrm>
        </p:spPr>
        <p:txBody>
          <a:bodyPr/>
          <a:lstStyle/>
          <a:p>
            <a:pPr algn="just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Adjacency matrix</a:t>
            </a:r>
          </a:p>
          <a:p>
            <a:pPr lvl="1" algn="just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Represent a graph using a </a:t>
            </a:r>
            <a:r>
              <a:rPr lang="en-US" altLang="x-none">
                <a:solidFill>
                  <a:srgbClr val="C00000"/>
                </a:solidFill>
              </a:rPr>
              <a:t>two-dimensional array</a:t>
            </a:r>
            <a:endParaRPr lang="en-US" altLang="x-none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Adjacency list</a:t>
            </a:r>
          </a:p>
          <a:p>
            <a:pPr lvl="1" algn="just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Represent a graph using </a:t>
            </a:r>
            <a:r>
              <a:rPr lang="en-US" altLang="x-none">
                <a:solidFill>
                  <a:srgbClr val="00B050"/>
                </a:solidFill>
              </a:rPr>
              <a:t>n linked lists</a:t>
            </a:r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 where n is the number of vertices</a:t>
            </a: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Implementing Graph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28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grpSp>
        <p:nvGrpSpPr>
          <p:cNvPr id="65539" name="Group 65538"/>
          <p:cNvGrpSpPr/>
          <p:nvPr/>
        </p:nvGrpSpPr>
        <p:grpSpPr>
          <a:xfrm>
            <a:off x="542925" y="2979738"/>
            <a:ext cx="3886200" cy="2882900"/>
            <a:chOff x="366" y="2331"/>
            <a:chExt cx="2448" cy="1816"/>
          </a:xfrm>
        </p:grpSpPr>
        <p:sp>
          <p:nvSpPr>
            <p:cNvPr id="65540" name="Oval 65539"/>
            <p:cNvSpPr/>
            <p:nvPr/>
          </p:nvSpPr>
          <p:spPr>
            <a:xfrm>
              <a:off x="1480" y="2710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1" name="Oval 65540"/>
            <p:cNvSpPr/>
            <p:nvPr/>
          </p:nvSpPr>
          <p:spPr>
            <a:xfrm>
              <a:off x="2200" y="2758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2" name="Oval 65541"/>
            <p:cNvSpPr/>
            <p:nvPr/>
          </p:nvSpPr>
          <p:spPr>
            <a:xfrm>
              <a:off x="2152" y="3382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3" name="Oval 65542"/>
            <p:cNvSpPr/>
            <p:nvPr/>
          </p:nvSpPr>
          <p:spPr>
            <a:xfrm>
              <a:off x="1144" y="3286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4" name="Straight Connector 65543"/>
            <p:cNvSpPr/>
            <p:nvPr/>
          </p:nvSpPr>
          <p:spPr>
            <a:xfrm flipH="1" flipV="1">
              <a:off x="1720" y="2806"/>
              <a:ext cx="48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5" name="Straight Connector 65544"/>
            <p:cNvSpPr/>
            <p:nvPr/>
          </p:nvSpPr>
          <p:spPr>
            <a:xfrm flipH="1" flipV="1">
              <a:off x="1384" y="3382"/>
              <a:ext cx="76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6" name="Straight Connector 65545"/>
            <p:cNvSpPr/>
            <p:nvPr/>
          </p:nvSpPr>
          <p:spPr>
            <a:xfrm flipH="1">
              <a:off x="1384" y="2902"/>
              <a:ext cx="81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7" name="Straight Connector 65546"/>
            <p:cNvSpPr/>
            <p:nvPr/>
          </p:nvSpPr>
          <p:spPr>
            <a:xfrm flipH="1">
              <a:off x="1336" y="2902"/>
              <a:ext cx="192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48" name="Oval 65547"/>
            <p:cNvSpPr/>
            <p:nvPr/>
          </p:nvSpPr>
          <p:spPr>
            <a:xfrm>
              <a:off x="606" y="2854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endParaRPr lang="en-US" altLang="x-none" sz="2400">
                <a:latin typeface="Tahoma" panose="020B0604030504040204" pitchFamily="34" charset="0"/>
              </a:endParaRPr>
            </a:p>
          </p:txBody>
        </p:sp>
        <p:sp>
          <p:nvSpPr>
            <p:cNvPr id="65549" name="Straight Connector 65548"/>
            <p:cNvSpPr/>
            <p:nvPr/>
          </p:nvSpPr>
          <p:spPr>
            <a:xfrm flipV="1">
              <a:off x="846" y="2854"/>
              <a:ext cx="62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0" name="Text Box 65549"/>
            <p:cNvSpPr txBox="1"/>
            <p:nvPr/>
          </p:nvSpPr>
          <p:spPr>
            <a:xfrm>
              <a:off x="366" y="2518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65551" name="Text Box 65550"/>
            <p:cNvSpPr txBox="1"/>
            <p:nvPr/>
          </p:nvSpPr>
          <p:spPr>
            <a:xfrm>
              <a:off x="884" y="3339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65552" name="Text Box 65551"/>
            <p:cNvSpPr txBox="1"/>
            <p:nvPr/>
          </p:nvSpPr>
          <p:spPr>
            <a:xfrm>
              <a:off x="2478" y="2470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65553" name="Text Box 65552"/>
            <p:cNvSpPr txBox="1"/>
            <p:nvPr/>
          </p:nvSpPr>
          <p:spPr>
            <a:xfrm>
              <a:off x="2430" y="3238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5554" name="Straight Connector 65553"/>
            <p:cNvSpPr/>
            <p:nvPr/>
          </p:nvSpPr>
          <p:spPr>
            <a:xfrm flipV="1">
              <a:off x="2286" y="2950"/>
              <a:ext cx="48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5" name="Text Box 65554"/>
            <p:cNvSpPr txBox="1"/>
            <p:nvPr/>
          </p:nvSpPr>
          <p:spPr>
            <a:xfrm>
              <a:off x="1412" y="2331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65556" name="Text Box 65555"/>
            <p:cNvSpPr txBox="1"/>
            <p:nvPr/>
          </p:nvSpPr>
          <p:spPr>
            <a:xfrm>
              <a:off x="1371" y="3782"/>
              <a:ext cx="287" cy="365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G</a:t>
              </a:r>
            </a:p>
          </p:txBody>
        </p:sp>
      </p:grpSp>
      <p:graphicFrame>
        <p:nvGraphicFramePr>
          <p:cNvPr id="65557" name="Content Placeholder 65556"/>
          <p:cNvGraphicFramePr>
            <a:graphicFrameLocks noGrp="1"/>
          </p:cNvGraphicFramePr>
          <p:nvPr>
            <p:ph idx="1"/>
          </p:nvPr>
        </p:nvGraphicFramePr>
        <p:xfrm>
          <a:off x="4418013" y="1738313"/>
          <a:ext cx="4116388" cy="3984625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57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99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5</a:t>
                      </a: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3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1</a:t>
                      </a: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2</a:t>
                      </a: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5</a:t>
                      </a: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3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2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3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3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3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4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4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5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5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5637" name="Text Box 65636"/>
          <p:cNvSpPr txBox="1"/>
          <p:nvPr/>
        </p:nvSpPr>
        <p:spPr>
          <a:xfrm>
            <a:off x="523875" y="1676400"/>
            <a:ext cx="4408488" cy="82232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Matrix[i][j] =	1 	if (v</a:t>
            </a:r>
            <a:r>
              <a:rPr lang="en-US" altLang="x-none" sz="2400" baseline="-25000">
                <a:solidFill>
                  <a:schemeClr val="folHlink"/>
                </a:solidFill>
                <a:latin typeface="Tahoma" panose="020B0604030504040204" pitchFamily="34" charset="0"/>
              </a:rPr>
              <a:t>i</a:t>
            </a:r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, </a:t>
            </a:r>
            <a:r>
              <a:rPr lang="en-US" altLang="x-none" sz="2400" err="1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x-none" sz="2400" baseline="-25000" err="1">
                <a:solidFill>
                  <a:schemeClr val="folHlink"/>
                </a:solidFill>
                <a:latin typeface="Tahoma" panose="020B0604030504040204" pitchFamily="34" charset="0"/>
              </a:rPr>
              <a:t>j</a:t>
            </a:r>
            <a:r>
              <a:rPr lang="en-US" altLang="x-none" sz="2400" err="1">
                <a:solidFill>
                  <a:schemeClr val="folHlink"/>
                </a:solidFill>
                <a:latin typeface="Tahoma" panose="020B0604030504040204" pitchFamily="34" charset="0"/>
              </a:rPr>
              <a:t>)</a:t>
            </a:r>
            <a:r>
              <a:rPr lang="en-US" altLang="x-none" sz="2400" err="1">
                <a:solidFill>
                  <a:schemeClr val="folHlink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E</a:t>
            </a:r>
            <a:endParaRPr lang="en-US" altLang="x-none" sz="2400">
              <a:solidFill>
                <a:schemeClr val="folHlink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		0	if (v</a:t>
            </a:r>
            <a:r>
              <a:rPr lang="en-US" altLang="x-none" sz="2400" baseline="-25000">
                <a:solidFill>
                  <a:schemeClr val="folHlink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, </a:t>
            </a:r>
            <a:r>
              <a:rPr lang="en-US" altLang="x-none" sz="2400" err="1">
                <a:solidFill>
                  <a:schemeClr val="folHlink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v</a:t>
            </a:r>
            <a:r>
              <a:rPr lang="en-US" altLang="x-none" sz="2400" baseline="-25000" err="1">
                <a:solidFill>
                  <a:schemeClr val="folHlink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x-none" sz="2400" err="1">
                <a:solidFill>
                  <a:schemeClr val="folHlink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)E</a:t>
            </a:r>
            <a:endParaRPr lang="en-US" altLang="x-none" sz="2400">
              <a:solidFill>
                <a:schemeClr val="folHlink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Adjacency Matrix for directed graph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29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66563" name="Oval 66562"/>
          <p:cNvSpPr/>
          <p:nvPr/>
        </p:nvSpPr>
        <p:spPr>
          <a:xfrm>
            <a:off x="2225675" y="36449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6564" name="Oval 66563"/>
          <p:cNvSpPr/>
          <p:nvPr/>
        </p:nvSpPr>
        <p:spPr>
          <a:xfrm>
            <a:off x="3368675" y="37211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6565" name="Oval 66564"/>
          <p:cNvSpPr/>
          <p:nvPr/>
        </p:nvSpPr>
        <p:spPr>
          <a:xfrm>
            <a:off x="3292475" y="47117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6566" name="Oval 66565"/>
          <p:cNvSpPr/>
          <p:nvPr/>
        </p:nvSpPr>
        <p:spPr>
          <a:xfrm>
            <a:off x="1692275" y="45593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6567" name="Straight Connector 66566"/>
          <p:cNvSpPr/>
          <p:nvPr/>
        </p:nvSpPr>
        <p:spPr>
          <a:xfrm flipH="1" flipV="1">
            <a:off x="2606675" y="3797300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6568" name="Straight Connector 66567"/>
          <p:cNvSpPr/>
          <p:nvPr/>
        </p:nvSpPr>
        <p:spPr>
          <a:xfrm flipH="1" flipV="1">
            <a:off x="2073275" y="4711700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6569" name="Straight Connector 66568"/>
          <p:cNvSpPr/>
          <p:nvPr/>
        </p:nvSpPr>
        <p:spPr>
          <a:xfrm flipH="1">
            <a:off x="2073275" y="3949700"/>
            <a:ext cx="12954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6570" name="Straight Connector 66569"/>
          <p:cNvSpPr/>
          <p:nvPr/>
        </p:nvSpPr>
        <p:spPr>
          <a:xfrm flipH="1">
            <a:off x="1997075" y="3949700"/>
            <a:ext cx="3048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6571" name="Oval 66570"/>
          <p:cNvSpPr/>
          <p:nvPr/>
        </p:nvSpPr>
        <p:spPr>
          <a:xfrm>
            <a:off x="838200" y="38735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>
              <a:latin typeface="Tahoma" panose="020B0604030504040204" pitchFamily="34" charset="0"/>
            </a:endParaRPr>
          </a:p>
        </p:txBody>
      </p:sp>
      <p:sp>
        <p:nvSpPr>
          <p:cNvPr id="66572" name="Straight Connector 66571"/>
          <p:cNvSpPr/>
          <p:nvPr/>
        </p:nvSpPr>
        <p:spPr>
          <a:xfrm flipV="1">
            <a:off x="1219200" y="3873500"/>
            <a:ext cx="9906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6573" name="Text Box 66572"/>
          <p:cNvSpPr txBox="1"/>
          <p:nvPr/>
        </p:nvSpPr>
        <p:spPr>
          <a:xfrm>
            <a:off x="457200" y="33401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66574" name="Text Box 66573"/>
          <p:cNvSpPr txBox="1"/>
          <p:nvPr/>
        </p:nvSpPr>
        <p:spPr>
          <a:xfrm>
            <a:off x="1279525" y="46434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66575" name="Text Box 66574"/>
          <p:cNvSpPr txBox="1"/>
          <p:nvPr/>
        </p:nvSpPr>
        <p:spPr>
          <a:xfrm>
            <a:off x="3810000" y="32639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66576" name="Text Box 66575"/>
          <p:cNvSpPr txBox="1"/>
          <p:nvPr/>
        </p:nvSpPr>
        <p:spPr>
          <a:xfrm>
            <a:off x="3733800" y="44831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66577" name="Straight Connector 66576"/>
          <p:cNvSpPr/>
          <p:nvPr/>
        </p:nvSpPr>
        <p:spPr>
          <a:xfrm flipV="1">
            <a:off x="3505200" y="4025900"/>
            <a:ext cx="762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6578" name="Text Box 66577"/>
          <p:cNvSpPr txBox="1"/>
          <p:nvPr/>
        </p:nvSpPr>
        <p:spPr>
          <a:xfrm>
            <a:off x="2117725" y="30432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66579" name="Text Box 66578"/>
          <p:cNvSpPr txBox="1"/>
          <p:nvPr/>
        </p:nvSpPr>
        <p:spPr>
          <a:xfrm>
            <a:off x="2052638" y="5346700"/>
            <a:ext cx="455612" cy="57943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3200">
                <a:solidFill>
                  <a:schemeClr val="folHlink"/>
                </a:solidFill>
                <a:latin typeface="Tahoma" panose="020B0604030504040204" pitchFamily="34" charset="0"/>
              </a:rPr>
              <a:t>G</a:t>
            </a:r>
          </a:p>
        </p:txBody>
      </p:sp>
      <p:graphicFrame>
        <p:nvGraphicFramePr>
          <p:cNvPr id="66580" name="Table 66579"/>
          <p:cNvGraphicFramePr/>
          <p:nvPr/>
        </p:nvGraphicFramePr>
        <p:xfrm>
          <a:off x="4849813" y="2540000"/>
          <a:ext cx="3887788" cy="3627120"/>
        </p:xfrm>
        <a:graphic>
          <a:graphicData uri="http://schemas.openxmlformats.org/drawingml/2006/table">
            <a:tbl>
              <a:tblPr/>
              <a:tblGrid>
                <a:gridCol w="55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5</a:t>
                      </a: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1</a:t>
                      </a: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2</a:t>
                      </a: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5</a:t>
                      </a: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2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2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00B0F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3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3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800">
                          <a:sym typeface="+mn-ea"/>
                        </a:rPr>
                        <a:t>∞</a:t>
                      </a:r>
                      <a:endParaRPr lang="en-US" altLang="x-none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BF119A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FFC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4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4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00B0F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BF119A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5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5</a:t>
                      </a:r>
                    </a:p>
                  </a:txBody>
                  <a:tcPr>
                    <a:lnL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FFC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∞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6660" name="Text Box 66659"/>
          <p:cNvSpPr txBox="1"/>
          <p:nvPr/>
        </p:nvSpPr>
        <p:spPr>
          <a:xfrm>
            <a:off x="838200" y="1348105"/>
            <a:ext cx="7007225" cy="822325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</a:rPr>
              <a:t>Matrix[i][j] =	w(v</a:t>
            </a:r>
            <a:r>
              <a:rPr lang="en-US" altLang="x-none" sz="2400" baseline="-25000">
                <a:solidFill>
                  <a:srgbClr val="00B050"/>
                </a:solidFill>
                <a:latin typeface="Tahoma" panose="020B0604030504040204" pitchFamily="34" charset="0"/>
              </a:rPr>
              <a:t>i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</a:rPr>
              <a:t>, </a:t>
            </a:r>
            <a:r>
              <a:rPr lang="en-US" altLang="x-none" sz="2400" err="1">
                <a:solidFill>
                  <a:srgbClr val="00B050"/>
                </a:solidFill>
                <a:latin typeface="Tahoma" panose="020B0604030504040204" pitchFamily="34" charset="0"/>
              </a:rPr>
              <a:t>v</a:t>
            </a:r>
            <a:r>
              <a:rPr lang="en-US" altLang="x-none" sz="2400" baseline="-25000" err="1">
                <a:solidFill>
                  <a:srgbClr val="00B050"/>
                </a:solidFill>
                <a:latin typeface="Tahoma" panose="020B0604030504040204" pitchFamily="34" charset="0"/>
              </a:rPr>
              <a:t>j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</a:rPr>
              <a:t>)	if (v</a:t>
            </a:r>
            <a:r>
              <a:rPr lang="en-US" altLang="x-none" sz="2400" baseline="-25000">
                <a:solidFill>
                  <a:srgbClr val="00B050"/>
                </a:solidFill>
                <a:latin typeface="Tahoma" panose="020B0604030504040204" pitchFamily="34" charset="0"/>
              </a:rPr>
              <a:t>i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</a:rPr>
              <a:t>, </a:t>
            </a:r>
            <a:r>
              <a:rPr lang="en-US" altLang="x-none" sz="2400" err="1">
                <a:solidFill>
                  <a:srgbClr val="00B050"/>
                </a:solidFill>
                <a:latin typeface="Tahoma" panose="020B0604030504040204" pitchFamily="34" charset="0"/>
              </a:rPr>
              <a:t>v</a:t>
            </a:r>
            <a:r>
              <a:rPr lang="en-US" altLang="x-none" sz="2400" baseline="-25000" err="1">
                <a:solidFill>
                  <a:srgbClr val="00B050"/>
                </a:solidFill>
                <a:latin typeface="Tahoma" panose="020B0604030504040204" pitchFamily="34" charset="0"/>
              </a:rPr>
              <a:t>j</a:t>
            </a:r>
            <a:r>
              <a:rPr lang="en-US" altLang="x-none" sz="2400" err="1">
                <a:solidFill>
                  <a:srgbClr val="00B050"/>
                </a:solidFill>
                <a:latin typeface="Tahoma" panose="020B0604030504040204" pitchFamily="34" charset="0"/>
              </a:rPr>
              <a:t>)</a:t>
            </a:r>
            <a:r>
              <a:rPr lang="en-US" altLang="x-none" sz="2400" err="1">
                <a:solidFill>
                  <a:srgbClr val="00B05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E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or 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</a:rPr>
              <a:t>(</a:t>
            </a:r>
            <a:r>
              <a:rPr lang="en-US" altLang="x-none" sz="2400" err="1">
                <a:solidFill>
                  <a:srgbClr val="00B050"/>
                </a:solidFill>
                <a:latin typeface="Tahoma" panose="020B0604030504040204" pitchFamily="34" charset="0"/>
              </a:rPr>
              <a:t>v</a:t>
            </a:r>
            <a:r>
              <a:rPr lang="en-US" altLang="x-none" sz="2400" baseline="-25000" err="1">
                <a:solidFill>
                  <a:srgbClr val="00B050"/>
                </a:solidFill>
                <a:latin typeface="Tahoma" panose="020B0604030504040204" pitchFamily="34" charset="0"/>
              </a:rPr>
              <a:t>j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</a:rPr>
              <a:t>, v</a:t>
            </a:r>
            <a:r>
              <a:rPr lang="en-US" altLang="x-none" sz="2400" baseline="-25000">
                <a:solidFill>
                  <a:srgbClr val="00B050"/>
                </a:solidFill>
                <a:latin typeface="Tahoma" panose="020B0604030504040204" pitchFamily="34" charset="0"/>
              </a:rPr>
              <a:t>i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</a:rPr>
              <a:t>)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E</a:t>
            </a:r>
          </a:p>
          <a:p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		 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</a:rPr>
              <a:t>∞</a:t>
            </a:r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		otherwise</a:t>
            </a:r>
          </a:p>
        </p:txBody>
      </p:sp>
      <p:sp>
        <p:nvSpPr>
          <p:cNvPr id="66661" name="Text Box 66660"/>
          <p:cNvSpPr txBox="1"/>
          <p:nvPr/>
        </p:nvSpPr>
        <p:spPr>
          <a:xfrm>
            <a:off x="1356995" y="353695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rgbClr val="C00000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66662" name="Text Box 66661"/>
          <p:cNvSpPr txBox="1"/>
          <p:nvPr/>
        </p:nvSpPr>
        <p:spPr>
          <a:xfrm>
            <a:off x="2884488" y="34163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rgbClr val="00B05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66663" name="Text Box 66662"/>
          <p:cNvSpPr txBox="1"/>
          <p:nvPr/>
        </p:nvSpPr>
        <p:spPr>
          <a:xfrm>
            <a:off x="2658428" y="4162425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rgbClr val="BF119A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66664" name="Text Box 66663"/>
          <p:cNvSpPr txBox="1"/>
          <p:nvPr/>
        </p:nvSpPr>
        <p:spPr>
          <a:xfrm>
            <a:off x="3581083" y="4162425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rgbClr val="FFC000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66665" name="Text Box 66664"/>
          <p:cNvSpPr txBox="1"/>
          <p:nvPr/>
        </p:nvSpPr>
        <p:spPr>
          <a:xfrm>
            <a:off x="2533968" y="47879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rgbClr val="FF00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66666" name="Text Box 66665"/>
          <p:cNvSpPr txBox="1"/>
          <p:nvPr/>
        </p:nvSpPr>
        <p:spPr>
          <a:xfrm>
            <a:off x="1812608" y="4025583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rgbClr val="00B0F0"/>
                </a:solidFill>
                <a:latin typeface="Tahoma" panose="020B0604030504040204" pitchFamily="34" charset="0"/>
              </a:rPr>
              <a:t>4</a:t>
            </a:r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Adjacency Matrix for undirected weighted graph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30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grpSp>
        <p:nvGrpSpPr>
          <p:cNvPr id="67587" name="Group 67586"/>
          <p:cNvGrpSpPr/>
          <p:nvPr/>
        </p:nvGrpSpPr>
        <p:grpSpPr>
          <a:xfrm>
            <a:off x="617538" y="2451100"/>
            <a:ext cx="3886200" cy="2882900"/>
            <a:chOff x="366" y="2331"/>
            <a:chExt cx="2448" cy="1816"/>
          </a:xfrm>
        </p:grpSpPr>
        <p:sp>
          <p:nvSpPr>
            <p:cNvPr id="67588" name="Oval 67587"/>
            <p:cNvSpPr/>
            <p:nvPr/>
          </p:nvSpPr>
          <p:spPr>
            <a:xfrm>
              <a:off x="1480" y="2710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89" name="Oval 67588"/>
            <p:cNvSpPr/>
            <p:nvPr/>
          </p:nvSpPr>
          <p:spPr>
            <a:xfrm>
              <a:off x="2200" y="2758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0" name="Oval 67589"/>
            <p:cNvSpPr/>
            <p:nvPr/>
          </p:nvSpPr>
          <p:spPr>
            <a:xfrm>
              <a:off x="2152" y="3382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1" name="Oval 67590"/>
            <p:cNvSpPr/>
            <p:nvPr/>
          </p:nvSpPr>
          <p:spPr>
            <a:xfrm>
              <a:off x="1144" y="3286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2" name="Straight Connector 67591"/>
            <p:cNvSpPr/>
            <p:nvPr/>
          </p:nvSpPr>
          <p:spPr>
            <a:xfrm flipH="1" flipV="1">
              <a:off x="1720" y="2806"/>
              <a:ext cx="48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3" name="Straight Connector 67592"/>
            <p:cNvSpPr/>
            <p:nvPr/>
          </p:nvSpPr>
          <p:spPr>
            <a:xfrm flipH="1" flipV="1">
              <a:off x="1384" y="3382"/>
              <a:ext cx="76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4" name="Straight Connector 67593"/>
            <p:cNvSpPr/>
            <p:nvPr/>
          </p:nvSpPr>
          <p:spPr>
            <a:xfrm flipH="1">
              <a:off x="1384" y="2902"/>
              <a:ext cx="81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5" name="Straight Connector 67594"/>
            <p:cNvSpPr/>
            <p:nvPr/>
          </p:nvSpPr>
          <p:spPr>
            <a:xfrm flipH="1">
              <a:off x="1336" y="2902"/>
              <a:ext cx="192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6" name="Oval 67595"/>
            <p:cNvSpPr/>
            <p:nvPr/>
          </p:nvSpPr>
          <p:spPr>
            <a:xfrm>
              <a:off x="606" y="2854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endParaRPr lang="en-US" altLang="x-none" sz="2400">
                <a:latin typeface="Tahoma" panose="020B0604030504040204" pitchFamily="34" charset="0"/>
              </a:endParaRPr>
            </a:p>
          </p:txBody>
        </p:sp>
        <p:sp>
          <p:nvSpPr>
            <p:cNvPr id="67597" name="Straight Connector 67596"/>
            <p:cNvSpPr/>
            <p:nvPr/>
          </p:nvSpPr>
          <p:spPr>
            <a:xfrm flipV="1">
              <a:off x="846" y="2854"/>
              <a:ext cx="62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98" name="Text Box 67597"/>
            <p:cNvSpPr txBox="1"/>
            <p:nvPr/>
          </p:nvSpPr>
          <p:spPr>
            <a:xfrm>
              <a:off x="366" y="2518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67599" name="Text Box 67598"/>
            <p:cNvSpPr txBox="1"/>
            <p:nvPr/>
          </p:nvSpPr>
          <p:spPr>
            <a:xfrm>
              <a:off x="884" y="3339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67600" name="Text Box 67599"/>
            <p:cNvSpPr txBox="1"/>
            <p:nvPr/>
          </p:nvSpPr>
          <p:spPr>
            <a:xfrm>
              <a:off x="2478" y="2470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67601" name="Text Box 67600"/>
            <p:cNvSpPr txBox="1"/>
            <p:nvPr/>
          </p:nvSpPr>
          <p:spPr>
            <a:xfrm>
              <a:off x="2430" y="3238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7602" name="Straight Connector 67601"/>
            <p:cNvSpPr/>
            <p:nvPr/>
          </p:nvSpPr>
          <p:spPr>
            <a:xfrm flipV="1">
              <a:off x="2286" y="2950"/>
              <a:ext cx="48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03" name="Text Box 67602"/>
            <p:cNvSpPr txBox="1"/>
            <p:nvPr/>
          </p:nvSpPr>
          <p:spPr>
            <a:xfrm>
              <a:off x="1412" y="2331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67604" name="Text Box 67603"/>
            <p:cNvSpPr txBox="1"/>
            <p:nvPr/>
          </p:nvSpPr>
          <p:spPr>
            <a:xfrm>
              <a:off x="1371" y="3782"/>
              <a:ext cx="287" cy="365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G</a:t>
              </a:r>
            </a:p>
          </p:txBody>
        </p:sp>
      </p:grpSp>
      <p:graphicFrame>
        <p:nvGraphicFramePr>
          <p:cNvPr id="67605" name="Content Placeholder 67604"/>
          <p:cNvGraphicFramePr>
            <a:graphicFrameLocks noGrp="1"/>
          </p:cNvGraphicFramePr>
          <p:nvPr>
            <p:ph idx="1"/>
          </p:nvPr>
        </p:nvGraphicFramePr>
        <p:xfrm>
          <a:off x="4949825" y="1922463"/>
          <a:ext cx="3203575" cy="284638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99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1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1</a:t>
                      </a:r>
                      <a:endParaRPr lang="en-US" altLang="x-none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 baseline="-25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 baseline="-25000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3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2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2</a:t>
                      </a:r>
                      <a:endParaRPr lang="en-US" altLang="x-none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3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3</a:t>
                      </a:r>
                      <a:endParaRPr lang="en-US" altLang="x-none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ym typeface="Symbol" panose="05050102010706020507" pitchFamily="18" charset="2"/>
                        </a:rPr>
                        <a:t></a:t>
                      </a:r>
                      <a:endParaRPr lang="en-US" altLang="x-none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2</a:t>
                      </a: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4</a:t>
                      </a: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3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4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4</a:t>
                      </a:r>
                      <a:endParaRPr lang="en-US" altLang="x-none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5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5</a:t>
                      </a:r>
                      <a:endParaRPr lang="en-US" altLang="x-none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ym typeface="Symbol" panose="05050102010706020507" pitchFamily="18" charset="2"/>
                        </a:rPr>
                        <a:t></a:t>
                      </a:r>
                      <a:endParaRPr lang="en-US" altLang="x-none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3</a:t>
                      </a: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>
                          <a:sym typeface="Symbol" panose="05050102010706020507" pitchFamily="18" charset="2"/>
                        </a:rPr>
                        <a:t></a:t>
                      </a:r>
                      <a:endParaRPr lang="en-US" altLang="x-none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/>
                        <a:t>v</a:t>
                      </a:r>
                      <a:r>
                        <a:rPr lang="en-US" altLang="x-none" baseline="-25000"/>
                        <a:t>4</a:t>
                      </a:r>
                      <a:endParaRPr lang="en-US" altLang="x-none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Adjacency List for directed graph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altLang="x-none" dirty="0"/>
              <a:t>CS201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31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grpSp>
        <p:nvGrpSpPr>
          <p:cNvPr id="68611" name="Group 68610"/>
          <p:cNvGrpSpPr/>
          <p:nvPr/>
        </p:nvGrpSpPr>
        <p:grpSpPr>
          <a:xfrm>
            <a:off x="5080" y="2108835"/>
            <a:ext cx="3886200" cy="2882900"/>
            <a:chOff x="340" y="2205"/>
            <a:chExt cx="2448" cy="1816"/>
          </a:xfrm>
        </p:grpSpPr>
        <p:sp>
          <p:nvSpPr>
            <p:cNvPr id="68612" name="Oval 68611"/>
            <p:cNvSpPr/>
            <p:nvPr/>
          </p:nvSpPr>
          <p:spPr>
            <a:xfrm>
              <a:off x="1454" y="2584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13" name="Oval 68612"/>
            <p:cNvSpPr/>
            <p:nvPr/>
          </p:nvSpPr>
          <p:spPr>
            <a:xfrm>
              <a:off x="2174" y="2632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14" name="Oval 68613"/>
            <p:cNvSpPr/>
            <p:nvPr/>
          </p:nvSpPr>
          <p:spPr>
            <a:xfrm>
              <a:off x="2126" y="3256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15" name="Oval 68614"/>
            <p:cNvSpPr/>
            <p:nvPr/>
          </p:nvSpPr>
          <p:spPr>
            <a:xfrm>
              <a:off x="1118" y="3160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16" name="Straight Connector 68615"/>
            <p:cNvSpPr/>
            <p:nvPr/>
          </p:nvSpPr>
          <p:spPr>
            <a:xfrm flipH="1" flipV="1">
              <a:off x="1694" y="2680"/>
              <a:ext cx="48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17" name="Straight Connector 68616"/>
            <p:cNvSpPr/>
            <p:nvPr/>
          </p:nvSpPr>
          <p:spPr>
            <a:xfrm flipH="1" flipV="1">
              <a:off x="1358" y="3256"/>
              <a:ext cx="76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18" name="Straight Connector 68617"/>
            <p:cNvSpPr/>
            <p:nvPr/>
          </p:nvSpPr>
          <p:spPr>
            <a:xfrm flipH="1">
              <a:off x="1358" y="2776"/>
              <a:ext cx="81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19" name="Straight Connector 68618"/>
            <p:cNvSpPr/>
            <p:nvPr/>
          </p:nvSpPr>
          <p:spPr>
            <a:xfrm flipH="1">
              <a:off x="1310" y="2776"/>
              <a:ext cx="192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20" name="Oval 68619"/>
            <p:cNvSpPr/>
            <p:nvPr/>
          </p:nvSpPr>
          <p:spPr>
            <a:xfrm>
              <a:off x="580" y="2728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endParaRPr lang="en-US" altLang="x-none" sz="2400">
                <a:latin typeface="Tahoma" panose="020B0604030504040204" pitchFamily="34" charset="0"/>
              </a:endParaRPr>
            </a:p>
          </p:txBody>
        </p:sp>
        <p:sp>
          <p:nvSpPr>
            <p:cNvPr id="68621" name="Straight Connector 68620"/>
            <p:cNvSpPr/>
            <p:nvPr/>
          </p:nvSpPr>
          <p:spPr>
            <a:xfrm flipV="1">
              <a:off x="820" y="2728"/>
              <a:ext cx="62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22" name="Text Box 68621"/>
            <p:cNvSpPr txBox="1"/>
            <p:nvPr/>
          </p:nvSpPr>
          <p:spPr>
            <a:xfrm>
              <a:off x="340" y="2392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68623" name="Text Box 68622"/>
            <p:cNvSpPr txBox="1"/>
            <p:nvPr/>
          </p:nvSpPr>
          <p:spPr>
            <a:xfrm>
              <a:off x="858" y="3213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68624" name="Text Box 68623"/>
            <p:cNvSpPr txBox="1"/>
            <p:nvPr/>
          </p:nvSpPr>
          <p:spPr>
            <a:xfrm>
              <a:off x="2452" y="2344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68625" name="Text Box 68624"/>
            <p:cNvSpPr txBox="1"/>
            <p:nvPr/>
          </p:nvSpPr>
          <p:spPr>
            <a:xfrm>
              <a:off x="2404" y="3112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8626" name="Straight Connector 68625"/>
            <p:cNvSpPr/>
            <p:nvPr/>
          </p:nvSpPr>
          <p:spPr>
            <a:xfrm flipV="1">
              <a:off x="2260" y="2824"/>
              <a:ext cx="48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27" name="Text Box 68626"/>
            <p:cNvSpPr txBox="1"/>
            <p:nvPr/>
          </p:nvSpPr>
          <p:spPr>
            <a:xfrm>
              <a:off x="1386" y="2205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68628" name="Text Box 68627"/>
            <p:cNvSpPr txBox="1"/>
            <p:nvPr/>
          </p:nvSpPr>
          <p:spPr>
            <a:xfrm>
              <a:off x="1345" y="3656"/>
              <a:ext cx="287" cy="365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G</a:t>
              </a:r>
            </a:p>
          </p:txBody>
        </p:sp>
        <p:sp>
          <p:nvSpPr>
            <p:cNvPr id="68629" name="Text Box 68628"/>
            <p:cNvSpPr txBox="1"/>
            <p:nvPr/>
          </p:nvSpPr>
          <p:spPr>
            <a:xfrm>
              <a:off x="930" y="2537"/>
              <a:ext cx="221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68630" name="Text Box 68629"/>
            <p:cNvSpPr txBox="1"/>
            <p:nvPr/>
          </p:nvSpPr>
          <p:spPr>
            <a:xfrm>
              <a:off x="1869" y="2440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68631" name="Text Box 68630"/>
            <p:cNvSpPr txBox="1"/>
            <p:nvPr/>
          </p:nvSpPr>
          <p:spPr>
            <a:xfrm>
              <a:off x="1770" y="2925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68632" name="Text Box 68631"/>
            <p:cNvSpPr txBox="1"/>
            <p:nvPr/>
          </p:nvSpPr>
          <p:spPr>
            <a:xfrm>
              <a:off x="2260" y="2977"/>
              <a:ext cx="295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68633" name="Text Box 68632"/>
            <p:cNvSpPr txBox="1"/>
            <p:nvPr/>
          </p:nvSpPr>
          <p:spPr>
            <a:xfrm>
              <a:off x="1635" y="3290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68634" name="Text Box 68633"/>
            <p:cNvSpPr txBox="1"/>
            <p:nvPr/>
          </p:nvSpPr>
          <p:spPr>
            <a:xfrm>
              <a:off x="1192" y="2804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</p:grpSp>
      <p:graphicFrame>
        <p:nvGraphicFramePr>
          <p:cNvPr id="68635" name="Content Placeholder 68634"/>
          <p:cNvGraphicFramePr>
            <a:graphicFrameLocks noGrp="1"/>
          </p:cNvGraphicFramePr>
          <p:nvPr>
            <p:ph idx="1"/>
          </p:nvPr>
        </p:nvGraphicFramePr>
        <p:xfrm>
          <a:off x="3924300" y="2416175"/>
          <a:ext cx="5040313" cy="2286000"/>
        </p:xfrm>
        <a:graphic>
          <a:graphicData uri="http://schemas.openxmlformats.org/drawingml/2006/table">
            <a:tbl>
              <a:tblPr/>
              <a:tblGrid>
                <a:gridCol w="49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56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1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1</a:t>
                      </a:r>
                      <a:endParaRPr lang="en-US" altLang="x-none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2</a:t>
                      </a:r>
                      <a:r>
                        <a:rPr lang="en-US" altLang="x-none" sz="2400"/>
                        <a:t>(5)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 sz="24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 sz="2400" baseline="-25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 sz="2400" baseline="-25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 sz="2400" baseline="-25000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2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2</a:t>
                      </a:r>
                      <a:endParaRPr lang="en-US" altLang="x-none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1</a:t>
                      </a:r>
                      <a:r>
                        <a:rPr lang="en-US" altLang="x-none" sz="2400"/>
                        <a:t>(5)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3</a:t>
                      </a:r>
                      <a:r>
                        <a:rPr lang="en-US" altLang="x-none" sz="2400"/>
                        <a:t>(2)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4</a:t>
                      </a:r>
                      <a:r>
                        <a:rPr lang="en-US" altLang="x-none" sz="2400"/>
                        <a:t>(4)</a:t>
                      </a: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3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3</a:t>
                      </a:r>
                      <a:endParaRPr lang="en-US" altLang="x-none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  <a:endParaRPr lang="en-US" altLang="x-none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2</a:t>
                      </a:r>
                      <a:r>
                        <a:rPr lang="en-US" altLang="x-none" sz="2400"/>
                        <a:t>(2)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4</a:t>
                      </a:r>
                      <a:r>
                        <a:rPr lang="en-US" altLang="x-none" sz="2400"/>
                        <a:t>(3)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5</a:t>
                      </a:r>
                      <a:r>
                        <a:rPr lang="en-US" altLang="x-none" sz="2400"/>
                        <a:t>(7)</a:t>
                      </a: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4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4</a:t>
                      </a:r>
                      <a:endParaRPr lang="en-US" altLang="x-none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2</a:t>
                      </a:r>
                      <a:r>
                        <a:rPr lang="en-US" altLang="x-none" sz="2400"/>
                        <a:t>(4)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3</a:t>
                      </a:r>
                      <a:r>
                        <a:rPr lang="en-US" altLang="x-none" sz="2400"/>
                        <a:t>(3)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5</a:t>
                      </a:r>
                      <a:r>
                        <a:rPr lang="en-US" altLang="x-none" sz="2400"/>
                        <a:t>(8)</a:t>
                      </a: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5</a:t>
                      </a:r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5</a:t>
                      </a:r>
                      <a:endParaRPr lang="en-US" altLang="x-none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  <a:endParaRPr lang="en-US" altLang="x-none" sz="24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3</a:t>
                      </a:r>
                      <a:r>
                        <a:rPr lang="en-US" altLang="x-none" sz="2400"/>
                        <a:t>(7)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>
                          <a:sym typeface="Symbol" panose="05050102010706020507" pitchFamily="18" charset="2"/>
                        </a:rPr>
                        <a:t></a:t>
                      </a:r>
                      <a:endParaRPr lang="en-US" altLang="x-none" sz="24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2400"/>
                        <a:t>v</a:t>
                      </a:r>
                      <a:r>
                        <a:rPr lang="en-US" altLang="x-none" sz="2400" baseline="-25000"/>
                        <a:t>4</a:t>
                      </a:r>
                      <a:r>
                        <a:rPr lang="en-US" altLang="x-none" sz="2400"/>
                        <a:t>(8)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 sz="24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x-none" sz="2400"/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Adjacency List for undirected weighted graph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32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69635" name="Text Placeholder 69634"/>
          <p:cNvSpPr>
            <a:spLocks noGrp="1"/>
          </p:cNvSpPr>
          <p:nvPr>
            <p:ph type="body" idx="1"/>
          </p:nvPr>
        </p:nvSpPr>
        <p:spPr>
          <a:xfrm>
            <a:off x="876300" y="1270000"/>
            <a:ext cx="8268335" cy="4521200"/>
          </a:xfrm>
        </p:spPr>
        <p:txBody>
          <a:bodyPr/>
          <a:lstStyle/>
          <a:p>
            <a:pPr algn="just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Adjacency matrix</a:t>
            </a:r>
          </a:p>
          <a:p>
            <a:pPr lvl="1" algn="just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Allows us to determine whether there is an edge from node i to node j in O(1) time</a:t>
            </a:r>
          </a:p>
          <a:p>
            <a:pPr algn="just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Adjacency list</a:t>
            </a:r>
          </a:p>
          <a:p>
            <a:pPr lvl="1" algn="just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Allows us to find all nodes adjacent to a given node j efficiently</a:t>
            </a:r>
          </a:p>
          <a:p>
            <a:pPr lvl="1" algn="just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If the graph is sparse, adjacency list requires less space</a:t>
            </a:r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Pros and Cons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altLang="x-none" dirty="0"/>
              <a:t>CS201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33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70659" name="Text Placeholder 7065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6600"/>
                </a:solidFill>
                <a:ea typeface="PMingLiU" pitchFamily="18" charset="-120"/>
              </a:rPr>
              <a:t>Graph Traversal</a:t>
            </a:r>
          </a:p>
          <a:p>
            <a:r>
              <a:rPr lang="en-US" altLang="zh-TW" dirty="0">
                <a:solidFill>
                  <a:srgbClr val="006600"/>
                </a:solidFill>
                <a:ea typeface="PMingLiU" pitchFamily="18" charset="-120"/>
              </a:rPr>
              <a:t>Spanning Tree</a:t>
            </a:r>
          </a:p>
          <a:p>
            <a:r>
              <a:rPr lang="en-US" altLang="zh-TW" dirty="0">
                <a:solidFill>
                  <a:srgbClr val="006600"/>
                </a:solidFill>
                <a:ea typeface="PMingLiU" pitchFamily="18" charset="-120"/>
              </a:rPr>
              <a:t>Minimum Spanning Tree</a:t>
            </a:r>
          </a:p>
          <a:p>
            <a:r>
              <a:rPr lang="en-US" altLang="zh-TW" dirty="0">
                <a:solidFill>
                  <a:srgbClr val="006600"/>
                </a:solidFill>
                <a:ea typeface="PMingLiU" pitchFamily="18" charset="-120"/>
              </a:rPr>
              <a:t>Shortest Path</a:t>
            </a:r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Problems related to graph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04240" y="4406900"/>
            <a:ext cx="8239760" cy="1362075"/>
          </a:xfrm>
          <a:solidFill>
            <a:srgbClr val="FFC000"/>
          </a:solidFill>
        </p:spPr>
        <p:txBody>
          <a:bodyPr/>
          <a:lstStyle/>
          <a:p>
            <a:r>
              <a:rPr lang="en-US" dirty="0"/>
              <a:t>Applications of Graphs: </a:t>
            </a:r>
            <a:r>
              <a:rPr lang="en-US" dirty="0">
                <a:solidFill>
                  <a:srgbClr val="C00000"/>
                </a:solidFill>
              </a:rPr>
              <a:t>Traversals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endParaRPr lang="en-US" altLang="en-US" sz="3200" dirty="0">
              <a:solidFill>
                <a:schemeClr val="bg1"/>
              </a:solidFill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35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71683" name="Text Placeholder 7168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To traverse a tree, we use tree traversal algorithms like pre-order, in-order, and post-order to visit all the nodes in a tree.</a:t>
            </a:r>
          </a:p>
          <a:p>
            <a:pPr algn="just"/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Similarly, </a:t>
            </a:r>
            <a:r>
              <a:rPr lang="en-US" altLang="x-none" sz="2800">
                <a:solidFill>
                  <a:srgbClr val="C00000"/>
                </a:solidFill>
              </a:rPr>
              <a:t>graph traversal algorithm</a:t>
            </a:r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 tries to visit all the nodes it can reach.</a:t>
            </a:r>
          </a:p>
          <a:p>
            <a:pPr algn="just"/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If a graph is disconnected, a graph traversal that begins at a node v will visit only a subset of nodes, that is, the </a:t>
            </a:r>
            <a:r>
              <a:rPr lang="en-US" altLang="x-none" sz="2800">
                <a:solidFill>
                  <a:srgbClr val="C00000"/>
                </a:solidFill>
              </a:rPr>
              <a:t>connected component</a:t>
            </a:r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 containing v</a:t>
            </a:r>
            <a:r>
              <a:rPr lang="en-US" altLang="x-none" sz="2800"/>
              <a:t>.</a:t>
            </a:r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Graph Traversal Algorithms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Basic Algorithm for Traversals: </a:t>
            </a:r>
          </a:p>
          <a:p>
            <a:pPr algn="just"/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Select a </a:t>
            </a:r>
            <a:r>
              <a:rPr lang="en-US" altLang="x-none" sz="2800">
                <a:solidFill>
                  <a:srgbClr val="C00000"/>
                </a:solidFill>
              </a:rPr>
              <a:t>starting </a:t>
            </a:r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node</a:t>
            </a:r>
          </a:p>
          <a:p>
            <a:pPr algn="just"/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Make a set of nodes </a:t>
            </a:r>
            <a:r>
              <a:rPr lang="en-US" altLang="x-none" sz="2800">
                <a:solidFill>
                  <a:srgbClr val="C00000"/>
                </a:solidFill>
              </a:rPr>
              <a:t>adjacent to current</a:t>
            </a:r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 node</a:t>
            </a:r>
          </a:p>
          <a:p>
            <a:pPr algn="just"/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Visit each node in the set but "</a:t>
            </a:r>
            <a:r>
              <a:rPr lang="en-US" altLang="x-none" sz="2800">
                <a:solidFill>
                  <a:srgbClr val="006600"/>
                </a:solidFill>
              </a:rPr>
              <a:t>mark</a:t>
            </a:r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" each nodes after visiting them so you don't revisit them (and eventually stop)</a:t>
            </a:r>
          </a:p>
          <a:p>
            <a:pPr algn="just"/>
            <a:r>
              <a:rPr lang="en-US" altLang="x-none" sz="2800">
                <a:solidFill>
                  <a:schemeClr val="accent1">
                    <a:lumMod val="50000"/>
                  </a:schemeClr>
                </a:solidFill>
              </a:rPr>
              <a:t>Repeat above but skip "marked nodes"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Graph Traversal 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37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72707" name="Text Placeholder 72706"/>
          <p:cNvSpPr>
            <a:spLocks noGrp="1"/>
          </p:cNvSpPr>
          <p:nvPr>
            <p:ph type="body" idx="1"/>
          </p:nvPr>
        </p:nvSpPr>
        <p:spPr>
          <a:xfrm>
            <a:off x="876300" y="1270000"/>
            <a:ext cx="8208645" cy="4521200"/>
          </a:xfrm>
        </p:spPr>
        <p:txBody>
          <a:bodyPr/>
          <a:lstStyle/>
          <a:p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Two basic graph traversal algorithms:</a:t>
            </a:r>
          </a:p>
          <a:p>
            <a:pPr lvl="1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Depth-first-search (DFS)</a:t>
            </a:r>
          </a:p>
          <a:p>
            <a:pPr lvl="2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After visit node v, DFS strategy proceeds along a path from v as deeply into the graph as possible before backing up</a:t>
            </a:r>
          </a:p>
          <a:p>
            <a:pPr lvl="1"/>
            <a:r>
              <a:rPr lang="en-US" altLang="x-none">
                <a:solidFill>
                  <a:schemeClr val="accent1">
                    <a:lumMod val="50000"/>
                  </a:schemeClr>
                </a:solidFill>
              </a:rPr>
              <a:t>Breadth-first-search (BFS)</a:t>
            </a:r>
          </a:p>
          <a:p>
            <a:pPr lvl="2"/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After visit node v, BFS strategy visits every node adjacent to v before visiting any other nodes</a:t>
            </a:r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Two basic Traversal Algorithms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5E8C4A84-D6D8-78E2-0D7E-4E6F6E89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16AD25-8ECB-446A-987C-847BF703E90F}" type="slidenum">
              <a:rPr lang="en-CA" altLang="en-US" sz="120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CA" altLang="en-US" sz="1200">
              <a:solidFill>
                <a:schemeClr val="bg2"/>
              </a:solidFill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CF39F33-E72D-4825-37E5-93548951E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0" y="1165358"/>
            <a:ext cx="8286750" cy="4874716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en-US" sz="3200" dirty="0">
                <a:solidFill>
                  <a:srgbClr val="C00000"/>
                </a:solidFill>
              </a:rPr>
              <a:t>Idea: </a:t>
            </a:r>
            <a:r>
              <a:rPr lang="en-US" sz="3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traverse </a:t>
            </a:r>
            <a:r>
              <a:rPr lang="en-US" sz="3200" dirty="0">
                <a:solidFill>
                  <a:srgbClr val="C00000"/>
                </a:solidFill>
              </a:rPr>
              <a:t>“deeper” </a:t>
            </a:r>
            <a:r>
              <a:rPr lang="en-US" sz="3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whenever possible. 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On each iteration, the algorithm proceeds to an </a:t>
            </a:r>
            <a:r>
              <a:rPr lang="en-US" u="sng" dirty="0">
                <a:solidFill>
                  <a:srgbClr val="C00000"/>
                </a:solidFill>
              </a:rPr>
              <a:t>unvisited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vertex that is </a:t>
            </a:r>
            <a:r>
              <a:rPr lang="en-US" u="sng" dirty="0">
                <a:solidFill>
                  <a:srgbClr val="C00000"/>
                </a:solidFill>
              </a:rPr>
              <a:t>adjacent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to the one it is currently in.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If there are more than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more neighbors, break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tie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by the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alphabetic order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of the vertices.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When reaching a </a:t>
            </a:r>
            <a:r>
              <a:rPr lang="en-US" u="sng" dirty="0">
                <a:solidFill>
                  <a:srgbClr val="C00000"/>
                </a:solidFill>
              </a:rPr>
              <a:t>dead end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(a vertex with no adjacent unvisited vertices), the algorithm 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backs up one edge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to the parent and tries to continue visiting unvisited vertices from there.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 algorithm halts after backing up to the starting vertex, with the latter being a dead end.</a:t>
            </a:r>
          </a:p>
        </p:txBody>
      </p:sp>
      <p:pic>
        <p:nvPicPr>
          <p:cNvPr id="41988" name="Picture 3" descr="siide bar">
            <a:extLst>
              <a:ext uri="{FF2B5EF4-FFF2-40B4-BE49-F238E27FC236}">
                <a16:creationId xmlns:a16="http://schemas.microsoft.com/office/drawing/2014/main" id="{D7B7385C-6D01-8BE3-A13A-DAD44F9DC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5">
            <a:extLst>
              <a:ext uri="{FF2B5EF4-FFF2-40B4-BE49-F238E27FC236}">
                <a16:creationId xmlns:a16="http://schemas.microsoft.com/office/drawing/2014/main" id="{2BA38F14-AE71-2F79-FFBE-4E5F1F154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bg1"/>
                </a:solidFill>
              </a:rPr>
              <a:t>                                          Depth First Search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39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73731" name="Text Placeholder 73730"/>
          <p:cNvSpPr>
            <a:spLocks noGrp="1"/>
          </p:cNvSpPr>
          <p:nvPr>
            <p:ph type="body" idx="1"/>
          </p:nvPr>
        </p:nvSpPr>
        <p:spPr>
          <a:xfrm>
            <a:off x="828675" y="1158875"/>
            <a:ext cx="8229600" cy="1500435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DFS strategy looks similar to pre-order. From a given node v, it first visits itself. Then, recursively visit its unvisited </a:t>
            </a:r>
            <a:r>
              <a:rPr lang="en-US" altLang="zh-TW" sz="24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neighbours</a:t>
            </a: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one by one.</a:t>
            </a:r>
          </a:p>
          <a:p>
            <a:pPr algn="just">
              <a:lnSpc>
                <a:spcPct val="90000"/>
              </a:lnSpc>
            </a:pPr>
            <a:r>
              <a:rPr lang="en-US" altLang="zh-TW" sz="2400" dirty="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DFS can be defined recursively as follows.</a:t>
            </a:r>
          </a:p>
          <a:p>
            <a:pPr>
              <a:lnSpc>
                <a:spcPct val="90000"/>
              </a:lnSpc>
            </a:pPr>
            <a:endParaRPr lang="en-US" altLang="zh-TW" sz="2400" dirty="0">
              <a:ea typeface="PMingLiU" pitchFamily="18" charset="-120"/>
            </a:endParaRPr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Depth First Search(DFS)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F41D0F-369D-A312-EE21-E202BB8A1AF7}"/>
              </a:ext>
            </a:extLst>
          </p:cNvPr>
          <p:cNvSpPr txBox="1"/>
          <p:nvPr/>
        </p:nvSpPr>
        <p:spPr>
          <a:xfrm>
            <a:off x="971025" y="2705879"/>
            <a:ext cx="51864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zh-TW" sz="2000" b="1" dirty="0">
                <a:solidFill>
                  <a:srgbClr val="C00000"/>
                </a:solidFill>
                <a:ea typeface="PMingLiU" pitchFamily="18" charset="-120"/>
              </a:rPr>
              <a:t>Algorithm </a:t>
            </a:r>
            <a:r>
              <a:rPr lang="en-US" altLang="zh-TW" sz="2000" b="1" dirty="0" err="1">
                <a:solidFill>
                  <a:srgbClr val="C00000"/>
                </a:solidFill>
                <a:ea typeface="PMingLiU" pitchFamily="18" charset="-120"/>
              </a:rPr>
              <a:t>dfs</a:t>
            </a:r>
            <a:r>
              <a:rPr lang="en-US" altLang="zh-TW" sz="2000" b="1" dirty="0">
                <a:solidFill>
                  <a:srgbClr val="C00000"/>
                </a:solidFill>
                <a:ea typeface="PMingLiU" pitchFamily="18" charset="-120"/>
              </a:rPr>
              <a:t>(v)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 dirty="0">
                <a:solidFill>
                  <a:srgbClr val="C00000"/>
                </a:solidFill>
                <a:ea typeface="PMingLiU" pitchFamily="18" charset="-120"/>
              </a:rPr>
              <a:t>print v; // you can do other things!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 dirty="0">
                <a:solidFill>
                  <a:srgbClr val="C00000"/>
                </a:solidFill>
                <a:ea typeface="PMingLiU" pitchFamily="18" charset="-120"/>
              </a:rPr>
              <a:t>mark v as visited;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 dirty="0">
                <a:solidFill>
                  <a:srgbClr val="C00000"/>
                </a:solidFill>
                <a:ea typeface="PMingLiU" pitchFamily="18" charset="-120"/>
              </a:rPr>
              <a:t>for (each unvisited node u adjacent to v)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 dirty="0">
                <a:solidFill>
                  <a:srgbClr val="C00000"/>
                </a:solidFill>
                <a:ea typeface="PMingLiU" pitchFamily="18" charset="-120"/>
              </a:rPr>
              <a:t>	</a:t>
            </a:r>
            <a:r>
              <a:rPr lang="en-US" altLang="zh-TW" sz="2000" dirty="0" err="1">
                <a:solidFill>
                  <a:srgbClr val="C00000"/>
                </a:solidFill>
                <a:ea typeface="PMingLiU" pitchFamily="18" charset="-120"/>
              </a:rPr>
              <a:t>dfs</a:t>
            </a:r>
            <a:r>
              <a:rPr lang="en-US" altLang="zh-TW" sz="2000" dirty="0">
                <a:solidFill>
                  <a:srgbClr val="C00000"/>
                </a:solidFill>
                <a:ea typeface="PMingLiU" pitchFamily="18" charset="-120"/>
              </a:rPr>
              <a:t>(u);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40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74755" name="Text Placeholder 74754"/>
          <p:cNvSpPr>
            <a:spLocks noGrp="1"/>
          </p:cNvSpPr>
          <p:nvPr>
            <p:ph type="body" idx="1"/>
          </p:nvPr>
        </p:nvSpPr>
        <p:spPr>
          <a:xfrm>
            <a:off x="914400" y="1001713"/>
            <a:ext cx="8229600" cy="881063"/>
          </a:xfrm>
        </p:spPr>
        <p:txBody>
          <a:bodyPr/>
          <a:lstStyle/>
          <a:p>
            <a:r>
              <a:rPr lang="en-US" altLang="zh-TW" dirty="0">
                <a:ea typeface="PMingLiU" pitchFamily="18" charset="-120"/>
              </a:rPr>
              <a:t>Start from v</a:t>
            </a:r>
            <a:r>
              <a:rPr lang="en-US" altLang="zh-TW" baseline="-25000" dirty="0">
                <a:ea typeface="PMingLiU" pitchFamily="18" charset="-120"/>
              </a:rPr>
              <a:t>3</a:t>
            </a:r>
          </a:p>
          <a:p>
            <a:endParaRPr lang="en-US" altLang="zh-TW" dirty="0">
              <a:ea typeface="PMingLiU" pitchFamily="18" charset="-120"/>
            </a:endParaRPr>
          </a:p>
        </p:txBody>
      </p:sp>
      <p:sp>
        <p:nvSpPr>
          <p:cNvPr id="74756" name="Oval 74755"/>
          <p:cNvSpPr/>
          <p:nvPr/>
        </p:nvSpPr>
        <p:spPr>
          <a:xfrm>
            <a:off x="2308225" y="35353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4757" name="Oval 74756"/>
          <p:cNvSpPr/>
          <p:nvPr/>
        </p:nvSpPr>
        <p:spPr>
          <a:xfrm>
            <a:off x="3451225" y="36115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4758" name="Oval 74757"/>
          <p:cNvSpPr/>
          <p:nvPr/>
        </p:nvSpPr>
        <p:spPr>
          <a:xfrm>
            <a:off x="3375025" y="46021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4759" name="Oval 74758"/>
          <p:cNvSpPr/>
          <p:nvPr/>
        </p:nvSpPr>
        <p:spPr>
          <a:xfrm>
            <a:off x="1774825" y="44497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4760" name="Straight Connector 74759"/>
          <p:cNvSpPr/>
          <p:nvPr/>
        </p:nvSpPr>
        <p:spPr>
          <a:xfrm flipH="1" flipV="1">
            <a:off x="2689225" y="3687763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61" name="Straight Connector 74760"/>
          <p:cNvSpPr/>
          <p:nvPr/>
        </p:nvSpPr>
        <p:spPr>
          <a:xfrm flipH="1" flipV="1">
            <a:off x="2155825" y="4602163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62" name="Straight Connector 74761"/>
          <p:cNvSpPr/>
          <p:nvPr/>
        </p:nvSpPr>
        <p:spPr>
          <a:xfrm flipH="1">
            <a:off x="2155825" y="3840163"/>
            <a:ext cx="12954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63" name="Straight Connector 74762"/>
          <p:cNvSpPr/>
          <p:nvPr/>
        </p:nvSpPr>
        <p:spPr>
          <a:xfrm flipH="1">
            <a:off x="2079625" y="3840163"/>
            <a:ext cx="3048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64" name="Oval 74763"/>
          <p:cNvSpPr/>
          <p:nvPr/>
        </p:nvSpPr>
        <p:spPr>
          <a:xfrm>
            <a:off x="920750" y="3763963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>
              <a:latin typeface="Tahoma" panose="020B0604030504040204" pitchFamily="34" charset="0"/>
            </a:endParaRPr>
          </a:p>
        </p:txBody>
      </p:sp>
      <p:sp>
        <p:nvSpPr>
          <p:cNvPr id="74765" name="Straight Connector 74764"/>
          <p:cNvSpPr/>
          <p:nvPr/>
        </p:nvSpPr>
        <p:spPr>
          <a:xfrm flipV="1">
            <a:off x="1301750" y="3763963"/>
            <a:ext cx="9906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66" name="Text Box 74765"/>
          <p:cNvSpPr txBox="1"/>
          <p:nvPr/>
        </p:nvSpPr>
        <p:spPr>
          <a:xfrm>
            <a:off x="539750" y="3230563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74767" name="Text Box 74766"/>
          <p:cNvSpPr txBox="1"/>
          <p:nvPr/>
        </p:nvSpPr>
        <p:spPr>
          <a:xfrm>
            <a:off x="1362075" y="45339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74768" name="Text Box 74767"/>
          <p:cNvSpPr txBox="1"/>
          <p:nvPr/>
        </p:nvSpPr>
        <p:spPr>
          <a:xfrm>
            <a:off x="3892550" y="3154363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74769" name="Text Box 74768"/>
          <p:cNvSpPr txBox="1"/>
          <p:nvPr/>
        </p:nvSpPr>
        <p:spPr>
          <a:xfrm>
            <a:off x="3816350" y="4373563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74770" name="Straight Connector 74769"/>
          <p:cNvSpPr/>
          <p:nvPr/>
        </p:nvSpPr>
        <p:spPr>
          <a:xfrm flipV="1">
            <a:off x="3587750" y="3916363"/>
            <a:ext cx="762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71" name="Text Box 74770"/>
          <p:cNvSpPr txBox="1"/>
          <p:nvPr/>
        </p:nvSpPr>
        <p:spPr>
          <a:xfrm>
            <a:off x="2200275" y="29337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74772" name="Text Box 74771"/>
          <p:cNvSpPr txBox="1"/>
          <p:nvPr/>
        </p:nvSpPr>
        <p:spPr>
          <a:xfrm>
            <a:off x="2135188" y="5237163"/>
            <a:ext cx="455612" cy="579437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3200">
                <a:solidFill>
                  <a:schemeClr val="folHlink"/>
                </a:solidFill>
                <a:latin typeface="Tahoma" panose="020B0604030504040204" pitchFamily="34" charset="0"/>
              </a:rPr>
              <a:t>G</a:t>
            </a:r>
          </a:p>
        </p:txBody>
      </p:sp>
      <p:sp>
        <p:nvSpPr>
          <p:cNvPr id="74773" name="Oval 74772"/>
          <p:cNvSpPr/>
          <p:nvPr/>
        </p:nvSpPr>
        <p:spPr>
          <a:xfrm>
            <a:off x="6400800" y="1947863"/>
            <a:ext cx="533400" cy="533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3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74774" name="Text Box 74773"/>
          <p:cNvSpPr txBox="1"/>
          <p:nvPr/>
        </p:nvSpPr>
        <p:spPr>
          <a:xfrm>
            <a:off x="6003925" y="175260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74775" name="Oval 74774"/>
          <p:cNvSpPr/>
          <p:nvPr/>
        </p:nvSpPr>
        <p:spPr>
          <a:xfrm>
            <a:off x="5715000" y="3014663"/>
            <a:ext cx="533400" cy="533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2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74776" name="Straight Connector 74775"/>
          <p:cNvSpPr/>
          <p:nvPr/>
        </p:nvSpPr>
        <p:spPr>
          <a:xfrm flipV="1">
            <a:off x="6019800" y="2405063"/>
            <a:ext cx="4572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777" name="Text Box 74776"/>
          <p:cNvSpPr txBox="1"/>
          <p:nvPr/>
        </p:nvSpPr>
        <p:spPr>
          <a:xfrm>
            <a:off x="5394325" y="281940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74778" name="Oval 74777"/>
          <p:cNvSpPr/>
          <p:nvPr/>
        </p:nvSpPr>
        <p:spPr>
          <a:xfrm>
            <a:off x="5334000" y="4081463"/>
            <a:ext cx="533400" cy="533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1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74779" name="Straight Connector 74778"/>
          <p:cNvSpPr/>
          <p:nvPr/>
        </p:nvSpPr>
        <p:spPr>
          <a:xfrm flipV="1">
            <a:off x="5638800" y="3471863"/>
            <a:ext cx="2286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780" name="Text Box 74779"/>
          <p:cNvSpPr txBox="1"/>
          <p:nvPr/>
        </p:nvSpPr>
        <p:spPr>
          <a:xfrm>
            <a:off x="5089525" y="381000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74781" name="Oval 74780"/>
          <p:cNvSpPr/>
          <p:nvPr/>
        </p:nvSpPr>
        <p:spPr>
          <a:xfrm>
            <a:off x="6019800" y="4157663"/>
            <a:ext cx="533400" cy="533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74782" name="Straight Connector 74781"/>
          <p:cNvSpPr/>
          <p:nvPr/>
        </p:nvSpPr>
        <p:spPr>
          <a:xfrm>
            <a:off x="6096000" y="3548063"/>
            <a:ext cx="1524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783" name="Text Box 74782"/>
          <p:cNvSpPr txBox="1"/>
          <p:nvPr/>
        </p:nvSpPr>
        <p:spPr>
          <a:xfrm>
            <a:off x="6308725" y="373380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74784" name="Oval 74783"/>
          <p:cNvSpPr/>
          <p:nvPr/>
        </p:nvSpPr>
        <p:spPr>
          <a:xfrm>
            <a:off x="6172200" y="5224463"/>
            <a:ext cx="533400" cy="533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5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74785" name="Straight Connector 74784"/>
          <p:cNvSpPr/>
          <p:nvPr/>
        </p:nvSpPr>
        <p:spPr>
          <a:xfrm flipH="1" flipV="1">
            <a:off x="6324600" y="4691063"/>
            <a:ext cx="1524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786" name="Text Box 74785"/>
          <p:cNvSpPr txBox="1"/>
          <p:nvPr/>
        </p:nvSpPr>
        <p:spPr>
          <a:xfrm>
            <a:off x="6613525" y="487680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4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74787" name="Text Box 74786"/>
          <p:cNvSpPr txBox="1"/>
          <p:nvPr/>
        </p:nvSpPr>
        <p:spPr>
          <a:xfrm>
            <a:off x="3429000" y="3395663"/>
            <a:ext cx="522288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4400" b="1">
                <a:solidFill>
                  <a:schemeClr val="hlink"/>
                </a:solidFill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74788" name="Text Box 74787"/>
          <p:cNvSpPr txBox="1"/>
          <p:nvPr/>
        </p:nvSpPr>
        <p:spPr>
          <a:xfrm>
            <a:off x="2286000" y="3319463"/>
            <a:ext cx="522288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4400" b="1">
                <a:solidFill>
                  <a:schemeClr val="hlink"/>
                </a:solidFill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74789" name="Text Box 74788"/>
          <p:cNvSpPr txBox="1"/>
          <p:nvPr/>
        </p:nvSpPr>
        <p:spPr>
          <a:xfrm>
            <a:off x="838200" y="3548063"/>
            <a:ext cx="522288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4400" b="1">
                <a:solidFill>
                  <a:schemeClr val="hlink"/>
                </a:solidFill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74790" name="Text Box 74789"/>
          <p:cNvSpPr txBox="1"/>
          <p:nvPr/>
        </p:nvSpPr>
        <p:spPr>
          <a:xfrm>
            <a:off x="1752600" y="4157663"/>
            <a:ext cx="522288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4400" b="1">
                <a:solidFill>
                  <a:schemeClr val="hlink"/>
                </a:solidFill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74791" name="Text Box 74790"/>
          <p:cNvSpPr txBox="1"/>
          <p:nvPr/>
        </p:nvSpPr>
        <p:spPr>
          <a:xfrm>
            <a:off x="3276600" y="4310063"/>
            <a:ext cx="522288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4400" b="1">
                <a:solidFill>
                  <a:schemeClr val="hlink"/>
                </a:solidFill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74792" name="Straight Connector 74791"/>
          <p:cNvSpPr/>
          <p:nvPr/>
        </p:nvSpPr>
        <p:spPr>
          <a:xfrm>
            <a:off x="5486400" y="2252663"/>
            <a:ext cx="7620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93" name="Straight Connector 74792"/>
          <p:cNvSpPr/>
          <p:nvPr/>
        </p:nvSpPr>
        <p:spPr>
          <a:xfrm>
            <a:off x="4876800" y="3319463"/>
            <a:ext cx="7620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94" name="Straight Connector 74793"/>
          <p:cNvSpPr/>
          <p:nvPr/>
        </p:nvSpPr>
        <p:spPr>
          <a:xfrm>
            <a:off x="4495800" y="4386263"/>
            <a:ext cx="7620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95" name="Straight Connector 74794"/>
          <p:cNvSpPr/>
          <p:nvPr/>
        </p:nvSpPr>
        <p:spPr>
          <a:xfrm>
            <a:off x="4876800" y="3319463"/>
            <a:ext cx="7620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96" name="Straight Connector 74795"/>
          <p:cNvSpPr/>
          <p:nvPr/>
        </p:nvSpPr>
        <p:spPr>
          <a:xfrm flipH="1">
            <a:off x="6705600" y="4386263"/>
            <a:ext cx="8382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97" name="Straight Connector 74796"/>
          <p:cNvSpPr/>
          <p:nvPr/>
        </p:nvSpPr>
        <p:spPr>
          <a:xfrm flipH="1">
            <a:off x="6858000" y="5529263"/>
            <a:ext cx="8382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98" name="Straight Connector 74797"/>
          <p:cNvSpPr/>
          <p:nvPr/>
        </p:nvSpPr>
        <p:spPr>
          <a:xfrm flipH="1">
            <a:off x="6705600" y="4386263"/>
            <a:ext cx="8382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799" name="Straight Connector 74798"/>
          <p:cNvSpPr/>
          <p:nvPr/>
        </p:nvSpPr>
        <p:spPr>
          <a:xfrm flipH="1">
            <a:off x="6324600" y="3319463"/>
            <a:ext cx="8382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4800" name="Straight Connector 74799"/>
          <p:cNvSpPr/>
          <p:nvPr/>
        </p:nvSpPr>
        <p:spPr>
          <a:xfrm flipH="1">
            <a:off x="7010400" y="2252663"/>
            <a:ext cx="8382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Depth First Search(DFS):Example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4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4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75" grpId="0" bldLvl="0" animBg="1"/>
      <p:bldP spid="74777" grpId="0"/>
      <p:bldP spid="74778" grpId="0" bldLvl="0" animBg="1"/>
      <p:bldP spid="74780" grpId="0"/>
      <p:bldP spid="74781" grpId="0" bldLvl="0" animBg="1"/>
      <p:bldP spid="74783" grpId="0"/>
      <p:bldP spid="74784" grpId="0" bldLvl="0" animBg="1"/>
      <p:bldP spid="74786" grpId="0"/>
      <p:bldP spid="74787" grpId="0"/>
      <p:bldP spid="74788" grpId="0"/>
      <p:bldP spid="74789" grpId="0"/>
      <p:bldP spid="74790" grpId="0"/>
      <p:bldP spid="7479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87425" y="927100"/>
            <a:ext cx="8155940" cy="5486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 tree is a graph and DFS and BFS are particularly easy to "see" in one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Order processed: A, B, D, E, C, F, G, H</a:t>
            </a:r>
          </a:p>
          <a:p>
            <a:pPr algn="just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This is a "</a:t>
            </a:r>
            <a:r>
              <a:rPr lang="en-US" sz="2000" dirty="0">
                <a:solidFill>
                  <a:srgbClr val="FF0000"/>
                </a:solidFill>
              </a:rPr>
              <a:t>pre-order traversal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" for trees</a:t>
            </a:r>
          </a:p>
          <a:p>
            <a:pPr algn="just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The marking is unneeded here but because we support arbitrary graphs, we need a means to process each node exactly once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41</a:t>
            </a:fld>
            <a:endParaRPr lang="en-US"/>
          </a:p>
        </p:txBody>
      </p:sp>
      <p:grpSp>
        <p:nvGrpSpPr>
          <p:cNvPr id="71685" name="Group 36"/>
          <p:cNvGrpSpPr/>
          <p:nvPr>
            <p:custDataLst>
              <p:tags r:id="rId2"/>
            </p:custDataLst>
          </p:nvPr>
        </p:nvGrpSpPr>
        <p:grpSpPr bwMode="auto">
          <a:xfrm>
            <a:off x="1239473" y="1823101"/>
            <a:ext cx="2133600" cy="2286000"/>
            <a:chOff x="3437" y="1248"/>
            <a:chExt cx="1795" cy="1920"/>
          </a:xfrm>
        </p:grpSpPr>
        <p:sp>
          <p:nvSpPr>
            <p:cNvPr id="71688" name="Oval 37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178" y="1248"/>
              <a:ext cx="288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A</a:t>
              </a:r>
            </a:p>
          </p:txBody>
        </p:sp>
        <p:cxnSp>
          <p:nvCxnSpPr>
            <p:cNvPr id="71689" name="AutoShape 38"/>
            <p:cNvCxnSpPr>
              <a:cxnSpLocks noChangeShapeType="1"/>
              <a:stCxn id="71688" idx="3"/>
              <a:endCxn id="71691" idx="0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3917" y="1506"/>
              <a:ext cx="30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71690" name="AutoShape 39"/>
            <p:cNvCxnSpPr>
              <a:cxnSpLocks noChangeShapeType="1"/>
              <a:stCxn id="71688" idx="5"/>
              <a:endCxn id="71696" idx="0"/>
            </p:cNvCxnSpPr>
            <p:nvPr>
              <p:custDataLst>
                <p:tags r:id="rId6"/>
              </p:custDataLst>
            </p:nvPr>
          </p:nvCxnSpPr>
          <p:spPr bwMode="auto">
            <a:xfrm>
              <a:off x="4424" y="1506"/>
              <a:ext cx="30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71691" name="Oval 40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773" y="1824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B</a:t>
              </a:r>
            </a:p>
          </p:txBody>
        </p:sp>
        <p:sp>
          <p:nvSpPr>
            <p:cNvPr id="71692" name="Oval 41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37" y="235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D</a:t>
              </a:r>
            </a:p>
          </p:txBody>
        </p:sp>
        <p:sp>
          <p:nvSpPr>
            <p:cNvPr id="71693" name="Oval 42"/>
            <p:cNvSpPr>
              <a:spLocks noChangeAspect="1"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109" y="235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E</a:t>
              </a:r>
            </a:p>
          </p:txBody>
        </p:sp>
        <p:cxnSp>
          <p:nvCxnSpPr>
            <p:cNvPr id="71694" name="AutoShape 43"/>
            <p:cNvCxnSpPr>
              <a:cxnSpLocks noChangeShapeType="1"/>
              <a:stCxn id="71691" idx="5"/>
              <a:endCxn id="71693" idx="0"/>
            </p:cNvCxnSpPr>
            <p:nvPr>
              <p:custDataLst>
                <p:tags r:id="rId10"/>
              </p:custDataLst>
            </p:nvPr>
          </p:nvCxnSpPr>
          <p:spPr bwMode="auto">
            <a:xfrm>
              <a:off x="4019" y="2082"/>
              <a:ext cx="234" cy="2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71695" name="AutoShape 44"/>
            <p:cNvCxnSpPr>
              <a:cxnSpLocks noChangeShapeType="1"/>
              <a:stCxn id="71691" idx="3"/>
              <a:endCxn id="71692" idx="0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3581" y="2082"/>
              <a:ext cx="234" cy="2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71696" name="Oval 45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583" y="1824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C</a:t>
              </a:r>
            </a:p>
          </p:txBody>
        </p:sp>
        <p:sp>
          <p:nvSpPr>
            <p:cNvPr id="71697" name="Oval 46"/>
            <p:cNvSpPr>
              <a:spLocks noChangeAspect="1"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583" y="235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F</a:t>
              </a:r>
            </a:p>
          </p:txBody>
        </p:sp>
        <p:cxnSp>
          <p:nvCxnSpPr>
            <p:cNvPr id="71698" name="AutoShape 47"/>
            <p:cNvCxnSpPr>
              <a:cxnSpLocks noChangeShapeType="1"/>
              <a:stCxn id="71696" idx="4"/>
              <a:endCxn id="71697" idx="0"/>
            </p:cNvCxnSpPr>
            <p:nvPr>
              <p:custDataLst>
                <p:tags r:id="rId14"/>
              </p:custDataLst>
            </p:nvPr>
          </p:nvCxnSpPr>
          <p:spPr bwMode="auto">
            <a:xfrm>
              <a:off x="4727" y="2124"/>
              <a:ext cx="0" cy="2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71699" name="AutoShape 48"/>
            <p:cNvCxnSpPr>
              <a:cxnSpLocks noChangeShapeType="1"/>
              <a:stCxn id="71697" idx="3"/>
              <a:endCxn id="71702" idx="0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366" y="2610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71700" name="Oval 49"/>
            <p:cNvSpPr>
              <a:spLocks noChangeAspect="1"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944" y="288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H</a:t>
              </a:r>
            </a:p>
          </p:txBody>
        </p:sp>
        <p:cxnSp>
          <p:nvCxnSpPr>
            <p:cNvPr id="71701" name="AutoShape 50"/>
            <p:cNvCxnSpPr>
              <a:cxnSpLocks noChangeShapeType="1"/>
              <a:stCxn id="71697" idx="5"/>
              <a:endCxn id="71700" idx="0"/>
            </p:cNvCxnSpPr>
            <p:nvPr>
              <p:custDataLst>
                <p:tags r:id="rId17"/>
              </p:custDataLst>
            </p:nvPr>
          </p:nvCxnSpPr>
          <p:spPr bwMode="auto">
            <a:xfrm>
              <a:off x="4829" y="2610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71702" name="Oval 51"/>
            <p:cNvSpPr>
              <a:spLocks noChangeAspect="1"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222" y="288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G</a:t>
              </a:r>
            </a:p>
          </p:txBody>
        </p:sp>
      </p:grpSp>
      <p:sp>
        <p:nvSpPr>
          <p:cNvPr id="23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95406" y="1541725"/>
            <a:ext cx="4510356" cy="2680734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/>
        </p:spPr>
        <p:txBody>
          <a:bodyPr wrap="square" tIns="91440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void DFS(int start) {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    visited[start] = true;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    </a:t>
            </a:r>
            <a:r>
              <a:rPr lang="en-US" sz="1400" kern="0" dirty="0" err="1"/>
              <a:t>cout</a:t>
            </a:r>
            <a:r>
              <a:rPr lang="en-US" sz="1400" kern="0" dirty="0"/>
              <a:t> &lt;&lt; "Visited: " &lt;&lt; start &lt;&lt; </a:t>
            </a:r>
            <a:r>
              <a:rPr lang="en-US" sz="1400" kern="0" dirty="0" err="1"/>
              <a:t>endl</a:t>
            </a:r>
            <a:r>
              <a:rPr lang="en-US" sz="1400" kern="0" dirty="0"/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    for (int </a:t>
            </a:r>
            <a:r>
              <a:rPr lang="en-US" sz="1400" kern="0" dirty="0" err="1"/>
              <a:t>i</a:t>
            </a:r>
            <a:r>
              <a:rPr lang="en-US" sz="1400" kern="0" dirty="0"/>
              <a:t> = 0; </a:t>
            </a:r>
            <a:r>
              <a:rPr lang="en-US" sz="1400" kern="0" dirty="0" err="1"/>
              <a:t>i</a:t>
            </a:r>
            <a:r>
              <a:rPr lang="en-US" sz="1400" kern="0" dirty="0"/>
              <a:t> &lt; adj[start].size(); </a:t>
            </a:r>
            <a:r>
              <a:rPr lang="en-US" sz="1400" kern="0" dirty="0" err="1"/>
              <a:t>i</a:t>
            </a:r>
            <a:r>
              <a:rPr lang="en-US" sz="1400" kern="0" dirty="0"/>
              <a:t>++) {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        int u = adj[start][</a:t>
            </a:r>
            <a:r>
              <a:rPr lang="en-US" sz="1400" kern="0" dirty="0" err="1"/>
              <a:t>i</a:t>
            </a:r>
            <a:r>
              <a:rPr lang="en-US" sz="1400" kern="0" dirty="0"/>
              <a:t>];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        if (!visited[u]) {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            DFS(u);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        }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    }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400" kern="0" dirty="0"/>
              <a:t>}</a:t>
            </a:r>
          </a:p>
        </p:txBody>
      </p:sp>
      <p:pic>
        <p:nvPicPr>
          <p:cNvPr id="2" name="Picture 3" descr="siide bar">
            <a:extLst>
              <a:ext uri="{FF2B5EF4-FFF2-40B4-BE49-F238E27FC236}">
                <a16:creationId xmlns:a16="http://schemas.microsoft.com/office/drawing/2014/main" id="{4F83CFA3-E19F-7B59-9A82-3F4A7B2C2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80B918FD-0EAF-3001-5BCD-BEC62F24A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 Recursive Depth First Search: Example with tree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80CC18-CE27-3782-9DFF-25A5E2DABC43}"/>
              </a:ext>
            </a:extLst>
          </p:cNvPr>
          <p:cNvSpPr/>
          <p:nvPr/>
        </p:nvSpPr>
        <p:spPr bwMode="auto">
          <a:xfrm>
            <a:off x="6213402" y="2952900"/>
            <a:ext cx="2929007" cy="245913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>
            <a:sp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vector&lt;vector&lt;int&gt;&gt; adj = {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{1, 2},      // A (0) -&gt; B (1), C (2)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{0, 3, 4},   // B (1) -&gt; A (0), D (3), E (4)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{0, 5},      // C (2) -&gt; A (0), F (5)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{1},         // D (3) -&gt; B (1)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{1},         // E (4) -&gt; B (1)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{2, 6, 7},   // F (5) -&gt; C (2), G (6), H (7)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{5},         // G (6) -&gt; F (5)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{5}          // H (7) -&gt; F (5)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};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792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4AFDDC5A-1111-DE5C-58A2-A356C328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2C2B84-BD88-4567-9F18-430BB9D49602}" type="slidenum">
              <a:rPr lang="en-CA" altLang="en-US" sz="120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CA" altLang="en-US" sz="1200">
              <a:solidFill>
                <a:schemeClr val="bg2"/>
              </a:solidFill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E09C955-983F-3F14-26C5-F4EFBD9AA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0" y="1077913"/>
            <a:ext cx="8286750" cy="5411787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en-US" sz="3200" dirty="0">
                <a:solidFill>
                  <a:srgbClr val="C00000"/>
                </a:solidFill>
              </a:rPr>
              <a:t>Idea: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traverse </a:t>
            </a:r>
            <a:r>
              <a:rPr lang="en-US" sz="1800" dirty="0">
                <a:solidFill>
                  <a:srgbClr val="C00000"/>
                </a:solidFill>
              </a:rPr>
              <a:t>“deeper” </a:t>
            </a: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whenever possible. 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On each iteration, the algorithm proceeds to an </a:t>
            </a:r>
            <a:r>
              <a:rPr lang="en-US" sz="1800" u="sng" dirty="0">
                <a:solidFill>
                  <a:srgbClr val="C00000"/>
                </a:solidFill>
              </a:rPr>
              <a:t>unvisited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vertex that is </a:t>
            </a:r>
            <a:r>
              <a:rPr lang="en-US" sz="1800" u="sng" dirty="0">
                <a:solidFill>
                  <a:srgbClr val="C00000"/>
                </a:solidFill>
              </a:rPr>
              <a:t>adjacent</a:t>
            </a: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to the one it is currently in. If there are more than more neighbors, break the tie by the alphabetic order of the vertices.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When reaching a </a:t>
            </a:r>
            <a:r>
              <a:rPr lang="en-US" sz="1800" u="sng" dirty="0">
                <a:solidFill>
                  <a:srgbClr val="C00000"/>
                </a:solidFill>
              </a:rPr>
              <a:t>dead end</a:t>
            </a: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(a vertex with no adjacent unvisited vertices), the algorithm backs up one edge to the parent and tries to continue visiting unvisited vertices from there.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 algorithm halts after backing up to the starting vertex, with the latter being a dead end.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0B050"/>
                </a:solidFill>
              </a:rPr>
              <a:t>Similar to preorder tree traversals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It’s convenient to </a:t>
            </a:r>
            <a:r>
              <a:rPr lang="en-US" sz="2400" dirty="0">
                <a:solidFill>
                  <a:srgbClr val="C00000"/>
                </a:solidFill>
              </a:rPr>
              <a:t>use a stack to trace the operation 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of depth-first search.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C00000"/>
                </a:solidFill>
              </a:rPr>
              <a:t>Push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a vertex onto the stack when the </a:t>
            </a:r>
            <a:r>
              <a:rPr lang="en-US" dirty="0">
                <a:solidFill>
                  <a:srgbClr val="C00000"/>
                </a:solidFill>
              </a:rPr>
              <a:t>vertex is reached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for the first time.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C00000"/>
                </a:solidFill>
              </a:rPr>
              <a:t>Pop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 vertex off the stack when it becomes a </a:t>
            </a:r>
            <a:r>
              <a:rPr lang="en-US" dirty="0">
                <a:solidFill>
                  <a:srgbClr val="C00000"/>
                </a:solidFill>
              </a:rPr>
              <a:t>dead end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44036" name="Picture 3" descr="siide bar">
            <a:extLst>
              <a:ext uri="{FF2B5EF4-FFF2-40B4-BE49-F238E27FC236}">
                <a16:creationId xmlns:a16="http://schemas.microsoft.com/office/drawing/2014/main" id="{C21743E8-240A-C3F2-26E1-4EC55CB67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Rectangle 5">
            <a:extLst>
              <a:ext uri="{FF2B5EF4-FFF2-40B4-BE49-F238E27FC236}">
                <a16:creationId xmlns:a16="http://schemas.microsoft.com/office/drawing/2014/main" id="{64347DE0-7ED9-9F43-56E7-0F1DEE8B9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chemeClr val="bg1"/>
                </a:solidFill>
              </a:rPr>
              <a:t>                                          Depth First Search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43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75779" name="Text Placeholder 7577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TW" sz="2000" b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Algorithm </a:t>
            </a:r>
            <a:r>
              <a:rPr lang="en-US" altLang="zh-TW" sz="2000" b="1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dfs(v</a:t>
            </a:r>
            <a:r>
              <a:rPr lang="en-US" altLang="zh-TW" sz="2000" b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s.createStack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();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s.push(v);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mark v as visited;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while (!</a:t>
            </a:r>
            <a:r>
              <a:rPr lang="en-US" altLang="zh-TW" sz="200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s.isEmpty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())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let x be the node on the top of the stack s;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if (no unvisited nodes are adjacent to x)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	s.pop(); // </a:t>
            </a:r>
            <a:r>
              <a:rPr lang="en-US" altLang="zh-TW" sz="200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blacktrack</a:t>
            </a:r>
            <a:endParaRPr lang="en-US" altLang="zh-TW" sz="2000">
              <a:solidFill>
                <a:schemeClr val="accent1">
                  <a:lumMod val="50000"/>
                </a:schemeClr>
              </a:solidFill>
              <a:ea typeface="PMingLiU" pitchFamily="18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else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	select an unvisited node u adjacent to x;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	s.push(u);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	mark u as visited;</a:t>
            </a:r>
            <a:endParaRPr lang="en-US" altLang="zh-TW" sz="2000">
              <a:solidFill>
                <a:schemeClr val="accent2"/>
              </a:solidFill>
              <a:ea typeface="PMingLiU" pitchFamily="18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2"/>
                </a:solidFill>
                <a:ea typeface="PMingLiU" pitchFamily="18" charset="-120"/>
              </a:rPr>
              <a:t>	}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2"/>
                </a:solidFill>
                <a:ea typeface="PMingLiU" pitchFamily="18" charset="-120"/>
              </a:rPr>
              <a:t>}</a:t>
            </a:r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Non Recursive version of DFS Algorithm</a:t>
            </a:r>
          </a:p>
        </p:txBody>
      </p:sp>
    </p:spTree>
    <p:extLst>
      <p:ext uri="{BB962C8B-B14F-4D97-AF65-F5344CB8AC3E}">
        <p14:creationId xmlns:p14="http://schemas.microsoft.com/office/powerpoint/2010/main" val="369847253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CF48-A4E5-9643-1B1C-46CA46F2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DFS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FB9B3-7863-E4E7-CECC-E5CCAA50A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1052280"/>
            <a:ext cx="8134350" cy="571473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void </a:t>
            </a:r>
            <a:r>
              <a:rPr lang="en-US" sz="1600" dirty="0" err="1">
                <a:solidFill>
                  <a:srgbClr val="0070C0"/>
                </a:solidFill>
              </a:rPr>
              <a:t>iterativeDFS</a:t>
            </a:r>
            <a:r>
              <a:rPr lang="en-US" sz="1600" dirty="0">
                <a:solidFill>
                  <a:srgbClr val="0070C0"/>
                </a:solidFill>
              </a:rPr>
              <a:t>(int start, vector&lt;vector&lt;int&gt;&gt;&amp; adj, vector&lt;bool&gt;&amp; visited) {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stack&lt;int&gt; s;  </a:t>
            </a:r>
            <a:r>
              <a:rPr lang="en-US" sz="1600" dirty="0">
                <a:solidFill>
                  <a:srgbClr val="006600"/>
                </a:solidFill>
              </a:rPr>
              <a:t>// Initialize a stack for DFS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</a:t>
            </a:r>
            <a:r>
              <a:rPr lang="en-US" sz="1600" dirty="0" err="1">
                <a:solidFill>
                  <a:srgbClr val="0070C0"/>
                </a:solidFill>
              </a:rPr>
              <a:t>s.push</a:t>
            </a:r>
            <a:r>
              <a:rPr lang="en-US" sz="1600" dirty="0">
                <a:solidFill>
                  <a:srgbClr val="0070C0"/>
                </a:solidFill>
              </a:rPr>
              <a:t>(start); // </a:t>
            </a:r>
            <a:r>
              <a:rPr lang="en-US" sz="1600" dirty="0">
                <a:solidFill>
                  <a:srgbClr val="006600"/>
                </a:solidFill>
              </a:rPr>
              <a:t>Push the starting node onto the stack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while (!</a:t>
            </a:r>
            <a:r>
              <a:rPr lang="en-US" sz="1600" dirty="0" err="1">
                <a:solidFill>
                  <a:srgbClr val="0070C0"/>
                </a:solidFill>
              </a:rPr>
              <a:t>s.empty</a:t>
            </a:r>
            <a:r>
              <a:rPr lang="en-US" sz="1600" dirty="0">
                <a:solidFill>
                  <a:srgbClr val="0070C0"/>
                </a:solidFill>
              </a:rPr>
              <a:t>()) {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    int v = </a:t>
            </a:r>
            <a:r>
              <a:rPr lang="en-US" sz="1600" dirty="0" err="1">
                <a:solidFill>
                  <a:srgbClr val="0070C0"/>
                </a:solidFill>
              </a:rPr>
              <a:t>s.top</a:t>
            </a:r>
            <a:r>
              <a:rPr lang="en-US" sz="1600" dirty="0">
                <a:solidFill>
                  <a:srgbClr val="0070C0"/>
                </a:solidFill>
              </a:rPr>
              <a:t>();  </a:t>
            </a:r>
            <a:r>
              <a:rPr lang="en-US" sz="1600" dirty="0">
                <a:solidFill>
                  <a:srgbClr val="006600"/>
                </a:solidFill>
              </a:rPr>
              <a:t>// Get the top element of the stack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6600"/>
                </a:solidFill>
              </a:rPr>
              <a:t>        </a:t>
            </a:r>
            <a:r>
              <a:rPr lang="en-US" sz="1600" dirty="0" err="1">
                <a:solidFill>
                  <a:srgbClr val="0070C0"/>
                </a:solidFill>
              </a:rPr>
              <a:t>s.pop</a:t>
            </a:r>
            <a:r>
              <a:rPr lang="en-US" sz="1600" dirty="0">
                <a:solidFill>
                  <a:srgbClr val="0070C0"/>
                </a:solidFill>
              </a:rPr>
              <a:t>();          </a:t>
            </a:r>
            <a:r>
              <a:rPr lang="en-US" sz="1600" dirty="0">
                <a:solidFill>
                  <a:srgbClr val="006600"/>
                </a:solidFill>
              </a:rPr>
              <a:t>// Remove the top element from the stack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660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if (!visited[v]) {  </a:t>
            </a:r>
            <a:r>
              <a:rPr lang="en-US" sz="1600" dirty="0">
                <a:solidFill>
                  <a:srgbClr val="006600"/>
                </a:solidFill>
              </a:rPr>
              <a:t>// If the node has not been visited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6600"/>
                </a:solidFill>
              </a:rPr>
              <a:t>            </a:t>
            </a:r>
            <a:r>
              <a:rPr lang="en-US" sz="1600" dirty="0" err="1">
                <a:solidFill>
                  <a:srgbClr val="0070C0"/>
                </a:solidFill>
              </a:rPr>
              <a:t>cout</a:t>
            </a:r>
            <a:r>
              <a:rPr lang="en-US" sz="1600" dirty="0">
                <a:solidFill>
                  <a:srgbClr val="0070C0"/>
                </a:solidFill>
              </a:rPr>
              <a:t> &lt;&lt; v &lt;&lt; " ";  </a:t>
            </a:r>
            <a:r>
              <a:rPr lang="en-US" sz="1600" dirty="0">
                <a:solidFill>
                  <a:srgbClr val="006600"/>
                </a:solidFill>
              </a:rPr>
              <a:t>// Process the node (print it)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6600"/>
                </a:solidFill>
              </a:rPr>
              <a:t>            </a:t>
            </a:r>
            <a:r>
              <a:rPr lang="en-US" sz="1600" dirty="0">
                <a:solidFill>
                  <a:srgbClr val="0070C0"/>
                </a:solidFill>
              </a:rPr>
              <a:t>visited[v] = true;  </a:t>
            </a:r>
            <a:r>
              <a:rPr lang="en-US" sz="1600" dirty="0">
                <a:solidFill>
                  <a:srgbClr val="006600"/>
                </a:solidFill>
              </a:rPr>
              <a:t>// Mark the node as visited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for (int </a:t>
            </a:r>
            <a:r>
              <a:rPr lang="en-US" sz="1600" dirty="0" err="1">
                <a:solidFill>
                  <a:srgbClr val="0070C0"/>
                </a:solidFill>
              </a:rPr>
              <a:t>i</a:t>
            </a:r>
            <a:r>
              <a:rPr lang="en-US" sz="1600" dirty="0">
                <a:solidFill>
                  <a:srgbClr val="0070C0"/>
                </a:solidFill>
              </a:rPr>
              <a:t> = 0; </a:t>
            </a:r>
            <a:r>
              <a:rPr lang="en-US" sz="1600" dirty="0" err="1">
                <a:solidFill>
                  <a:srgbClr val="0070C0"/>
                </a:solidFill>
              </a:rPr>
              <a:t>i</a:t>
            </a:r>
            <a:r>
              <a:rPr lang="en-US" sz="1600" dirty="0">
                <a:solidFill>
                  <a:srgbClr val="0070C0"/>
                </a:solidFill>
              </a:rPr>
              <a:t> &lt; adj[v].size(); </a:t>
            </a:r>
            <a:r>
              <a:rPr lang="en-US" sz="1600" dirty="0" err="1">
                <a:solidFill>
                  <a:srgbClr val="0070C0"/>
                </a:solidFill>
              </a:rPr>
              <a:t>i</a:t>
            </a:r>
            <a:r>
              <a:rPr lang="en-US" sz="1600" dirty="0">
                <a:solidFill>
                  <a:srgbClr val="0070C0"/>
                </a:solidFill>
              </a:rPr>
              <a:t>++) </a:t>
            </a:r>
            <a:r>
              <a:rPr lang="en-US" sz="1400" dirty="0">
                <a:solidFill>
                  <a:srgbClr val="0070C0"/>
                </a:solidFill>
              </a:rPr>
              <a:t>{</a:t>
            </a:r>
            <a:r>
              <a:rPr lang="en-US" sz="1400" dirty="0">
                <a:solidFill>
                  <a:srgbClr val="006600"/>
                </a:solidFill>
              </a:rPr>
              <a:t>//Loop through all neighbors of the current node</a:t>
            </a:r>
            <a:endParaRPr lang="en-US" sz="1400" dirty="0">
              <a:solidFill>
                <a:srgbClr val="0070C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int u = adj[v][</a:t>
            </a:r>
            <a:r>
              <a:rPr lang="en-US" sz="1600" dirty="0" err="1">
                <a:solidFill>
                  <a:srgbClr val="0070C0"/>
                </a:solidFill>
              </a:rPr>
              <a:t>i</a:t>
            </a:r>
            <a:r>
              <a:rPr lang="en-US" sz="1600" dirty="0">
                <a:solidFill>
                  <a:srgbClr val="0070C0"/>
                </a:solidFill>
              </a:rPr>
              <a:t>];</a:t>
            </a:r>
            <a:endParaRPr lang="en-US" sz="1600" dirty="0">
              <a:solidFill>
                <a:srgbClr val="0066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    if (!visited[u]) {   </a:t>
            </a:r>
            <a:r>
              <a:rPr lang="en-US" sz="1600" dirty="0">
                <a:solidFill>
                  <a:srgbClr val="006600"/>
                </a:solidFill>
              </a:rPr>
              <a:t>// If the neighbor hasn't been visited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            </a:t>
            </a:r>
            <a:r>
              <a:rPr lang="en-US" sz="1600" dirty="0" err="1">
                <a:solidFill>
                  <a:srgbClr val="0070C0"/>
                </a:solidFill>
              </a:rPr>
              <a:t>s.push</a:t>
            </a:r>
            <a:r>
              <a:rPr lang="en-US" sz="1600" dirty="0">
                <a:solidFill>
                  <a:srgbClr val="0070C0"/>
                </a:solidFill>
              </a:rPr>
              <a:t>(u);       </a:t>
            </a:r>
            <a:r>
              <a:rPr lang="en-US" sz="1600" dirty="0">
                <a:solidFill>
                  <a:srgbClr val="006600"/>
                </a:solidFill>
              </a:rPr>
              <a:t>// Push the neighbor onto the stack for future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6600"/>
                </a:solidFill>
              </a:rPr>
              <a:t>exploration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    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4BDA1A-D847-D674-CBE9-6DE259C9798C}"/>
              </a:ext>
            </a:extLst>
          </p:cNvPr>
          <p:cNvSpPr/>
          <p:nvPr/>
        </p:nvSpPr>
        <p:spPr bwMode="auto">
          <a:xfrm>
            <a:off x="5233481" y="2858254"/>
            <a:ext cx="3898767" cy="372409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int main() {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int nodes = 4; // total number of nodes, labeled from 0 to 5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vector&lt;vector&lt;int&gt;&gt; adj(nodes);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// Creating an undirected graph (example)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adj[0] = {1, 2};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adj[1] = {0, 3};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adj[2] = {0};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adj[3] = {1};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vector&lt;bool&gt; visited(nodes, false);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int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startNode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= 0;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cout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&lt;&lt; "DFS traversal starting from node " &lt;&lt;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startNode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&lt;&lt; ": ";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iterativeDFS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(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startNode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, adj, visited);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cout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&lt;&lt; </a:t>
            </a:r>
            <a:r>
              <a:rPr kumimoji="0" 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endl</a:t>
            </a: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return 0;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92646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45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grpSp>
        <p:nvGrpSpPr>
          <p:cNvPr id="76802" name="Group 76801"/>
          <p:cNvGrpSpPr/>
          <p:nvPr/>
        </p:nvGrpSpPr>
        <p:grpSpPr>
          <a:xfrm>
            <a:off x="609600" y="2082800"/>
            <a:ext cx="7315200" cy="3200400"/>
            <a:chOff x="384" y="1632"/>
            <a:chExt cx="4608" cy="2016"/>
          </a:xfrm>
        </p:grpSpPr>
        <p:sp>
          <p:nvSpPr>
            <p:cNvPr id="76803" name="Straight Connector 76802"/>
            <p:cNvSpPr/>
            <p:nvPr/>
          </p:nvSpPr>
          <p:spPr>
            <a:xfrm>
              <a:off x="384" y="3648"/>
              <a:ext cx="38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04" name="Straight Connector 76803"/>
            <p:cNvSpPr/>
            <p:nvPr/>
          </p:nvSpPr>
          <p:spPr>
            <a:xfrm>
              <a:off x="4992" y="1632"/>
              <a:ext cx="0" cy="336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806" name="Oval 76805"/>
          <p:cNvSpPr/>
          <p:nvPr/>
        </p:nvSpPr>
        <p:spPr>
          <a:xfrm>
            <a:off x="6575425" y="26797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6807" name="Oval 76806"/>
          <p:cNvSpPr/>
          <p:nvPr/>
        </p:nvSpPr>
        <p:spPr>
          <a:xfrm>
            <a:off x="7718425" y="27559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6808" name="Oval 76807"/>
          <p:cNvSpPr/>
          <p:nvPr/>
        </p:nvSpPr>
        <p:spPr>
          <a:xfrm>
            <a:off x="7642225" y="37465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6809" name="Oval 76808"/>
          <p:cNvSpPr/>
          <p:nvPr/>
        </p:nvSpPr>
        <p:spPr>
          <a:xfrm>
            <a:off x="6042025" y="35941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6810" name="Straight Connector 76809"/>
          <p:cNvSpPr/>
          <p:nvPr/>
        </p:nvSpPr>
        <p:spPr>
          <a:xfrm flipH="1" flipV="1">
            <a:off x="6956425" y="2832100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6811" name="Straight Connector 76810"/>
          <p:cNvSpPr/>
          <p:nvPr/>
        </p:nvSpPr>
        <p:spPr>
          <a:xfrm flipH="1" flipV="1">
            <a:off x="6423025" y="3746500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6812" name="Straight Connector 76811"/>
          <p:cNvSpPr/>
          <p:nvPr/>
        </p:nvSpPr>
        <p:spPr>
          <a:xfrm flipH="1">
            <a:off x="6423025" y="2984500"/>
            <a:ext cx="12954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6813" name="Straight Connector 76812"/>
          <p:cNvSpPr/>
          <p:nvPr/>
        </p:nvSpPr>
        <p:spPr>
          <a:xfrm flipH="1">
            <a:off x="6346825" y="2984500"/>
            <a:ext cx="3048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6814" name="Oval 76813"/>
          <p:cNvSpPr/>
          <p:nvPr/>
        </p:nvSpPr>
        <p:spPr>
          <a:xfrm>
            <a:off x="5187950" y="29083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>
              <a:latin typeface="Tahoma" panose="020B0604030504040204" pitchFamily="34" charset="0"/>
            </a:endParaRPr>
          </a:p>
        </p:txBody>
      </p:sp>
      <p:sp>
        <p:nvSpPr>
          <p:cNvPr id="76815" name="Straight Connector 76814"/>
          <p:cNvSpPr/>
          <p:nvPr/>
        </p:nvSpPr>
        <p:spPr>
          <a:xfrm flipV="1">
            <a:off x="5568950" y="2908300"/>
            <a:ext cx="9906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6816" name="Text Box 76815"/>
          <p:cNvSpPr txBox="1"/>
          <p:nvPr/>
        </p:nvSpPr>
        <p:spPr>
          <a:xfrm>
            <a:off x="4806950" y="23749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76817" name="Text Box 76816"/>
          <p:cNvSpPr txBox="1"/>
          <p:nvPr/>
        </p:nvSpPr>
        <p:spPr>
          <a:xfrm>
            <a:off x="5629275" y="36782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76818" name="Text Box 76817"/>
          <p:cNvSpPr txBox="1"/>
          <p:nvPr/>
        </p:nvSpPr>
        <p:spPr>
          <a:xfrm>
            <a:off x="8159750" y="22987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76819" name="Text Box 76818"/>
          <p:cNvSpPr txBox="1"/>
          <p:nvPr/>
        </p:nvSpPr>
        <p:spPr>
          <a:xfrm>
            <a:off x="8083550" y="35179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76820" name="Straight Connector 76819"/>
          <p:cNvSpPr/>
          <p:nvPr/>
        </p:nvSpPr>
        <p:spPr>
          <a:xfrm flipV="1">
            <a:off x="7854950" y="3060700"/>
            <a:ext cx="762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6821" name="Text Box 76820"/>
          <p:cNvSpPr txBox="1"/>
          <p:nvPr/>
        </p:nvSpPr>
        <p:spPr>
          <a:xfrm>
            <a:off x="6467475" y="20780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76822" name="Text Box 76821"/>
          <p:cNvSpPr txBox="1"/>
          <p:nvPr/>
        </p:nvSpPr>
        <p:spPr>
          <a:xfrm>
            <a:off x="6705600" y="4826000"/>
            <a:ext cx="455613" cy="57943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3200">
                <a:solidFill>
                  <a:schemeClr val="folHlink"/>
                </a:solidFill>
                <a:latin typeface="Tahoma" panose="020B0604030504040204" pitchFamily="34" charset="0"/>
              </a:rPr>
              <a:t>G</a:t>
            </a:r>
          </a:p>
        </p:txBody>
      </p:sp>
      <p:graphicFrame>
        <p:nvGraphicFramePr>
          <p:cNvPr id="76823" name="Table 76822"/>
          <p:cNvGraphicFramePr/>
          <p:nvPr/>
        </p:nvGraphicFramePr>
        <p:xfrm>
          <a:off x="1447800" y="1549400"/>
          <a:ext cx="2971800" cy="432816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visit</a:t>
                      </a:r>
                      <a:endParaRPr lang="en-US" altLang="zh-TW" sz="2000" baseline="-250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stack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backtrack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 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backtrack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 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backtrack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backtrack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backtrack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empty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6861" name="Text Box 76860"/>
          <p:cNvSpPr txBox="1"/>
          <p:nvPr/>
        </p:nvSpPr>
        <p:spPr>
          <a:xfrm>
            <a:off x="7696200" y="2540000"/>
            <a:ext cx="522288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4400" b="1">
                <a:solidFill>
                  <a:schemeClr val="hlink"/>
                </a:solidFill>
                <a:latin typeface="Tahoma" panose="020B0604030504040204" pitchFamily="34" charset="0"/>
              </a:rPr>
              <a:t>x</a:t>
            </a:r>
          </a:p>
        </p:txBody>
      </p:sp>
      <p:grpSp>
        <p:nvGrpSpPr>
          <p:cNvPr id="76862" name="Group 76861"/>
          <p:cNvGrpSpPr/>
          <p:nvPr/>
        </p:nvGrpSpPr>
        <p:grpSpPr>
          <a:xfrm>
            <a:off x="609600" y="2082800"/>
            <a:ext cx="7315200" cy="533400"/>
            <a:chOff x="384" y="1632"/>
            <a:chExt cx="4608" cy="336"/>
          </a:xfrm>
        </p:grpSpPr>
        <p:sp>
          <p:nvSpPr>
            <p:cNvPr id="76863" name="Straight Connector 76862"/>
            <p:cNvSpPr/>
            <p:nvPr/>
          </p:nvSpPr>
          <p:spPr>
            <a:xfrm>
              <a:off x="384" y="1680"/>
              <a:ext cx="38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4" name="Straight Connector 76863"/>
            <p:cNvSpPr/>
            <p:nvPr/>
          </p:nvSpPr>
          <p:spPr>
            <a:xfrm>
              <a:off x="4992" y="1632"/>
              <a:ext cx="0" cy="336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65" name="Group 76864"/>
          <p:cNvGrpSpPr/>
          <p:nvPr/>
        </p:nvGrpSpPr>
        <p:grpSpPr>
          <a:xfrm>
            <a:off x="6553200" y="2463800"/>
            <a:ext cx="1143000" cy="762000"/>
            <a:chOff x="4128" y="1872"/>
            <a:chExt cx="720" cy="480"/>
          </a:xfrm>
        </p:grpSpPr>
        <p:sp>
          <p:nvSpPr>
            <p:cNvPr id="76866" name="Text Box 76865"/>
            <p:cNvSpPr txBox="1"/>
            <p:nvPr/>
          </p:nvSpPr>
          <p:spPr>
            <a:xfrm>
              <a:off x="4128" y="1872"/>
              <a:ext cx="329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4400" b="1">
                  <a:solidFill>
                    <a:schemeClr val="hlink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6867" name="Straight Connector 76866"/>
            <p:cNvSpPr/>
            <p:nvPr/>
          </p:nvSpPr>
          <p:spPr>
            <a:xfrm flipH="1" flipV="1">
              <a:off x="4368" y="2112"/>
              <a:ext cx="480" cy="4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68" name="Group 76867"/>
          <p:cNvGrpSpPr/>
          <p:nvPr/>
        </p:nvGrpSpPr>
        <p:grpSpPr>
          <a:xfrm>
            <a:off x="609600" y="1778000"/>
            <a:ext cx="6248400" cy="762000"/>
            <a:chOff x="384" y="1440"/>
            <a:chExt cx="3936" cy="480"/>
          </a:xfrm>
        </p:grpSpPr>
        <p:sp>
          <p:nvSpPr>
            <p:cNvPr id="76869" name="Straight Connector 76868"/>
            <p:cNvSpPr/>
            <p:nvPr/>
          </p:nvSpPr>
          <p:spPr>
            <a:xfrm>
              <a:off x="384" y="1920"/>
              <a:ext cx="38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70" name="Straight Connector 76869"/>
            <p:cNvSpPr/>
            <p:nvPr/>
          </p:nvSpPr>
          <p:spPr>
            <a:xfrm>
              <a:off x="4320" y="1440"/>
              <a:ext cx="0" cy="336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71" name="Group 76870"/>
          <p:cNvGrpSpPr/>
          <p:nvPr/>
        </p:nvGrpSpPr>
        <p:grpSpPr>
          <a:xfrm>
            <a:off x="609600" y="2159000"/>
            <a:ext cx="4800600" cy="762000"/>
            <a:chOff x="384" y="1680"/>
            <a:chExt cx="3024" cy="480"/>
          </a:xfrm>
        </p:grpSpPr>
        <p:sp>
          <p:nvSpPr>
            <p:cNvPr id="76872" name="Straight Connector 76871"/>
            <p:cNvSpPr/>
            <p:nvPr/>
          </p:nvSpPr>
          <p:spPr>
            <a:xfrm>
              <a:off x="384" y="2160"/>
              <a:ext cx="38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73" name="Straight Connector 76872"/>
            <p:cNvSpPr/>
            <p:nvPr/>
          </p:nvSpPr>
          <p:spPr>
            <a:xfrm>
              <a:off x="3408" y="1680"/>
              <a:ext cx="0" cy="336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74" name="Group 76873"/>
          <p:cNvGrpSpPr/>
          <p:nvPr/>
        </p:nvGrpSpPr>
        <p:grpSpPr>
          <a:xfrm>
            <a:off x="5105400" y="2692400"/>
            <a:ext cx="1447800" cy="762000"/>
            <a:chOff x="3216" y="2016"/>
            <a:chExt cx="912" cy="480"/>
          </a:xfrm>
        </p:grpSpPr>
        <p:sp>
          <p:nvSpPr>
            <p:cNvPr id="76875" name="Text Box 76874"/>
            <p:cNvSpPr txBox="1"/>
            <p:nvPr/>
          </p:nvSpPr>
          <p:spPr>
            <a:xfrm>
              <a:off x="3216" y="2016"/>
              <a:ext cx="329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4400" b="1">
                  <a:solidFill>
                    <a:schemeClr val="hlink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6876" name="Straight Connector 76875"/>
            <p:cNvSpPr/>
            <p:nvPr/>
          </p:nvSpPr>
          <p:spPr>
            <a:xfrm flipV="1">
              <a:off x="3504" y="2160"/>
              <a:ext cx="624" cy="9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877" name="Straight Connector 76876"/>
          <p:cNvSpPr/>
          <p:nvPr/>
        </p:nvSpPr>
        <p:spPr>
          <a:xfrm>
            <a:off x="609600" y="5664200"/>
            <a:ext cx="609600" cy="0"/>
          </a:xfrm>
          <a:prstGeom prst="line">
            <a:avLst/>
          </a:prstGeom>
          <a:ln w="57150" cap="flat" cmpd="sng">
            <a:solidFill>
              <a:srgbClr val="00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76878" name="Group 76877"/>
          <p:cNvGrpSpPr/>
          <p:nvPr/>
        </p:nvGrpSpPr>
        <p:grpSpPr>
          <a:xfrm>
            <a:off x="609600" y="1778000"/>
            <a:ext cx="6248400" cy="1524000"/>
            <a:chOff x="384" y="1440"/>
            <a:chExt cx="3936" cy="960"/>
          </a:xfrm>
        </p:grpSpPr>
        <p:sp>
          <p:nvSpPr>
            <p:cNvPr id="76879" name="Straight Connector 76878"/>
            <p:cNvSpPr/>
            <p:nvPr/>
          </p:nvSpPr>
          <p:spPr>
            <a:xfrm>
              <a:off x="384" y="2400"/>
              <a:ext cx="38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0" name="Straight Connector 76879"/>
            <p:cNvSpPr/>
            <p:nvPr/>
          </p:nvSpPr>
          <p:spPr>
            <a:xfrm>
              <a:off x="4320" y="1440"/>
              <a:ext cx="0" cy="336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81" name="Group 76880"/>
          <p:cNvGrpSpPr/>
          <p:nvPr/>
        </p:nvGrpSpPr>
        <p:grpSpPr>
          <a:xfrm>
            <a:off x="6019800" y="2997200"/>
            <a:ext cx="609600" cy="1066800"/>
            <a:chOff x="3792" y="2208"/>
            <a:chExt cx="384" cy="672"/>
          </a:xfrm>
        </p:grpSpPr>
        <p:sp>
          <p:nvSpPr>
            <p:cNvPr id="76882" name="Text Box 76881"/>
            <p:cNvSpPr txBox="1"/>
            <p:nvPr/>
          </p:nvSpPr>
          <p:spPr>
            <a:xfrm>
              <a:off x="3792" y="2400"/>
              <a:ext cx="329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4400" b="1">
                  <a:solidFill>
                    <a:schemeClr val="hlink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6883" name="Straight Connector 76882"/>
            <p:cNvSpPr/>
            <p:nvPr/>
          </p:nvSpPr>
          <p:spPr>
            <a:xfrm flipH="1">
              <a:off x="3984" y="2208"/>
              <a:ext cx="192" cy="384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84" name="Group 76883"/>
          <p:cNvGrpSpPr/>
          <p:nvPr/>
        </p:nvGrpSpPr>
        <p:grpSpPr>
          <a:xfrm>
            <a:off x="609600" y="3759200"/>
            <a:ext cx="5638800" cy="838200"/>
            <a:chOff x="384" y="2688"/>
            <a:chExt cx="3552" cy="528"/>
          </a:xfrm>
        </p:grpSpPr>
        <p:sp>
          <p:nvSpPr>
            <p:cNvPr id="76885" name="Straight Connector 76884"/>
            <p:cNvSpPr/>
            <p:nvPr/>
          </p:nvSpPr>
          <p:spPr>
            <a:xfrm>
              <a:off x="384" y="2688"/>
              <a:ext cx="38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6" name="Straight Connector 76885"/>
            <p:cNvSpPr/>
            <p:nvPr/>
          </p:nvSpPr>
          <p:spPr>
            <a:xfrm flipV="1">
              <a:off x="3936" y="2880"/>
              <a:ext cx="0" cy="336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87" name="Group 76886"/>
          <p:cNvGrpSpPr/>
          <p:nvPr/>
        </p:nvGrpSpPr>
        <p:grpSpPr>
          <a:xfrm>
            <a:off x="6400800" y="3454400"/>
            <a:ext cx="1665288" cy="762000"/>
            <a:chOff x="4032" y="2496"/>
            <a:chExt cx="1049" cy="480"/>
          </a:xfrm>
        </p:grpSpPr>
        <p:sp>
          <p:nvSpPr>
            <p:cNvPr id="76888" name="Text Box 76887"/>
            <p:cNvSpPr txBox="1"/>
            <p:nvPr/>
          </p:nvSpPr>
          <p:spPr>
            <a:xfrm>
              <a:off x="4752" y="2496"/>
              <a:ext cx="329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4400" b="1">
                  <a:solidFill>
                    <a:schemeClr val="hlink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6889" name="Straight Connector 76888"/>
            <p:cNvSpPr/>
            <p:nvPr/>
          </p:nvSpPr>
          <p:spPr>
            <a:xfrm flipH="1" flipV="1">
              <a:off x="4032" y="2688"/>
              <a:ext cx="768" cy="9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90" name="Group 76889"/>
          <p:cNvGrpSpPr/>
          <p:nvPr/>
        </p:nvGrpSpPr>
        <p:grpSpPr>
          <a:xfrm>
            <a:off x="609600" y="4140200"/>
            <a:ext cx="7239000" cy="609600"/>
            <a:chOff x="384" y="2928"/>
            <a:chExt cx="4560" cy="384"/>
          </a:xfrm>
        </p:grpSpPr>
        <p:sp>
          <p:nvSpPr>
            <p:cNvPr id="76891" name="Straight Connector 76890"/>
            <p:cNvSpPr/>
            <p:nvPr/>
          </p:nvSpPr>
          <p:spPr>
            <a:xfrm>
              <a:off x="384" y="2928"/>
              <a:ext cx="38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92" name="Straight Connector 76891"/>
            <p:cNvSpPr/>
            <p:nvPr/>
          </p:nvSpPr>
          <p:spPr>
            <a:xfrm flipV="1">
              <a:off x="4944" y="2976"/>
              <a:ext cx="0" cy="336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93" name="Group 76892"/>
          <p:cNvGrpSpPr/>
          <p:nvPr/>
        </p:nvGrpSpPr>
        <p:grpSpPr>
          <a:xfrm>
            <a:off x="609600" y="4064000"/>
            <a:ext cx="5638800" cy="533400"/>
            <a:chOff x="384" y="2880"/>
            <a:chExt cx="3552" cy="336"/>
          </a:xfrm>
        </p:grpSpPr>
        <p:sp>
          <p:nvSpPr>
            <p:cNvPr id="76894" name="Straight Connector 76893"/>
            <p:cNvSpPr/>
            <p:nvPr/>
          </p:nvSpPr>
          <p:spPr>
            <a:xfrm>
              <a:off x="384" y="3168"/>
              <a:ext cx="38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95" name="Straight Connector 76894"/>
            <p:cNvSpPr/>
            <p:nvPr/>
          </p:nvSpPr>
          <p:spPr>
            <a:xfrm flipV="1">
              <a:off x="3936" y="2880"/>
              <a:ext cx="0" cy="336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96" name="Group 76895"/>
          <p:cNvGrpSpPr/>
          <p:nvPr/>
        </p:nvGrpSpPr>
        <p:grpSpPr>
          <a:xfrm>
            <a:off x="609600" y="1778000"/>
            <a:ext cx="6248400" cy="3124200"/>
            <a:chOff x="384" y="1440"/>
            <a:chExt cx="3936" cy="1968"/>
          </a:xfrm>
        </p:grpSpPr>
        <p:sp>
          <p:nvSpPr>
            <p:cNvPr id="76897" name="Straight Connector 76896"/>
            <p:cNvSpPr/>
            <p:nvPr/>
          </p:nvSpPr>
          <p:spPr>
            <a:xfrm>
              <a:off x="384" y="3408"/>
              <a:ext cx="38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98" name="Straight Connector 76897"/>
            <p:cNvSpPr/>
            <p:nvPr/>
          </p:nvSpPr>
          <p:spPr>
            <a:xfrm>
              <a:off x="4320" y="1440"/>
              <a:ext cx="0" cy="336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Non- Recursive DFS Example</a:t>
            </a:r>
          </a:p>
        </p:txBody>
      </p:sp>
    </p:spTree>
    <p:extLst>
      <p:ext uri="{BB962C8B-B14F-4D97-AF65-F5344CB8AC3E}">
        <p14:creationId xmlns:p14="http://schemas.microsoft.com/office/powerpoint/2010/main" val="28994416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6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B70E39D1-0769-EA2C-78AC-ADD820EE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D56AC5-E4CC-4D35-B0C4-4A7011D0DF6D}" type="slidenum">
              <a:rPr lang="en-CA" altLang="en-US" sz="120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CA" altLang="en-US" sz="1200">
              <a:solidFill>
                <a:schemeClr val="bg2"/>
              </a:solidFill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D5D520C-51FF-0464-919D-9901DF187B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713" y="1090613"/>
            <a:ext cx="8269287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 idea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Traverse </a:t>
            </a:r>
            <a:r>
              <a:rPr lang="en-US" dirty="0">
                <a:solidFill>
                  <a:srgbClr val="C00000"/>
                </a:solidFill>
              </a:rPr>
              <a:t>“wider”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whenever possible.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Discover all vertices at distance k from s (on level k) before discovering any vertices at distance k +1 (at level k+1)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Similar to level-by-level tree traversals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Instead of a stack, breadth-first uses a queue.</a:t>
            </a:r>
          </a:p>
        </p:txBody>
      </p:sp>
      <p:pic>
        <p:nvPicPr>
          <p:cNvPr id="55301" name="Picture 3" descr="siide bar">
            <a:extLst>
              <a:ext uri="{FF2B5EF4-FFF2-40B4-BE49-F238E27FC236}">
                <a16:creationId xmlns:a16="http://schemas.microsoft.com/office/drawing/2014/main" id="{5827CC0E-4403-DFA0-C859-54AA6D5AF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3" descr="siide bar">
            <a:extLst>
              <a:ext uri="{FF2B5EF4-FFF2-40B4-BE49-F238E27FC236}">
                <a16:creationId xmlns:a16="http://schemas.microsoft.com/office/drawing/2014/main" id="{607134C7-46AD-872B-136B-9DEC5E2F1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EFC9D8D7-7B53-826D-6995-0F73566D7CE9}"/>
              </a:ext>
            </a:extLst>
          </p:cNvPr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Breadth First Search(BFS)</a:t>
            </a:r>
          </a:p>
        </p:txBody>
      </p:sp>
    </p:spTree>
    <p:extLst>
      <p:ext uri="{BB962C8B-B14F-4D97-AF65-F5344CB8AC3E}">
        <p14:creationId xmlns:p14="http://schemas.microsoft.com/office/powerpoint/2010/main" val="217114567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47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77827" name="Text Placeholder 778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BFS strategy looks similar to level-order. From a given node v, it first visits itself. Then, it visits every node adjacent to v before visiting any other nodes.</a:t>
            </a:r>
          </a:p>
          <a:p>
            <a:pPr lvl="1" algn="just">
              <a:lnSpc>
                <a:spcPct val="90000"/>
              </a:lnSpc>
            </a:pPr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1. Visit v</a:t>
            </a:r>
          </a:p>
          <a:p>
            <a:pPr lvl="1" algn="just">
              <a:lnSpc>
                <a:spcPct val="90000"/>
              </a:lnSpc>
            </a:pPr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2. Visit all v’s </a:t>
            </a:r>
            <a:r>
              <a:rPr lang="en-US" altLang="zh-TW" sz="240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neigbours</a:t>
            </a:r>
            <a:endParaRPr lang="en-US" altLang="zh-TW" sz="2400">
              <a:solidFill>
                <a:schemeClr val="accent1">
                  <a:lumMod val="50000"/>
                </a:schemeClr>
              </a:solidFill>
              <a:ea typeface="PMingLiU" pitchFamily="18" charset="-120"/>
            </a:endParaRPr>
          </a:p>
          <a:p>
            <a:pPr lvl="1" algn="just">
              <a:lnSpc>
                <a:spcPct val="90000"/>
              </a:lnSpc>
            </a:pPr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3. Visit all v’s </a:t>
            </a:r>
            <a:r>
              <a:rPr lang="en-US" altLang="zh-TW" sz="240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neighbours</a:t>
            </a:r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’ </a:t>
            </a:r>
            <a:r>
              <a:rPr lang="en-US" altLang="zh-TW" sz="240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neighbours</a:t>
            </a:r>
            <a:endParaRPr lang="en-US" altLang="zh-TW" sz="2400">
              <a:solidFill>
                <a:schemeClr val="accent1">
                  <a:lumMod val="50000"/>
                </a:schemeClr>
              </a:solidFill>
              <a:ea typeface="PMingLiU" pitchFamily="18" charset="-120"/>
            </a:endParaRPr>
          </a:p>
          <a:p>
            <a:pPr lvl="1" algn="just">
              <a:lnSpc>
                <a:spcPct val="90000"/>
              </a:lnSpc>
            </a:pPr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PMingLiU" pitchFamily="18" charset="-120"/>
              </a:rPr>
              <a:t>…</a:t>
            </a:r>
            <a:endParaRPr lang="en-US" altLang="zh-TW" sz="2400">
              <a:solidFill>
                <a:schemeClr val="accent1">
                  <a:lumMod val="50000"/>
                </a:schemeClr>
              </a:solidFill>
              <a:ea typeface="PMingLiU" pitchFamily="18" charset="-120"/>
            </a:endParaRPr>
          </a:p>
          <a:p>
            <a:pPr algn="just">
              <a:lnSpc>
                <a:spcPct val="90000"/>
              </a:lnSpc>
            </a:pPr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Similar to level-order, BFS is based on a queue.</a:t>
            </a:r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Breadth First Search(BFS)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48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79875" name="Text Placeholder 79874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630238"/>
          </a:xfrm>
        </p:spPr>
        <p:txBody>
          <a:bodyPr/>
          <a:lstStyle/>
          <a:p>
            <a:r>
              <a:rPr lang="en-US" altLang="zh-TW" sz="2800">
                <a:ea typeface="PMingLiU" pitchFamily="18" charset="-120"/>
              </a:rPr>
              <a:t>S</a:t>
            </a:r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tart from v</a:t>
            </a:r>
            <a:r>
              <a:rPr lang="en-US" altLang="zh-TW" sz="28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5</a:t>
            </a:r>
          </a:p>
        </p:txBody>
      </p:sp>
      <p:sp>
        <p:nvSpPr>
          <p:cNvPr id="79876" name="Oval 79875"/>
          <p:cNvSpPr/>
          <p:nvPr/>
        </p:nvSpPr>
        <p:spPr>
          <a:xfrm>
            <a:off x="4876800" y="2286000"/>
            <a:ext cx="533400" cy="533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5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79877" name="Text Box 79876"/>
          <p:cNvSpPr txBox="1"/>
          <p:nvPr/>
        </p:nvSpPr>
        <p:spPr>
          <a:xfrm>
            <a:off x="4724400" y="1981200"/>
            <a:ext cx="322263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2000">
                <a:latin typeface="Tahoma" panose="020B0604030504040204" pitchFamily="34" charset="0"/>
              </a:rPr>
              <a:t>1</a:t>
            </a:r>
          </a:p>
        </p:txBody>
      </p:sp>
      <p:grpSp>
        <p:nvGrpSpPr>
          <p:cNvPr id="79878" name="Group 79877"/>
          <p:cNvGrpSpPr/>
          <p:nvPr/>
        </p:nvGrpSpPr>
        <p:grpSpPr>
          <a:xfrm>
            <a:off x="4098925" y="2743200"/>
            <a:ext cx="854075" cy="1066800"/>
            <a:chOff x="3110" y="2064"/>
            <a:chExt cx="538" cy="672"/>
          </a:xfrm>
        </p:grpSpPr>
        <p:sp>
          <p:nvSpPr>
            <p:cNvPr id="79879" name="Oval 79878"/>
            <p:cNvSpPr/>
            <p:nvPr/>
          </p:nvSpPr>
          <p:spPr>
            <a:xfrm>
              <a:off x="3264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en-US" altLang="zh-TW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3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79880" name="Straight Connector 79879"/>
            <p:cNvSpPr/>
            <p:nvPr/>
          </p:nvSpPr>
          <p:spPr>
            <a:xfrm flipV="1">
              <a:off x="3456" y="2064"/>
              <a:ext cx="192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881" name="Text Box 79880"/>
            <p:cNvSpPr txBox="1"/>
            <p:nvPr/>
          </p:nvSpPr>
          <p:spPr>
            <a:xfrm>
              <a:off x="3110" y="2308"/>
              <a:ext cx="20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2000">
                  <a:latin typeface="Tahoma" panose="020B0604030504040204" pitchFamily="34" charset="0"/>
                </a:rPr>
                <a:t>2</a:t>
              </a:r>
            </a:p>
          </p:txBody>
        </p:sp>
      </p:grpSp>
      <p:grpSp>
        <p:nvGrpSpPr>
          <p:cNvPr id="79882" name="Group 79881"/>
          <p:cNvGrpSpPr/>
          <p:nvPr/>
        </p:nvGrpSpPr>
        <p:grpSpPr>
          <a:xfrm>
            <a:off x="5334000" y="2743200"/>
            <a:ext cx="763588" cy="1143000"/>
            <a:chOff x="3888" y="2064"/>
            <a:chExt cx="481" cy="720"/>
          </a:xfrm>
        </p:grpSpPr>
        <p:sp>
          <p:nvSpPr>
            <p:cNvPr id="79883" name="Oval 79882"/>
            <p:cNvSpPr/>
            <p:nvPr/>
          </p:nvSpPr>
          <p:spPr>
            <a:xfrm>
              <a:off x="3888" y="2448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en-US" altLang="zh-TW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4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79884" name="Straight Connector 79883"/>
            <p:cNvSpPr/>
            <p:nvPr/>
          </p:nvSpPr>
          <p:spPr>
            <a:xfrm flipH="1" flipV="1">
              <a:off x="3888" y="2064"/>
              <a:ext cx="144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885" name="Text Box 79884"/>
            <p:cNvSpPr txBox="1"/>
            <p:nvPr/>
          </p:nvSpPr>
          <p:spPr>
            <a:xfrm>
              <a:off x="4166" y="2308"/>
              <a:ext cx="20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2000">
                  <a:latin typeface="Tahoma" panose="020B0604030504040204" pitchFamily="34" charset="0"/>
                </a:rPr>
                <a:t>3</a:t>
              </a:r>
            </a:p>
          </p:txBody>
        </p:sp>
      </p:grpSp>
      <p:grpSp>
        <p:nvGrpSpPr>
          <p:cNvPr id="79886" name="Group 79885"/>
          <p:cNvGrpSpPr/>
          <p:nvPr/>
        </p:nvGrpSpPr>
        <p:grpSpPr>
          <a:xfrm>
            <a:off x="3657600" y="3733800"/>
            <a:ext cx="854075" cy="1219200"/>
            <a:chOff x="2822" y="2688"/>
            <a:chExt cx="538" cy="768"/>
          </a:xfrm>
        </p:grpSpPr>
        <p:sp>
          <p:nvSpPr>
            <p:cNvPr id="79887" name="Oval 79886"/>
            <p:cNvSpPr/>
            <p:nvPr/>
          </p:nvSpPr>
          <p:spPr>
            <a:xfrm>
              <a:off x="3024" y="3120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en-US" altLang="zh-TW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2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79888" name="Straight Connector 79887"/>
            <p:cNvSpPr/>
            <p:nvPr/>
          </p:nvSpPr>
          <p:spPr>
            <a:xfrm flipV="1">
              <a:off x="3168" y="2688"/>
              <a:ext cx="144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889" name="Text Box 79888"/>
            <p:cNvSpPr txBox="1"/>
            <p:nvPr/>
          </p:nvSpPr>
          <p:spPr>
            <a:xfrm>
              <a:off x="2822" y="2980"/>
              <a:ext cx="20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2000">
                  <a:latin typeface="Tahoma" panose="020B0604030504040204" pitchFamily="34" charset="0"/>
                </a:rPr>
                <a:t>4</a:t>
              </a:r>
            </a:p>
          </p:txBody>
        </p:sp>
      </p:grpSp>
      <p:grpSp>
        <p:nvGrpSpPr>
          <p:cNvPr id="79890" name="Group 79889"/>
          <p:cNvGrpSpPr/>
          <p:nvPr/>
        </p:nvGrpSpPr>
        <p:grpSpPr>
          <a:xfrm>
            <a:off x="3276600" y="4876800"/>
            <a:ext cx="854075" cy="1219200"/>
            <a:chOff x="2822" y="2688"/>
            <a:chExt cx="538" cy="768"/>
          </a:xfrm>
        </p:grpSpPr>
        <p:sp>
          <p:nvSpPr>
            <p:cNvPr id="79891" name="Oval 79890"/>
            <p:cNvSpPr/>
            <p:nvPr/>
          </p:nvSpPr>
          <p:spPr>
            <a:xfrm>
              <a:off x="3024" y="3120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en-US" altLang="zh-TW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79892" name="Straight Connector 79891"/>
            <p:cNvSpPr/>
            <p:nvPr/>
          </p:nvSpPr>
          <p:spPr>
            <a:xfrm flipV="1">
              <a:off x="3168" y="2688"/>
              <a:ext cx="144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893" name="Text Box 79892"/>
            <p:cNvSpPr txBox="1"/>
            <p:nvPr/>
          </p:nvSpPr>
          <p:spPr>
            <a:xfrm>
              <a:off x="2822" y="2980"/>
              <a:ext cx="20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2000">
                  <a:latin typeface="Tahoma" panose="020B0604030504040204" pitchFamily="34" charset="0"/>
                </a:rPr>
                <a:t>5</a:t>
              </a:r>
            </a:p>
          </p:txBody>
        </p:sp>
      </p:grpSp>
      <p:grpSp>
        <p:nvGrpSpPr>
          <p:cNvPr id="79894" name="Group 79893"/>
          <p:cNvGrpSpPr/>
          <p:nvPr/>
        </p:nvGrpSpPr>
        <p:grpSpPr>
          <a:xfrm>
            <a:off x="320675" y="2743200"/>
            <a:ext cx="3032125" cy="2882900"/>
            <a:chOff x="202" y="2064"/>
            <a:chExt cx="1910" cy="1816"/>
          </a:xfrm>
        </p:grpSpPr>
        <p:sp>
          <p:nvSpPr>
            <p:cNvPr id="79895" name="Text Box 79894"/>
            <p:cNvSpPr txBox="1"/>
            <p:nvPr/>
          </p:nvSpPr>
          <p:spPr>
            <a:xfrm>
              <a:off x="240" y="2256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79896" name="Oval 79895"/>
            <p:cNvSpPr/>
            <p:nvPr/>
          </p:nvSpPr>
          <p:spPr>
            <a:xfrm>
              <a:off x="1076" y="2443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897" name="Oval 79896"/>
            <p:cNvSpPr/>
            <p:nvPr/>
          </p:nvSpPr>
          <p:spPr>
            <a:xfrm>
              <a:off x="1796" y="2491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898" name="Oval 79897"/>
            <p:cNvSpPr/>
            <p:nvPr/>
          </p:nvSpPr>
          <p:spPr>
            <a:xfrm>
              <a:off x="1748" y="3115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899" name="Oval 79898"/>
            <p:cNvSpPr/>
            <p:nvPr/>
          </p:nvSpPr>
          <p:spPr>
            <a:xfrm>
              <a:off x="740" y="3019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900" name="Straight Connector 79899"/>
            <p:cNvSpPr/>
            <p:nvPr/>
          </p:nvSpPr>
          <p:spPr>
            <a:xfrm flipH="1" flipV="1">
              <a:off x="1316" y="2539"/>
              <a:ext cx="48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901" name="Straight Connector 79900"/>
            <p:cNvSpPr/>
            <p:nvPr/>
          </p:nvSpPr>
          <p:spPr>
            <a:xfrm flipH="1" flipV="1">
              <a:off x="980" y="3115"/>
              <a:ext cx="76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902" name="Straight Connector 79901"/>
            <p:cNvSpPr/>
            <p:nvPr/>
          </p:nvSpPr>
          <p:spPr>
            <a:xfrm flipH="1">
              <a:off x="980" y="2635"/>
              <a:ext cx="81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903" name="Straight Connector 79902"/>
            <p:cNvSpPr/>
            <p:nvPr/>
          </p:nvSpPr>
          <p:spPr>
            <a:xfrm flipH="1">
              <a:off x="932" y="2635"/>
              <a:ext cx="192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904" name="Oval 79903"/>
            <p:cNvSpPr/>
            <p:nvPr/>
          </p:nvSpPr>
          <p:spPr>
            <a:xfrm>
              <a:off x="202" y="2587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endParaRPr lang="en-US" altLang="x-none" sz="2400">
                <a:latin typeface="Tahoma" panose="020B0604030504040204" pitchFamily="34" charset="0"/>
              </a:endParaRPr>
            </a:p>
          </p:txBody>
        </p:sp>
        <p:sp>
          <p:nvSpPr>
            <p:cNvPr id="79905" name="Straight Connector 79904"/>
            <p:cNvSpPr/>
            <p:nvPr/>
          </p:nvSpPr>
          <p:spPr>
            <a:xfrm flipV="1">
              <a:off x="442" y="2587"/>
              <a:ext cx="62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906" name="Text Box 79905"/>
            <p:cNvSpPr txBox="1"/>
            <p:nvPr/>
          </p:nvSpPr>
          <p:spPr>
            <a:xfrm>
              <a:off x="528" y="3072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79907" name="Text Box 79906"/>
            <p:cNvSpPr txBox="1"/>
            <p:nvPr/>
          </p:nvSpPr>
          <p:spPr>
            <a:xfrm>
              <a:off x="1776" y="2112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79908" name="Text Box 79907"/>
            <p:cNvSpPr txBox="1"/>
            <p:nvPr/>
          </p:nvSpPr>
          <p:spPr>
            <a:xfrm>
              <a:off x="1728" y="3264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79909" name="Straight Connector 79908"/>
            <p:cNvSpPr/>
            <p:nvPr/>
          </p:nvSpPr>
          <p:spPr>
            <a:xfrm flipV="1">
              <a:off x="1882" y="2683"/>
              <a:ext cx="48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910" name="Text Box 79909"/>
            <p:cNvSpPr txBox="1"/>
            <p:nvPr/>
          </p:nvSpPr>
          <p:spPr>
            <a:xfrm>
              <a:off x="1056" y="2064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79911" name="Text Box 79910"/>
            <p:cNvSpPr txBox="1"/>
            <p:nvPr/>
          </p:nvSpPr>
          <p:spPr>
            <a:xfrm>
              <a:off x="967" y="3515"/>
              <a:ext cx="287" cy="365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G</a:t>
              </a:r>
            </a:p>
          </p:txBody>
        </p:sp>
      </p:grpSp>
      <p:sp>
        <p:nvSpPr>
          <p:cNvPr id="79912" name="Text Box 79911"/>
          <p:cNvSpPr txBox="1"/>
          <p:nvPr/>
        </p:nvSpPr>
        <p:spPr>
          <a:xfrm>
            <a:off x="2753995" y="4197350"/>
            <a:ext cx="522288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4400" b="1">
                <a:solidFill>
                  <a:schemeClr val="hlink"/>
                </a:solidFill>
                <a:latin typeface="Tahoma" panose="020B0604030504040204" pitchFamily="34" charset="0"/>
              </a:rPr>
              <a:t>x</a:t>
            </a:r>
          </a:p>
        </p:txBody>
      </p:sp>
      <p:graphicFrame>
        <p:nvGraphicFramePr>
          <p:cNvPr id="79913" name="Table 79912"/>
          <p:cNvGraphicFramePr/>
          <p:nvPr/>
        </p:nvGraphicFramePr>
        <p:xfrm>
          <a:off x="7010400" y="1371600"/>
          <a:ext cx="2057400" cy="4968240"/>
        </p:xfrm>
        <a:graphic>
          <a:graphicData uri="http://schemas.openxmlformats.org/drawingml/2006/table">
            <a:tbl>
              <a:tblPr/>
              <a:tblGrid>
                <a:gridCol w="715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48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Visit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Queue (front to back)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20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empty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20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20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20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empty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20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2000" baseline="-250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2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empty</a:t>
                      </a:r>
                      <a:endParaRPr lang="en-US" altLang="zh-TW" sz="2000" baseline="-250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79951" name="Group 79950"/>
          <p:cNvGrpSpPr/>
          <p:nvPr/>
        </p:nvGrpSpPr>
        <p:grpSpPr>
          <a:xfrm>
            <a:off x="1676400" y="3124200"/>
            <a:ext cx="1143000" cy="762000"/>
            <a:chOff x="1056" y="2304"/>
            <a:chExt cx="720" cy="480"/>
          </a:xfrm>
        </p:grpSpPr>
        <p:sp>
          <p:nvSpPr>
            <p:cNvPr id="79952" name="Text Box 79951"/>
            <p:cNvSpPr txBox="1"/>
            <p:nvPr/>
          </p:nvSpPr>
          <p:spPr>
            <a:xfrm>
              <a:off x="1056" y="2304"/>
              <a:ext cx="329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4400" b="1">
                  <a:solidFill>
                    <a:schemeClr val="hlink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9953" name="Straight Connector 79952"/>
            <p:cNvSpPr/>
            <p:nvPr/>
          </p:nvSpPr>
          <p:spPr>
            <a:xfrm flipH="1" flipV="1">
              <a:off x="1296" y="2544"/>
              <a:ext cx="480" cy="48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954" name="Group 79953"/>
          <p:cNvGrpSpPr/>
          <p:nvPr/>
        </p:nvGrpSpPr>
        <p:grpSpPr>
          <a:xfrm>
            <a:off x="1143000" y="4038600"/>
            <a:ext cx="1676400" cy="762000"/>
            <a:chOff x="720" y="2880"/>
            <a:chExt cx="1056" cy="480"/>
          </a:xfrm>
        </p:grpSpPr>
        <p:sp>
          <p:nvSpPr>
            <p:cNvPr id="79955" name="Text Box 79954"/>
            <p:cNvSpPr txBox="1"/>
            <p:nvPr/>
          </p:nvSpPr>
          <p:spPr>
            <a:xfrm>
              <a:off x="720" y="2880"/>
              <a:ext cx="329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4400" b="1">
                  <a:solidFill>
                    <a:schemeClr val="hlink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9956" name="Straight Connector 79955"/>
            <p:cNvSpPr/>
            <p:nvPr/>
          </p:nvSpPr>
          <p:spPr>
            <a:xfrm flipH="1" flipV="1">
              <a:off x="1008" y="3120"/>
              <a:ext cx="768" cy="9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957" name="Group 79956"/>
          <p:cNvGrpSpPr/>
          <p:nvPr/>
        </p:nvGrpSpPr>
        <p:grpSpPr>
          <a:xfrm>
            <a:off x="228600" y="3352800"/>
            <a:ext cx="1524000" cy="762000"/>
            <a:chOff x="144" y="2448"/>
            <a:chExt cx="960" cy="480"/>
          </a:xfrm>
        </p:grpSpPr>
        <p:sp>
          <p:nvSpPr>
            <p:cNvPr id="79958" name="Text Box 79957"/>
            <p:cNvSpPr txBox="1"/>
            <p:nvPr/>
          </p:nvSpPr>
          <p:spPr>
            <a:xfrm>
              <a:off x="144" y="2448"/>
              <a:ext cx="329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4400" b="1">
                  <a:solidFill>
                    <a:schemeClr val="hlink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9959" name="Straight Connector 79958"/>
            <p:cNvSpPr/>
            <p:nvPr/>
          </p:nvSpPr>
          <p:spPr>
            <a:xfrm flipV="1">
              <a:off x="480" y="2592"/>
              <a:ext cx="624" cy="9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960" name="Group 79959"/>
          <p:cNvGrpSpPr/>
          <p:nvPr/>
        </p:nvGrpSpPr>
        <p:grpSpPr>
          <a:xfrm>
            <a:off x="2743200" y="3130550"/>
            <a:ext cx="522288" cy="1289050"/>
            <a:chOff x="1728" y="2308"/>
            <a:chExt cx="329" cy="812"/>
          </a:xfrm>
        </p:grpSpPr>
        <p:sp>
          <p:nvSpPr>
            <p:cNvPr id="79961" name="Text Box 79960"/>
            <p:cNvSpPr txBox="1"/>
            <p:nvPr/>
          </p:nvSpPr>
          <p:spPr>
            <a:xfrm>
              <a:off x="1728" y="2308"/>
              <a:ext cx="329" cy="4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lstStyle/>
            <a:p>
              <a:r>
                <a:rPr lang="en-US" altLang="zh-TW" sz="4400" b="1">
                  <a:solidFill>
                    <a:schemeClr val="hlink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9962" name="Straight Connector 79961"/>
            <p:cNvSpPr/>
            <p:nvPr/>
          </p:nvSpPr>
          <p:spPr>
            <a:xfrm flipV="1">
              <a:off x="1872" y="2688"/>
              <a:ext cx="48" cy="432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963" name="Straight Connector 79962"/>
          <p:cNvSpPr/>
          <p:nvPr/>
        </p:nvSpPr>
        <p:spPr>
          <a:xfrm>
            <a:off x="6400800" y="2590800"/>
            <a:ext cx="533400" cy="0"/>
          </a:xfrm>
          <a:prstGeom prst="line">
            <a:avLst/>
          </a:prstGeom>
          <a:ln w="57150" cap="flat" cmpd="sng">
            <a:solidFill>
              <a:srgbClr val="00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9964" name="Straight Connector 79963"/>
          <p:cNvSpPr/>
          <p:nvPr/>
        </p:nvSpPr>
        <p:spPr>
          <a:xfrm>
            <a:off x="6400800" y="3352800"/>
            <a:ext cx="533400" cy="0"/>
          </a:xfrm>
          <a:prstGeom prst="line">
            <a:avLst/>
          </a:prstGeom>
          <a:ln w="57150" cap="flat" cmpd="sng">
            <a:solidFill>
              <a:srgbClr val="00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9965" name="Straight Connector 79964"/>
          <p:cNvSpPr/>
          <p:nvPr/>
        </p:nvSpPr>
        <p:spPr>
          <a:xfrm>
            <a:off x="6400800" y="3733800"/>
            <a:ext cx="533400" cy="0"/>
          </a:xfrm>
          <a:prstGeom prst="line">
            <a:avLst/>
          </a:prstGeom>
          <a:ln w="57150" cap="flat" cmpd="sng">
            <a:solidFill>
              <a:srgbClr val="00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9966" name="Straight Connector 79965"/>
          <p:cNvSpPr/>
          <p:nvPr/>
        </p:nvSpPr>
        <p:spPr>
          <a:xfrm>
            <a:off x="6400800" y="4572000"/>
            <a:ext cx="533400" cy="0"/>
          </a:xfrm>
          <a:prstGeom prst="line">
            <a:avLst/>
          </a:prstGeom>
          <a:ln w="57150" cap="flat" cmpd="sng">
            <a:solidFill>
              <a:srgbClr val="00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9967" name="Straight Connector 79966"/>
          <p:cNvSpPr/>
          <p:nvPr/>
        </p:nvSpPr>
        <p:spPr>
          <a:xfrm>
            <a:off x="6400800" y="5715000"/>
            <a:ext cx="533400" cy="0"/>
          </a:xfrm>
          <a:prstGeom prst="line">
            <a:avLst/>
          </a:prstGeom>
          <a:ln w="57150" cap="flat" cmpd="sng">
            <a:solidFill>
              <a:srgbClr val="00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r>
              <a:rPr lang="en-US" altLang="en-US" sz="3200" dirty="0">
                <a:solidFill>
                  <a:schemeClr val="bg1"/>
                </a:solidFill>
                <a:latin typeface="+mj-lt"/>
                <a:ea typeface="+mj-ea"/>
                <a:cs typeface="Times New Roman" panose="02020603050405020304" pitchFamily="18" charset="0"/>
              </a:rPr>
              <a:t>Breadth First Search(BFS) Example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bldLvl="0" animBg="1"/>
      <p:bldP spid="7991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57250" y="4794885"/>
            <a:ext cx="8286750" cy="149034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Order processed: A, B, C, D, E, F, G, H</a:t>
            </a:r>
          </a:p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A "level-order" traversal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49</a:t>
            </a:fld>
            <a:endParaRPr lang="en-US"/>
          </a:p>
        </p:txBody>
      </p:sp>
      <p:grpSp>
        <p:nvGrpSpPr>
          <p:cNvPr id="75780" name="Group 36"/>
          <p:cNvGrpSpPr/>
          <p:nvPr>
            <p:custDataLst>
              <p:tags r:id="rId1"/>
            </p:custDataLst>
          </p:nvPr>
        </p:nvGrpSpPr>
        <p:grpSpPr bwMode="auto">
          <a:xfrm>
            <a:off x="685800" y="1752599"/>
            <a:ext cx="2133600" cy="2286000"/>
            <a:chOff x="3437" y="1248"/>
            <a:chExt cx="1795" cy="1920"/>
          </a:xfrm>
        </p:grpSpPr>
        <p:sp>
          <p:nvSpPr>
            <p:cNvPr id="75783" name="Oval 37"/>
            <p:cNvSpPr>
              <a:spLocks noChangeAspect="1"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178" y="1248"/>
              <a:ext cx="288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A</a:t>
              </a:r>
            </a:p>
          </p:txBody>
        </p:sp>
        <p:cxnSp>
          <p:nvCxnSpPr>
            <p:cNvPr id="75784" name="AutoShape 38"/>
            <p:cNvCxnSpPr>
              <a:cxnSpLocks noChangeShapeType="1"/>
              <a:stCxn id="75783" idx="3"/>
              <a:endCxn id="75786" idx="0"/>
            </p:cNvCxnSpPr>
            <p:nvPr>
              <p:custDataLst>
                <p:tags r:id="rId4"/>
              </p:custDataLst>
            </p:nvPr>
          </p:nvCxnSpPr>
          <p:spPr bwMode="auto">
            <a:xfrm flipH="1">
              <a:off x="3917" y="1506"/>
              <a:ext cx="30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75785" name="AutoShape 39"/>
            <p:cNvCxnSpPr>
              <a:cxnSpLocks noChangeShapeType="1"/>
              <a:stCxn id="75783" idx="5"/>
              <a:endCxn id="75791" idx="0"/>
            </p:cNvCxnSpPr>
            <p:nvPr>
              <p:custDataLst>
                <p:tags r:id="rId5"/>
              </p:custDataLst>
            </p:nvPr>
          </p:nvCxnSpPr>
          <p:spPr bwMode="auto">
            <a:xfrm>
              <a:off x="4424" y="1506"/>
              <a:ext cx="303" cy="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75786" name="Oval 40"/>
            <p:cNvSpPr>
              <a:spLocks noChangeAspect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773" y="1824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B</a:t>
              </a:r>
            </a:p>
          </p:txBody>
        </p:sp>
        <p:sp>
          <p:nvSpPr>
            <p:cNvPr id="75787" name="Oval 41"/>
            <p:cNvSpPr>
              <a:spLocks noChangeAspect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437" y="235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D</a:t>
              </a:r>
            </a:p>
          </p:txBody>
        </p:sp>
        <p:sp>
          <p:nvSpPr>
            <p:cNvPr id="75788" name="Oval 42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109" y="235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E</a:t>
              </a:r>
            </a:p>
          </p:txBody>
        </p:sp>
        <p:cxnSp>
          <p:nvCxnSpPr>
            <p:cNvPr id="75789" name="AutoShape 43"/>
            <p:cNvCxnSpPr>
              <a:cxnSpLocks noChangeShapeType="1"/>
              <a:stCxn id="75786" idx="5"/>
              <a:endCxn id="75788" idx="0"/>
            </p:cNvCxnSpPr>
            <p:nvPr>
              <p:custDataLst>
                <p:tags r:id="rId9"/>
              </p:custDataLst>
            </p:nvPr>
          </p:nvCxnSpPr>
          <p:spPr bwMode="auto">
            <a:xfrm>
              <a:off x="4019" y="2082"/>
              <a:ext cx="234" cy="2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75790" name="AutoShape 44"/>
            <p:cNvCxnSpPr>
              <a:cxnSpLocks noChangeShapeType="1"/>
              <a:stCxn id="75786" idx="3"/>
              <a:endCxn id="75787" idx="0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3581" y="2082"/>
              <a:ext cx="234" cy="2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75791" name="Oval 45"/>
            <p:cNvSpPr>
              <a:spLocks noChangeAspect="1"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583" y="1824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C</a:t>
              </a:r>
            </a:p>
          </p:txBody>
        </p:sp>
        <p:sp>
          <p:nvSpPr>
            <p:cNvPr id="75792" name="Oval 46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583" y="2352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F</a:t>
              </a:r>
            </a:p>
          </p:txBody>
        </p:sp>
        <p:cxnSp>
          <p:nvCxnSpPr>
            <p:cNvPr id="75793" name="AutoShape 47"/>
            <p:cNvCxnSpPr>
              <a:cxnSpLocks noChangeShapeType="1"/>
              <a:stCxn id="75791" idx="4"/>
              <a:endCxn id="75792" idx="0"/>
            </p:cNvCxnSpPr>
            <p:nvPr>
              <p:custDataLst>
                <p:tags r:id="rId13"/>
              </p:custDataLst>
            </p:nvPr>
          </p:nvCxnSpPr>
          <p:spPr bwMode="auto">
            <a:xfrm>
              <a:off x="4727" y="2124"/>
              <a:ext cx="0" cy="2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75794" name="AutoShape 48"/>
            <p:cNvCxnSpPr>
              <a:cxnSpLocks noChangeShapeType="1"/>
              <a:stCxn id="75792" idx="3"/>
              <a:endCxn id="75797" idx="0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366" y="2610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75795" name="Oval 49"/>
            <p:cNvSpPr>
              <a:spLocks noChangeAspect="1"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944" y="288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H</a:t>
              </a:r>
            </a:p>
          </p:txBody>
        </p:sp>
        <p:cxnSp>
          <p:nvCxnSpPr>
            <p:cNvPr id="75796" name="AutoShape 50"/>
            <p:cNvCxnSpPr>
              <a:cxnSpLocks noChangeShapeType="1"/>
              <a:stCxn id="75792" idx="5"/>
              <a:endCxn id="75795" idx="0"/>
            </p:cNvCxnSpPr>
            <p:nvPr>
              <p:custDataLst>
                <p:tags r:id="rId16"/>
              </p:custDataLst>
            </p:nvPr>
          </p:nvCxnSpPr>
          <p:spPr bwMode="auto">
            <a:xfrm>
              <a:off x="4829" y="2610"/>
              <a:ext cx="259" cy="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sp>
          <p:nvSpPr>
            <p:cNvPr id="75797" name="Oval 51"/>
            <p:cNvSpPr>
              <a:spLocks noChangeAspect="1"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222" y="2880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G</a:t>
              </a:r>
            </a:p>
          </p:txBody>
        </p:sp>
      </p:grpSp>
      <p:sp>
        <p:nvSpPr>
          <p:cNvPr id="23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48261" y="849001"/>
            <a:ext cx="5069016" cy="391491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/>
        </p:spPr>
        <p:txBody>
          <a:bodyPr wrap="none" tIns="91440" bIns="91440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void BFS(int start, vector&lt;vector&lt;int&gt;&gt;&amp; adj, vector&lt;bool&gt;&amp; visited) {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queue&lt;int&gt; q;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visited[start] = true;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</a:t>
            </a:r>
            <a:r>
              <a:rPr lang="en-US" sz="1200" kern="0" dirty="0" err="1"/>
              <a:t>q.push</a:t>
            </a:r>
            <a:r>
              <a:rPr lang="en-US" sz="1200" kern="0" dirty="0"/>
              <a:t>(start);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while (!</a:t>
            </a:r>
            <a:r>
              <a:rPr lang="en-US" sz="1200" kern="0" dirty="0" err="1"/>
              <a:t>q.empty</a:t>
            </a:r>
            <a:r>
              <a:rPr lang="en-US" sz="1200" kern="0" dirty="0"/>
              <a:t>()) {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int v = </a:t>
            </a:r>
            <a:r>
              <a:rPr lang="en-US" sz="1200" kern="0" dirty="0" err="1"/>
              <a:t>q.front</a:t>
            </a:r>
            <a:r>
              <a:rPr lang="en-US" sz="1200" kern="0" dirty="0"/>
              <a:t>();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</a:t>
            </a:r>
            <a:r>
              <a:rPr lang="en-US" sz="1200" kern="0" dirty="0" err="1"/>
              <a:t>q.pop</a:t>
            </a:r>
            <a:r>
              <a:rPr lang="en-US" sz="1200" kern="0" dirty="0"/>
              <a:t>();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</a:t>
            </a:r>
            <a:r>
              <a:rPr lang="en-US" sz="1200" kern="0" dirty="0" err="1"/>
              <a:t>cout</a:t>
            </a:r>
            <a:r>
              <a:rPr lang="en-US" sz="1200" kern="0" dirty="0"/>
              <a:t> &lt;&lt; v &lt;&lt; " ";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for (int </a:t>
            </a:r>
            <a:r>
              <a:rPr lang="en-US" sz="1200" kern="0" dirty="0" err="1"/>
              <a:t>i</a:t>
            </a:r>
            <a:r>
              <a:rPr lang="en-US" sz="1200" kern="0" dirty="0"/>
              <a:t> = 0; </a:t>
            </a:r>
            <a:r>
              <a:rPr lang="en-US" sz="1200" kern="0" dirty="0" err="1"/>
              <a:t>i</a:t>
            </a:r>
            <a:r>
              <a:rPr lang="en-US" sz="1200" kern="0" dirty="0"/>
              <a:t> &lt; adj[v].size(); </a:t>
            </a:r>
            <a:r>
              <a:rPr lang="en-US" sz="1200" kern="0" dirty="0" err="1"/>
              <a:t>i</a:t>
            </a:r>
            <a:r>
              <a:rPr lang="en-US" sz="1200" kern="0" dirty="0"/>
              <a:t>++) {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    int u = adj[v][</a:t>
            </a:r>
            <a:r>
              <a:rPr lang="en-US" sz="1200" kern="0" dirty="0" err="1"/>
              <a:t>i</a:t>
            </a:r>
            <a:r>
              <a:rPr lang="en-US" sz="1200" kern="0" dirty="0"/>
              <a:t>];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    if (!visited[u]) {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        visited[u] = true;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        </a:t>
            </a:r>
            <a:r>
              <a:rPr lang="en-US" sz="1200" kern="0" dirty="0" err="1"/>
              <a:t>q.push</a:t>
            </a:r>
            <a:r>
              <a:rPr lang="en-US" sz="1200" kern="0" dirty="0"/>
              <a:t>(u);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    }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    }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    }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200" kern="0" dirty="0"/>
              <a:t>}</a:t>
            </a:r>
          </a:p>
        </p:txBody>
      </p:sp>
      <p:pic>
        <p:nvPicPr>
          <p:cNvPr id="2" name="Picture 3" descr="siide bar">
            <a:extLst>
              <a:ext uri="{FF2B5EF4-FFF2-40B4-BE49-F238E27FC236}">
                <a16:creationId xmlns:a16="http://schemas.microsoft.com/office/drawing/2014/main" id="{E2738454-88F1-EB2A-9A47-B4C1E974E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628A90D0-A10F-E85B-B552-9445A0B76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                  BFS With queue: Example with tree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80FEF-F7C0-C278-639C-778604692284}"/>
              </a:ext>
            </a:extLst>
          </p:cNvPr>
          <p:cNvSpPr/>
          <p:nvPr/>
        </p:nvSpPr>
        <p:spPr bwMode="auto">
          <a:xfrm>
            <a:off x="6213402" y="3779751"/>
            <a:ext cx="2929007" cy="245913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>
            <a:sp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vector&lt;vector&lt;int&gt;&gt; adj = {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{1, 2},      // A (0) -&gt; B (1), C (2)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{0, 3, 4},   // B (1) -&gt; A (0), D (3), E (4)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{0, 5},      // C (2) -&gt; A (0), F (5)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{1},         // D (3) -&gt; B (1)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{1},         // E (4) -&gt; B (1)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{2, 6, 7},   // F (5) -&gt; C (2), G (6), H (7)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{5},         // G (6) -&gt; F (5)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   {5}          // H (7) -&gt; F (5)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};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8AF59-3F44-EA4C-8D7E-4550A7EF5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AF52B3-C585-13F4-AE79-B3E37ADB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240" y="4406900"/>
            <a:ext cx="8239760" cy="1362075"/>
          </a:xfrm>
          <a:solidFill>
            <a:srgbClr val="FFC000"/>
          </a:solidFill>
        </p:spPr>
        <p:txBody>
          <a:bodyPr/>
          <a:lstStyle/>
          <a:p>
            <a:r>
              <a:rPr lang="en-US" dirty="0"/>
              <a:t>Applications of Graphs: </a:t>
            </a:r>
            <a:r>
              <a:rPr lang="en-US" dirty="0">
                <a:solidFill>
                  <a:srgbClr val="C00000"/>
                </a:solidFill>
              </a:rPr>
              <a:t>SPANNING TREE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2F9EA-E781-E8EE-6B94-7FBCC38D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3" descr="siide bar">
            <a:extLst>
              <a:ext uri="{FF2B5EF4-FFF2-40B4-BE49-F238E27FC236}">
                <a16:creationId xmlns:a16="http://schemas.microsoft.com/office/drawing/2014/main" id="{3DEA930A-6C34-3883-0C92-C576F7A4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BCFE678B-F8EC-042F-E14E-0CA55F65FCFB}"/>
              </a:ext>
            </a:extLst>
          </p:cNvPr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endParaRPr lang="en-US" altLang="en-US" sz="3200" dirty="0">
              <a:solidFill>
                <a:schemeClr val="bg1"/>
              </a:solidFill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82625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51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1347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885825"/>
            <a:ext cx="8226425" cy="54054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Suppose it is required to develop a system of roads between 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six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major cities.  A survey of the area revealed that only the roads shown in the graph could be constructed.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sz="23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sz="23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sz="23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sz="23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economic reasons, it is desired to construct the 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least possible number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roads to connect the six cities.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 we do this task?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sz="23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Motivation</a:t>
            </a:r>
            <a:r>
              <a:rPr lang="en-US" altLang="en-US" b="1" dirty="0">
                <a:solidFill>
                  <a:srgbClr val="E5E5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pic>
        <p:nvPicPr>
          <p:cNvPr id="7174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6288" y="2205038"/>
            <a:ext cx="3392487" cy="21637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8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81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347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52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1347" name="Rectangle 3"/>
          <p:cNvSpPr>
            <a:spLocks noGrp="1" noChangeArrowheads="1"/>
          </p:cNvSpPr>
          <p:nvPr>
            <p:ph idx="1"/>
          </p:nvPr>
        </p:nvSpPr>
        <p:spPr>
          <a:xfrm>
            <a:off x="917575" y="982663"/>
            <a:ext cx="8226425" cy="5378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One such set of roads is: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 The graph representing these roads is :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Sub-graph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Connected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circuit-free (six vertices and five edges)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connected &amp; circuit-free graph is a tree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3316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Rectangle 5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Reduction of data size</a:t>
            </a:r>
            <a:r>
              <a:rPr lang="en-US" altLang="en-US" b="1" dirty="0">
                <a:solidFill>
                  <a:srgbClr val="E5E5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pic>
        <p:nvPicPr>
          <p:cNvPr id="13318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425" y="1016000"/>
            <a:ext cx="3352800" cy="2351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1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8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81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81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81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53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1347" name="Rectangle 3"/>
          <p:cNvSpPr>
            <a:spLocks noGrp="1" noChangeArrowheads="1"/>
          </p:cNvSpPr>
          <p:nvPr>
            <p:ph idx="1"/>
          </p:nvPr>
        </p:nvSpPr>
        <p:spPr>
          <a:xfrm>
            <a:off x="917575" y="927100"/>
            <a:ext cx="8226425" cy="5378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3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spanning tree for a graph G is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a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sub graph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 of G that contains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every vertex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of G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It is a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tree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5364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5" name="Rectangle 5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Spanning Tree</a:t>
            </a:r>
            <a:r>
              <a:rPr lang="en-US" altLang="en-US" b="1" dirty="0">
                <a:solidFill>
                  <a:srgbClr val="E5E5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pic>
        <p:nvPicPr>
          <p:cNvPr id="9222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" y="4178300"/>
            <a:ext cx="3392488" cy="2165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3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238" y="4281488"/>
            <a:ext cx="3352800" cy="23510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9224" name="Straight Arrow Connector 8"/>
          <p:cNvCxnSpPr/>
          <p:nvPr/>
        </p:nvCxnSpPr>
        <p:spPr>
          <a:xfrm flipV="1">
            <a:off x="3903663" y="5689600"/>
            <a:ext cx="1422400" cy="14288"/>
          </a:xfrm>
          <a:prstGeom prst="straightConnector1">
            <a:avLst/>
          </a:prstGeom>
          <a:ln w="57150" cap="flat" cmpd="sng">
            <a:solidFill>
              <a:srgbClr val="C00000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1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81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54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1347" name="Rectangle 3"/>
          <p:cNvSpPr>
            <a:spLocks noGrp="1" noChangeArrowheads="1"/>
          </p:cNvSpPr>
          <p:nvPr>
            <p:ph idx="1"/>
          </p:nvPr>
        </p:nvSpPr>
        <p:spPr>
          <a:xfrm>
            <a:off x="917575" y="927100"/>
            <a:ext cx="8226425" cy="5378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How we find Spanning Tree?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Delete an edge in each cycle.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Which edge should we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remove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 from given graph so that it become a spanning tree?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1. Delete a-f	2. Delete f-e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3. Delete b-e	4. Delete e-d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The associated spanning tree is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How many edge should we remove?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The graph has 6 vertices &amp; 9 edges so we must delete 9 - 6 + 1 = 4 edges.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[e-v+1]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7412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Rectangle 5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Spanning Tree</a:t>
            </a:r>
            <a:r>
              <a:rPr lang="en-US" altLang="en-US" b="1" dirty="0">
                <a:solidFill>
                  <a:srgbClr val="E5E5FF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pic>
        <p:nvPicPr>
          <p:cNvPr id="10246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2790825"/>
            <a:ext cx="3686175" cy="2043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7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4175" y="4016375"/>
            <a:ext cx="2824163" cy="1466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1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81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81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81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81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81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81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 noChangeArrowheads="1"/>
          </p:cNvSpPr>
          <p:nvPr>
            <p:ph idx="1"/>
          </p:nvPr>
        </p:nvSpPr>
        <p:spPr>
          <a:xfrm>
            <a:off x="798513" y="788988"/>
            <a:ext cx="8140700" cy="60690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38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Find all the spanning trees of the graph given below.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9459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Rectangle 5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An other Example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pic>
        <p:nvPicPr>
          <p:cNvPr id="19461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450" y="2120900"/>
            <a:ext cx="6280150" cy="3554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7" name="Rectangle 5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Solution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pic>
        <p:nvPicPr>
          <p:cNvPr id="21508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663" y="2579688"/>
            <a:ext cx="4505325" cy="3711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3688" y="1133475"/>
            <a:ext cx="3727450" cy="4214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0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475" y="847725"/>
            <a:ext cx="3009900" cy="1562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Rectangle 5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Solution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pic>
        <p:nvPicPr>
          <p:cNvPr id="2355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913" y="1174750"/>
            <a:ext cx="4383087" cy="3262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788" y="1109663"/>
            <a:ext cx="3009900" cy="1562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8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2974975"/>
            <a:ext cx="3638550" cy="3367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siide bar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"/>
          </a:xfrm>
        </p:spPr>
      </p:pic>
      <p:sp>
        <p:nvSpPr>
          <p:cNvPr id="25603" name="Rectangle 4"/>
          <p:cNvSpPr>
            <a:spLocks noGrp="1"/>
          </p:cNvSpPr>
          <p:nvPr>
            <p:ph type="title"/>
          </p:nvPr>
        </p:nvSpPr>
        <p:spPr>
          <a:xfrm>
            <a:off x="76200" y="-6350"/>
            <a:ext cx="8991600" cy="6921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Arial" panose="020B0604020202020204" pitchFamily="34" charset="0"/>
              </a:rPr>
              <a:t>Weighted graph</a:t>
            </a:r>
            <a:endParaRPr lang="en-U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auto">
          <a:xfrm>
            <a:off x="677863" y="947738"/>
            <a:ext cx="8466138" cy="5638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imes New Roman" panose="02020603050405020304" pitchFamily="18" charset="0"/>
              </a:rPr>
              <a:t>Definition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 weighted graph is a graph for which each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edge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has an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associated real number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weight.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sum of the weights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of all the edges is the total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weight of the graph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.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 weight of above graph: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         2 + 6 + 3 + 2 + 3 + 1 = 17</a:t>
            </a:r>
          </a:p>
        </p:txBody>
      </p:sp>
      <p:pic>
        <p:nvPicPr>
          <p:cNvPr id="2560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213" y="2044700"/>
            <a:ext cx="1889125" cy="1965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siide bar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"/>
          </a:xfrm>
        </p:spPr>
      </p:pic>
      <p:sp>
        <p:nvSpPr>
          <p:cNvPr id="27651" name="Rectangle 4"/>
          <p:cNvSpPr>
            <a:spLocks noGrp="1"/>
          </p:cNvSpPr>
          <p:nvPr>
            <p:ph type="title"/>
          </p:nvPr>
        </p:nvSpPr>
        <p:spPr>
          <a:xfrm>
            <a:off x="76200" y="-6350"/>
            <a:ext cx="8991600" cy="6921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Arial" panose="020B0604020202020204" pitchFamily="34" charset="0"/>
              </a:rPr>
              <a:t>Minimum Spanning Tree?</a:t>
            </a:r>
            <a:endParaRPr lang="en-U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570375" name="Rectangle 7"/>
          <p:cNvSpPr>
            <a:spLocks noChangeArrowheads="1"/>
          </p:cNvSpPr>
          <p:nvPr/>
        </p:nvSpPr>
        <p:spPr bwMode="auto">
          <a:xfrm>
            <a:off x="381000" y="979488"/>
            <a:ext cx="8763000" cy="5486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Minimal Spanning Tree(MST)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for a weighted graph is a spanning tree that has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least possible total weight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compared to all other spanning trees of the graph.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If G is a weighted graph and e is an edge of G then w(e) denotes the weight of e and w(G) denotes the total weight of G.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60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3395" name="Rectangle 3"/>
          <p:cNvSpPr>
            <a:spLocks noGrp="1" noChangeArrowheads="1"/>
          </p:cNvSpPr>
          <p:nvPr>
            <p:ph idx="1"/>
          </p:nvPr>
        </p:nvSpPr>
        <p:spPr>
          <a:xfrm>
            <a:off x="917575" y="1150938"/>
            <a:ext cx="8051800" cy="6778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Find MST of the following weighted graph?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Brute Force Approach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What if we find all distinct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   spanning trees of a given graph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   using any approach and then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   select the one with minimum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   weight?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</a:rPr>
              <a:t>Why is this approach, which looks at all possible solutions and then selects the one of our choice, not feasible (although it is correct)?</a:t>
            </a:r>
          </a:p>
        </p:txBody>
      </p:sp>
      <p:pic>
        <p:nvPicPr>
          <p:cNvPr id="29700" name="Picture 2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1" name="Rectangle 4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6921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Arial" panose="020B0604020202020204" pitchFamily="34" charset="0"/>
              </a:rPr>
              <a:t>Example</a:t>
            </a:r>
            <a:endParaRPr lang="en-U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pic>
        <p:nvPicPr>
          <p:cNvPr id="29702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175" y="1636713"/>
            <a:ext cx="2622550" cy="27320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8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8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8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83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83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83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83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5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61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747" name="Picture 2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8" name="Rectangle 4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6921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Arial" panose="020B0604020202020204" pitchFamily="34" charset="0"/>
              </a:rPr>
              <a:t>Solution</a:t>
            </a:r>
            <a:endParaRPr lang="en-U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pic>
        <p:nvPicPr>
          <p:cNvPr id="31749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92150"/>
            <a:ext cx="4946015" cy="21196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0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015" y="744220"/>
            <a:ext cx="4183380" cy="2067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1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400" y="3237230"/>
            <a:ext cx="5486400" cy="2330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2" name="Rectangle 8"/>
          <p:cNvSpPr/>
          <p:nvPr/>
        </p:nvSpPr>
        <p:spPr>
          <a:xfrm>
            <a:off x="965200" y="5567363"/>
            <a:ext cx="81788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457200" lvl="1" indent="0"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T</a:t>
            </a:r>
            <a:r>
              <a:rPr lang="en-US" altLang="en-US" sz="2000" baseline="-25000" dirty="0">
                <a:solidFill>
                  <a:srgbClr val="C00000"/>
                </a:solidFill>
              </a:rPr>
              <a:t>2</a:t>
            </a:r>
            <a:r>
              <a:rPr lang="en-US" altLang="en-US" sz="2000" dirty="0">
                <a:solidFill>
                  <a:srgbClr val="C00000"/>
                </a:solidFill>
              </a:rPr>
              <a:t> is the minimal spanning tree, since it has the minimum weight among the spanning trees.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62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1347" name="Rectangle 3"/>
          <p:cNvSpPr>
            <a:spLocks noGrp="1" noChangeArrowheads="1"/>
          </p:cNvSpPr>
          <p:nvPr>
            <p:ph idx="1"/>
          </p:nvPr>
        </p:nvSpPr>
        <p:spPr>
          <a:xfrm>
            <a:off x="917575" y="927100"/>
            <a:ext cx="8226425" cy="5378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 us discuss two procedures: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Cutting Edges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Growing Edges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</a:endParaRPr>
          </a:p>
        </p:txBody>
      </p:sp>
      <p:pic>
        <p:nvPicPr>
          <p:cNvPr id="64516" name="Picture 3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7" name="Rectangle 5"/>
          <p:cNvSpPr>
            <a:spLocks noGrp="1"/>
          </p:cNvSpPr>
          <p:nvPr>
            <p:ph type="title"/>
          </p:nvPr>
        </p:nvSpPr>
        <p:spPr>
          <a:xfrm>
            <a:off x="76200" y="0"/>
            <a:ext cx="8991600" cy="6159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Greedy approach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63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6563" name="Picture 2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4" name="Rectangle 4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6921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Arial" panose="020B0604020202020204" pitchFamily="34" charset="0"/>
                <a:sym typeface="Zed" pitchFamily="2" charset="2"/>
              </a:rPr>
              <a:t>Cutting Edge </a:t>
            </a:r>
            <a:endParaRPr lang="en-U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06463" y="1033463"/>
            <a:ext cx="8237538" cy="20859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Basic Idea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: Remove all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redundant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edges from a given graph: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cutting the edges with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maximum weight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provided it does not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disconnect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the graph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23558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088" y="3033713"/>
            <a:ext cx="2449512" cy="2568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9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200" y="2762250"/>
            <a:ext cx="5384800" cy="3798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64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611" name="Picture 2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2" name="Rectangle 4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6921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Arial" panose="020B0604020202020204" pitchFamily="34" charset="0"/>
                <a:sym typeface="Zed" pitchFamily="2" charset="2"/>
              </a:rPr>
              <a:t>Growing Edge </a:t>
            </a:r>
            <a:endParaRPr lang="en-U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83969" name="Rectangle 1"/>
          <p:cNvSpPr>
            <a:spLocks noChangeArrowheads="1"/>
          </p:cNvSpPr>
          <p:nvPr/>
        </p:nvSpPr>
        <p:spPr bwMode="auto">
          <a:xfrm>
            <a:off x="841375" y="987425"/>
            <a:ext cx="8302625" cy="518795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Basic Idea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: Grow edges starting from the edge of minimum weight (making sure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no cycle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is created).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Start with no edges at all but with p isolated vertices.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Add edges out of the edge pool of the graph  such that the resulting graph remains a tree.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How this approach differ from cutting edge?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opposite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to the one discussed above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instead of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pruning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we are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growing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edges.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In the cutting edge approach we should be careful and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 should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not disconnect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 graph.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In the growing edge approach we should be careful not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 to create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cycles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in the graph.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39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39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39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39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39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39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39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65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659" name="Picture 2" descr="siide 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60" name="Rectangle 4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692150"/>
          </a:xfrm>
        </p:spPr>
        <p:txBody>
          <a:bodyPr vert="horz" wrap="square" lIns="91440" tIns="45720" rIns="91440" bIns="45720" anchor="b" anchorCtr="0"/>
          <a:lstStyle/>
          <a:p>
            <a:r>
              <a:rPr lang="en-US" altLang="en-US" dirty="0">
                <a:solidFill>
                  <a:schemeClr val="bg1"/>
                </a:solidFill>
                <a:cs typeface="Arial" panose="020B0604020202020204" pitchFamily="34" charset="0"/>
                <a:sym typeface="Zed" pitchFamily="2" charset="2"/>
              </a:rPr>
              <a:t>Growing Edge </a:t>
            </a:r>
            <a:endParaRPr lang="en-U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pic>
        <p:nvPicPr>
          <p:cNvPr id="70661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013" y="1116013"/>
            <a:ext cx="5553075" cy="3929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662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885825"/>
            <a:ext cx="2347913" cy="2365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66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885825" y="966788"/>
            <a:ext cx="8258175" cy="48625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Input:	G [a weighted graph with n vertices]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Algorithm: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1.	Initialize T(the minimal spanning tree of G) to have all the 	vertices of G and no edges.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2.	Let E be the set of all edges of G and let m: = 0.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3.	While (m &lt; n - 1)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3a.	Find an edge e in E of least weight.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3b.	Delete e from E.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3c.	If addition of e to the edge set of T does not produce 		a circuit then add e to the edge set of T and set m: = 			m + 1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end while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Output T	</a:t>
            </a: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end Algorithm</a:t>
            </a:r>
          </a:p>
        </p:txBody>
      </p:sp>
      <p:pic>
        <p:nvPicPr>
          <p:cNvPr id="33796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3508375" y="2562225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4819" name="Text Box 3"/>
          <p:cNvSpPr txBox="1"/>
          <p:nvPr/>
        </p:nvSpPr>
        <p:spPr>
          <a:xfrm>
            <a:off x="3508375" y="3324225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34820" name="Text Box 4"/>
          <p:cNvSpPr txBox="1"/>
          <p:nvPr/>
        </p:nvSpPr>
        <p:spPr>
          <a:xfrm>
            <a:off x="5489575" y="3629025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34821" name="Text Box 5"/>
          <p:cNvSpPr txBox="1"/>
          <p:nvPr/>
        </p:nvSpPr>
        <p:spPr>
          <a:xfrm>
            <a:off x="4346575" y="4086225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4822" name="Text Box 6"/>
          <p:cNvSpPr txBox="1"/>
          <p:nvPr/>
        </p:nvSpPr>
        <p:spPr>
          <a:xfrm>
            <a:off x="2746375" y="3476625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4823" name="Text Box 7"/>
          <p:cNvSpPr txBox="1"/>
          <p:nvPr/>
        </p:nvSpPr>
        <p:spPr>
          <a:xfrm>
            <a:off x="1679575" y="2409825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4824" name="Text Box 8"/>
          <p:cNvSpPr txBox="1"/>
          <p:nvPr/>
        </p:nvSpPr>
        <p:spPr>
          <a:xfrm>
            <a:off x="2974975" y="1920875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4825" name="Text Box 9"/>
          <p:cNvSpPr txBox="1"/>
          <p:nvPr/>
        </p:nvSpPr>
        <p:spPr>
          <a:xfrm>
            <a:off x="4337050" y="189071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4826" name="Text Box 10"/>
          <p:cNvSpPr txBox="1"/>
          <p:nvPr/>
        </p:nvSpPr>
        <p:spPr>
          <a:xfrm>
            <a:off x="1762125" y="3552825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4827" name="Text Box 11"/>
          <p:cNvSpPr txBox="1"/>
          <p:nvPr/>
        </p:nvSpPr>
        <p:spPr>
          <a:xfrm>
            <a:off x="1984375" y="3046413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34828" name="Text Box 12"/>
          <p:cNvSpPr txBox="1"/>
          <p:nvPr/>
        </p:nvSpPr>
        <p:spPr>
          <a:xfrm>
            <a:off x="2981325" y="410051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34829" name="Text Box 13"/>
          <p:cNvSpPr txBox="1"/>
          <p:nvPr/>
        </p:nvSpPr>
        <p:spPr>
          <a:xfrm>
            <a:off x="4422775" y="295751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4830" name="Text Box 14"/>
          <p:cNvSpPr txBox="1"/>
          <p:nvPr/>
        </p:nvSpPr>
        <p:spPr>
          <a:xfrm>
            <a:off x="5032375" y="2957513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34831" name="Text Box 15"/>
          <p:cNvSpPr txBox="1"/>
          <p:nvPr/>
        </p:nvSpPr>
        <p:spPr>
          <a:xfrm>
            <a:off x="5489575" y="234791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34832" name="Oval 17"/>
          <p:cNvSpPr/>
          <p:nvPr/>
        </p:nvSpPr>
        <p:spPr>
          <a:xfrm>
            <a:off x="1298575" y="2903538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34833" name="Oval 18"/>
          <p:cNvSpPr/>
          <p:nvPr/>
        </p:nvSpPr>
        <p:spPr>
          <a:xfrm>
            <a:off x="2136775" y="2028825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34834" name="Oval 19"/>
          <p:cNvSpPr/>
          <p:nvPr/>
        </p:nvSpPr>
        <p:spPr>
          <a:xfrm>
            <a:off x="3498850" y="3857625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34835" name="Oval 20"/>
          <p:cNvSpPr/>
          <p:nvPr/>
        </p:nvSpPr>
        <p:spPr>
          <a:xfrm>
            <a:off x="2136775" y="3857625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34836" name="Oval 21"/>
          <p:cNvSpPr/>
          <p:nvPr/>
        </p:nvSpPr>
        <p:spPr>
          <a:xfrm>
            <a:off x="2889250" y="2955925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34837" name="Oval 22"/>
          <p:cNvSpPr/>
          <p:nvPr/>
        </p:nvSpPr>
        <p:spPr>
          <a:xfrm>
            <a:off x="3668713" y="2028825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34838" name="Oval 23"/>
          <p:cNvSpPr/>
          <p:nvPr/>
        </p:nvSpPr>
        <p:spPr>
          <a:xfrm>
            <a:off x="4779963" y="3857625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34839" name="Oval 24"/>
          <p:cNvSpPr/>
          <p:nvPr/>
        </p:nvSpPr>
        <p:spPr>
          <a:xfrm>
            <a:off x="4779963" y="2028825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34840" name="Oval 25"/>
          <p:cNvSpPr/>
          <p:nvPr/>
        </p:nvSpPr>
        <p:spPr>
          <a:xfrm>
            <a:off x="5557838" y="2903538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34841" name="Picture 26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42" name="Rectangle 28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34843" name="AutoShape 32"/>
          <p:cNvCxnSpPr>
            <a:stCxn id="34832" idx="7"/>
            <a:endCxn id="34833" idx="3"/>
          </p:cNvCxnSpPr>
          <p:nvPr/>
        </p:nvCxnSpPr>
        <p:spPr>
          <a:xfrm flipV="1">
            <a:off x="1689100" y="2427288"/>
            <a:ext cx="514350" cy="534987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44" name="AutoShape 33"/>
          <p:cNvCxnSpPr>
            <a:stCxn id="34833" idx="6"/>
            <a:endCxn id="34837" idx="2"/>
          </p:cNvCxnSpPr>
          <p:nvPr/>
        </p:nvCxnSpPr>
        <p:spPr>
          <a:xfrm>
            <a:off x="2601913" y="2257425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45" name="AutoShape 34"/>
          <p:cNvCxnSpPr>
            <a:stCxn id="34837" idx="6"/>
            <a:endCxn id="34839" idx="2"/>
          </p:cNvCxnSpPr>
          <p:nvPr/>
        </p:nvCxnSpPr>
        <p:spPr>
          <a:xfrm>
            <a:off x="4133850" y="2257425"/>
            <a:ext cx="638175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46" name="AutoShape 35"/>
          <p:cNvCxnSpPr>
            <a:stCxn id="34839" idx="5"/>
            <a:endCxn id="34840" idx="0"/>
          </p:cNvCxnSpPr>
          <p:nvPr/>
        </p:nvCxnSpPr>
        <p:spPr>
          <a:xfrm>
            <a:off x="5170488" y="2427288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47" name="AutoShape 36"/>
          <p:cNvCxnSpPr>
            <a:stCxn id="34838" idx="6"/>
            <a:endCxn id="34840" idx="4"/>
          </p:cNvCxnSpPr>
          <p:nvPr/>
        </p:nvCxnSpPr>
        <p:spPr>
          <a:xfrm flipV="1">
            <a:off x="5245100" y="3368675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48" name="AutoShape 37"/>
          <p:cNvCxnSpPr>
            <a:stCxn id="34838" idx="0"/>
            <a:endCxn id="34839" idx="4"/>
          </p:cNvCxnSpPr>
          <p:nvPr/>
        </p:nvCxnSpPr>
        <p:spPr>
          <a:xfrm flipV="1">
            <a:off x="5008563" y="2493963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49" name="AutoShape 38"/>
          <p:cNvCxnSpPr>
            <a:stCxn id="34837" idx="5"/>
            <a:endCxn id="34838" idx="1"/>
          </p:cNvCxnSpPr>
          <p:nvPr/>
        </p:nvCxnSpPr>
        <p:spPr>
          <a:xfrm>
            <a:off x="4059238" y="2427288"/>
            <a:ext cx="787400" cy="14890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50" name="AutoShape 39"/>
          <p:cNvCxnSpPr>
            <a:stCxn id="34836" idx="7"/>
            <a:endCxn id="34837" idx="3"/>
          </p:cNvCxnSpPr>
          <p:nvPr/>
        </p:nvCxnSpPr>
        <p:spPr>
          <a:xfrm flipV="1">
            <a:off x="3279775" y="2427288"/>
            <a:ext cx="455613" cy="5873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51" name="AutoShape 40"/>
          <p:cNvCxnSpPr>
            <a:stCxn id="34836" idx="5"/>
            <a:endCxn id="34834" idx="0"/>
          </p:cNvCxnSpPr>
          <p:nvPr/>
        </p:nvCxnSpPr>
        <p:spPr>
          <a:xfrm>
            <a:off x="3279775" y="3354388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52" name="AutoShape 41"/>
          <p:cNvCxnSpPr>
            <a:stCxn id="34835" idx="7"/>
            <a:endCxn id="34836" idx="3"/>
          </p:cNvCxnSpPr>
          <p:nvPr/>
        </p:nvCxnSpPr>
        <p:spPr>
          <a:xfrm flipV="1">
            <a:off x="2527300" y="3354388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53" name="AutoShape 42"/>
          <p:cNvCxnSpPr>
            <a:stCxn id="34832" idx="5"/>
            <a:endCxn id="34835" idx="1"/>
          </p:cNvCxnSpPr>
          <p:nvPr/>
        </p:nvCxnSpPr>
        <p:spPr>
          <a:xfrm>
            <a:off x="1689100" y="3302000"/>
            <a:ext cx="514350" cy="61436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54" name="AutoShape 43"/>
          <p:cNvCxnSpPr>
            <a:stCxn id="34835" idx="0"/>
            <a:endCxn id="34833" idx="4"/>
          </p:cNvCxnSpPr>
          <p:nvPr/>
        </p:nvCxnSpPr>
        <p:spPr>
          <a:xfrm flipV="1">
            <a:off x="2365375" y="2493963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55" name="AutoShape 44"/>
          <p:cNvCxnSpPr>
            <a:stCxn id="34834" idx="6"/>
            <a:endCxn id="34838" idx="2"/>
          </p:cNvCxnSpPr>
          <p:nvPr/>
        </p:nvCxnSpPr>
        <p:spPr>
          <a:xfrm>
            <a:off x="3963988" y="4086225"/>
            <a:ext cx="808037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56" name="AutoShape 45"/>
          <p:cNvCxnSpPr>
            <a:stCxn id="34835" idx="6"/>
            <a:endCxn id="34834" idx="2"/>
          </p:cNvCxnSpPr>
          <p:nvPr/>
        </p:nvCxnSpPr>
        <p:spPr>
          <a:xfrm>
            <a:off x="2601913" y="4086225"/>
            <a:ext cx="889000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4857" name="Rectangle 46"/>
          <p:cNvSpPr/>
          <p:nvPr/>
        </p:nvSpPr>
        <p:spPr>
          <a:xfrm>
            <a:off x="304800" y="54102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4872" name="Group 248"/>
          <p:cNvGraphicFramePr>
            <a:graphicFrameLocks noGrp="1"/>
          </p:cNvGraphicFramePr>
          <p:nvPr/>
        </p:nvGraphicFramePr>
        <p:xfrm>
          <a:off x="6808788" y="1341438"/>
          <a:ext cx="1905000" cy="488156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6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Edges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Weight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(g, h)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(c, </a:t>
                      </a:r>
                      <a:r>
                        <a:rPr kumimoji="0" lang="en-US" sz="1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(f, g)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(a, b)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(c, f)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(g, </a:t>
                      </a:r>
                      <a:r>
                        <a:rPr kumimoji="0" lang="en-US" sz="1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(c, d)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(h, </a:t>
                      </a:r>
                      <a:r>
                        <a:rPr kumimoji="0" lang="en-US" sz="1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(a, h)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(b, c)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(d, e)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(e, f)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(b h)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3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(d, f)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36"/>
          <p:cNvSpPr txBox="1"/>
          <p:nvPr/>
        </p:nvSpPr>
        <p:spPr>
          <a:xfrm>
            <a:off x="2362200" y="2971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5843" name="Text Box 40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35844" name="Text Box 4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35845" name="Text Box 39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5846" name="Text Box 37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5847" name="Text Box 33"/>
          <p:cNvSpPr txBox="1"/>
          <p:nvPr/>
        </p:nvSpPr>
        <p:spPr>
          <a:xfrm>
            <a:off x="533400" y="28194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5848" name="Text Box 5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5849" name="Text Box 6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5850" name="Text Box 34"/>
          <p:cNvSpPr txBox="1"/>
          <p:nvPr/>
        </p:nvSpPr>
        <p:spPr>
          <a:xfrm>
            <a:off x="615950" y="39624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5851" name="Text Box 35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35852" name="Text Box 38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35853" name="Text Box 41"/>
          <p:cNvSpPr txBox="1"/>
          <p:nvPr/>
        </p:nvSpPr>
        <p:spPr>
          <a:xfrm>
            <a:off x="327660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5854" name="Text Box 42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35855" name="Text Box 43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35856" name="Line 45"/>
          <p:cNvSpPr/>
          <p:nvPr/>
        </p:nvSpPr>
        <p:spPr>
          <a:xfrm flipV="1">
            <a:off x="1447800" y="4791075"/>
            <a:ext cx="381000" cy="363538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857" name="Oval 10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35858" name="Oval 11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35859" name="Oval 12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35860" name="Oval 13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35861" name="Oval 14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35862" name="Oval 15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35863" name="Oval 16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35864" name="Oval 17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35865" name="Oval 18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35866" name="Picture 47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67" name="Rectangle 49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35868" name="AutoShape 53"/>
          <p:cNvCxnSpPr>
            <a:stCxn id="35857" idx="7"/>
            <a:endCxn id="35858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69" name="AutoShape 54"/>
          <p:cNvCxnSpPr>
            <a:stCxn id="35858" idx="6"/>
            <a:endCxn id="35862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0" name="AutoShape 55"/>
          <p:cNvCxnSpPr>
            <a:stCxn id="35862" idx="6"/>
            <a:endCxn id="35864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1" name="AutoShape 56"/>
          <p:cNvCxnSpPr>
            <a:stCxn id="35864" idx="5"/>
            <a:endCxn id="35865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2" name="AutoShape 57"/>
          <p:cNvCxnSpPr>
            <a:stCxn id="35863" idx="6"/>
            <a:endCxn id="35865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3" name="AutoShape 58"/>
          <p:cNvCxnSpPr>
            <a:stCxn id="35863" idx="0"/>
            <a:endCxn id="35864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4" name="AutoShape 59"/>
          <p:cNvCxnSpPr>
            <a:stCxn id="35862" idx="5"/>
            <a:endCxn id="35863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5" name="AutoShape 60"/>
          <p:cNvCxnSpPr>
            <a:stCxn id="35861" idx="7"/>
            <a:endCxn id="35862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6" name="AutoShape 61"/>
          <p:cNvCxnSpPr>
            <a:stCxn id="35861" idx="5"/>
            <a:endCxn id="35859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7" name="AutoShape 62"/>
          <p:cNvCxnSpPr>
            <a:stCxn id="35860" idx="7"/>
            <a:endCxn id="35861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8" name="AutoShape 63"/>
          <p:cNvCxnSpPr>
            <a:stCxn id="35857" idx="5"/>
            <a:endCxn id="35860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79" name="AutoShape 64"/>
          <p:cNvCxnSpPr>
            <a:stCxn id="35860" idx="0"/>
            <a:endCxn id="35858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80" name="AutoShape 65"/>
          <p:cNvCxnSpPr>
            <a:stCxn id="35859" idx="6"/>
            <a:endCxn id="35863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81" name="AutoShape 66"/>
          <p:cNvCxnSpPr>
            <a:stCxn id="35860" idx="6"/>
            <a:endCxn id="35859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5882" name="Rectangle 67"/>
          <p:cNvSpPr/>
          <p:nvPr/>
        </p:nvSpPr>
        <p:spPr>
          <a:xfrm>
            <a:off x="304800" y="54102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pic>
        <p:nvPicPr>
          <p:cNvPr id="3588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/>
          <p:nvPr/>
        </p:nvSpPr>
        <p:spPr>
          <a:xfrm>
            <a:off x="2894013" y="2584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6867" name="Text Box 3"/>
          <p:cNvSpPr txBox="1"/>
          <p:nvPr/>
        </p:nvSpPr>
        <p:spPr>
          <a:xfrm>
            <a:off x="2894013" y="325596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36868" name="Text Box 4"/>
          <p:cNvSpPr txBox="1"/>
          <p:nvPr/>
        </p:nvSpPr>
        <p:spPr>
          <a:xfrm>
            <a:off x="4875213" y="3560763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36869" name="Text Box 5"/>
          <p:cNvSpPr txBox="1"/>
          <p:nvPr/>
        </p:nvSpPr>
        <p:spPr>
          <a:xfrm>
            <a:off x="3732213" y="401796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6870" name="Text Box 6"/>
          <p:cNvSpPr txBox="1"/>
          <p:nvPr/>
        </p:nvSpPr>
        <p:spPr>
          <a:xfrm>
            <a:off x="2132013" y="340836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6871" name="Text Box 7"/>
          <p:cNvSpPr txBox="1"/>
          <p:nvPr/>
        </p:nvSpPr>
        <p:spPr>
          <a:xfrm>
            <a:off x="1065213" y="234156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6872" name="Text Box 8"/>
          <p:cNvSpPr txBox="1"/>
          <p:nvPr/>
        </p:nvSpPr>
        <p:spPr>
          <a:xfrm>
            <a:off x="2360613" y="185261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6873" name="Text Box 9"/>
          <p:cNvSpPr txBox="1"/>
          <p:nvPr/>
        </p:nvSpPr>
        <p:spPr>
          <a:xfrm>
            <a:off x="3722688" y="1822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6874" name="Text Box 10"/>
          <p:cNvSpPr txBox="1"/>
          <p:nvPr/>
        </p:nvSpPr>
        <p:spPr>
          <a:xfrm>
            <a:off x="1147763" y="3484563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6875" name="Text Box 11"/>
          <p:cNvSpPr txBox="1"/>
          <p:nvPr/>
        </p:nvSpPr>
        <p:spPr>
          <a:xfrm>
            <a:off x="1370013" y="297815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36876" name="Text Box 12"/>
          <p:cNvSpPr txBox="1"/>
          <p:nvPr/>
        </p:nvSpPr>
        <p:spPr>
          <a:xfrm>
            <a:off x="2366963" y="40322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36877" name="Text Box 13"/>
          <p:cNvSpPr txBox="1"/>
          <p:nvPr/>
        </p:nvSpPr>
        <p:spPr>
          <a:xfrm>
            <a:off x="3808413" y="28892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6878" name="Text Box 14"/>
          <p:cNvSpPr txBox="1"/>
          <p:nvPr/>
        </p:nvSpPr>
        <p:spPr>
          <a:xfrm>
            <a:off x="4418013" y="288925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36879" name="Text Box 15"/>
          <p:cNvSpPr txBox="1"/>
          <p:nvPr/>
        </p:nvSpPr>
        <p:spPr>
          <a:xfrm>
            <a:off x="4875213" y="22796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36880" name="Oval 17"/>
          <p:cNvSpPr/>
          <p:nvPr/>
        </p:nvSpPr>
        <p:spPr>
          <a:xfrm>
            <a:off x="684213" y="2835275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36881" name="Oval 18"/>
          <p:cNvSpPr/>
          <p:nvPr/>
        </p:nvSpPr>
        <p:spPr>
          <a:xfrm>
            <a:off x="1522413" y="196056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36882" name="Oval 19"/>
          <p:cNvSpPr/>
          <p:nvPr/>
        </p:nvSpPr>
        <p:spPr>
          <a:xfrm>
            <a:off x="2884488" y="378936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36883" name="Oval 20"/>
          <p:cNvSpPr/>
          <p:nvPr/>
        </p:nvSpPr>
        <p:spPr>
          <a:xfrm>
            <a:off x="1522413" y="378936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36884" name="Oval 21"/>
          <p:cNvSpPr/>
          <p:nvPr/>
        </p:nvSpPr>
        <p:spPr>
          <a:xfrm>
            <a:off x="2274888" y="288766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36885" name="Oval 22"/>
          <p:cNvSpPr/>
          <p:nvPr/>
        </p:nvSpPr>
        <p:spPr>
          <a:xfrm>
            <a:off x="3054350" y="196056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36886" name="Oval 23"/>
          <p:cNvSpPr/>
          <p:nvPr/>
        </p:nvSpPr>
        <p:spPr>
          <a:xfrm>
            <a:off x="4165600" y="378936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36887" name="Oval 24"/>
          <p:cNvSpPr/>
          <p:nvPr/>
        </p:nvSpPr>
        <p:spPr>
          <a:xfrm>
            <a:off x="4165600" y="196056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36888" name="Oval 25"/>
          <p:cNvSpPr/>
          <p:nvPr/>
        </p:nvSpPr>
        <p:spPr>
          <a:xfrm>
            <a:off x="4943475" y="2835275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36889" name="Picture 26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90" name="Rectangle 28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36891" name="AutoShape 32"/>
          <p:cNvCxnSpPr>
            <a:stCxn id="36880" idx="7"/>
            <a:endCxn id="36881" idx="3"/>
          </p:cNvCxnSpPr>
          <p:nvPr/>
        </p:nvCxnSpPr>
        <p:spPr>
          <a:xfrm flipV="1">
            <a:off x="1074738" y="2359025"/>
            <a:ext cx="514350" cy="534988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892" name="AutoShape 33"/>
          <p:cNvCxnSpPr>
            <a:stCxn id="36881" idx="6"/>
            <a:endCxn id="36885" idx="2"/>
          </p:cNvCxnSpPr>
          <p:nvPr/>
        </p:nvCxnSpPr>
        <p:spPr>
          <a:xfrm>
            <a:off x="1987550" y="2189163"/>
            <a:ext cx="1058863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893" name="AutoShape 34"/>
          <p:cNvCxnSpPr>
            <a:stCxn id="36885" idx="6"/>
            <a:endCxn id="36887" idx="2"/>
          </p:cNvCxnSpPr>
          <p:nvPr/>
        </p:nvCxnSpPr>
        <p:spPr>
          <a:xfrm>
            <a:off x="3519488" y="2189163"/>
            <a:ext cx="638175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894" name="AutoShape 35"/>
          <p:cNvCxnSpPr>
            <a:stCxn id="36887" idx="5"/>
            <a:endCxn id="36888" idx="0"/>
          </p:cNvCxnSpPr>
          <p:nvPr/>
        </p:nvCxnSpPr>
        <p:spPr>
          <a:xfrm>
            <a:off x="4556125" y="2359025"/>
            <a:ext cx="615950" cy="46831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895" name="AutoShape 36"/>
          <p:cNvCxnSpPr>
            <a:stCxn id="36886" idx="6"/>
            <a:endCxn id="36888" idx="4"/>
          </p:cNvCxnSpPr>
          <p:nvPr/>
        </p:nvCxnSpPr>
        <p:spPr>
          <a:xfrm flipV="1">
            <a:off x="4630738" y="3300413"/>
            <a:ext cx="541337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896" name="AutoShape 37"/>
          <p:cNvCxnSpPr>
            <a:stCxn id="36886" idx="0"/>
            <a:endCxn id="36887" idx="4"/>
          </p:cNvCxnSpPr>
          <p:nvPr/>
        </p:nvCxnSpPr>
        <p:spPr>
          <a:xfrm flipV="1">
            <a:off x="4394200" y="2425700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897" name="AutoShape 38"/>
          <p:cNvCxnSpPr>
            <a:stCxn id="36885" idx="5"/>
            <a:endCxn id="36886" idx="1"/>
          </p:cNvCxnSpPr>
          <p:nvPr/>
        </p:nvCxnSpPr>
        <p:spPr>
          <a:xfrm>
            <a:off x="3444875" y="2359025"/>
            <a:ext cx="787400" cy="14890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898" name="AutoShape 39"/>
          <p:cNvCxnSpPr>
            <a:stCxn id="36884" idx="7"/>
            <a:endCxn id="36885" idx="3"/>
          </p:cNvCxnSpPr>
          <p:nvPr/>
        </p:nvCxnSpPr>
        <p:spPr>
          <a:xfrm flipV="1">
            <a:off x="2665413" y="2359025"/>
            <a:ext cx="455612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899" name="AutoShape 40"/>
          <p:cNvCxnSpPr>
            <a:stCxn id="36884" idx="5"/>
            <a:endCxn id="36882" idx="0"/>
          </p:cNvCxnSpPr>
          <p:nvPr/>
        </p:nvCxnSpPr>
        <p:spPr>
          <a:xfrm>
            <a:off x="2665413" y="3286125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900" name="AutoShape 41"/>
          <p:cNvCxnSpPr>
            <a:stCxn id="36883" idx="7"/>
            <a:endCxn id="36884" idx="3"/>
          </p:cNvCxnSpPr>
          <p:nvPr/>
        </p:nvCxnSpPr>
        <p:spPr>
          <a:xfrm flipV="1">
            <a:off x="1912938" y="3286125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901" name="AutoShape 42"/>
          <p:cNvCxnSpPr>
            <a:stCxn id="36880" idx="5"/>
            <a:endCxn id="36883" idx="1"/>
          </p:cNvCxnSpPr>
          <p:nvPr/>
        </p:nvCxnSpPr>
        <p:spPr>
          <a:xfrm>
            <a:off x="1074738" y="3233738"/>
            <a:ext cx="514350" cy="61436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902" name="AutoShape 43"/>
          <p:cNvCxnSpPr>
            <a:stCxn id="36883" idx="0"/>
            <a:endCxn id="36881" idx="4"/>
          </p:cNvCxnSpPr>
          <p:nvPr/>
        </p:nvCxnSpPr>
        <p:spPr>
          <a:xfrm flipV="1">
            <a:off x="1751013" y="2425700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903" name="AutoShape 44"/>
          <p:cNvCxnSpPr>
            <a:stCxn id="36882" idx="6"/>
            <a:endCxn id="36886" idx="2"/>
          </p:cNvCxnSpPr>
          <p:nvPr/>
        </p:nvCxnSpPr>
        <p:spPr>
          <a:xfrm>
            <a:off x="3349625" y="4017963"/>
            <a:ext cx="808038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904" name="AutoShape 45"/>
          <p:cNvCxnSpPr>
            <a:stCxn id="36883" idx="6"/>
            <a:endCxn id="36882" idx="2"/>
          </p:cNvCxnSpPr>
          <p:nvPr/>
        </p:nvCxnSpPr>
        <p:spPr>
          <a:xfrm>
            <a:off x="1987550" y="4017963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6905" name="Line 46"/>
          <p:cNvSpPr/>
          <p:nvPr/>
        </p:nvSpPr>
        <p:spPr>
          <a:xfrm>
            <a:off x="2360613" y="2341563"/>
            <a:ext cx="381000" cy="3810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36906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4152900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7891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37892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37893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7894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7895" name="Text Box 7"/>
          <p:cNvSpPr txBox="1"/>
          <p:nvPr/>
        </p:nvSpPr>
        <p:spPr>
          <a:xfrm>
            <a:off x="533400" y="28194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7896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7897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7898" name="Text Box 10"/>
          <p:cNvSpPr txBox="1"/>
          <p:nvPr/>
        </p:nvSpPr>
        <p:spPr>
          <a:xfrm>
            <a:off x="615950" y="39624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7899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37900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37901" name="Text Box 13"/>
          <p:cNvSpPr txBox="1"/>
          <p:nvPr/>
        </p:nvSpPr>
        <p:spPr>
          <a:xfrm>
            <a:off x="327660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7902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37903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37904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37905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37906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37907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37908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37909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37910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37911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37912" name="Oval 2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37913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914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37915" name="AutoShape 31"/>
          <p:cNvCxnSpPr>
            <a:stCxn id="37904" idx="7"/>
            <a:endCxn id="37905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16" name="AutoShape 32"/>
          <p:cNvCxnSpPr>
            <a:stCxn id="37905" idx="6"/>
            <a:endCxn id="37909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17" name="AutoShape 33"/>
          <p:cNvCxnSpPr>
            <a:stCxn id="37909" idx="6"/>
            <a:endCxn id="37911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18" name="AutoShape 34"/>
          <p:cNvCxnSpPr>
            <a:stCxn id="37911" idx="5"/>
            <a:endCxn id="37912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19" name="AutoShape 35"/>
          <p:cNvCxnSpPr>
            <a:stCxn id="37910" idx="6"/>
            <a:endCxn id="37912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20" name="AutoShape 36"/>
          <p:cNvCxnSpPr>
            <a:stCxn id="37910" idx="0"/>
            <a:endCxn id="37911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21" name="AutoShape 37"/>
          <p:cNvCxnSpPr>
            <a:stCxn id="37909" idx="5"/>
            <a:endCxn id="37910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22" name="AutoShape 38"/>
          <p:cNvCxnSpPr>
            <a:stCxn id="37908" idx="7"/>
            <a:endCxn id="37909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23" name="AutoShape 39"/>
          <p:cNvCxnSpPr>
            <a:stCxn id="37908" idx="5"/>
            <a:endCxn id="37906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24" name="AutoShape 40"/>
          <p:cNvCxnSpPr>
            <a:stCxn id="37907" idx="7"/>
            <a:endCxn id="37908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25" name="AutoShape 41"/>
          <p:cNvCxnSpPr>
            <a:stCxn id="37904" idx="5"/>
            <a:endCxn id="37907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26" name="AutoShape 42"/>
          <p:cNvCxnSpPr>
            <a:stCxn id="37907" idx="0"/>
            <a:endCxn id="37905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27" name="AutoShape 43"/>
          <p:cNvCxnSpPr>
            <a:stCxn id="37906" idx="6"/>
            <a:endCxn id="37910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28" name="AutoShape 44"/>
          <p:cNvCxnSpPr>
            <a:stCxn id="37907" idx="6"/>
            <a:endCxn id="37906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7929" name="Line 46"/>
          <p:cNvSpPr/>
          <p:nvPr/>
        </p:nvSpPr>
        <p:spPr>
          <a:xfrm flipH="1" flipV="1">
            <a:off x="3505200" y="4724400"/>
            <a:ext cx="381000" cy="4572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37930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8915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38916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38917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8918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8919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8920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8921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8922" name="Text Box 10"/>
          <p:cNvSpPr txBox="1"/>
          <p:nvPr/>
        </p:nvSpPr>
        <p:spPr>
          <a:xfrm>
            <a:off x="615950" y="39624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8923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38924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38925" name="Text Box 13"/>
          <p:cNvSpPr txBox="1"/>
          <p:nvPr/>
        </p:nvSpPr>
        <p:spPr>
          <a:xfrm>
            <a:off x="327660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8926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38927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38928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38929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38930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38931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38932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38933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38934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38935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38936" name="Oval 2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38937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38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38939" name="AutoShape 31"/>
          <p:cNvCxnSpPr>
            <a:stCxn id="38928" idx="7"/>
            <a:endCxn id="38929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0" name="AutoShape 32"/>
          <p:cNvCxnSpPr>
            <a:stCxn id="38929" idx="6"/>
            <a:endCxn id="38933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1" name="AutoShape 33"/>
          <p:cNvCxnSpPr>
            <a:stCxn id="38933" idx="6"/>
            <a:endCxn id="38935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2" name="AutoShape 34"/>
          <p:cNvCxnSpPr>
            <a:stCxn id="38935" idx="5"/>
            <a:endCxn id="38936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3" name="AutoShape 35"/>
          <p:cNvCxnSpPr>
            <a:stCxn id="38934" idx="6"/>
            <a:endCxn id="38936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4" name="AutoShape 36"/>
          <p:cNvCxnSpPr>
            <a:stCxn id="38934" idx="0"/>
            <a:endCxn id="38935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5" name="AutoShape 37"/>
          <p:cNvCxnSpPr>
            <a:stCxn id="38933" idx="5"/>
            <a:endCxn id="38934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6" name="AutoShape 38"/>
          <p:cNvCxnSpPr>
            <a:stCxn id="38932" idx="7"/>
            <a:endCxn id="38933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7" name="AutoShape 39"/>
          <p:cNvCxnSpPr>
            <a:stCxn id="38932" idx="5"/>
            <a:endCxn id="38930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8" name="AutoShape 40"/>
          <p:cNvCxnSpPr>
            <a:stCxn id="38931" idx="7"/>
            <a:endCxn id="38932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49" name="AutoShape 41"/>
          <p:cNvCxnSpPr>
            <a:stCxn id="38928" idx="5"/>
            <a:endCxn id="38931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50" name="AutoShape 42"/>
          <p:cNvCxnSpPr>
            <a:stCxn id="38931" idx="0"/>
            <a:endCxn id="38929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51" name="AutoShape 43"/>
          <p:cNvCxnSpPr>
            <a:stCxn id="38930" idx="6"/>
            <a:endCxn id="38934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52" name="AutoShape 44"/>
          <p:cNvCxnSpPr>
            <a:stCxn id="38931" idx="6"/>
            <a:endCxn id="38930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8953" name="Line 46"/>
          <p:cNvSpPr/>
          <p:nvPr/>
        </p:nvSpPr>
        <p:spPr>
          <a:xfrm>
            <a:off x="152400" y="2438400"/>
            <a:ext cx="457200" cy="4572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38954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9939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39940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39941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9942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9943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9944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9945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39946" name="Text Box 10"/>
          <p:cNvSpPr txBox="1"/>
          <p:nvPr/>
        </p:nvSpPr>
        <p:spPr>
          <a:xfrm>
            <a:off x="615950" y="39624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39947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39948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39949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39950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39951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39952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39953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39954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39955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39956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39957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39958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39959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39960" name="Oval 2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39961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62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39963" name="AutoShape 31"/>
          <p:cNvCxnSpPr>
            <a:stCxn id="39952" idx="7"/>
            <a:endCxn id="39953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64" name="AutoShape 32"/>
          <p:cNvCxnSpPr>
            <a:stCxn id="39953" idx="6"/>
            <a:endCxn id="39957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65" name="AutoShape 33"/>
          <p:cNvCxnSpPr>
            <a:stCxn id="39957" idx="6"/>
            <a:endCxn id="39959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66" name="AutoShape 34"/>
          <p:cNvCxnSpPr>
            <a:stCxn id="39959" idx="5"/>
            <a:endCxn id="39960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67" name="AutoShape 35"/>
          <p:cNvCxnSpPr>
            <a:stCxn id="39958" idx="6"/>
            <a:endCxn id="39960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68" name="AutoShape 36"/>
          <p:cNvCxnSpPr>
            <a:stCxn id="39958" idx="0"/>
            <a:endCxn id="39959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69" name="AutoShape 37"/>
          <p:cNvCxnSpPr>
            <a:stCxn id="39957" idx="5"/>
            <a:endCxn id="39958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70" name="AutoShape 38"/>
          <p:cNvCxnSpPr>
            <a:stCxn id="39956" idx="7"/>
            <a:endCxn id="39957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71" name="AutoShape 39"/>
          <p:cNvCxnSpPr>
            <a:stCxn id="39956" idx="5"/>
            <a:endCxn id="39954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72" name="AutoShape 40"/>
          <p:cNvCxnSpPr>
            <a:stCxn id="39955" idx="7"/>
            <a:endCxn id="39956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73" name="AutoShape 41"/>
          <p:cNvCxnSpPr>
            <a:stCxn id="39952" idx="5"/>
            <a:endCxn id="39955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74" name="AutoShape 42"/>
          <p:cNvCxnSpPr>
            <a:stCxn id="39955" idx="0"/>
            <a:endCxn id="39953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75" name="AutoShape 43"/>
          <p:cNvCxnSpPr>
            <a:stCxn id="39954" idx="6"/>
            <a:endCxn id="39958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76" name="AutoShape 44"/>
          <p:cNvCxnSpPr>
            <a:stCxn id="39955" idx="6"/>
            <a:endCxn id="39954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9977" name="Line 46"/>
          <p:cNvSpPr/>
          <p:nvPr/>
        </p:nvSpPr>
        <p:spPr>
          <a:xfrm flipH="1">
            <a:off x="3581400" y="3048000"/>
            <a:ext cx="533400" cy="3810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39978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0963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40964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40965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0966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0967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0968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0969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0970" name="Text Box 10"/>
          <p:cNvSpPr txBox="1"/>
          <p:nvPr/>
        </p:nvSpPr>
        <p:spPr>
          <a:xfrm>
            <a:off x="615950" y="39624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0971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40972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40973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0974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40975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40976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40977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40978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40979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40980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40981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40982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40983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40984" name="Oval 2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40985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6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40987" name="AutoShape 31"/>
          <p:cNvCxnSpPr>
            <a:stCxn id="40976" idx="7"/>
            <a:endCxn id="40977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88" name="AutoShape 32"/>
          <p:cNvCxnSpPr>
            <a:stCxn id="40977" idx="6"/>
            <a:endCxn id="40981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89" name="AutoShape 33"/>
          <p:cNvCxnSpPr>
            <a:stCxn id="40981" idx="6"/>
            <a:endCxn id="40983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0" name="AutoShape 34"/>
          <p:cNvCxnSpPr>
            <a:stCxn id="40983" idx="5"/>
            <a:endCxn id="40984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1" name="AutoShape 35"/>
          <p:cNvCxnSpPr>
            <a:stCxn id="40982" idx="6"/>
            <a:endCxn id="40984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2" name="AutoShape 36"/>
          <p:cNvCxnSpPr>
            <a:stCxn id="40982" idx="0"/>
            <a:endCxn id="40983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3" name="AutoShape 37"/>
          <p:cNvCxnSpPr>
            <a:stCxn id="40981" idx="5"/>
            <a:endCxn id="40982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4" name="AutoShape 38"/>
          <p:cNvCxnSpPr>
            <a:stCxn id="40980" idx="7"/>
            <a:endCxn id="40981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5" name="AutoShape 39"/>
          <p:cNvCxnSpPr>
            <a:stCxn id="40980" idx="5"/>
            <a:endCxn id="40978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6" name="AutoShape 40"/>
          <p:cNvCxnSpPr>
            <a:stCxn id="40979" idx="7"/>
            <a:endCxn id="40980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7" name="AutoShape 41"/>
          <p:cNvCxnSpPr>
            <a:stCxn id="40976" idx="5"/>
            <a:endCxn id="40979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8" name="AutoShape 42"/>
          <p:cNvCxnSpPr>
            <a:stCxn id="40979" idx="0"/>
            <a:endCxn id="40977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99" name="AutoShape 43"/>
          <p:cNvCxnSpPr>
            <a:stCxn id="40978" idx="6"/>
            <a:endCxn id="40982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000" name="AutoShape 44"/>
          <p:cNvCxnSpPr>
            <a:stCxn id="40979" idx="6"/>
            <a:endCxn id="40978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1001" name="Line 46"/>
          <p:cNvSpPr/>
          <p:nvPr/>
        </p:nvSpPr>
        <p:spPr>
          <a:xfrm flipH="1">
            <a:off x="2590800" y="3581400"/>
            <a:ext cx="609600" cy="3048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41002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1987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41988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41989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1990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1991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1992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1993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1994" name="Text Box 10"/>
          <p:cNvSpPr txBox="1"/>
          <p:nvPr/>
        </p:nvSpPr>
        <p:spPr>
          <a:xfrm>
            <a:off x="615950" y="39624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1995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41996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41997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1998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41999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42000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42001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42002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42003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42004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42005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42006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42007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42008" name="Oval 2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42009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010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42011" name="AutoShape 31"/>
          <p:cNvCxnSpPr>
            <a:stCxn id="42000" idx="7"/>
            <a:endCxn id="42001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12" name="AutoShape 32"/>
          <p:cNvCxnSpPr>
            <a:stCxn id="42001" idx="6"/>
            <a:endCxn id="42005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13" name="AutoShape 33"/>
          <p:cNvCxnSpPr>
            <a:stCxn id="42005" idx="6"/>
            <a:endCxn id="42007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14" name="AutoShape 34"/>
          <p:cNvCxnSpPr>
            <a:stCxn id="42007" idx="5"/>
            <a:endCxn id="42008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15" name="AutoShape 35"/>
          <p:cNvCxnSpPr>
            <a:stCxn id="42006" idx="6"/>
            <a:endCxn id="42008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16" name="AutoShape 36"/>
          <p:cNvCxnSpPr>
            <a:stCxn id="42006" idx="0"/>
            <a:endCxn id="42007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17" name="AutoShape 37"/>
          <p:cNvCxnSpPr>
            <a:stCxn id="42005" idx="5"/>
            <a:endCxn id="42006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18" name="AutoShape 38"/>
          <p:cNvCxnSpPr>
            <a:stCxn id="42004" idx="7"/>
            <a:endCxn id="42005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19" name="AutoShape 39"/>
          <p:cNvCxnSpPr>
            <a:stCxn id="42004" idx="5"/>
            <a:endCxn id="42002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20" name="AutoShape 40"/>
          <p:cNvCxnSpPr>
            <a:stCxn id="42003" idx="7"/>
            <a:endCxn id="42004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21" name="AutoShape 41"/>
          <p:cNvCxnSpPr>
            <a:stCxn id="42000" idx="5"/>
            <a:endCxn id="42003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22" name="AutoShape 42"/>
          <p:cNvCxnSpPr>
            <a:stCxn id="42003" idx="0"/>
            <a:endCxn id="42001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23" name="AutoShape 43"/>
          <p:cNvCxnSpPr>
            <a:stCxn id="42002" idx="6"/>
            <a:endCxn id="42006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24" name="AutoShape 44"/>
          <p:cNvCxnSpPr>
            <a:stCxn id="42003" idx="6"/>
            <a:endCxn id="42002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2025" name="Line 46"/>
          <p:cNvSpPr/>
          <p:nvPr/>
        </p:nvSpPr>
        <p:spPr>
          <a:xfrm flipH="1">
            <a:off x="3429000" y="2133600"/>
            <a:ext cx="609600" cy="3048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42026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3011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43012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43013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3014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3015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3016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3017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3018" name="Text Box 10"/>
          <p:cNvSpPr txBox="1"/>
          <p:nvPr/>
        </p:nvSpPr>
        <p:spPr>
          <a:xfrm>
            <a:off x="615950" y="39624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3019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43020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43021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3022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43023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43024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43025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43026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43027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43028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43029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43030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43031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43032" name="Oval 2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43033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34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43035" name="AutoShape 31"/>
          <p:cNvCxnSpPr>
            <a:stCxn id="43024" idx="7"/>
            <a:endCxn id="43025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36" name="AutoShape 32"/>
          <p:cNvCxnSpPr>
            <a:stCxn id="43025" idx="6"/>
            <a:endCxn id="43029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37" name="AutoShape 33"/>
          <p:cNvCxnSpPr>
            <a:stCxn id="43029" idx="6"/>
            <a:endCxn id="43031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38" name="AutoShape 34"/>
          <p:cNvCxnSpPr>
            <a:stCxn id="43031" idx="5"/>
            <a:endCxn id="43032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39" name="AutoShape 35"/>
          <p:cNvCxnSpPr>
            <a:stCxn id="43030" idx="6"/>
            <a:endCxn id="43032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40" name="AutoShape 36"/>
          <p:cNvCxnSpPr>
            <a:stCxn id="43030" idx="0"/>
            <a:endCxn id="43031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41" name="AutoShape 37"/>
          <p:cNvCxnSpPr>
            <a:stCxn id="43029" idx="5"/>
            <a:endCxn id="43030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42" name="AutoShape 38"/>
          <p:cNvCxnSpPr>
            <a:stCxn id="43028" idx="7"/>
            <a:endCxn id="43029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43" name="AutoShape 39"/>
          <p:cNvCxnSpPr>
            <a:stCxn id="43028" idx="5"/>
            <a:endCxn id="43026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44" name="AutoShape 40"/>
          <p:cNvCxnSpPr>
            <a:stCxn id="43027" idx="7"/>
            <a:endCxn id="43028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45" name="AutoShape 41"/>
          <p:cNvCxnSpPr>
            <a:stCxn id="43024" idx="5"/>
            <a:endCxn id="43027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46" name="AutoShape 42"/>
          <p:cNvCxnSpPr>
            <a:stCxn id="43027" idx="0"/>
            <a:endCxn id="43025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47" name="AutoShape 43"/>
          <p:cNvCxnSpPr>
            <a:stCxn id="43026" idx="6"/>
            <a:endCxn id="43030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048" name="AutoShape 44"/>
          <p:cNvCxnSpPr>
            <a:stCxn id="43027" idx="6"/>
            <a:endCxn id="43026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3049" name="Line 46"/>
          <p:cNvSpPr/>
          <p:nvPr/>
        </p:nvSpPr>
        <p:spPr>
          <a:xfrm flipH="1" flipV="1">
            <a:off x="1828800" y="4114800"/>
            <a:ext cx="304800" cy="2286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43050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4035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44036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44037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4038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4039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4040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4041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4042" name="Text Box 10"/>
          <p:cNvSpPr txBox="1"/>
          <p:nvPr/>
        </p:nvSpPr>
        <p:spPr>
          <a:xfrm>
            <a:off x="539750" y="40528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4043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44044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44045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4046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44047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44048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44049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44050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44051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44052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44053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44054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44055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44056" name="Oval 2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44057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58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44059" name="AutoShape 31"/>
          <p:cNvCxnSpPr>
            <a:stCxn id="44048" idx="7"/>
            <a:endCxn id="44049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0" name="AutoShape 32"/>
          <p:cNvCxnSpPr>
            <a:stCxn id="44049" idx="6"/>
            <a:endCxn id="44053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1" name="AutoShape 33"/>
          <p:cNvCxnSpPr>
            <a:stCxn id="44053" idx="6"/>
            <a:endCxn id="44055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2" name="AutoShape 34"/>
          <p:cNvCxnSpPr>
            <a:stCxn id="44055" idx="5"/>
            <a:endCxn id="44056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3" name="AutoShape 35"/>
          <p:cNvCxnSpPr>
            <a:stCxn id="44054" idx="6"/>
            <a:endCxn id="44056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4" name="AutoShape 36"/>
          <p:cNvCxnSpPr>
            <a:stCxn id="44054" idx="0"/>
            <a:endCxn id="44055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5" name="AutoShape 37"/>
          <p:cNvCxnSpPr>
            <a:stCxn id="44053" idx="5"/>
            <a:endCxn id="44054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6" name="AutoShape 38"/>
          <p:cNvCxnSpPr>
            <a:stCxn id="44052" idx="7"/>
            <a:endCxn id="44053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7" name="AutoShape 39"/>
          <p:cNvCxnSpPr>
            <a:stCxn id="44052" idx="5"/>
            <a:endCxn id="44050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8" name="AutoShape 40"/>
          <p:cNvCxnSpPr>
            <a:stCxn id="44051" idx="7"/>
            <a:endCxn id="44052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69" name="AutoShape 41"/>
          <p:cNvCxnSpPr>
            <a:stCxn id="44048" idx="5"/>
            <a:endCxn id="44051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70" name="AutoShape 42"/>
          <p:cNvCxnSpPr>
            <a:stCxn id="44051" idx="0"/>
            <a:endCxn id="44049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71" name="AutoShape 43"/>
          <p:cNvCxnSpPr>
            <a:stCxn id="44050" idx="6"/>
            <a:endCxn id="44054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072" name="AutoShape 44"/>
          <p:cNvCxnSpPr>
            <a:stCxn id="44051" idx="6"/>
            <a:endCxn id="44050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4073" name="Line 46"/>
          <p:cNvSpPr/>
          <p:nvPr/>
        </p:nvSpPr>
        <p:spPr>
          <a:xfrm flipV="1">
            <a:off x="76200" y="4343400"/>
            <a:ext cx="457200" cy="3810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44074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5059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45060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45061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5062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5063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5064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5065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5066" name="Text Box 10"/>
          <p:cNvSpPr txBox="1"/>
          <p:nvPr/>
        </p:nvSpPr>
        <p:spPr>
          <a:xfrm>
            <a:off x="539750" y="40528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5067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45068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45069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5070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45071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45072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45073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45074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45075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45076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45077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45078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45079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45080" name="Oval 2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45081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82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45083" name="AutoShape 30"/>
          <p:cNvCxnSpPr>
            <a:stCxn id="45072" idx="7"/>
            <a:endCxn id="45073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84" name="AutoShape 31"/>
          <p:cNvCxnSpPr>
            <a:stCxn id="45073" idx="6"/>
            <a:endCxn id="45077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85" name="AutoShape 32"/>
          <p:cNvCxnSpPr>
            <a:stCxn id="45077" idx="6"/>
            <a:endCxn id="45079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86" name="AutoShape 33"/>
          <p:cNvCxnSpPr>
            <a:stCxn id="45079" idx="5"/>
            <a:endCxn id="45080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87" name="AutoShape 34"/>
          <p:cNvCxnSpPr>
            <a:stCxn id="45078" idx="6"/>
            <a:endCxn id="45080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88" name="AutoShape 35"/>
          <p:cNvCxnSpPr>
            <a:stCxn id="45078" idx="0"/>
            <a:endCxn id="45079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89" name="AutoShape 36"/>
          <p:cNvCxnSpPr>
            <a:stCxn id="45077" idx="5"/>
            <a:endCxn id="45078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90" name="AutoShape 37"/>
          <p:cNvCxnSpPr>
            <a:stCxn id="45076" idx="7"/>
            <a:endCxn id="45077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91" name="AutoShape 38"/>
          <p:cNvCxnSpPr>
            <a:stCxn id="45076" idx="5"/>
            <a:endCxn id="45074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92" name="AutoShape 39"/>
          <p:cNvCxnSpPr>
            <a:stCxn id="45075" idx="7"/>
            <a:endCxn id="45076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93" name="AutoShape 40"/>
          <p:cNvCxnSpPr>
            <a:stCxn id="45072" idx="5"/>
            <a:endCxn id="45075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94" name="AutoShape 41"/>
          <p:cNvCxnSpPr>
            <a:stCxn id="45075" idx="0"/>
            <a:endCxn id="45073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95" name="AutoShape 42"/>
          <p:cNvCxnSpPr>
            <a:stCxn id="45074" idx="6"/>
            <a:endCxn id="45078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096" name="AutoShape 43"/>
          <p:cNvCxnSpPr>
            <a:stCxn id="45075" idx="6"/>
            <a:endCxn id="45074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5097" name="Line 46"/>
          <p:cNvSpPr/>
          <p:nvPr/>
        </p:nvSpPr>
        <p:spPr>
          <a:xfrm flipH="1">
            <a:off x="2057400" y="1981200"/>
            <a:ext cx="609600" cy="4572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45098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6083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46084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46085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6086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6087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6088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6089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6090" name="Text Box 10"/>
          <p:cNvSpPr txBox="1"/>
          <p:nvPr/>
        </p:nvSpPr>
        <p:spPr>
          <a:xfrm>
            <a:off x="539750" y="40528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6091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46092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46093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6094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46095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46096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46097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46098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46099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46100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46101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46102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46103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pic>
        <p:nvPicPr>
          <p:cNvPr id="46104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105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46106" name="AutoShape 30"/>
          <p:cNvCxnSpPr>
            <a:stCxn id="46096" idx="7"/>
            <a:endCxn id="46097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07" name="AutoShape 31"/>
          <p:cNvCxnSpPr>
            <a:stCxn id="46097" idx="6"/>
            <a:endCxn id="46101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08" name="AutoShape 32"/>
          <p:cNvCxnSpPr>
            <a:stCxn id="46101" idx="6"/>
            <a:endCxn id="46103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09" name="AutoShape 33"/>
          <p:cNvCxnSpPr>
            <a:stCxn id="46103" idx="5"/>
            <a:endCxn id="46121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0" name="AutoShape 34"/>
          <p:cNvCxnSpPr>
            <a:stCxn id="46102" idx="6"/>
            <a:endCxn id="46121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1" name="AutoShape 35"/>
          <p:cNvCxnSpPr>
            <a:stCxn id="46102" idx="0"/>
            <a:endCxn id="46103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2" name="AutoShape 36"/>
          <p:cNvCxnSpPr>
            <a:stCxn id="46101" idx="5"/>
            <a:endCxn id="46102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3" name="AutoShape 37"/>
          <p:cNvCxnSpPr>
            <a:stCxn id="46100" idx="7"/>
            <a:endCxn id="46101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4" name="AutoShape 38"/>
          <p:cNvCxnSpPr>
            <a:stCxn id="46100" idx="5"/>
            <a:endCxn id="46098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5" name="AutoShape 39"/>
          <p:cNvCxnSpPr>
            <a:stCxn id="46099" idx="7"/>
            <a:endCxn id="46100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6" name="AutoShape 40"/>
          <p:cNvCxnSpPr>
            <a:stCxn id="46096" idx="5"/>
            <a:endCxn id="46099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7" name="AutoShape 41"/>
          <p:cNvCxnSpPr>
            <a:stCxn id="46099" idx="0"/>
            <a:endCxn id="46097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8" name="AutoShape 42"/>
          <p:cNvCxnSpPr>
            <a:stCxn id="46098" idx="6"/>
            <a:endCxn id="46102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19" name="AutoShape 43"/>
          <p:cNvCxnSpPr>
            <a:stCxn id="46099" idx="6"/>
            <a:endCxn id="46098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6120" name="Line 46"/>
          <p:cNvSpPr/>
          <p:nvPr/>
        </p:nvSpPr>
        <p:spPr>
          <a:xfrm flipH="1">
            <a:off x="4572000" y="2438400"/>
            <a:ext cx="609600" cy="4572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121" name="Oval 2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46122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7107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47108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47109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7110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7111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7112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7113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7114" name="Text Box 10"/>
          <p:cNvSpPr txBox="1"/>
          <p:nvPr/>
        </p:nvSpPr>
        <p:spPr>
          <a:xfrm>
            <a:off x="539750" y="40528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7115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47116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47117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7118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47119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47120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47121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47122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47123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47124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47125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47126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47127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pic>
        <p:nvPicPr>
          <p:cNvPr id="47128" name="Picture 24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29" name="Rectangle 26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47130" name="AutoShape 29"/>
          <p:cNvCxnSpPr>
            <a:stCxn id="47120" idx="7"/>
            <a:endCxn id="47121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1" name="AutoShape 30"/>
          <p:cNvCxnSpPr>
            <a:stCxn id="47121" idx="6"/>
            <a:endCxn id="47125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2" name="AutoShape 31"/>
          <p:cNvCxnSpPr>
            <a:stCxn id="47125" idx="6"/>
            <a:endCxn id="47127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3" name="AutoShape 32"/>
          <p:cNvCxnSpPr>
            <a:stCxn id="47127" idx="5"/>
            <a:endCxn id="47145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4" name="AutoShape 33"/>
          <p:cNvCxnSpPr>
            <a:stCxn id="47126" idx="6"/>
            <a:endCxn id="47145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5" name="AutoShape 34"/>
          <p:cNvCxnSpPr>
            <a:stCxn id="47126" idx="0"/>
            <a:endCxn id="47127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6" name="AutoShape 35"/>
          <p:cNvCxnSpPr>
            <a:stCxn id="47125" idx="5"/>
            <a:endCxn id="47126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7" name="AutoShape 36"/>
          <p:cNvCxnSpPr>
            <a:stCxn id="47124" idx="7"/>
            <a:endCxn id="47125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8" name="AutoShape 37"/>
          <p:cNvCxnSpPr>
            <a:stCxn id="47124" idx="5"/>
            <a:endCxn id="47122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9" name="AutoShape 38"/>
          <p:cNvCxnSpPr>
            <a:stCxn id="47123" idx="7"/>
            <a:endCxn id="47124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40" name="AutoShape 39"/>
          <p:cNvCxnSpPr>
            <a:stCxn id="47120" idx="5"/>
            <a:endCxn id="47123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41" name="AutoShape 40"/>
          <p:cNvCxnSpPr>
            <a:stCxn id="47123" idx="0"/>
            <a:endCxn id="47121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42" name="AutoShape 41"/>
          <p:cNvCxnSpPr>
            <a:stCxn id="47122" idx="6"/>
            <a:endCxn id="47126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43" name="AutoShape 42"/>
          <p:cNvCxnSpPr>
            <a:stCxn id="47123" idx="6"/>
            <a:endCxn id="47122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7144" name="Line 44"/>
          <p:cNvSpPr/>
          <p:nvPr/>
        </p:nvSpPr>
        <p:spPr>
          <a:xfrm flipH="1" flipV="1">
            <a:off x="4572000" y="4343400"/>
            <a:ext cx="381000" cy="5334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145" name="Oval 45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pic>
        <p:nvPicPr>
          <p:cNvPr id="47146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8131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48132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48133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8134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8135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8136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8137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8138" name="Text Box 10"/>
          <p:cNvSpPr txBox="1"/>
          <p:nvPr/>
        </p:nvSpPr>
        <p:spPr>
          <a:xfrm>
            <a:off x="539750" y="40528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8139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48140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48141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8142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48143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48144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48145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48146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48147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48148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48149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48150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48151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pic>
        <p:nvPicPr>
          <p:cNvPr id="48152" name="Picture 24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53" name="Rectangle 26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48154" name="AutoShape 29"/>
          <p:cNvCxnSpPr>
            <a:stCxn id="48144" idx="7"/>
            <a:endCxn id="48145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55" name="AutoShape 30"/>
          <p:cNvCxnSpPr>
            <a:stCxn id="48145" idx="6"/>
            <a:endCxn id="48149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56" name="AutoShape 31"/>
          <p:cNvCxnSpPr>
            <a:stCxn id="48149" idx="6"/>
            <a:endCxn id="48151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57" name="AutoShape 32"/>
          <p:cNvCxnSpPr>
            <a:stCxn id="48151" idx="5"/>
            <a:endCxn id="48168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58" name="AutoShape 33"/>
          <p:cNvCxnSpPr>
            <a:stCxn id="48150" idx="6"/>
            <a:endCxn id="48168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59" name="AutoShape 34"/>
          <p:cNvCxnSpPr>
            <a:stCxn id="48150" idx="0"/>
            <a:endCxn id="48151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60" name="AutoShape 35"/>
          <p:cNvCxnSpPr>
            <a:stCxn id="48149" idx="5"/>
            <a:endCxn id="48150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61" name="AutoShape 36"/>
          <p:cNvCxnSpPr>
            <a:stCxn id="48148" idx="7"/>
            <a:endCxn id="48149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62" name="AutoShape 37"/>
          <p:cNvCxnSpPr>
            <a:stCxn id="48148" idx="5"/>
            <a:endCxn id="48146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63" name="AutoShape 38"/>
          <p:cNvCxnSpPr>
            <a:stCxn id="48147" idx="7"/>
            <a:endCxn id="48148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64" name="AutoShape 39"/>
          <p:cNvCxnSpPr>
            <a:stCxn id="48144" idx="5"/>
            <a:endCxn id="48147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65" name="AutoShape 40"/>
          <p:cNvCxnSpPr>
            <a:stCxn id="48147" idx="0"/>
            <a:endCxn id="48145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66" name="AutoShape 41"/>
          <p:cNvCxnSpPr>
            <a:stCxn id="48146" idx="6"/>
            <a:endCxn id="48150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67" name="AutoShape 42"/>
          <p:cNvCxnSpPr>
            <a:stCxn id="48147" idx="6"/>
            <a:endCxn id="48146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8168" name="Oval 45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48169" name="Line 46"/>
          <p:cNvSpPr/>
          <p:nvPr/>
        </p:nvSpPr>
        <p:spPr>
          <a:xfrm flipH="1">
            <a:off x="1295400" y="3276600"/>
            <a:ext cx="457200" cy="3048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48170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/>
          <p:nvPr/>
        </p:nvSpPr>
        <p:spPr>
          <a:xfrm>
            <a:off x="2362200" y="3062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9155" name="Text Box 3"/>
          <p:cNvSpPr txBox="1"/>
          <p:nvPr/>
        </p:nvSpPr>
        <p:spPr>
          <a:xfrm>
            <a:off x="2362200" y="3733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49156" name="Text Box 4"/>
          <p:cNvSpPr txBox="1"/>
          <p:nvPr/>
        </p:nvSpPr>
        <p:spPr>
          <a:xfrm>
            <a:off x="4343400" y="4038600"/>
            <a:ext cx="412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49157" name="Text Box 5"/>
          <p:cNvSpPr txBox="1"/>
          <p:nvPr/>
        </p:nvSpPr>
        <p:spPr>
          <a:xfrm>
            <a:off x="3200400" y="44958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49158" name="Text Box 6"/>
          <p:cNvSpPr txBox="1"/>
          <p:nvPr/>
        </p:nvSpPr>
        <p:spPr>
          <a:xfrm>
            <a:off x="1600200" y="3886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9159" name="Text Box 7"/>
          <p:cNvSpPr txBox="1"/>
          <p:nvPr/>
        </p:nvSpPr>
        <p:spPr>
          <a:xfrm>
            <a:off x="533400" y="274320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9160" name="Text Box 8"/>
          <p:cNvSpPr txBox="1"/>
          <p:nvPr/>
        </p:nvSpPr>
        <p:spPr>
          <a:xfrm>
            <a:off x="1828800" y="23304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9161" name="Text Box 9"/>
          <p:cNvSpPr txBox="1"/>
          <p:nvPr/>
        </p:nvSpPr>
        <p:spPr>
          <a:xfrm>
            <a:off x="3190875" y="23002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49162" name="Text Box 10"/>
          <p:cNvSpPr txBox="1"/>
          <p:nvPr/>
        </p:nvSpPr>
        <p:spPr>
          <a:xfrm>
            <a:off x="539750" y="40528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49163" name="Text Box 11"/>
          <p:cNvSpPr txBox="1"/>
          <p:nvPr/>
        </p:nvSpPr>
        <p:spPr>
          <a:xfrm>
            <a:off x="838200" y="34559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49164" name="Text Box 12"/>
          <p:cNvSpPr txBox="1"/>
          <p:nvPr/>
        </p:nvSpPr>
        <p:spPr>
          <a:xfrm>
            <a:off x="1835150" y="4510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49165" name="Text Box 13"/>
          <p:cNvSpPr txBox="1"/>
          <p:nvPr/>
        </p:nvSpPr>
        <p:spPr>
          <a:xfrm>
            <a:off x="3359150" y="33670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49166" name="Text Box 14"/>
          <p:cNvSpPr txBox="1"/>
          <p:nvPr/>
        </p:nvSpPr>
        <p:spPr>
          <a:xfrm>
            <a:off x="3886200" y="3367088"/>
            <a:ext cx="412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49167" name="Text Box 15"/>
          <p:cNvSpPr txBox="1"/>
          <p:nvPr/>
        </p:nvSpPr>
        <p:spPr>
          <a:xfrm>
            <a:off x="4343400" y="2757488"/>
            <a:ext cx="2984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49168" name="Oval 16"/>
          <p:cNvSpPr/>
          <p:nvPr/>
        </p:nvSpPr>
        <p:spPr>
          <a:xfrm>
            <a:off x="152400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49169" name="Oval 17"/>
          <p:cNvSpPr/>
          <p:nvPr/>
        </p:nvSpPr>
        <p:spPr>
          <a:xfrm>
            <a:off x="990600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49170" name="Oval 18"/>
          <p:cNvSpPr/>
          <p:nvPr/>
        </p:nvSpPr>
        <p:spPr>
          <a:xfrm>
            <a:off x="2352675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49171" name="Oval 19"/>
          <p:cNvSpPr/>
          <p:nvPr/>
        </p:nvSpPr>
        <p:spPr>
          <a:xfrm>
            <a:off x="990600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49172" name="Oval 20"/>
          <p:cNvSpPr/>
          <p:nvPr/>
        </p:nvSpPr>
        <p:spPr>
          <a:xfrm>
            <a:off x="1743075" y="33655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49173" name="Oval 21"/>
          <p:cNvSpPr/>
          <p:nvPr/>
        </p:nvSpPr>
        <p:spPr>
          <a:xfrm>
            <a:off x="252253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49174" name="Oval 22"/>
          <p:cNvSpPr/>
          <p:nvPr/>
        </p:nvSpPr>
        <p:spPr>
          <a:xfrm>
            <a:off x="3633788" y="42672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49175" name="Oval 23"/>
          <p:cNvSpPr/>
          <p:nvPr/>
        </p:nvSpPr>
        <p:spPr>
          <a:xfrm>
            <a:off x="3633788" y="2438400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pic>
        <p:nvPicPr>
          <p:cNvPr id="49176" name="Picture 24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77" name="Rectangle 26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Kruskal’s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49178" name="AutoShape 29"/>
          <p:cNvCxnSpPr>
            <a:stCxn id="49168" idx="7"/>
            <a:endCxn id="49169" idx="3"/>
          </p:cNvCxnSpPr>
          <p:nvPr/>
        </p:nvCxnSpPr>
        <p:spPr>
          <a:xfrm flipV="1">
            <a:off x="542925" y="2836863"/>
            <a:ext cx="514350" cy="534987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79" name="AutoShape 30"/>
          <p:cNvCxnSpPr>
            <a:stCxn id="49169" idx="6"/>
            <a:endCxn id="49173" idx="2"/>
          </p:cNvCxnSpPr>
          <p:nvPr/>
        </p:nvCxnSpPr>
        <p:spPr>
          <a:xfrm>
            <a:off x="1455738" y="2667000"/>
            <a:ext cx="1058862" cy="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0" name="AutoShape 31"/>
          <p:cNvCxnSpPr>
            <a:stCxn id="49173" idx="6"/>
            <a:endCxn id="49175" idx="2"/>
          </p:cNvCxnSpPr>
          <p:nvPr/>
        </p:nvCxnSpPr>
        <p:spPr>
          <a:xfrm>
            <a:off x="2987675" y="2667000"/>
            <a:ext cx="638175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1" name="AutoShape 32"/>
          <p:cNvCxnSpPr>
            <a:stCxn id="49175" idx="5"/>
            <a:endCxn id="49192" idx="0"/>
          </p:cNvCxnSpPr>
          <p:nvPr/>
        </p:nvCxnSpPr>
        <p:spPr>
          <a:xfrm>
            <a:off x="4024313" y="2836863"/>
            <a:ext cx="615950" cy="468312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2" name="AutoShape 33"/>
          <p:cNvCxnSpPr>
            <a:stCxn id="49174" idx="6"/>
            <a:endCxn id="49192" idx="4"/>
          </p:cNvCxnSpPr>
          <p:nvPr/>
        </p:nvCxnSpPr>
        <p:spPr>
          <a:xfrm flipV="1">
            <a:off x="4098925" y="3778250"/>
            <a:ext cx="541338" cy="71755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3" name="AutoShape 34"/>
          <p:cNvCxnSpPr>
            <a:stCxn id="49174" idx="0"/>
            <a:endCxn id="49175" idx="4"/>
          </p:cNvCxnSpPr>
          <p:nvPr/>
        </p:nvCxnSpPr>
        <p:spPr>
          <a:xfrm flipV="1">
            <a:off x="3862388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4" name="AutoShape 35"/>
          <p:cNvCxnSpPr>
            <a:stCxn id="49173" idx="5"/>
            <a:endCxn id="49174" idx="1"/>
          </p:cNvCxnSpPr>
          <p:nvPr/>
        </p:nvCxnSpPr>
        <p:spPr>
          <a:xfrm>
            <a:off x="2913063" y="2836863"/>
            <a:ext cx="787400" cy="14890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5" name="AutoShape 36"/>
          <p:cNvCxnSpPr>
            <a:stCxn id="49172" idx="7"/>
            <a:endCxn id="49173" idx="3"/>
          </p:cNvCxnSpPr>
          <p:nvPr/>
        </p:nvCxnSpPr>
        <p:spPr>
          <a:xfrm flipV="1">
            <a:off x="2133600" y="2836863"/>
            <a:ext cx="455613" cy="5873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6" name="AutoShape 37"/>
          <p:cNvCxnSpPr>
            <a:stCxn id="49172" idx="5"/>
            <a:endCxn id="49170" idx="0"/>
          </p:cNvCxnSpPr>
          <p:nvPr/>
        </p:nvCxnSpPr>
        <p:spPr>
          <a:xfrm>
            <a:off x="2133600" y="3763963"/>
            <a:ext cx="447675" cy="495300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7" name="AutoShape 38"/>
          <p:cNvCxnSpPr>
            <a:stCxn id="49171" idx="7"/>
            <a:endCxn id="49172" idx="3"/>
          </p:cNvCxnSpPr>
          <p:nvPr/>
        </p:nvCxnSpPr>
        <p:spPr>
          <a:xfrm flipV="1">
            <a:off x="1381125" y="3763963"/>
            <a:ext cx="428625" cy="56197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8" name="AutoShape 39"/>
          <p:cNvCxnSpPr>
            <a:stCxn id="49168" idx="5"/>
            <a:endCxn id="49171" idx="1"/>
          </p:cNvCxnSpPr>
          <p:nvPr/>
        </p:nvCxnSpPr>
        <p:spPr>
          <a:xfrm>
            <a:off x="542925" y="3711575"/>
            <a:ext cx="514350" cy="614363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89" name="AutoShape 40"/>
          <p:cNvCxnSpPr>
            <a:stCxn id="49171" idx="0"/>
            <a:endCxn id="49169" idx="4"/>
          </p:cNvCxnSpPr>
          <p:nvPr/>
        </p:nvCxnSpPr>
        <p:spPr>
          <a:xfrm flipV="1">
            <a:off x="1219200" y="2903538"/>
            <a:ext cx="0" cy="1355725"/>
          </a:xfrm>
          <a:prstGeom prst="straightConnector1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90" name="AutoShape 41"/>
          <p:cNvCxnSpPr>
            <a:stCxn id="49170" idx="6"/>
            <a:endCxn id="49174" idx="2"/>
          </p:cNvCxnSpPr>
          <p:nvPr/>
        </p:nvCxnSpPr>
        <p:spPr>
          <a:xfrm>
            <a:off x="2817813" y="4495800"/>
            <a:ext cx="808037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191" name="AutoShape 42"/>
          <p:cNvCxnSpPr>
            <a:stCxn id="49171" idx="6"/>
            <a:endCxn id="49170" idx="2"/>
          </p:cNvCxnSpPr>
          <p:nvPr/>
        </p:nvCxnSpPr>
        <p:spPr>
          <a:xfrm>
            <a:off x="1455738" y="4495800"/>
            <a:ext cx="8890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9192" name="Oval 44"/>
          <p:cNvSpPr/>
          <p:nvPr/>
        </p:nvSpPr>
        <p:spPr>
          <a:xfrm>
            <a:off x="4411663" y="3313113"/>
            <a:ext cx="457200" cy="457200"/>
          </a:xfrm>
          <a:prstGeom prst="ellipse">
            <a:avLst/>
          </a:prstGeom>
          <a:solidFill>
            <a:srgbClr val="E5E5FF"/>
          </a:solidFill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49193" name="Line 46"/>
          <p:cNvSpPr/>
          <p:nvPr/>
        </p:nvSpPr>
        <p:spPr>
          <a:xfrm flipH="1">
            <a:off x="4267200" y="2971800"/>
            <a:ext cx="457200" cy="457200"/>
          </a:xfrm>
          <a:prstGeom prst="line">
            <a:avLst/>
          </a:prstGeom>
          <a:ln w="635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49194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38" y="652463"/>
            <a:ext cx="3954462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82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Text Box 3"/>
          <p:cNvSpPr txBox="1"/>
          <p:nvPr/>
        </p:nvSpPr>
        <p:spPr>
          <a:xfrm>
            <a:off x="768350" y="1042988"/>
            <a:ext cx="837565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/>
              <a:t>Use Kruskal’s algorithm to find a minimal spanning tree for the graph below. Indicate the order in which edges are added to form the tree.</a:t>
            </a:r>
          </a:p>
        </p:txBody>
      </p:sp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2971800" y="2209800"/>
          <a:ext cx="2738438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43200" imgH="1647825" progId="CorelDRAW.Graphic.10">
                  <p:embed/>
                </p:oleObj>
              </mc:Choice>
              <mc:Fallback>
                <p:oleObj r:id="rId2" imgW="2743200" imgH="1647825" progId="CorelDRAW.Graphic.10">
                  <p:embed/>
                  <p:pic>
                    <p:nvPicPr>
                      <p:cNvPr id="50180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71800" y="2209800"/>
                        <a:ext cx="2738438" cy="164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Text Box 5"/>
          <p:cNvSpPr txBox="1"/>
          <p:nvPr/>
        </p:nvSpPr>
        <p:spPr>
          <a:xfrm>
            <a:off x="2708275" y="2708275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a</a:t>
            </a:r>
          </a:p>
        </p:txBody>
      </p:sp>
      <p:sp>
        <p:nvSpPr>
          <p:cNvPr id="50182" name="Text Box 6"/>
          <p:cNvSpPr txBox="1"/>
          <p:nvPr/>
        </p:nvSpPr>
        <p:spPr>
          <a:xfrm>
            <a:off x="3643313" y="1828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b</a:t>
            </a:r>
          </a:p>
        </p:txBody>
      </p:sp>
      <p:sp>
        <p:nvSpPr>
          <p:cNvPr id="50183" name="Text Box 7"/>
          <p:cNvSpPr txBox="1"/>
          <p:nvPr/>
        </p:nvSpPr>
        <p:spPr>
          <a:xfrm>
            <a:off x="5029200" y="18288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</a:t>
            </a:r>
          </a:p>
        </p:txBody>
      </p:sp>
      <p:sp>
        <p:nvSpPr>
          <p:cNvPr id="50184" name="Text Box 8"/>
          <p:cNvSpPr txBox="1"/>
          <p:nvPr/>
        </p:nvSpPr>
        <p:spPr>
          <a:xfrm>
            <a:off x="5700713" y="26876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d</a:t>
            </a:r>
          </a:p>
        </p:txBody>
      </p:sp>
      <p:sp>
        <p:nvSpPr>
          <p:cNvPr id="50185" name="Text Box 9"/>
          <p:cNvSpPr txBox="1"/>
          <p:nvPr/>
        </p:nvSpPr>
        <p:spPr>
          <a:xfrm>
            <a:off x="4311650" y="3754438"/>
            <a:ext cx="285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f</a:t>
            </a:r>
          </a:p>
        </p:txBody>
      </p:sp>
      <p:sp>
        <p:nvSpPr>
          <p:cNvPr id="50186" name="Text Box 10"/>
          <p:cNvSpPr txBox="1"/>
          <p:nvPr/>
        </p:nvSpPr>
        <p:spPr>
          <a:xfrm>
            <a:off x="3352800" y="37544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g</a:t>
            </a:r>
          </a:p>
        </p:txBody>
      </p:sp>
      <p:sp>
        <p:nvSpPr>
          <p:cNvPr id="50187" name="Text Box 11"/>
          <p:cNvSpPr txBox="1"/>
          <p:nvPr/>
        </p:nvSpPr>
        <p:spPr>
          <a:xfrm>
            <a:off x="4648200" y="2514600"/>
            <a:ext cx="319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e</a:t>
            </a:r>
          </a:p>
        </p:txBody>
      </p:sp>
      <p:sp>
        <p:nvSpPr>
          <p:cNvPr id="50188" name="Text Box 12"/>
          <p:cNvSpPr txBox="1"/>
          <p:nvPr/>
        </p:nvSpPr>
        <p:spPr>
          <a:xfrm>
            <a:off x="3165475" y="22304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1</a:t>
            </a:r>
          </a:p>
        </p:txBody>
      </p:sp>
      <p:sp>
        <p:nvSpPr>
          <p:cNvPr id="50189" name="Text Box 13"/>
          <p:cNvSpPr txBox="1"/>
          <p:nvPr/>
        </p:nvSpPr>
        <p:spPr>
          <a:xfrm>
            <a:off x="4311650" y="1828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7</a:t>
            </a:r>
          </a:p>
        </p:txBody>
      </p:sp>
      <p:sp>
        <p:nvSpPr>
          <p:cNvPr id="50190" name="Text Box 14"/>
          <p:cNvSpPr txBox="1"/>
          <p:nvPr/>
        </p:nvSpPr>
        <p:spPr>
          <a:xfrm>
            <a:off x="5378450" y="2286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4</a:t>
            </a:r>
          </a:p>
        </p:txBody>
      </p:sp>
      <p:sp>
        <p:nvSpPr>
          <p:cNvPr id="50191" name="Text Box 15"/>
          <p:cNvSpPr txBox="1"/>
          <p:nvPr/>
        </p:nvSpPr>
        <p:spPr>
          <a:xfrm>
            <a:off x="5105400" y="32972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5</a:t>
            </a:r>
          </a:p>
        </p:txBody>
      </p:sp>
      <p:sp>
        <p:nvSpPr>
          <p:cNvPr id="50192" name="Text Box 16"/>
          <p:cNvSpPr txBox="1"/>
          <p:nvPr/>
        </p:nvSpPr>
        <p:spPr>
          <a:xfrm>
            <a:off x="4997450" y="26114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3</a:t>
            </a:r>
          </a:p>
        </p:txBody>
      </p:sp>
      <p:sp>
        <p:nvSpPr>
          <p:cNvPr id="50193" name="Text Box 17"/>
          <p:cNvSpPr txBox="1"/>
          <p:nvPr/>
        </p:nvSpPr>
        <p:spPr>
          <a:xfrm>
            <a:off x="4637088" y="30686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2</a:t>
            </a:r>
          </a:p>
        </p:txBody>
      </p:sp>
      <p:sp>
        <p:nvSpPr>
          <p:cNvPr id="50194" name="Text Box 18"/>
          <p:cNvSpPr txBox="1"/>
          <p:nvPr/>
        </p:nvSpPr>
        <p:spPr>
          <a:xfrm>
            <a:off x="4235450" y="29162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9</a:t>
            </a:r>
          </a:p>
        </p:txBody>
      </p:sp>
      <p:sp>
        <p:nvSpPr>
          <p:cNvPr id="50195" name="Text Box 19"/>
          <p:cNvSpPr txBox="1"/>
          <p:nvPr/>
        </p:nvSpPr>
        <p:spPr>
          <a:xfrm>
            <a:off x="3886200" y="37544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6</a:t>
            </a:r>
          </a:p>
        </p:txBody>
      </p:sp>
      <p:sp>
        <p:nvSpPr>
          <p:cNvPr id="50196" name="Text Box 20"/>
          <p:cNvSpPr txBox="1"/>
          <p:nvPr/>
        </p:nvSpPr>
        <p:spPr>
          <a:xfrm>
            <a:off x="3505200" y="240347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8</a:t>
            </a:r>
          </a:p>
        </p:txBody>
      </p:sp>
      <p:sp>
        <p:nvSpPr>
          <p:cNvPr id="50197" name="Text Box 21"/>
          <p:cNvSpPr txBox="1"/>
          <p:nvPr/>
        </p:nvSpPr>
        <p:spPr>
          <a:xfrm>
            <a:off x="4240213" y="240347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10</a:t>
            </a:r>
          </a:p>
        </p:txBody>
      </p:sp>
      <p:sp>
        <p:nvSpPr>
          <p:cNvPr id="50198" name="Text Box 22"/>
          <p:cNvSpPr txBox="1"/>
          <p:nvPr/>
        </p:nvSpPr>
        <p:spPr>
          <a:xfrm>
            <a:off x="381000" y="4329113"/>
            <a:ext cx="33528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/>
              <a:t>SOLUTION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/>
              <a:t>Minimal spanning tree:</a:t>
            </a:r>
          </a:p>
        </p:txBody>
      </p:sp>
      <p:graphicFrame>
        <p:nvGraphicFramePr>
          <p:cNvPr id="50199" name="Object 23"/>
          <p:cNvGraphicFramePr>
            <a:graphicFrameLocks noChangeAspect="1"/>
          </p:cNvGraphicFramePr>
          <p:nvPr/>
        </p:nvGraphicFramePr>
        <p:xfrm>
          <a:off x="5600700" y="4648200"/>
          <a:ext cx="2738438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743200" imgH="1647825" progId="CorelDRAW.Graphic.10">
                  <p:embed/>
                </p:oleObj>
              </mc:Choice>
              <mc:Fallback>
                <p:oleObj r:id="rId4" imgW="2743200" imgH="1647825" progId="CorelDRAW.Graphic.10">
                  <p:embed/>
                  <p:pic>
                    <p:nvPicPr>
                      <p:cNvPr id="50199" name="Object 2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0700" y="4648200"/>
                        <a:ext cx="2738438" cy="164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0" name="Text Box 24"/>
          <p:cNvSpPr txBox="1"/>
          <p:nvPr/>
        </p:nvSpPr>
        <p:spPr>
          <a:xfrm>
            <a:off x="5281613" y="5146675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a</a:t>
            </a:r>
          </a:p>
        </p:txBody>
      </p:sp>
      <p:sp>
        <p:nvSpPr>
          <p:cNvPr id="50201" name="Text Box 25"/>
          <p:cNvSpPr txBox="1"/>
          <p:nvPr/>
        </p:nvSpPr>
        <p:spPr>
          <a:xfrm>
            <a:off x="621665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b</a:t>
            </a:r>
          </a:p>
        </p:txBody>
      </p:sp>
      <p:sp>
        <p:nvSpPr>
          <p:cNvPr id="50202" name="Text Box 26"/>
          <p:cNvSpPr txBox="1"/>
          <p:nvPr/>
        </p:nvSpPr>
        <p:spPr>
          <a:xfrm>
            <a:off x="7602538" y="4267200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</a:t>
            </a:r>
          </a:p>
        </p:txBody>
      </p:sp>
      <p:sp>
        <p:nvSpPr>
          <p:cNvPr id="50203" name="Text Box 27"/>
          <p:cNvSpPr txBox="1"/>
          <p:nvPr/>
        </p:nvSpPr>
        <p:spPr>
          <a:xfrm>
            <a:off x="8274050" y="51260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d</a:t>
            </a:r>
          </a:p>
        </p:txBody>
      </p:sp>
      <p:sp>
        <p:nvSpPr>
          <p:cNvPr id="50204" name="Text Box 28"/>
          <p:cNvSpPr txBox="1"/>
          <p:nvPr/>
        </p:nvSpPr>
        <p:spPr>
          <a:xfrm>
            <a:off x="6884988" y="6192838"/>
            <a:ext cx="285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f</a:t>
            </a:r>
          </a:p>
        </p:txBody>
      </p:sp>
      <p:sp>
        <p:nvSpPr>
          <p:cNvPr id="50205" name="Text Box 29"/>
          <p:cNvSpPr txBox="1"/>
          <p:nvPr/>
        </p:nvSpPr>
        <p:spPr>
          <a:xfrm>
            <a:off x="5926138" y="61928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g</a:t>
            </a:r>
          </a:p>
        </p:txBody>
      </p:sp>
      <p:sp>
        <p:nvSpPr>
          <p:cNvPr id="50206" name="Text Box 30"/>
          <p:cNvSpPr txBox="1"/>
          <p:nvPr/>
        </p:nvSpPr>
        <p:spPr>
          <a:xfrm>
            <a:off x="7221538" y="4953000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e</a:t>
            </a:r>
          </a:p>
        </p:txBody>
      </p:sp>
      <p:sp>
        <p:nvSpPr>
          <p:cNvPr id="50207" name="Text Box 31"/>
          <p:cNvSpPr txBox="1"/>
          <p:nvPr/>
        </p:nvSpPr>
        <p:spPr>
          <a:xfrm>
            <a:off x="5738813" y="46688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1</a:t>
            </a:r>
          </a:p>
        </p:txBody>
      </p:sp>
      <p:sp>
        <p:nvSpPr>
          <p:cNvPr id="50208" name="Text Box 32"/>
          <p:cNvSpPr txBox="1"/>
          <p:nvPr/>
        </p:nvSpPr>
        <p:spPr>
          <a:xfrm>
            <a:off x="6884988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7</a:t>
            </a:r>
          </a:p>
        </p:txBody>
      </p:sp>
      <p:sp>
        <p:nvSpPr>
          <p:cNvPr id="50209" name="Text Box 33"/>
          <p:cNvSpPr txBox="1"/>
          <p:nvPr/>
        </p:nvSpPr>
        <p:spPr>
          <a:xfrm>
            <a:off x="7951788" y="4724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4</a:t>
            </a:r>
          </a:p>
        </p:txBody>
      </p:sp>
      <p:sp>
        <p:nvSpPr>
          <p:cNvPr id="50210" name="Text Box 34"/>
          <p:cNvSpPr txBox="1"/>
          <p:nvPr/>
        </p:nvSpPr>
        <p:spPr>
          <a:xfrm>
            <a:off x="7570788" y="50498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3</a:t>
            </a:r>
          </a:p>
        </p:txBody>
      </p:sp>
      <p:sp>
        <p:nvSpPr>
          <p:cNvPr id="50211" name="Text Box 35"/>
          <p:cNvSpPr txBox="1"/>
          <p:nvPr/>
        </p:nvSpPr>
        <p:spPr>
          <a:xfrm>
            <a:off x="7272338" y="55070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2</a:t>
            </a:r>
          </a:p>
        </p:txBody>
      </p:sp>
      <p:sp>
        <p:nvSpPr>
          <p:cNvPr id="50212" name="Text Box 36"/>
          <p:cNvSpPr txBox="1"/>
          <p:nvPr/>
        </p:nvSpPr>
        <p:spPr>
          <a:xfrm>
            <a:off x="6477000" y="6400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6</a:t>
            </a:r>
          </a:p>
        </p:txBody>
      </p:sp>
      <p:sp>
        <p:nvSpPr>
          <p:cNvPr id="50213" name="Text Box 37"/>
          <p:cNvSpPr txBox="1"/>
          <p:nvPr/>
        </p:nvSpPr>
        <p:spPr>
          <a:xfrm>
            <a:off x="457200" y="5486400"/>
            <a:ext cx="52578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/>
              <a:t>Order of adding the edges: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/>
              <a:t>{a,b}, {e,f}, {e,d}, {c,d}, {g,f}, {b,c}</a:t>
            </a:r>
          </a:p>
        </p:txBody>
      </p:sp>
      <p:pic>
        <p:nvPicPr>
          <p:cNvPr id="50214" name="Picture 3" descr="siide b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83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960438" y="1087438"/>
            <a:ext cx="8183563" cy="50165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Input:	G[a weighted graph with n vertices]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Algorithm Body: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1.	Pick a vertex v of G and let T be the graph with one vertex, 	v, and no edges.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2.	Let V be the set of all vertices of G except v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3.	for i: = 1 to n - 1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3a.	Find an edge e of G such that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	(1)	e connects T to one of the vertices in V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and	(2)	e has the least weight of all edges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		connecting T to a vertex in V.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		Let w be the end point of e that is in V.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3b.	Add e and w to the edge and vertex sets of T and 			delete w from V.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	next </a:t>
            </a:r>
            <a:r>
              <a:rPr kumimoji="0" lang="en-US" altLang="en-US" kern="1200" cap="none" spc="0" normalizeH="0" baseline="0" noProof="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i</a:t>
            </a:r>
            <a:endParaRPr kumimoji="0" lang="en-US" altLang="en-US" kern="1200" cap="none" spc="0" normalizeH="0" baseline="0" noProof="0" dirty="0">
              <a:solidFill>
                <a:schemeClr val="bg2">
                  <a:lumMod val="60000"/>
                  <a:lumOff val="40000"/>
                </a:schemeClr>
              </a:solidFill>
              <a:latin typeface="Tahoma" panose="020B0604030504040204" pitchFamily="34" charset="0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Output:  T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kern="1200" cap="none" spc="0" normalizeH="0" baseline="0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+mn-ea"/>
                <a:cs typeface="+mn-cs"/>
              </a:rPr>
              <a:t>end Algorithm</a:t>
            </a:r>
          </a:p>
        </p:txBody>
      </p:sp>
      <p:pic>
        <p:nvPicPr>
          <p:cNvPr id="51204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/>
          <p:nvPr/>
        </p:nvSpPr>
        <p:spPr>
          <a:xfrm>
            <a:off x="2209800" y="2362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2227" name="Text Box 3"/>
          <p:cNvSpPr txBox="1"/>
          <p:nvPr/>
        </p:nvSpPr>
        <p:spPr>
          <a:xfrm>
            <a:off x="679450" y="2286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2228" name="Text Box 4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2229" name="Text Box 5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52230" name="Text Box 6"/>
          <p:cNvSpPr txBox="1"/>
          <p:nvPr/>
        </p:nvSpPr>
        <p:spPr>
          <a:xfrm>
            <a:off x="18288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2231" name="Text Box 7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2232" name="Text Box 8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52233" name="Text Box 9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2234" name="Text Box 10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52235" name="Text Box 11"/>
          <p:cNvSpPr txBox="1"/>
          <p:nvPr/>
        </p:nvSpPr>
        <p:spPr>
          <a:xfrm>
            <a:off x="3194050" y="28194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2236" name="Text Box 12"/>
          <p:cNvSpPr txBox="1"/>
          <p:nvPr/>
        </p:nvSpPr>
        <p:spPr>
          <a:xfrm>
            <a:off x="31242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2237" name="Text Box 13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52238" name="Text Box 14"/>
          <p:cNvSpPr txBox="1"/>
          <p:nvPr/>
        </p:nvSpPr>
        <p:spPr>
          <a:xfrm>
            <a:off x="4343400" y="2133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52239" name="Text Box 15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52240" name="Oval 18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52241" name="Oval 19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52242" name="Oval 20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52243" name="Oval 21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52244" name="Oval 22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52245" name="Oval 23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52246" name="Oval 24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52247" name="Oval 25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52248" name="Oval 26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pic>
        <p:nvPicPr>
          <p:cNvPr id="52249" name="Picture 27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50" name="Rectangle 29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52251" name="AutoShape 33"/>
          <p:cNvCxnSpPr>
            <a:stCxn id="52240" idx="7"/>
            <a:endCxn id="52245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52" name="AutoShape 34"/>
          <p:cNvCxnSpPr>
            <a:stCxn id="52246" idx="2"/>
            <a:endCxn id="52245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53" name="AutoShape 35"/>
          <p:cNvCxnSpPr>
            <a:stCxn id="52246" idx="6"/>
            <a:endCxn id="52247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54" name="AutoShape 36"/>
          <p:cNvCxnSpPr>
            <a:stCxn id="52247" idx="6"/>
            <a:endCxn id="52244" idx="1"/>
          </p:cNvCxnSpPr>
          <p:nvPr/>
        </p:nvCxnSpPr>
        <p:spPr>
          <a:xfrm>
            <a:off x="4056063" y="2133600"/>
            <a:ext cx="582612" cy="6762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55" name="AutoShape 37"/>
          <p:cNvCxnSpPr>
            <a:stCxn id="52243" idx="6"/>
            <a:endCxn id="52244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56" name="AutoShape 38"/>
          <p:cNvCxnSpPr>
            <a:stCxn id="52243" idx="0"/>
            <a:endCxn id="52247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57" name="AutoShape 39"/>
          <p:cNvCxnSpPr>
            <a:stCxn id="52243" idx="1"/>
            <a:endCxn id="52246" idx="5"/>
          </p:cNvCxnSpPr>
          <p:nvPr/>
        </p:nvCxnSpPr>
        <p:spPr>
          <a:xfrm flipH="1" flipV="1">
            <a:off x="2828925" y="2295525"/>
            <a:ext cx="836613" cy="15779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58" name="AutoShape 40"/>
          <p:cNvCxnSpPr>
            <a:stCxn id="52241" idx="6"/>
            <a:endCxn id="52243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59" name="AutoShape 41"/>
          <p:cNvCxnSpPr>
            <a:stCxn id="52242" idx="6"/>
            <a:endCxn id="52241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60" name="AutoShape 42"/>
          <p:cNvCxnSpPr>
            <a:stCxn id="52240" idx="5"/>
            <a:endCxn id="52242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61" name="AutoShape 43"/>
          <p:cNvCxnSpPr>
            <a:stCxn id="52242" idx="0"/>
            <a:endCxn id="52245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62" name="AutoShape 44"/>
          <p:cNvCxnSpPr>
            <a:stCxn id="52242" idx="7"/>
            <a:endCxn id="52248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63" name="AutoShape 45"/>
          <p:cNvCxnSpPr>
            <a:stCxn id="52248" idx="5"/>
            <a:endCxn id="52241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264" name="AutoShape 46"/>
          <p:cNvCxnSpPr>
            <a:stCxn id="52248" idx="7"/>
            <a:endCxn id="52246" idx="4"/>
          </p:cNvCxnSpPr>
          <p:nvPr/>
        </p:nvCxnSpPr>
        <p:spPr>
          <a:xfrm flipV="1">
            <a:off x="2371725" y="2362200"/>
            <a:ext cx="295275" cy="4476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2265" name="Rectangle 47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2266" name="Rectangle 48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2267" name="Rectangle 49"/>
          <p:cNvSpPr/>
          <p:nvPr/>
        </p:nvSpPr>
        <p:spPr>
          <a:xfrm>
            <a:off x="1368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2268" name="Rectangle 50"/>
          <p:cNvSpPr/>
          <p:nvPr/>
        </p:nvSpPr>
        <p:spPr>
          <a:xfrm>
            <a:off x="1749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2269" name="Rectangle 51"/>
          <p:cNvSpPr/>
          <p:nvPr/>
        </p:nvSpPr>
        <p:spPr>
          <a:xfrm>
            <a:off x="2130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2270" name="Rectangle 52"/>
          <p:cNvSpPr/>
          <p:nvPr/>
        </p:nvSpPr>
        <p:spPr>
          <a:xfrm>
            <a:off x="2511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2271" name="Rectangle 53"/>
          <p:cNvSpPr/>
          <p:nvPr/>
        </p:nvSpPr>
        <p:spPr>
          <a:xfrm>
            <a:off x="2855913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2272" name="Rectangle 54"/>
          <p:cNvSpPr/>
          <p:nvPr/>
        </p:nvSpPr>
        <p:spPr>
          <a:xfrm>
            <a:off x="3233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2273" name="Rectangle 55"/>
          <p:cNvSpPr/>
          <p:nvPr/>
        </p:nvSpPr>
        <p:spPr>
          <a:xfrm>
            <a:off x="3614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2274" name="Rectangle 56"/>
          <p:cNvSpPr/>
          <p:nvPr/>
        </p:nvSpPr>
        <p:spPr>
          <a:xfrm>
            <a:off x="3995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52275" name="Rectangle 57"/>
          <p:cNvSpPr/>
          <p:nvPr/>
        </p:nvSpPr>
        <p:spPr>
          <a:xfrm>
            <a:off x="990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0</a:t>
            </a:r>
            <a:endParaRPr lang="en-US" altLang="en-US" sz="2400" i="1" dirty="0">
              <a:latin typeface="Times New Roman" panose="02020603050405020304" pitchFamily="18" charset="0"/>
            </a:endParaRPr>
          </a:p>
        </p:txBody>
      </p:sp>
      <p:pic>
        <p:nvPicPr>
          <p:cNvPr id="52276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31"/>
          <p:cNvSpPr txBox="1"/>
          <p:nvPr/>
        </p:nvSpPr>
        <p:spPr>
          <a:xfrm>
            <a:off x="2209800" y="2362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3251" name="Text Box 27"/>
          <p:cNvSpPr txBox="1"/>
          <p:nvPr/>
        </p:nvSpPr>
        <p:spPr>
          <a:xfrm>
            <a:off x="679450" y="2286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3252" name="Text Box 28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3253" name="Text Box 29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53254" name="Text Box 30"/>
          <p:cNvSpPr txBox="1"/>
          <p:nvPr/>
        </p:nvSpPr>
        <p:spPr>
          <a:xfrm>
            <a:off x="18288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3255" name="Text Box 32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3256" name="Text Box 33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53257" name="Text Box 34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3258" name="Text Box 35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53259" name="Text Box 36"/>
          <p:cNvSpPr txBox="1"/>
          <p:nvPr/>
        </p:nvSpPr>
        <p:spPr>
          <a:xfrm>
            <a:off x="3194050" y="28194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3260" name="Text Box 37"/>
          <p:cNvSpPr txBox="1"/>
          <p:nvPr/>
        </p:nvSpPr>
        <p:spPr>
          <a:xfrm>
            <a:off x="31242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3261" name="Text Box 38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53262" name="Text Box 39"/>
          <p:cNvSpPr txBox="1"/>
          <p:nvPr/>
        </p:nvSpPr>
        <p:spPr>
          <a:xfrm>
            <a:off x="4343400" y="2133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53263" name="Text Box 40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53264" name="Freeform 42"/>
          <p:cNvSpPr/>
          <p:nvPr/>
        </p:nvSpPr>
        <p:spPr>
          <a:xfrm>
            <a:off x="334963" y="1752600"/>
            <a:ext cx="808037" cy="2828925"/>
          </a:xfrm>
          <a:custGeom>
            <a:avLst/>
            <a:gdLst>
              <a:gd name="txL" fmla="*/ 0 w 292"/>
              <a:gd name="txT" fmla="*/ 0 h 953"/>
              <a:gd name="txR" fmla="*/ 292 w 292"/>
              <a:gd name="txB" fmla="*/ 953 h 953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92" h="953">
                <a:moveTo>
                  <a:pt x="0" y="0"/>
                </a:moveTo>
                <a:cubicBezTo>
                  <a:pt x="47" y="35"/>
                  <a:pt x="100" y="41"/>
                  <a:pt x="141" y="85"/>
                </a:cubicBezTo>
                <a:cubicBezTo>
                  <a:pt x="200" y="149"/>
                  <a:pt x="218" y="200"/>
                  <a:pt x="255" y="274"/>
                </a:cubicBezTo>
                <a:cubicBezTo>
                  <a:pt x="258" y="290"/>
                  <a:pt x="259" y="306"/>
                  <a:pt x="264" y="321"/>
                </a:cubicBezTo>
                <a:cubicBezTo>
                  <a:pt x="268" y="334"/>
                  <a:pt x="280" y="345"/>
                  <a:pt x="283" y="359"/>
                </a:cubicBezTo>
                <a:cubicBezTo>
                  <a:pt x="290" y="393"/>
                  <a:pt x="289" y="428"/>
                  <a:pt x="292" y="462"/>
                </a:cubicBezTo>
                <a:cubicBezTo>
                  <a:pt x="283" y="601"/>
                  <a:pt x="291" y="625"/>
                  <a:pt x="236" y="736"/>
                </a:cubicBezTo>
                <a:cubicBezTo>
                  <a:pt x="216" y="776"/>
                  <a:pt x="208" y="824"/>
                  <a:pt x="179" y="859"/>
                </a:cubicBezTo>
                <a:cubicBezTo>
                  <a:pt x="151" y="892"/>
                  <a:pt x="134" y="898"/>
                  <a:pt x="94" y="925"/>
                </a:cubicBezTo>
                <a:cubicBezTo>
                  <a:pt x="78" y="936"/>
                  <a:pt x="57" y="938"/>
                  <a:pt x="38" y="944"/>
                </a:cubicBezTo>
                <a:cubicBezTo>
                  <a:pt x="28" y="947"/>
                  <a:pt x="9" y="953"/>
                  <a:pt x="9" y="953"/>
                </a:cubicBezTo>
              </a:path>
            </a:pathLst>
          </a:custGeom>
          <a:noFill/>
          <a:ln w="38100" cap="flat" cmpd="sng">
            <a:solidFill>
              <a:srgbClr val="0033C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265" name="Text Box 43"/>
          <p:cNvSpPr txBox="1"/>
          <p:nvPr/>
        </p:nvSpPr>
        <p:spPr>
          <a:xfrm>
            <a:off x="215900" y="2514600"/>
            <a:ext cx="54610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latin typeface="Times New Roman" panose="02020603050405020304" pitchFamily="18" charset="0"/>
                <a:ea typeface="PMingLiU" pitchFamily="18" charset="-120"/>
              </a:rPr>
              <a:t>root</a:t>
            </a:r>
          </a:p>
        </p:txBody>
      </p:sp>
      <p:sp>
        <p:nvSpPr>
          <p:cNvPr id="53266" name="Oval 4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53267" name="Oval 6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53268" name="Oval 7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53269" name="Oval 10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53270" name="Oval 12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53271" name="Oval 5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53272" name="Oval 9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53273" name="Oval 11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53274" name="Oval 8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pic>
        <p:nvPicPr>
          <p:cNvPr id="53275" name="Picture 4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76" name="Rectangle 4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53277" name="AutoShape 51"/>
          <p:cNvCxnSpPr>
            <a:stCxn id="53266" idx="7"/>
            <a:endCxn id="53271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78" name="AutoShape 52"/>
          <p:cNvCxnSpPr>
            <a:stCxn id="53272" idx="2"/>
            <a:endCxn id="53271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79" name="AutoShape 53"/>
          <p:cNvCxnSpPr>
            <a:stCxn id="53272" idx="6"/>
            <a:endCxn id="53273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0" name="AutoShape 54"/>
          <p:cNvCxnSpPr>
            <a:stCxn id="53273" idx="6"/>
            <a:endCxn id="53270" idx="1"/>
          </p:cNvCxnSpPr>
          <p:nvPr/>
        </p:nvCxnSpPr>
        <p:spPr>
          <a:xfrm>
            <a:off x="4056063" y="2133600"/>
            <a:ext cx="582612" cy="6762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1" name="AutoShape 55"/>
          <p:cNvCxnSpPr>
            <a:stCxn id="53269" idx="6"/>
            <a:endCxn id="53270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2" name="AutoShape 56"/>
          <p:cNvCxnSpPr>
            <a:stCxn id="53269" idx="0"/>
            <a:endCxn id="53273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3" name="AutoShape 57"/>
          <p:cNvCxnSpPr>
            <a:stCxn id="53269" idx="1"/>
            <a:endCxn id="53272" idx="5"/>
          </p:cNvCxnSpPr>
          <p:nvPr/>
        </p:nvCxnSpPr>
        <p:spPr>
          <a:xfrm flipH="1" flipV="1">
            <a:off x="2828925" y="2295525"/>
            <a:ext cx="836613" cy="15779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4" name="AutoShape 58"/>
          <p:cNvCxnSpPr>
            <a:stCxn id="53267" idx="6"/>
            <a:endCxn id="53269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5" name="AutoShape 59"/>
          <p:cNvCxnSpPr>
            <a:stCxn id="53268" idx="6"/>
            <a:endCxn id="53267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6" name="AutoShape 60"/>
          <p:cNvCxnSpPr>
            <a:stCxn id="53266" idx="5"/>
            <a:endCxn id="53268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7" name="AutoShape 61"/>
          <p:cNvCxnSpPr>
            <a:stCxn id="53268" idx="0"/>
            <a:endCxn id="53271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8" name="AutoShape 62"/>
          <p:cNvCxnSpPr>
            <a:stCxn id="53268" idx="7"/>
            <a:endCxn id="53274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89" name="AutoShape 63"/>
          <p:cNvCxnSpPr>
            <a:stCxn id="53274" idx="5"/>
            <a:endCxn id="53267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290" name="AutoShape 64"/>
          <p:cNvCxnSpPr>
            <a:stCxn id="53274" idx="7"/>
            <a:endCxn id="53272" idx="4"/>
          </p:cNvCxnSpPr>
          <p:nvPr/>
        </p:nvCxnSpPr>
        <p:spPr>
          <a:xfrm flipV="1">
            <a:off x="2371725" y="2362200"/>
            <a:ext cx="295275" cy="4476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3291" name="Rectangle 88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53292" name="Rectangle 89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3293" name="Rectangle 90"/>
          <p:cNvSpPr/>
          <p:nvPr/>
        </p:nvSpPr>
        <p:spPr>
          <a:xfrm>
            <a:off x="1368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3294" name="Rectangle 91"/>
          <p:cNvSpPr/>
          <p:nvPr/>
        </p:nvSpPr>
        <p:spPr>
          <a:xfrm>
            <a:off x="1749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3295" name="Rectangle 92"/>
          <p:cNvSpPr/>
          <p:nvPr/>
        </p:nvSpPr>
        <p:spPr>
          <a:xfrm>
            <a:off x="2130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3296" name="Rectangle 93"/>
          <p:cNvSpPr/>
          <p:nvPr/>
        </p:nvSpPr>
        <p:spPr>
          <a:xfrm>
            <a:off x="2474913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3297" name="Rectangle 94"/>
          <p:cNvSpPr/>
          <p:nvPr/>
        </p:nvSpPr>
        <p:spPr>
          <a:xfrm>
            <a:off x="2852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3298" name="Rectangle 95"/>
          <p:cNvSpPr/>
          <p:nvPr/>
        </p:nvSpPr>
        <p:spPr>
          <a:xfrm>
            <a:off x="3233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3299" name="Rectangle 96"/>
          <p:cNvSpPr/>
          <p:nvPr/>
        </p:nvSpPr>
        <p:spPr>
          <a:xfrm>
            <a:off x="3614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53300" name="Rectangle 97"/>
          <p:cNvSpPr/>
          <p:nvPr/>
        </p:nvSpPr>
        <p:spPr>
          <a:xfrm>
            <a:off x="990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4</a:t>
            </a:r>
            <a:endParaRPr lang="en-US" altLang="en-US" sz="2400" i="1" dirty="0">
              <a:latin typeface="Times New Roman" panose="02020603050405020304" pitchFamily="18" charset="0"/>
            </a:endParaRPr>
          </a:p>
        </p:txBody>
      </p:sp>
      <p:sp>
        <p:nvSpPr>
          <p:cNvPr id="53301" name="Rectangle 98"/>
          <p:cNvSpPr/>
          <p:nvPr/>
        </p:nvSpPr>
        <p:spPr>
          <a:xfrm>
            <a:off x="3276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8</a:t>
            </a:r>
          </a:p>
        </p:txBody>
      </p:sp>
      <p:pic>
        <p:nvPicPr>
          <p:cNvPr id="53302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/>
          <p:nvPr/>
        </p:nvSpPr>
        <p:spPr>
          <a:xfrm>
            <a:off x="2209800" y="2362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4275" name="Text Box 3"/>
          <p:cNvSpPr txBox="1"/>
          <p:nvPr/>
        </p:nvSpPr>
        <p:spPr>
          <a:xfrm>
            <a:off x="679450" y="22098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4276" name="Text Box 4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4277" name="Text Box 5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54278" name="Text Box 6"/>
          <p:cNvSpPr txBox="1"/>
          <p:nvPr/>
        </p:nvSpPr>
        <p:spPr>
          <a:xfrm>
            <a:off x="189865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4279" name="Text Box 7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4280" name="Text Box 8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54281" name="Text Box 9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4282" name="Text Box 10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54283" name="Text Box 11"/>
          <p:cNvSpPr txBox="1"/>
          <p:nvPr/>
        </p:nvSpPr>
        <p:spPr>
          <a:xfrm>
            <a:off x="3194050" y="28194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4284" name="Text Box 12"/>
          <p:cNvSpPr txBox="1"/>
          <p:nvPr/>
        </p:nvSpPr>
        <p:spPr>
          <a:xfrm>
            <a:off x="31242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4285" name="Text Box 13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54286" name="Text Box 14"/>
          <p:cNvSpPr txBox="1"/>
          <p:nvPr/>
        </p:nvSpPr>
        <p:spPr>
          <a:xfrm>
            <a:off x="4343400" y="2133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54287" name="Text Box 15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54288" name="Oval 18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54289" name="Oval 19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54290" name="Oval 20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54291" name="Oval 21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54292" name="Oval 22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54293" name="Oval 23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54294" name="Oval 24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54295" name="Oval 25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54296" name="Oval 26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pic>
        <p:nvPicPr>
          <p:cNvPr id="54297" name="Picture 27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98" name="Rectangle 29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54299" name="AutoShape 33"/>
          <p:cNvCxnSpPr>
            <a:stCxn id="54288" idx="7"/>
            <a:endCxn id="54293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0" name="AutoShape 34"/>
          <p:cNvCxnSpPr>
            <a:stCxn id="54294" idx="2"/>
            <a:endCxn id="54293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1" name="AutoShape 35"/>
          <p:cNvCxnSpPr>
            <a:stCxn id="54294" idx="6"/>
            <a:endCxn id="54295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2" name="AutoShape 36"/>
          <p:cNvCxnSpPr>
            <a:stCxn id="54295" idx="6"/>
            <a:endCxn id="54292" idx="1"/>
          </p:cNvCxnSpPr>
          <p:nvPr/>
        </p:nvCxnSpPr>
        <p:spPr>
          <a:xfrm>
            <a:off x="4056063" y="2133600"/>
            <a:ext cx="582612" cy="6762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3" name="AutoShape 37"/>
          <p:cNvCxnSpPr>
            <a:stCxn id="54291" idx="6"/>
            <a:endCxn id="54292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4" name="AutoShape 38"/>
          <p:cNvCxnSpPr>
            <a:stCxn id="54291" idx="0"/>
            <a:endCxn id="54295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5" name="AutoShape 39"/>
          <p:cNvCxnSpPr>
            <a:stCxn id="54291" idx="1"/>
            <a:endCxn id="54294" idx="5"/>
          </p:cNvCxnSpPr>
          <p:nvPr/>
        </p:nvCxnSpPr>
        <p:spPr>
          <a:xfrm flipH="1" flipV="1">
            <a:off x="2828925" y="2295525"/>
            <a:ext cx="836613" cy="15779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6" name="AutoShape 40"/>
          <p:cNvCxnSpPr>
            <a:stCxn id="54289" idx="6"/>
            <a:endCxn id="54291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7" name="AutoShape 41"/>
          <p:cNvCxnSpPr>
            <a:stCxn id="54290" idx="6"/>
            <a:endCxn id="54289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8" name="AutoShape 42"/>
          <p:cNvCxnSpPr>
            <a:stCxn id="54288" idx="5"/>
            <a:endCxn id="54290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09" name="AutoShape 43"/>
          <p:cNvCxnSpPr>
            <a:stCxn id="54290" idx="0"/>
            <a:endCxn id="54293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10" name="AutoShape 44"/>
          <p:cNvCxnSpPr>
            <a:stCxn id="54290" idx="7"/>
            <a:endCxn id="54296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11" name="AutoShape 45"/>
          <p:cNvCxnSpPr>
            <a:stCxn id="54296" idx="5"/>
            <a:endCxn id="54289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312" name="AutoShape 46"/>
          <p:cNvCxnSpPr>
            <a:stCxn id="54296" idx="7"/>
            <a:endCxn id="54294" idx="4"/>
          </p:cNvCxnSpPr>
          <p:nvPr/>
        </p:nvCxnSpPr>
        <p:spPr>
          <a:xfrm flipV="1">
            <a:off x="2371725" y="2362200"/>
            <a:ext cx="295275" cy="4476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4313" name="Freeform 47"/>
          <p:cNvSpPr/>
          <p:nvPr/>
        </p:nvSpPr>
        <p:spPr>
          <a:xfrm>
            <a:off x="304800" y="1066800"/>
            <a:ext cx="1676400" cy="2819400"/>
          </a:xfrm>
          <a:custGeom>
            <a:avLst/>
            <a:gdLst>
              <a:gd name="txL" fmla="*/ 0 w 1209"/>
              <a:gd name="txT" fmla="*/ 0 h 1086"/>
              <a:gd name="txR" fmla="*/ 1209 w 1209"/>
              <a:gd name="txB" fmla="*/ 1086 h 1086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1209" h="1086">
                <a:moveTo>
                  <a:pt x="1181" y="0"/>
                </a:moveTo>
                <a:cubicBezTo>
                  <a:pt x="1191" y="31"/>
                  <a:pt x="1198" y="63"/>
                  <a:pt x="1209" y="94"/>
                </a:cubicBezTo>
                <a:cubicBezTo>
                  <a:pt x="1202" y="189"/>
                  <a:pt x="1209" y="236"/>
                  <a:pt x="1171" y="312"/>
                </a:cubicBezTo>
                <a:cubicBezTo>
                  <a:pt x="1141" y="434"/>
                  <a:pt x="1000" y="604"/>
                  <a:pt x="878" y="642"/>
                </a:cubicBezTo>
                <a:cubicBezTo>
                  <a:pt x="760" y="722"/>
                  <a:pt x="932" y="609"/>
                  <a:pt x="822" y="670"/>
                </a:cubicBezTo>
                <a:cubicBezTo>
                  <a:pt x="802" y="681"/>
                  <a:pt x="784" y="695"/>
                  <a:pt x="765" y="708"/>
                </a:cubicBezTo>
                <a:cubicBezTo>
                  <a:pt x="742" y="724"/>
                  <a:pt x="715" y="733"/>
                  <a:pt x="690" y="746"/>
                </a:cubicBezTo>
                <a:cubicBezTo>
                  <a:pt x="653" y="765"/>
                  <a:pt x="625" y="789"/>
                  <a:pt x="586" y="803"/>
                </a:cubicBezTo>
                <a:cubicBezTo>
                  <a:pt x="552" y="828"/>
                  <a:pt x="493" y="866"/>
                  <a:pt x="453" y="878"/>
                </a:cubicBezTo>
                <a:cubicBezTo>
                  <a:pt x="444" y="884"/>
                  <a:pt x="435" y="892"/>
                  <a:pt x="425" y="897"/>
                </a:cubicBezTo>
                <a:cubicBezTo>
                  <a:pt x="416" y="901"/>
                  <a:pt x="406" y="901"/>
                  <a:pt x="397" y="906"/>
                </a:cubicBezTo>
                <a:cubicBezTo>
                  <a:pt x="377" y="917"/>
                  <a:pt x="362" y="936"/>
                  <a:pt x="340" y="944"/>
                </a:cubicBezTo>
                <a:cubicBezTo>
                  <a:pt x="279" y="966"/>
                  <a:pt x="223" y="999"/>
                  <a:pt x="161" y="1020"/>
                </a:cubicBezTo>
                <a:cubicBezTo>
                  <a:pt x="151" y="1023"/>
                  <a:pt x="141" y="1025"/>
                  <a:pt x="132" y="1029"/>
                </a:cubicBezTo>
                <a:cubicBezTo>
                  <a:pt x="119" y="1034"/>
                  <a:pt x="108" y="1043"/>
                  <a:pt x="95" y="1048"/>
                </a:cubicBezTo>
                <a:cubicBezTo>
                  <a:pt x="65" y="1060"/>
                  <a:pt x="24" y="1062"/>
                  <a:pt x="0" y="1086"/>
                </a:cubicBezTo>
              </a:path>
            </a:pathLst>
          </a:custGeom>
          <a:noFill/>
          <a:ln w="38100" cap="flat" cmpd="sng">
            <a:solidFill>
              <a:srgbClr val="0033C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314" name="Rectangle 60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54315" name="Rectangle 62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4316" name="Rectangle 63"/>
          <p:cNvSpPr/>
          <p:nvPr/>
        </p:nvSpPr>
        <p:spPr>
          <a:xfrm>
            <a:off x="1368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4317" name="Rectangle 64"/>
          <p:cNvSpPr/>
          <p:nvPr/>
        </p:nvSpPr>
        <p:spPr>
          <a:xfrm>
            <a:off x="1749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4318" name="Rectangle 65"/>
          <p:cNvSpPr/>
          <p:nvPr/>
        </p:nvSpPr>
        <p:spPr>
          <a:xfrm>
            <a:off x="2093913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4319" name="Rectangle 66"/>
          <p:cNvSpPr/>
          <p:nvPr/>
        </p:nvSpPr>
        <p:spPr>
          <a:xfrm>
            <a:off x="2471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4320" name="Rectangle 67"/>
          <p:cNvSpPr/>
          <p:nvPr/>
        </p:nvSpPr>
        <p:spPr>
          <a:xfrm>
            <a:off x="2852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4321" name="Rectangle 68"/>
          <p:cNvSpPr/>
          <p:nvPr/>
        </p:nvSpPr>
        <p:spPr>
          <a:xfrm>
            <a:off x="3233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54322" name="Rectangle 69"/>
          <p:cNvSpPr/>
          <p:nvPr/>
        </p:nvSpPr>
        <p:spPr>
          <a:xfrm>
            <a:off x="2895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4323" name="Rectangle 70"/>
          <p:cNvSpPr/>
          <p:nvPr/>
        </p:nvSpPr>
        <p:spPr>
          <a:xfrm>
            <a:off x="10668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8</a:t>
            </a:r>
          </a:p>
        </p:txBody>
      </p:sp>
      <p:pic>
        <p:nvPicPr>
          <p:cNvPr id="54324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/>
          <p:nvPr/>
        </p:nvSpPr>
        <p:spPr>
          <a:xfrm>
            <a:off x="2203450" y="2362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5299" name="Text Box 3"/>
          <p:cNvSpPr txBox="1"/>
          <p:nvPr/>
        </p:nvSpPr>
        <p:spPr>
          <a:xfrm>
            <a:off x="679450" y="22098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5300" name="Text Box 4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5301" name="Text Box 5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55302" name="Text Box 6"/>
          <p:cNvSpPr txBox="1"/>
          <p:nvPr/>
        </p:nvSpPr>
        <p:spPr>
          <a:xfrm>
            <a:off x="18288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5303" name="Text Box 7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5304" name="Text Box 8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55305" name="Text Box 9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5306" name="Text Box 10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55307" name="Text Box 11"/>
          <p:cNvSpPr txBox="1"/>
          <p:nvPr/>
        </p:nvSpPr>
        <p:spPr>
          <a:xfrm>
            <a:off x="3194050" y="28194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5308" name="Text Box 12"/>
          <p:cNvSpPr txBox="1"/>
          <p:nvPr/>
        </p:nvSpPr>
        <p:spPr>
          <a:xfrm>
            <a:off x="31242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5309" name="Text Box 13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55310" name="Text Box 14"/>
          <p:cNvSpPr txBox="1"/>
          <p:nvPr/>
        </p:nvSpPr>
        <p:spPr>
          <a:xfrm>
            <a:off x="4343400" y="2133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55311" name="Text Box 15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55312" name="Oval 16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55313" name="Oval 17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55314" name="Oval 18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55315" name="Oval 19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55316" name="Oval 20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55317" name="Oval 21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55318" name="Oval 22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55319" name="Oval 23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55320" name="Oval 24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pic>
        <p:nvPicPr>
          <p:cNvPr id="55321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22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55323" name="AutoShape 31"/>
          <p:cNvCxnSpPr>
            <a:stCxn id="55312" idx="7"/>
            <a:endCxn id="55317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24" name="AutoShape 32"/>
          <p:cNvCxnSpPr>
            <a:stCxn id="55318" idx="2"/>
            <a:endCxn id="55317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25" name="AutoShape 33"/>
          <p:cNvCxnSpPr>
            <a:stCxn id="55318" idx="6"/>
            <a:endCxn id="55319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26" name="AutoShape 34"/>
          <p:cNvCxnSpPr>
            <a:stCxn id="55319" idx="6"/>
            <a:endCxn id="55316" idx="1"/>
          </p:cNvCxnSpPr>
          <p:nvPr/>
        </p:nvCxnSpPr>
        <p:spPr>
          <a:xfrm>
            <a:off x="4056063" y="2133600"/>
            <a:ext cx="582612" cy="6762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27" name="AutoShape 35"/>
          <p:cNvCxnSpPr>
            <a:stCxn id="55315" idx="6"/>
            <a:endCxn id="55316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28" name="AutoShape 36"/>
          <p:cNvCxnSpPr>
            <a:stCxn id="55315" idx="0"/>
            <a:endCxn id="55319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29" name="AutoShape 37"/>
          <p:cNvCxnSpPr>
            <a:stCxn id="55315" idx="1"/>
            <a:endCxn id="55318" idx="5"/>
          </p:cNvCxnSpPr>
          <p:nvPr/>
        </p:nvCxnSpPr>
        <p:spPr>
          <a:xfrm flipH="1" flipV="1">
            <a:off x="2828925" y="2295525"/>
            <a:ext cx="836613" cy="15779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30" name="AutoShape 38"/>
          <p:cNvCxnSpPr>
            <a:stCxn id="55313" idx="6"/>
            <a:endCxn id="55315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31" name="AutoShape 39"/>
          <p:cNvCxnSpPr>
            <a:stCxn id="55314" idx="6"/>
            <a:endCxn id="55313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32" name="AutoShape 40"/>
          <p:cNvCxnSpPr>
            <a:stCxn id="55312" idx="5"/>
            <a:endCxn id="55314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33" name="AutoShape 41"/>
          <p:cNvCxnSpPr>
            <a:stCxn id="55314" idx="0"/>
            <a:endCxn id="55317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34" name="AutoShape 42"/>
          <p:cNvCxnSpPr>
            <a:stCxn id="55314" idx="7"/>
            <a:endCxn id="55320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35" name="AutoShape 43"/>
          <p:cNvCxnSpPr>
            <a:stCxn id="55320" idx="5"/>
            <a:endCxn id="55313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336" name="AutoShape 44"/>
          <p:cNvCxnSpPr>
            <a:stCxn id="55320" idx="7"/>
            <a:endCxn id="55318" idx="4"/>
          </p:cNvCxnSpPr>
          <p:nvPr/>
        </p:nvCxnSpPr>
        <p:spPr>
          <a:xfrm flipV="1">
            <a:off x="2371725" y="2362200"/>
            <a:ext cx="295275" cy="4476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5337" name="Freeform 46"/>
          <p:cNvSpPr/>
          <p:nvPr/>
        </p:nvSpPr>
        <p:spPr>
          <a:xfrm>
            <a:off x="228600" y="1066800"/>
            <a:ext cx="2971800" cy="2819400"/>
          </a:xfrm>
          <a:custGeom>
            <a:avLst/>
            <a:gdLst>
              <a:gd name="txL" fmla="*/ 0 w 2191"/>
              <a:gd name="txT" fmla="*/ 0 h 1237"/>
              <a:gd name="txR" fmla="*/ 2191 w 2191"/>
              <a:gd name="txB" fmla="*/ 1237 h 1237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2191" h="1237">
                <a:moveTo>
                  <a:pt x="2191" y="0"/>
                </a:moveTo>
                <a:cubicBezTo>
                  <a:pt x="2161" y="97"/>
                  <a:pt x="2172" y="214"/>
                  <a:pt x="2163" y="312"/>
                </a:cubicBezTo>
                <a:cubicBezTo>
                  <a:pt x="2150" y="455"/>
                  <a:pt x="2019" y="617"/>
                  <a:pt x="1870" y="624"/>
                </a:cubicBezTo>
                <a:cubicBezTo>
                  <a:pt x="1757" y="630"/>
                  <a:pt x="1643" y="630"/>
                  <a:pt x="1530" y="633"/>
                </a:cubicBezTo>
                <a:cubicBezTo>
                  <a:pt x="1341" y="663"/>
                  <a:pt x="1157" y="659"/>
                  <a:pt x="973" y="718"/>
                </a:cubicBezTo>
                <a:cubicBezTo>
                  <a:pt x="930" y="747"/>
                  <a:pt x="879" y="765"/>
                  <a:pt x="841" y="803"/>
                </a:cubicBezTo>
                <a:cubicBezTo>
                  <a:pt x="826" y="818"/>
                  <a:pt x="778" y="866"/>
                  <a:pt x="756" y="888"/>
                </a:cubicBezTo>
                <a:cubicBezTo>
                  <a:pt x="746" y="898"/>
                  <a:pt x="639" y="967"/>
                  <a:pt x="633" y="973"/>
                </a:cubicBezTo>
                <a:cubicBezTo>
                  <a:pt x="605" y="1001"/>
                  <a:pt x="585" y="1017"/>
                  <a:pt x="548" y="1030"/>
                </a:cubicBezTo>
                <a:cubicBezTo>
                  <a:pt x="463" y="1094"/>
                  <a:pt x="503" y="1078"/>
                  <a:pt x="435" y="1096"/>
                </a:cubicBezTo>
                <a:cubicBezTo>
                  <a:pt x="294" y="1200"/>
                  <a:pt x="178" y="1237"/>
                  <a:pt x="0" y="1237"/>
                </a:cubicBezTo>
              </a:path>
            </a:pathLst>
          </a:custGeom>
          <a:noFill/>
          <a:ln w="38100" cap="flat" cmpd="sng">
            <a:solidFill>
              <a:srgbClr val="0033C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338" name="Rectangle 60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5339" name="Rectangle 62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5340" name="Rectangle 63"/>
          <p:cNvSpPr/>
          <p:nvPr/>
        </p:nvSpPr>
        <p:spPr>
          <a:xfrm>
            <a:off x="1368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5341" name="Rectangle 64"/>
          <p:cNvSpPr/>
          <p:nvPr/>
        </p:nvSpPr>
        <p:spPr>
          <a:xfrm>
            <a:off x="1712913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5342" name="Rectangle 65"/>
          <p:cNvSpPr/>
          <p:nvPr/>
        </p:nvSpPr>
        <p:spPr>
          <a:xfrm>
            <a:off x="2090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5343" name="Rectangle 66"/>
          <p:cNvSpPr/>
          <p:nvPr/>
        </p:nvSpPr>
        <p:spPr>
          <a:xfrm>
            <a:off x="2471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5344" name="Rectangle 67"/>
          <p:cNvSpPr/>
          <p:nvPr/>
        </p:nvSpPr>
        <p:spPr>
          <a:xfrm>
            <a:off x="2852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55345" name="Rectangle 68"/>
          <p:cNvSpPr/>
          <p:nvPr/>
        </p:nvSpPr>
        <p:spPr>
          <a:xfrm>
            <a:off x="2514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5346" name="Rectangle 69"/>
          <p:cNvSpPr/>
          <p:nvPr/>
        </p:nvSpPr>
        <p:spPr>
          <a:xfrm>
            <a:off x="990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5347" name="Rectangle 70"/>
          <p:cNvSpPr/>
          <p:nvPr/>
        </p:nvSpPr>
        <p:spPr>
          <a:xfrm>
            <a:off x="2895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5348" name="Rectangle 71"/>
          <p:cNvSpPr/>
          <p:nvPr/>
        </p:nvSpPr>
        <p:spPr>
          <a:xfrm>
            <a:off x="1752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4</a:t>
            </a:r>
          </a:p>
        </p:txBody>
      </p:sp>
      <p:pic>
        <p:nvPicPr>
          <p:cNvPr id="55349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reeform 47"/>
          <p:cNvSpPr/>
          <p:nvPr/>
        </p:nvSpPr>
        <p:spPr>
          <a:xfrm>
            <a:off x="533400" y="1295400"/>
            <a:ext cx="2819400" cy="3124200"/>
          </a:xfrm>
          <a:custGeom>
            <a:avLst/>
            <a:gdLst>
              <a:gd name="txL" fmla="*/ 0 w 1680"/>
              <a:gd name="txT" fmla="*/ 0 h 2016"/>
              <a:gd name="txR" fmla="*/ 1680 w 1680"/>
              <a:gd name="txB" fmla="*/ 2016 h 2016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1680" h="2016">
                <a:moveTo>
                  <a:pt x="0" y="2016"/>
                </a:moveTo>
                <a:cubicBezTo>
                  <a:pt x="68" y="1664"/>
                  <a:pt x="136" y="1312"/>
                  <a:pt x="288" y="1200"/>
                </a:cubicBezTo>
                <a:cubicBezTo>
                  <a:pt x="440" y="1088"/>
                  <a:pt x="744" y="1352"/>
                  <a:pt x="912" y="1344"/>
                </a:cubicBezTo>
                <a:cubicBezTo>
                  <a:pt x="1080" y="1336"/>
                  <a:pt x="1192" y="1288"/>
                  <a:pt x="1296" y="1152"/>
                </a:cubicBezTo>
                <a:cubicBezTo>
                  <a:pt x="1400" y="1016"/>
                  <a:pt x="1472" y="720"/>
                  <a:pt x="1536" y="528"/>
                </a:cubicBezTo>
                <a:cubicBezTo>
                  <a:pt x="1600" y="336"/>
                  <a:pt x="1640" y="168"/>
                  <a:pt x="1680" y="0"/>
                </a:cubicBezTo>
              </a:path>
            </a:pathLst>
          </a:custGeom>
          <a:noFill/>
          <a:ln w="38100" cap="flat" cmpd="sng">
            <a:solidFill>
              <a:srgbClr val="0033C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323" name="Text Box 2"/>
          <p:cNvSpPr txBox="1"/>
          <p:nvPr/>
        </p:nvSpPr>
        <p:spPr>
          <a:xfrm>
            <a:off x="2133600" y="2286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6324" name="Text Box 3"/>
          <p:cNvSpPr txBox="1"/>
          <p:nvPr/>
        </p:nvSpPr>
        <p:spPr>
          <a:xfrm>
            <a:off x="679450" y="22098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6325" name="Text Box 4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6326" name="Text Box 5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56327" name="Text Box 6"/>
          <p:cNvSpPr txBox="1"/>
          <p:nvPr/>
        </p:nvSpPr>
        <p:spPr>
          <a:xfrm>
            <a:off x="18288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6328" name="Text Box 7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6329" name="Text Box 8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56330" name="Text Box 9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6331" name="Text Box 10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56332" name="Text Box 11"/>
          <p:cNvSpPr txBox="1"/>
          <p:nvPr/>
        </p:nvSpPr>
        <p:spPr>
          <a:xfrm>
            <a:off x="3194050" y="28194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6333" name="Text Box 12"/>
          <p:cNvSpPr txBox="1"/>
          <p:nvPr/>
        </p:nvSpPr>
        <p:spPr>
          <a:xfrm>
            <a:off x="31242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6334" name="Text Box 13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56335" name="Text Box 14"/>
          <p:cNvSpPr txBox="1"/>
          <p:nvPr/>
        </p:nvSpPr>
        <p:spPr>
          <a:xfrm>
            <a:off x="4343400" y="2133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56336" name="Text Box 15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56337" name="Oval 16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56338" name="Oval 17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56339" name="Oval 18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56340" name="Oval 19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56341" name="Oval 20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56342" name="Oval 21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56343" name="Oval 23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pic>
        <p:nvPicPr>
          <p:cNvPr id="56344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45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56346" name="AutoShape 31"/>
          <p:cNvCxnSpPr>
            <a:stCxn id="56337" idx="7"/>
            <a:endCxn id="56342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47" name="AutoShape 32"/>
          <p:cNvCxnSpPr>
            <a:stCxn id="56360" idx="2"/>
            <a:endCxn id="56342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48" name="AutoShape 33"/>
          <p:cNvCxnSpPr>
            <a:stCxn id="56360" idx="6"/>
            <a:endCxn id="56343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49" name="AutoShape 34"/>
          <p:cNvCxnSpPr>
            <a:stCxn id="56343" idx="6"/>
            <a:endCxn id="56341" idx="1"/>
          </p:cNvCxnSpPr>
          <p:nvPr/>
        </p:nvCxnSpPr>
        <p:spPr>
          <a:xfrm>
            <a:off x="4056063" y="2133600"/>
            <a:ext cx="582612" cy="6762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0" name="AutoShape 35"/>
          <p:cNvCxnSpPr>
            <a:stCxn id="56340" idx="6"/>
            <a:endCxn id="56341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1" name="AutoShape 36"/>
          <p:cNvCxnSpPr>
            <a:stCxn id="56340" idx="0"/>
            <a:endCxn id="56343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2" name="AutoShape 37"/>
          <p:cNvCxnSpPr>
            <a:stCxn id="56340" idx="1"/>
            <a:endCxn id="56360" idx="5"/>
          </p:cNvCxnSpPr>
          <p:nvPr/>
        </p:nvCxnSpPr>
        <p:spPr>
          <a:xfrm flipH="1" flipV="1">
            <a:off x="2828925" y="2295525"/>
            <a:ext cx="836613" cy="15779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3" name="AutoShape 38"/>
          <p:cNvCxnSpPr>
            <a:stCxn id="56338" idx="6"/>
            <a:endCxn id="56340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4" name="AutoShape 39"/>
          <p:cNvCxnSpPr>
            <a:stCxn id="56339" idx="6"/>
            <a:endCxn id="56338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5" name="AutoShape 40"/>
          <p:cNvCxnSpPr>
            <a:stCxn id="56337" idx="5"/>
            <a:endCxn id="56339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6" name="AutoShape 41"/>
          <p:cNvCxnSpPr>
            <a:stCxn id="56339" idx="0"/>
            <a:endCxn id="56342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7" name="AutoShape 42"/>
          <p:cNvCxnSpPr>
            <a:stCxn id="56339" idx="7"/>
            <a:endCxn id="56361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8" name="AutoShape 43"/>
          <p:cNvCxnSpPr>
            <a:stCxn id="56361" idx="5"/>
            <a:endCxn id="56338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359" name="AutoShape 44"/>
          <p:cNvCxnSpPr>
            <a:stCxn id="56361" idx="3"/>
            <a:endCxn id="56360" idx="7"/>
          </p:cNvCxnSpPr>
          <p:nvPr/>
        </p:nvCxnSpPr>
        <p:spPr>
          <a:xfrm flipV="1">
            <a:off x="2047875" y="1971675"/>
            <a:ext cx="781050" cy="11620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6360" name="Oval 22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56361" name="Oval 24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56362" name="Rectangle 62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6363" name="Rectangle 63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6364" name="Rectangle 64"/>
          <p:cNvSpPr/>
          <p:nvPr/>
        </p:nvSpPr>
        <p:spPr>
          <a:xfrm>
            <a:off x="1368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6365" name="Rectangle 65"/>
          <p:cNvSpPr/>
          <p:nvPr/>
        </p:nvSpPr>
        <p:spPr>
          <a:xfrm>
            <a:off x="1712913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6366" name="Rectangle 66"/>
          <p:cNvSpPr/>
          <p:nvPr/>
        </p:nvSpPr>
        <p:spPr>
          <a:xfrm>
            <a:off x="2090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6367" name="Rectangle 67"/>
          <p:cNvSpPr/>
          <p:nvPr/>
        </p:nvSpPr>
        <p:spPr>
          <a:xfrm>
            <a:off x="2471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6368" name="Rectangle 68"/>
          <p:cNvSpPr/>
          <p:nvPr/>
        </p:nvSpPr>
        <p:spPr>
          <a:xfrm>
            <a:off x="2514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6369" name="Rectangle 69"/>
          <p:cNvSpPr/>
          <p:nvPr/>
        </p:nvSpPr>
        <p:spPr>
          <a:xfrm>
            <a:off x="990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6370" name="Rectangle 71"/>
          <p:cNvSpPr/>
          <p:nvPr/>
        </p:nvSpPr>
        <p:spPr>
          <a:xfrm>
            <a:off x="2133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6371" name="Rectangle 72"/>
          <p:cNvSpPr/>
          <p:nvPr/>
        </p:nvSpPr>
        <p:spPr>
          <a:xfrm>
            <a:off x="16764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4</a:t>
            </a:r>
          </a:p>
        </p:txBody>
      </p:sp>
      <p:pic>
        <p:nvPicPr>
          <p:cNvPr id="5637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reeform 46"/>
          <p:cNvSpPr/>
          <p:nvPr/>
        </p:nvSpPr>
        <p:spPr>
          <a:xfrm>
            <a:off x="533400" y="1371600"/>
            <a:ext cx="3924300" cy="3225800"/>
          </a:xfrm>
          <a:custGeom>
            <a:avLst/>
            <a:gdLst>
              <a:gd name="txL" fmla="*/ 0 w 2472"/>
              <a:gd name="txT" fmla="*/ 0 h 2032"/>
              <a:gd name="txR" fmla="*/ 2472 w 2472"/>
              <a:gd name="txB" fmla="*/ 2032 h 203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2472" h="2032">
                <a:moveTo>
                  <a:pt x="0" y="1584"/>
                </a:moveTo>
                <a:cubicBezTo>
                  <a:pt x="112" y="1396"/>
                  <a:pt x="224" y="1208"/>
                  <a:pt x="384" y="1152"/>
                </a:cubicBezTo>
                <a:cubicBezTo>
                  <a:pt x="544" y="1096"/>
                  <a:pt x="800" y="1248"/>
                  <a:pt x="960" y="1248"/>
                </a:cubicBezTo>
                <a:cubicBezTo>
                  <a:pt x="1120" y="1248"/>
                  <a:pt x="1208" y="1104"/>
                  <a:pt x="1344" y="1152"/>
                </a:cubicBezTo>
                <a:cubicBezTo>
                  <a:pt x="1480" y="1200"/>
                  <a:pt x="1680" y="1408"/>
                  <a:pt x="1776" y="1536"/>
                </a:cubicBezTo>
                <a:cubicBezTo>
                  <a:pt x="1872" y="1664"/>
                  <a:pt x="1816" y="1848"/>
                  <a:pt x="1920" y="1920"/>
                </a:cubicBezTo>
                <a:cubicBezTo>
                  <a:pt x="2024" y="1992"/>
                  <a:pt x="2328" y="2032"/>
                  <a:pt x="2400" y="1968"/>
                </a:cubicBezTo>
                <a:cubicBezTo>
                  <a:pt x="2472" y="1904"/>
                  <a:pt x="2416" y="1672"/>
                  <a:pt x="2352" y="1536"/>
                </a:cubicBezTo>
                <a:cubicBezTo>
                  <a:pt x="2288" y="1400"/>
                  <a:pt x="2104" y="1280"/>
                  <a:pt x="2016" y="1152"/>
                </a:cubicBezTo>
                <a:cubicBezTo>
                  <a:pt x="1928" y="1024"/>
                  <a:pt x="1840" y="960"/>
                  <a:pt x="1824" y="768"/>
                </a:cubicBezTo>
                <a:cubicBezTo>
                  <a:pt x="1808" y="576"/>
                  <a:pt x="1904" y="128"/>
                  <a:pt x="1920" y="0"/>
                </a:cubicBezTo>
              </a:path>
            </a:pathLst>
          </a:custGeom>
          <a:noFill/>
          <a:ln w="38100" cap="flat" cmpd="sng">
            <a:solidFill>
              <a:srgbClr val="0033C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347" name="Text Box 2"/>
          <p:cNvSpPr txBox="1"/>
          <p:nvPr/>
        </p:nvSpPr>
        <p:spPr>
          <a:xfrm>
            <a:off x="2133600" y="2286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7348" name="Text Box 3"/>
          <p:cNvSpPr txBox="1"/>
          <p:nvPr/>
        </p:nvSpPr>
        <p:spPr>
          <a:xfrm>
            <a:off x="679450" y="22098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7349" name="Text Box 4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7350" name="Text Box 5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57351" name="Text Box 6"/>
          <p:cNvSpPr txBox="1"/>
          <p:nvPr/>
        </p:nvSpPr>
        <p:spPr>
          <a:xfrm>
            <a:off x="18288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7352" name="Text Box 7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7353" name="Text Box 8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57354" name="Text Box 9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7355" name="Text Box 10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57356" name="Text Box 11"/>
          <p:cNvSpPr txBox="1"/>
          <p:nvPr/>
        </p:nvSpPr>
        <p:spPr>
          <a:xfrm>
            <a:off x="3200400" y="2743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7357" name="Text Box 12"/>
          <p:cNvSpPr txBox="1"/>
          <p:nvPr/>
        </p:nvSpPr>
        <p:spPr>
          <a:xfrm>
            <a:off x="31242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7358" name="Text Box 13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57359" name="Text Box 14"/>
          <p:cNvSpPr txBox="1"/>
          <p:nvPr/>
        </p:nvSpPr>
        <p:spPr>
          <a:xfrm>
            <a:off x="4343400" y="2133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57360" name="Text Box 15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57361" name="Oval 16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57362" name="Oval 17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57363" name="Oval 18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57364" name="Oval 20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57365" name="Oval 21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57366" name="Oval 23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pic>
        <p:nvPicPr>
          <p:cNvPr id="57367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68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57369" name="AutoShape 31"/>
          <p:cNvCxnSpPr>
            <a:stCxn id="57361" idx="7"/>
            <a:endCxn id="57365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0" name="AutoShape 32"/>
          <p:cNvCxnSpPr>
            <a:stCxn id="57384" idx="2"/>
            <a:endCxn id="57365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1" name="AutoShape 33"/>
          <p:cNvCxnSpPr>
            <a:stCxn id="57384" idx="6"/>
            <a:endCxn id="57366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2" name="AutoShape 34"/>
          <p:cNvCxnSpPr>
            <a:stCxn id="57366" idx="6"/>
            <a:endCxn id="57364" idx="1"/>
          </p:cNvCxnSpPr>
          <p:nvPr/>
        </p:nvCxnSpPr>
        <p:spPr>
          <a:xfrm>
            <a:off x="4056063" y="2133600"/>
            <a:ext cx="582612" cy="6762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3" name="AutoShape 35"/>
          <p:cNvCxnSpPr>
            <a:stCxn id="57383" idx="6"/>
            <a:endCxn id="57364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4" name="AutoShape 36"/>
          <p:cNvCxnSpPr>
            <a:stCxn id="57383" idx="0"/>
            <a:endCxn id="57366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5" name="AutoShape 37"/>
          <p:cNvCxnSpPr>
            <a:stCxn id="57383" idx="5"/>
            <a:endCxn id="57384" idx="1"/>
          </p:cNvCxnSpPr>
          <p:nvPr/>
        </p:nvCxnSpPr>
        <p:spPr>
          <a:xfrm flipH="1" flipV="1">
            <a:off x="2505075" y="1971675"/>
            <a:ext cx="1484313" cy="22256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6" name="AutoShape 38"/>
          <p:cNvCxnSpPr>
            <a:stCxn id="57362" idx="6"/>
            <a:endCxn id="57383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7" name="AutoShape 39"/>
          <p:cNvCxnSpPr>
            <a:stCxn id="57363" idx="6"/>
            <a:endCxn id="57362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8" name="AutoShape 40"/>
          <p:cNvCxnSpPr>
            <a:stCxn id="57361" idx="5"/>
            <a:endCxn id="57363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79" name="AutoShape 41"/>
          <p:cNvCxnSpPr>
            <a:stCxn id="57363" idx="0"/>
            <a:endCxn id="57365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80" name="AutoShape 42"/>
          <p:cNvCxnSpPr>
            <a:stCxn id="57363" idx="7"/>
            <a:endCxn id="57385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81" name="AutoShape 43"/>
          <p:cNvCxnSpPr>
            <a:stCxn id="57385" idx="5"/>
            <a:endCxn id="57362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382" name="AutoShape 44"/>
          <p:cNvCxnSpPr>
            <a:stCxn id="57385" idx="3"/>
            <a:endCxn id="57384" idx="7"/>
          </p:cNvCxnSpPr>
          <p:nvPr/>
        </p:nvCxnSpPr>
        <p:spPr>
          <a:xfrm flipV="1">
            <a:off x="2047875" y="1971675"/>
            <a:ext cx="781050" cy="11620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7383" name="Oval 19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57384" name="Oval 22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57385" name="Oval 24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57386" name="Rectangle 61"/>
          <p:cNvSpPr/>
          <p:nvPr/>
        </p:nvSpPr>
        <p:spPr>
          <a:xfrm>
            <a:off x="2090738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7387" name="Rectangle 62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7388" name="Rectangle 63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7389" name="Rectangle 64"/>
          <p:cNvSpPr/>
          <p:nvPr/>
        </p:nvSpPr>
        <p:spPr>
          <a:xfrm>
            <a:off x="1368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7390" name="Rectangle 65"/>
          <p:cNvSpPr/>
          <p:nvPr/>
        </p:nvSpPr>
        <p:spPr>
          <a:xfrm>
            <a:off x="1712913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7391" name="Rectangle 66"/>
          <p:cNvSpPr/>
          <p:nvPr/>
        </p:nvSpPr>
        <p:spPr>
          <a:xfrm>
            <a:off x="22098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7392" name="Rectangle 67"/>
          <p:cNvSpPr/>
          <p:nvPr/>
        </p:nvSpPr>
        <p:spPr>
          <a:xfrm>
            <a:off x="9144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7393" name="Rectangle 68"/>
          <p:cNvSpPr/>
          <p:nvPr/>
        </p:nvSpPr>
        <p:spPr>
          <a:xfrm>
            <a:off x="18288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7394" name="Rectangle 70"/>
          <p:cNvSpPr/>
          <p:nvPr/>
        </p:nvSpPr>
        <p:spPr>
          <a:xfrm>
            <a:off x="12954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10</a:t>
            </a:r>
          </a:p>
        </p:txBody>
      </p:sp>
      <p:pic>
        <p:nvPicPr>
          <p:cNvPr id="57395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/>
          <p:nvPr/>
        </p:nvSpPr>
        <p:spPr>
          <a:xfrm>
            <a:off x="2133600" y="2286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8371" name="Text Box 3"/>
          <p:cNvSpPr txBox="1"/>
          <p:nvPr/>
        </p:nvSpPr>
        <p:spPr>
          <a:xfrm>
            <a:off x="679450" y="22098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8372" name="Text Box 4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8373" name="Text Box 5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58374" name="Text Box 6"/>
          <p:cNvSpPr txBox="1"/>
          <p:nvPr/>
        </p:nvSpPr>
        <p:spPr>
          <a:xfrm>
            <a:off x="18288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8375" name="Text Box 7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8376" name="Text Box 8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58377" name="Text Box 9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8378" name="Text Box 10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58379" name="Text Box 11"/>
          <p:cNvSpPr txBox="1"/>
          <p:nvPr/>
        </p:nvSpPr>
        <p:spPr>
          <a:xfrm>
            <a:off x="3200400" y="2743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8380" name="Text Box 12"/>
          <p:cNvSpPr txBox="1"/>
          <p:nvPr/>
        </p:nvSpPr>
        <p:spPr>
          <a:xfrm>
            <a:off x="31242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8381" name="Text Box 13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58382" name="Text Box 14"/>
          <p:cNvSpPr txBox="1"/>
          <p:nvPr/>
        </p:nvSpPr>
        <p:spPr>
          <a:xfrm>
            <a:off x="4343400" y="2133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58383" name="Text Box 15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58384" name="Oval 16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58385" name="Oval 17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58386" name="Oval 18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58387" name="Oval 20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58388" name="Oval 21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58389" name="Oval 23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58390" name="Oval 24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pic>
        <p:nvPicPr>
          <p:cNvPr id="58391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92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58393" name="AutoShape 31"/>
          <p:cNvCxnSpPr>
            <a:stCxn id="58384" idx="7"/>
            <a:endCxn id="58388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394" name="AutoShape 32"/>
          <p:cNvCxnSpPr>
            <a:stCxn id="58409" idx="2"/>
            <a:endCxn id="58388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395" name="AutoShape 33"/>
          <p:cNvCxnSpPr>
            <a:stCxn id="58409" idx="6"/>
            <a:endCxn id="58389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396" name="AutoShape 34"/>
          <p:cNvCxnSpPr>
            <a:stCxn id="58389" idx="6"/>
            <a:endCxn id="58387" idx="1"/>
          </p:cNvCxnSpPr>
          <p:nvPr/>
        </p:nvCxnSpPr>
        <p:spPr>
          <a:xfrm>
            <a:off x="4056063" y="2133600"/>
            <a:ext cx="582612" cy="6762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397" name="AutoShape 35"/>
          <p:cNvCxnSpPr>
            <a:stCxn id="58408" idx="6"/>
            <a:endCxn id="58387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398" name="AutoShape 36"/>
          <p:cNvCxnSpPr>
            <a:stCxn id="58408" idx="0"/>
            <a:endCxn id="58389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399" name="AutoShape 37"/>
          <p:cNvCxnSpPr>
            <a:stCxn id="58408" idx="5"/>
            <a:endCxn id="58409" idx="1"/>
          </p:cNvCxnSpPr>
          <p:nvPr/>
        </p:nvCxnSpPr>
        <p:spPr>
          <a:xfrm flipH="1" flipV="1">
            <a:off x="2505075" y="1971675"/>
            <a:ext cx="1484313" cy="22256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400" name="AutoShape 38"/>
          <p:cNvCxnSpPr>
            <a:stCxn id="58385" idx="6"/>
            <a:endCxn id="58408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401" name="AutoShape 39"/>
          <p:cNvCxnSpPr>
            <a:stCxn id="58386" idx="6"/>
            <a:endCxn id="58385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402" name="AutoShape 40"/>
          <p:cNvCxnSpPr>
            <a:stCxn id="58384" idx="5"/>
            <a:endCxn id="58386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403" name="AutoShape 41"/>
          <p:cNvCxnSpPr>
            <a:stCxn id="58386" idx="0"/>
            <a:endCxn id="58388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404" name="AutoShape 42"/>
          <p:cNvCxnSpPr>
            <a:stCxn id="58386" idx="7"/>
            <a:endCxn id="58390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405" name="AutoShape 43"/>
          <p:cNvCxnSpPr>
            <a:stCxn id="58390" idx="5"/>
            <a:endCxn id="58385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406" name="AutoShape 44"/>
          <p:cNvCxnSpPr>
            <a:stCxn id="58390" idx="7"/>
            <a:endCxn id="58409" idx="7"/>
          </p:cNvCxnSpPr>
          <p:nvPr/>
        </p:nvCxnSpPr>
        <p:spPr>
          <a:xfrm flipV="1">
            <a:off x="2371725" y="1971675"/>
            <a:ext cx="457200" cy="83820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8407" name="Freeform 46"/>
          <p:cNvSpPr/>
          <p:nvPr/>
        </p:nvSpPr>
        <p:spPr>
          <a:xfrm>
            <a:off x="533400" y="1358900"/>
            <a:ext cx="3860800" cy="3136900"/>
          </a:xfrm>
          <a:custGeom>
            <a:avLst/>
            <a:gdLst>
              <a:gd name="txL" fmla="*/ 0 w 2432"/>
              <a:gd name="txT" fmla="*/ 0 h 1976"/>
              <a:gd name="txR" fmla="*/ 2432 w 2432"/>
              <a:gd name="txB" fmla="*/ 1976 h 1976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432" h="1976">
                <a:moveTo>
                  <a:pt x="0" y="1736"/>
                </a:moveTo>
                <a:cubicBezTo>
                  <a:pt x="12" y="1588"/>
                  <a:pt x="24" y="1440"/>
                  <a:pt x="96" y="1352"/>
                </a:cubicBezTo>
                <a:cubicBezTo>
                  <a:pt x="168" y="1264"/>
                  <a:pt x="296" y="1224"/>
                  <a:pt x="432" y="1208"/>
                </a:cubicBezTo>
                <a:cubicBezTo>
                  <a:pt x="568" y="1192"/>
                  <a:pt x="800" y="1208"/>
                  <a:pt x="912" y="1256"/>
                </a:cubicBezTo>
                <a:cubicBezTo>
                  <a:pt x="1024" y="1304"/>
                  <a:pt x="1064" y="1392"/>
                  <a:pt x="1104" y="1496"/>
                </a:cubicBezTo>
                <a:cubicBezTo>
                  <a:pt x="1144" y="1600"/>
                  <a:pt x="1032" y="1800"/>
                  <a:pt x="1152" y="1880"/>
                </a:cubicBezTo>
                <a:cubicBezTo>
                  <a:pt x="1272" y="1960"/>
                  <a:pt x="1624" y="1976"/>
                  <a:pt x="1824" y="1976"/>
                </a:cubicBezTo>
                <a:cubicBezTo>
                  <a:pt x="2024" y="1976"/>
                  <a:pt x="2272" y="1968"/>
                  <a:pt x="2352" y="1880"/>
                </a:cubicBezTo>
                <a:cubicBezTo>
                  <a:pt x="2432" y="1792"/>
                  <a:pt x="2368" y="1576"/>
                  <a:pt x="2304" y="1448"/>
                </a:cubicBezTo>
                <a:cubicBezTo>
                  <a:pt x="2240" y="1320"/>
                  <a:pt x="2040" y="1240"/>
                  <a:pt x="1968" y="1112"/>
                </a:cubicBezTo>
                <a:cubicBezTo>
                  <a:pt x="1896" y="984"/>
                  <a:pt x="1896" y="824"/>
                  <a:pt x="1872" y="680"/>
                </a:cubicBezTo>
                <a:cubicBezTo>
                  <a:pt x="1848" y="536"/>
                  <a:pt x="1808" y="360"/>
                  <a:pt x="1824" y="248"/>
                </a:cubicBezTo>
                <a:cubicBezTo>
                  <a:pt x="1840" y="136"/>
                  <a:pt x="1968" y="16"/>
                  <a:pt x="1968" y="8"/>
                </a:cubicBezTo>
                <a:cubicBezTo>
                  <a:pt x="1968" y="0"/>
                  <a:pt x="1896" y="100"/>
                  <a:pt x="1824" y="200"/>
                </a:cubicBezTo>
              </a:path>
            </a:pathLst>
          </a:custGeom>
          <a:noFill/>
          <a:ln w="38100" cap="flat" cmpd="sng">
            <a:solidFill>
              <a:srgbClr val="0033C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8408" name="Oval 19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58409" name="Oval 22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58410" name="Rectangle 60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8411" name="Rectangle 61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8412" name="Rectangle 62"/>
          <p:cNvSpPr/>
          <p:nvPr/>
        </p:nvSpPr>
        <p:spPr>
          <a:xfrm>
            <a:off x="1368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8413" name="Rectangle 63"/>
          <p:cNvSpPr/>
          <p:nvPr/>
        </p:nvSpPr>
        <p:spPr>
          <a:xfrm>
            <a:off x="1712913" y="5257800"/>
            <a:ext cx="347662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8414" name="Rectangle 64"/>
          <p:cNvSpPr/>
          <p:nvPr/>
        </p:nvSpPr>
        <p:spPr>
          <a:xfrm>
            <a:off x="9144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8415" name="Rectangle 65"/>
          <p:cNvSpPr/>
          <p:nvPr/>
        </p:nvSpPr>
        <p:spPr>
          <a:xfrm>
            <a:off x="18288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8416" name="Rectangle 67"/>
          <p:cNvSpPr/>
          <p:nvPr/>
        </p:nvSpPr>
        <p:spPr>
          <a:xfrm>
            <a:off x="12954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10</a:t>
            </a:r>
          </a:p>
        </p:txBody>
      </p:sp>
      <p:pic>
        <p:nvPicPr>
          <p:cNvPr id="58417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/>
          <p:nvPr/>
        </p:nvSpPr>
        <p:spPr>
          <a:xfrm>
            <a:off x="2133600" y="2286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9395" name="Text Box 3"/>
          <p:cNvSpPr txBox="1"/>
          <p:nvPr/>
        </p:nvSpPr>
        <p:spPr>
          <a:xfrm>
            <a:off x="679450" y="22098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9396" name="Text Box 4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9397" name="Text Box 5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59398" name="Text Box 6"/>
          <p:cNvSpPr txBox="1"/>
          <p:nvPr/>
        </p:nvSpPr>
        <p:spPr>
          <a:xfrm>
            <a:off x="18288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59399" name="Text Box 7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9400" name="Text Box 8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59401" name="Text Box 9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59402" name="Text Box 10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59403" name="Text Box 11"/>
          <p:cNvSpPr txBox="1"/>
          <p:nvPr/>
        </p:nvSpPr>
        <p:spPr>
          <a:xfrm>
            <a:off x="3200400" y="2743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59404" name="Text Box 12"/>
          <p:cNvSpPr txBox="1"/>
          <p:nvPr/>
        </p:nvSpPr>
        <p:spPr>
          <a:xfrm>
            <a:off x="3124200" y="17875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59405" name="Text Box 13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59406" name="Text Box 14"/>
          <p:cNvSpPr txBox="1"/>
          <p:nvPr/>
        </p:nvSpPr>
        <p:spPr>
          <a:xfrm>
            <a:off x="4343400" y="2133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59407" name="Text Box 15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59408" name="Oval 16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59409" name="Oval 17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59410" name="Oval 18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59411" name="Oval 20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59412" name="Oval 21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59413" name="Oval 23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pic>
        <p:nvPicPr>
          <p:cNvPr id="59414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415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59416" name="AutoShape 31"/>
          <p:cNvCxnSpPr>
            <a:stCxn id="59408" idx="7"/>
            <a:endCxn id="59412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17" name="AutoShape 32"/>
          <p:cNvCxnSpPr>
            <a:stCxn id="59432" idx="2"/>
            <a:endCxn id="59412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18" name="AutoShape 33"/>
          <p:cNvCxnSpPr>
            <a:stCxn id="59432" idx="6"/>
            <a:endCxn id="59413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19" name="AutoShape 34"/>
          <p:cNvCxnSpPr>
            <a:stCxn id="59413" idx="6"/>
            <a:endCxn id="59411" idx="1"/>
          </p:cNvCxnSpPr>
          <p:nvPr/>
        </p:nvCxnSpPr>
        <p:spPr>
          <a:xfrm>
            <a:off x="4056063" y="2133600"/>
            <a:ext cx="582612" cy="6762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0" name="AutoShape 35"/>
          <p:cNvCxnSpPr>
            <a:stCxn id="59431" idx="6"/>
            <a:endCxn id="59411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1" name="AutoShape 36"/>
          <p:cNvCxnSpPr>
            <a:stCxn id="59431" idx="0"/>
            <a:endCxn id="59413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2" name="AutoShape 37"/>
          <p:cNvCxnSpPr>
            <a:stCxn id="59431" idx="5"/>
            <a:endCxn id="59432" idx="1"/>
          </p:cNvCxnSpPr>
          <p:nvPr/>
        </p:nvCxnSpPr>
        <p:spPr>
          <a:xfrm flipH="1" flipV="1">
            <a:off x="2505075" y="1971675"/>
            <a:ext cx="1484313" cy="22256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3" name="AutoShape 38"/>
          <p:cNvCxnSpPr>
            <a:stCxn id="59409" idx="6"/>
            <a:endCxn id="59431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4" name="AutoShape 39"/>
          <p:cNvCxnSpPr>
            <a:stCxn id="59410" idx="6"/>
            <a:endCxn id="59409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5" name="AutoShape 40"/>
          <p:cNvCxnSpPr>
            <a:stCxn id="59408" idx="5"/>
            <a:endCxn id="59410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6" name="AutoShape 41"/>
          <p:cNvCxnSpPr>
            <a:stCxn id="59410" idx="0"/>
            <a:endCxn id="59412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7" name="AutoShape 42"/>
          <p:cNvCxnSpPr>
            <a:stCxn id="59410" idx="7"/>
            <a:endCxn id="59433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8" name="AutoShape 43"/>
          <p:cNvCxnSpPr>
            <a:stCxn id="59433" idx="5"/>
            <a:endCxn id="59409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9429" name="AutoShape 44"/>
          <p:cNvCxnSpPr>
            <a:stCxn id="59433" idx="3"/>
            <a:endCxn id="59432" idx="7"/>
          </p:cNvCxnSpPr>
          <p:nvPr/>
        </p:nvCxnSpPr>
        <p:spPr>
          <a:xfrm flipV="1">
            <a:off x="2047875" y="1971675"/>
            <a:ext cx="781050" cy="11620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9430" name="Freeform 46"/>
          <p:cNvSpPr/>
          <p:nvPr/>
        </p:nvSpPr>
        <p:spPr>
          <a:xfrm>
            <a:off x="3390900" y="1447800"/>
            <a:ext cx="1257300" cy="2971800"/>
          </a:xfrm>
          <a:custGeom>
            <a:avLst/>
            <a:gdLst>
              <a:gd name="txL" fmla="*/ 0 w 792"/>
              <a:gd name="txT" fmla="*/ 0 h 1872"/>
              <a:gd name="txR" fmla="*/ 792 w 792"/>
              <a:gd name="txB" fmla="*/ 1872 h 187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792" h="1872">
                <a:moveTo>
                  <a:pt x="24" y="0"/>
                </a:moveTo>
                <a:cubicBezTo>
                  <a:pt x="12" y="124"/>
                  <a:pt x="0" y="248"/>
                  <a:pt x="24" y="384"/>
                </a:cubicBezTo>
                <a:cubicBezTo>
                  <a:pt x="48" y="520"/>
                  <a:pt x="96" y="656"/>
                  <a:pt x="168" y="816"/>
                </a:cubicBezTo>
                <a:cubicBezTo>
                  <a:pt x="240" y="976"/>
                  <a:pt x="352" y="1168"/>
                  <a:pt x="456" y="1344"/>
                </a:cubicBezTo>
                <a:cubicBezTo>
                  <a:pt x="560" y="1520"/>
                  <a:pt x="676" y="1696"/>
                  <a:pt x="792" y="1872"/>
                </a:cubicBezTo>
              </a:path>
            </a:pathLst>
          </a:custGeom>
          <a:noFill/>
          <a:ln w="38100" cap="flat" cmpd="sng">
            <a:solidFill>
              <a:srgbClr val="0033C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31" name="Oval 19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59432" name="Oval 22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59433" name="Oval 24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59434" name="Rectangle 57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9435" name="Rectangle 58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59436" name="Rectangle 59"/>
          <p:cNvSpPr/>
          <p:nvPr/>
        </p:nvSpPr>
        <p:spPr>
          <a:xfrm>
            <a:off x="1368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59437" name="Rectangle 60"/>
          <p:cNvSpPr/>
          <p:nvPr/>
        </p:nvSpPr>
        <p:spPr>
          <a:xfrm>
            <a:off x="9144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9438" name="Rectangle 62"/>
          <p:cNvSpPr/>
          <p:nvPr/>
        </p:nvSpPr>
        <p:spPr>
          <a:xfrm>
            <a:off x="12954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10</a:t>
            </a:r>
          </a:p>
        </p:txBody>
      </p:sp>
      <p:pic>
        <p:nvPicPr>
          <p:cNvPr id="59439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/>
          <p:nvPr/>
        </p:nvSpPr>
        <p:spPr>
          <a:xfrm>
            <a:off x="2133600" y="2286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60419" name="Text Box 3"/>
          <p:cNvSpPr txBox="1"/>
          <p:nvPr/>
        </p:nvSpPr>
        <p:spPr>
          <a:xfrm>
            <a:off x="679450" y="22098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60420" name="Text Box 4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60421" name="Text Box 5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60422" name="Text Box 6"/>
          <p:cNvSpPr txBox="1"/>
          <p:nvPr/>
        </p:nvSpPr>
        <p:spPr>
          <a:xfrm>
            <a:off x="18288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60423" name="Text Box 7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60424" name="Text Box 8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60425" name="Text Box 9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60426" name="Text Box 10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60427" name="Text Box 11"/>
          <p:cNvSpPr txBox="1"/>
          <p:nvPr/>
        </p:nvSpPr>
        <p:spPr>
          <a:xfrm>
            <a:off x="3200400" y="2743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60428" name="Text Box 12"/>
          <p:cNvSpPr txBox="1"/>
          <p:nvPr/>
        </p:nvSpPr>
        <p:spPr>
          <a:xfrm>
            <a:off x="31242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60429" name="Text Box 13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60430" name="Text Box 14"/>
          <p:cNvSpPr txBox="1"/>
          <p:nvPr/>
        </p:nvSpPr>
        <p:spPr>
          <a:xfrm>
            <a:off x="4413250" y="2193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60431" name="Text Box 15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60432" name="Oval 16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60433" name="Oval 17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60434" name="Oval 18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60435" name="Oval 20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E5E5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60436" name="Oval 21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sp>
        <p:nvSpPr>
          <p:cNvPr id="60437" name="Oval 23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pic>
        <p:nvPicPr>
          <p:cNvPr id="60438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39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60440" name="AutoShape 31"/>
          <p:cNvCxnSpPr>
            <a:stCxn id="60432" idx="7"/>
            <a:endCxn id="60436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41" name="AutoShape 32"/>
          <p:cNvCxnSpPr>
            <a:stCxn id="60455" idx="2"/>
            <a:endCxn id="60436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42" name="AutoShape 33"/>
          <p:cNvCxnSpPr>
            <a:stCxn id="60455" idx="6"/>
            <a:endCxn id="60437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43" name="AutoShape 34"/>
          <p:cNvCxnSpPr>
            <a:stCxn id="60437" idx="6"/>
            <a:endCxn id="60435" idx="1"/>
          </p:cNvCxnSpPr>
          <p:nvPr/>
        </p:nvCxnSpPr>
        <p:spPr>
          <a:xfrm>
            <a:off x="4056063" y="2133600"/>
            <a:ext cx="582612" cy="6762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44" name="AutoShape 35"/>
          <p:cNvCxnSpPr>
            <a:stCxn id="60457" idx="6"/>
            <a:endCxn id="60435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45" name="AutoShape 36"/>
          <p:cNvCxnSpPr>
            <a:stCxn id="60457" idx="0"/>
            <a:endCxn id="60437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46" name="AutoShape 37"/>
          <p:cNvCxnSpPr>
            <a:stCxn id="60457" idx="5"/>
            <a:endCxn id="60455" idx="1"/>
          </p:cNvCxnSpPr>
          <p:nvPr/>
        </p:nvCxnSpPr>
        <p:spPr>
          <a:xfrm flipH="1" flipV="1">
            <a:off x="2505075" y="1971675"/>
            <a:ext cx="1484313" cy="22256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47" name="AutoShape 38"/>
          <p:cNvCxnSpPr>
            <a:stCxn id="60433" idx="6"/>
            <a:endCxn id="60457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48" name="AutoShape 39"/>
          <p:cNvCxnSpPr>
            <a:stCxn id="60434" idx="6"/>
            <a:endCxn id="60433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49" name="AutoShape 40"/>
          <p:cNvCxnSpPr>
            <a:stCxn id="60432" idx="5"/>
            <a:endCxn id="60434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50" name="AutoShape 41"/>
          <p:cNvCxnSpPr>
            <a:stCxn id="60434" idx="0"/>
            <a:endCxn id="60436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51" name="AutoShape 42"/>
          <p:cNvCxnSpPr>
            <a:stCxn id="60434" idx="7"/>
            <a:endCxn id="60456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52" name="AutoShape 43"/>
          <p:cNvCxnSpPr>
            <a:stCxn id="60456" idx="5"/>
            <a:endCxn id="60433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0453" name="AutoShape 44"/>
          <p:cNvCxnSpPr>
            <a:stCxn id="60456" idx="3"/>
            <a:endCxn id="60455" idx="7"/>
          </p:cNvCxnSpPr>
          <p:nvPr/>
        </p:nvCxnSpPr>
        <p:spPr>
          <a:xfrm flipV="1">
            <a:off x="2047875" y="1971675"/>
            <a:ext cx="781050" cy="11620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0454" name="Freeform 46"/>
          <p:cNvSpPr/>
          <p:nvPr/>
        </p:nvSpPr>
        <p:spPr>
          <a:xfrm>
            <a:off x="4241800" y="1752600"/>
            <a:ext cx="482600" cy="2590800"/>
          </a:xfrm>
          <a:custGeom>
            <a:avLst/>
            <a:gdLst>
              <a:gd name="txL" fmla="*/ 0 w 304"/>
              <a:gd name="txT" fmla="*/ 0 h 1632"/>
              <a:gd name="txR" fmla="*/ 304 w 304"/>
              <a:gd name="txB" fmla="*/ 1632 h 163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04" h="1632">
                <a:moveTo>
                  <a:pt x="208" y="0"/>
                </a:moveTo>
                <a:cubicBezTo>
                  <a:pt x="104" y="320"/>
                  <a:pt x="0" y="640"/>
                  <a:pt x="16" y="912"/>
                </a:cubicBezTo>
                <a:cubicBezTo>
                  <a:pt x="32" y="1184"/>
                  <a:pt x="168" y="1408"/>
                  <a:pt x="304" y="1632"/>
                </a:cubicBezTo>
              </a:path>
            </a:pathLst>
          </a:custGeom>
          <a:noFill/>
          <a:ln w="38100" cap="flat" cmpd="sng">
            <a:solidFill>
              <a:srgbClr val="0033C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55" name="Oval 22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60456" name="Oval 24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60457" name="Oval 19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sp>
        <p:nvSpPr>
          <p:cNvPr id="60458" name="Rectangle 56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0459" name="Rectangle 57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60460" name="Rectangle 58"/>
          <p:cNvSpPr/>
          <p:nvPr/>
        </p:nvSpPr>
        <p:spPr>
          <a:xfrm>
            <a:off x="990600" y="5715000"/>
            <a:ext cx="381000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9</a:t>
            </a:r>
          </a:p>
        </p:txBody>
      </p:sp>
      <p:pic>
        <p:nvPicPr>
          <p:cNvPr id="60461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/>
          <p:nvPr/>
        </p:nvSpPr>
        <p:spPr>
          <a:xfrm>
            <a:off x="2133600" y="2286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61443" name="Text Box 3"/>
          <p:cNvSpPr txBox="1"/>
          <p:nvPr/>
        </p:nvSpPr>
        <p:spPr>
          <a:xfrm>
            <a:off x="679450" y="22098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61444" name="Text Box 4"/>
          <p:cNvSpPr txBox="1"/>
          <p:nvPr/>
        </p:nvSpPr>
        <p:spPr>
          <a:xfrm>
            <a:off x="676275" y="3657600"/>
            <a:ext cx="314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61445" name="Text Box 5"/>
          <p:cNvSpPr txBox="1"/>
          <p:nvPr/>
        </p:nvSpPr>
        <p:spPr>
          <a:xfrm>
            <a:off x="1314450" y="2819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11</a:t>
            </a:r>
          </a:p>
        </p:txBody>
      </p:sp>
      <p:sp>
        <p:nvSpPr>
          <p:cNvPr id="61446" name="Text Box 6"/>
          <p:cNvSpPr txBox="1"/>
          <p:nvPr/>
        </p:nvSpPr>
        <p:spPr>
          <a:xfrm>
            <a:off x="18288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8</a:t>
            </a:r>
          </a:p>
        </p:txBody>
      </p:sp>
      <p:sp>
        <p:nvSpPr>
          <p:cNvPr id="61447" name="Text Box 7"/>
          <p:cNvSpPr txBox="1"/>
          <p:nvPr/>
        </p:nvSpPr>
        <p:spPr>
          <a:xfrm>
            <a:off x="1752600" y="3429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61448" name="Text Box 8"/>
          <p:cNvSpPr txBox="1"/>
          <p:nvPr/>
        </p:nvSpPr>
        <p:spPr>
          <a:xfrm>
            <a:off x="18288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61449" name="Text Box 9"/>
          <p:cNvSpPr txBox="1"/>
          <p:nvPr/>
        </p:nvSpPr>
        <p:spPr>
          <a:xfrm>
            <a:off x="3124200" y="40227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61450" name="Text Box 10"/>
          <p:cNvSpPr txBox="1"/>
          <p:nvPr/>
        </p:nvSpPr>
        <p:spPr>
          <a:xfrm>
            <a:off x="2584450" y="3336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</a:p>
        </p:txBody>
      </p:sp>
      <p:sp>
        <p:nvSpPr>
          <p:cNvPr id="61451" name="Text Box 11"/>
          <p:cNvSpPr txBox="1"/>
          <p:nvPr/>
        </p:nvSpPr>
        <p:spPr>
          <a:xfrm>
            <a:off x="3200400" y="2743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</a:p>
        </p:txBody>
      </p:sp>
      <p:sp>
        <p:nvSpPr>
          <p:cNvPr id="61452" name="Text Box 12"/>
          <p:cNvSpPr txBox="1"/>
          <p:nvPr/>
        </p:nvSpPr>
        <p:spPr>
          <a:xfrm>
            <a:off x="31242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7</a:t>
            </a:r>
          </a:p>
        </p:txBody>
      </p:sp>
      <p:sp>
        <p:nvSpPr>
          <p:cNvPr id="61453" name="Text Box 13"/>
          <p:cNvSpPr txBox="1"/>
          <p:nvPr/>
        </p:nvSpPr>
        <p:spPr>
          <a:xfrm>
            <a:off x="3810000" y="2895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14</a:t>
            </a:r>
          </a:p>
        </p:txBody>
      </p:sp>
      <p:sp>
        <p:nvSpPr>
          <p:cNvPr id="61454" name="Text Box 14"/>
          <p:cNvSpPr txBox="1"/>
          <p:nvPr/>
        </p:nvSpPr>
        <p:spPr>
          <a:xfrm>
            <a:off x="4413250" y="2193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9</a:t>
            </a:r>
          </a:p>
        </p:txBody>
      </p:sp>
      <p:sp>
        <p:nvSpPr>
          <p:cNvPr id="61455" name="Text Box 15"/>
          <p:cNvSpPr txBox="1"/>
          <p:nvPr/>
        </p:nvSpPr>
        <p:spPr>
          <a:xfrm>
            <a:off x="4343400" y="3489325"/>
            <a:ext cx="444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PMingLiU" pitchFamily="18" charset="-120"/>
              </a:rPr>
              <a:t>10</a:t>
            </a:r>
          </a:p>
        </p:txBody>
      </p:sp>
      <p:sp>
        <p:nvSpPr>
          <p:cNvPr id="61456" name="Oval 16"/>
          <p:cNvSpPr/>
          <p:nvPr/>
        </p:nvSpPr>
        <p:spPr>
          <a:xfrm>
            <a:off x="304800" y="28194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a</a:t>
            </a:r>
          </a:p>
        </p:txBody>
      </p:sp>
      <p:sp>
        <p:nvSpPr>
          <p:cNvPr id="61457" name="Oval 17"/>
          <p:cNvSpPr/>
          <p:nvPr/>
        </p:nvSpPr>
        <p:spPr>
          <a:xfrm>
            <a:off x="2438400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g</a:t>
            </a:r>
          </a:p>
        </p:txBody>
      </p:sp>
      <p:sp>
        <p:nvSpPr>
          <p:cNvPr id="61458" name="Oval 18"/>
          <p:cNvSpPr/>
          <p:nvPr/>
        </p:nvSpPr>
        <p:spPr>
          <a:xfrm>
            <a:off x="1143000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h</a:t>
            </a:r>
          </a:p>
        </p:txBody>
      </p:sp>
      <p:sp>
        <p:nvSpPr>
          <p:cNvPr id="61459" name="Oval 21"/>
          <p:cNvSpPr/>
          <p:nvPr/>
        </p:nvSpPr>
        <p:spPr>
          <a:xfrm>
            <a:off x="11430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b</a:t>
            </a:r>
          </a:p>
        </p:txBody>
      </p:sp>
      <p:pic>
        <p:nvPicPr>
          <p:cNvPr id="61460" name="Picture 25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61" name="Rectangle 27"/>
          <p:cNvSpPr/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1"/>
                </a:solidFill>
                <a:ea typeface="PMingLiU" pitchFamily="18" charset="-120"/>
              </a:rPr>
              <a:t>                                             Prim’s Algorithm</a:t>
            </a:r>
            <a:endParaRPr lang="en-US" altLang="en-US" sz="3200" dirty="0">
              <a:solidFill>
                <a:schemeClr val="bg1"/>
              </a:solidFill>
              <a:ea typeface="PMingLiU" pitchFamily="18" charset="-120"/>
            </a:endParaRPr>
          </a:p>
        </p:txBody>
      </p:sp>
      <p:cxnSp>
        <p:nvCxnSpPr>
          <p:cNvPr id="61462" name="AutoShape 31"/>
          <p:cNvCxnSpPr>
            <a:stCxn id="61456" idx="7"/>
            <a:endCxn id="61459" idx="3"/>
          </p:cNvCxnSpPr>
          <p:nvPr/>
        </p:nvCxnSpPr>
        <p:spPr>
          <a:xfrm flipV="1">
            <a:off x="695325" y="2295525"/>
            <a:ext cx="514350" cy="5905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63" name="AutoShape 32"/>
          <p:cNvCxnSpPr>
            <a:stCxn id="61478" idx="2"/>
            <a:endCxn id="61459" idx="6"/>
          </p:cNvCxnSpPr>
          <p:nvPr/>
        </p:nvCxnSpPr>
        <p:spPr>
          <a:xfrm flipH="1">
            <a:off x="1600200" y="2133600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64" name="AutoShape 33"/>
          <p:cNvCxnSpPr>
            <a:stCxn id="61478" idx="6"/>
            <a:endCxn id="61479" idx="2"/>
          </p:cNvCxnSpPr>
          <p:nvPr/>
        </p:nvCxnSpPr>
        <p:spPr>
          <a:xfrm>
            <a:off x="2895600" y="2133600"/>
            <a:ext cx="703263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65" name="AutoShape 35"/>
          <p:cNvCxnSpPr>
            <a:stCxn id="61476" idx="6"/>
            <a:endCxn id="61480" idx="3"/>
          </p:cNvCxnSpPr>
          <p:nvPr/>
        </p:nvCxnSpPr>
        <p:spPr>
          <a:xfrm flipV="1">
            <a:off x="4056063" y="3133725"/>
            <a:ext cx="582612" cy="9017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66" name="AutoShape 36"/>
          <p:cNvCxnSpPr>
            <a:stCxn id="61476" idx="0"/>
            <a:endCxn id="61479" idx="4"/>
          </p:cNvCxnSpPr>
          <p:nvPr/>
        </p:nvCxnSpPr>
        <p:spPr>
          <a:xfrm flipV="1">
            <a:off x="3827463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67" name="AutoShape 37"/>
          <p:cNvCxnSpPr>
            <a:stCxn id="61476" idx="5"/>
            <a:endCxn id="61478" idx="1"/>
          </p:cNvCxnSpPr>
          <p:nvPr/>
        </p:nvCxnSpPr>
        <p:spPr>
          <a:xfrm flipH="1" flipV="1">
            <a:off x="2505075" y="1971675"/>
            <a:ext cx="1484313" cy="2225675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68" name="AutoShape 38"/>
          <p:cNvCxnSpPr>
            <a:stCxn id="61457" idx="6"/>
            <a:endCxn id="61476" idx="2"/>
          </p:cNvCxnSpPr>
          <p:nvPr/>
        </p:nvCxnSpPr>
        <p:spPr>
          <a:xfrm>
            <a:off x="2895600" y="4035425"/>
            <a:ext cx="703263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69" name="AutoShape 39"/>
          <p:cNvCxnSpPr>
            <a:stCxn id="61458" idx="6"/>
            <a:endCxn id="61457" idx="2"/>
          </p:cNvCxnSpPr>
          <p:nvPr/>
        </p:nvCxnSpPr>
        <p:spPr>
          <a:xfrm>
            <a:off x="1600200" y="4035425"/>
            <a:ext cx="838200" cy="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70" name="AutoShape 40"/>
          <p:cNvCxnSpPr>
            <a:stCxn id="61456" idx="5"/>
            <a:endCxn id="61458" idx="1"/>
          </p:cNvCxnSpPr>
          <p:nvPr/>
        </p:nvCxnSpPr>
        <p:spPr>
          <a:xfrm>
            <a:off x="695325" y="3209925"/>
            <a:ext cx="514350" cy="663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71" name="AutoShape 41"/>
          <p:cNvCxnSpPr>
            <a:stCxn id="61458" idx="0"/>
            <a:endCxn id="61459" idx="4"/>
          </p:cNvCxnSpPr>
          <p:nvPr/>
        </p:nvCxnSpPr>
        <p:spPr>
          <a:xfrm flipV="1">
            <a:off x="1371600" y="2362200"/>
            <a:ext cx="0" cy="14446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72" name="AutoShape 42"/>
          <p:cNvCxnSpPr>
            <a:stCxn id="61458" idx="7"/>
            <a:endCxn id="61475" idx="3"/>
          </p:cNvCxnSpPr>
          <p:nvPr/>
        </p:nvCxnSpPr>
        <p:spPr>
          <a:xfrm flipV="1">
            <a:off x="1533525" y="3133725"/>
            <a:ext cx="514350" cy="7397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73" name="AutoShape 43"/>
          <p:cNvCxnSpPr>
            <a:stCxn id="61475" idx="5"/>
            <a:endCxn id="61457" idx="0"/>
          </p:cNvCxnSpPr>
          <p:nvPr/>
        </p:nvCxnSpPr>
        <p:spPr>
          <a:xfrm>
            <a:off x="2371725" y="3133725"/>
            <a:ext cx="295275" cy="6731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1474" name="AutoShape 44"/>
          <p:cNvCxnSpPr>
            <a:stCxn id="61475" idx="3"/>
            <a:endCxn id="61478" idx="7"/>
          </p:cNvCxnSpPr>
          <p:nvPr/>
        </p:nvCxnSpPr>
        <p:spPr>
          <a:xfrm flipV="1">
            <a:off x="2047875" y="1971675"/>
            <a:ext cx="781050" cy="11620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475" name="Oval 24"/>
          <p:cNvSpPr/>
          <p:nvPr/>
        </p:nvSpPr>
        <p:spPr>
          <a:xfrm>
            <a:off x="1981200" y="27432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i</a:t>
            </a:r>
          </a:p>
        </p:txBody>
      </p:sp>
      <p:sp>
        <p:nvSpPr>
          <p:cNvPr id="61476" name="Oval 19"/>
          <p:cNvSpPr/>
          <p:nvPr/>
        </p:nvSpPr>
        <p:spPr>
          <a:xfrm>
            <a:off x="3598863" y="3806825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f</a:t>
            </a:r>
          </a:p>
        </p:txBody>
      </p:sp>
      <p:cxnSp>
        <p:nvCxnSpPr>
          <p:cNvPr id="61477" name="AutoShape 34"/>
          <p:cNvCxnSpPr>
            <a:stCxn id="61479" idx="1"/>
            <a:endCxn id="61480" idx="5"/>
          </p:cNvCxnSpPr>
          <p:nvPr/>
        </p:nvCxnSpPr>
        <p:spPr>
          <a:xfrm>
            <a:off x="3665538" y="1971675"/>
            <a:ext cx="1296987" cy="1162050"/>
          </a:xfrm>
          <a:prstGeom prst="straightConnector1">
            <a:avLst/>
          </a:prstGeom>
          <a:ln w="1143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478" name="Oval 22"/>
          <p:cNvSpPr/>
          <p:nvPr/>
        </p:nvSpPr>
        <p:spPr>
          <a:xfrm>
            <a:off x="2438400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c</a:t>
            </a:r>
          </a:p>
        </p:txBody>
      </p:sp>
      <p:sp>
        <p:nvSpPr>
          <p:cNvPr id="61479" name="Oval 23"/>
          <p:cNvSpPr/>
          <p:nvPr/>
        </p:nvSpPr>
        <p:spPr>
          <a:xfrm>
            <a:off x="3598863" y="19050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d</a:t>
            </a:r>
          </a:p>
        </p:txBody>
      </p:sp>
      <p:sp>
        <p:nvSpPr>
          <p:cNvPr id="61480" name="Oval 20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chemeClr val="bg1"/>
                </a:solidFill>
                <a:latin typeface="Times New Roman" panose="02020603050405020304" pitchFamily="18" charset="0"/>
                <a:ea typeface="PMingLiU" pitchFamily="18" charset="-120"/>
              </a:rPr>
              <a:t>e</a:t>
            </a:r>
          </a:p>
        </p:txBody>
      </p:sp>
      <p:sp>
        <p:nvSpPr>
          <p:cNvPr id="61481" name="Rectangle 53"/>
          <p:cNvSpPr/>
          <p:nvPr/>
        </p:nvSpPr>
        <p:spPr>
          <a:xfrm>
            <a:off x="987425" y="5257800"/>
            <a:ext cx="347663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  <a:sym typeface="Zed" pitchFamily="2" charset="2"/>
              </a:rPr>
              <a:t></a:t>
            </a:r>
          </a:p>
        </p:txBody>
      </p:sp>
      <p:sp>
        <p:nvSpPr>
          <p:cNvPr id="61482" name="Rectangle 54"/>
          <p:cNvSpPr/>
          <p:nvPr/>
        </p:nvSpPr>
        <p:spPr>
          <a:xfrm>
            <a:off x="301625" y="5181600"/>
            <a:ext cx="685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 dirty="0">
                <a:latin typeface="Times New Roman" panose="02020603050405020304" pitchFamily="18" charset="0"/>
              </a:rPr>
              <a:t>Q</a:t>
            </a:r>
          </a:p>
        </p:txBody>
      </p:sp>
      <p:pic>
        <p:nvPicPr>
          <p:cNvPr id="6148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682625"/>
            <a:ext cx="3863975" cy="2411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4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chemeClr val="bg2"/>
                </a:solidFill>
                <a:cs typeface="Arial" panose="020B0604020202020204" pitchFamily="34" charset="0"/>
              </a:rPr>
              <a:t>94</a:t>
            </a:fld>
            <a:endParaRPr lang="en-US" altLang="en-US" sz="1200" b="1" dirty="0">
              <a:solidFill>
                <a:schemeClr val="bg2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3335338" y="2057400"/>
          <a:ext cx="2738437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43200" imgH="1647825" progId="CorelDRAW.Graphic.10">
                  <p:embed/>
                </p:oleObj>
              </mc:Choice>
              <mc:Fallback>
                <p:oleObj r:id="rId2" imgW="2743200" imgH="1647825" progId="CorelDRAW.Graphic.10">
                  <p:embed/>
                  <p:pic>
                    <p:nvPicPr>
                      <p:cNvPr id="62467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35338" y="2057400"/>
                        <a:ext cx="2738437" cy="164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Text Box 4"/>
          <p:cNvSpPr txBox="1"/>
          <p:nvPr/>
        </p:nvSpPr>
        <p:spPr>
          <a:xfrm>
            <a:off x="3071813" y="2555875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a</a:t>
            </a:r>
          </a:p>
        </p:txBody>
      </p:sp>
      <p:sp>
        <p:nvSpPr>
          <p:cNvPr id="62469" name="Text Box 5"/>
          <p:cNvSpPr txBox="1"/>
          <p:nvPr/>
        </p:nvSpPr>
        <p:spPr>
          <a:xfrm>
            <a:off x="4006850" y="1676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b</a:t>
            </a:r>
          </a:p>
        </p:txBody>
      </p:sp>
      <p:sp>
        <p:nvSpPr>
          <p:cNvPr id="62470" name="Text Box 6"/>
          <p:cNvSpPr txBox="1"/>
          <p:nvPr/>
        </p:nvSpPr>
        <p:spPr>
          <a:xfrm>
            <a:off x="5392738" y="1676400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</a:t>
            </a:r>
          </a:p>
        </p:txBody>
      </p:sp>
      <p:sp>
        <p:nvSpPr>
          <p:cNvPr id="62471" name="Text Box 7"/>
          <p:cNvSpPr txBox="1"/>
          <p:nvPr/>
        </p:nvSpPr>
        <p:spPr>
          <a:xfrm>
            <a:off x="6064250" y="25352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d</a:t>
            </a:r>
          </a:p>
        </p:txBody>
      </p:sp>
      <p:sp>
        <p:nvSpPr>
          <p:cNvPr id="62472" name="Text Box 8"/>
          <p:cNvSpPr txBox="1"/>
          <p:nvPr/>
        </p:nvSpPr>
        <p:spPr>
          <a:xfrm>
            <a:off x="4675188" y="3602038"/>
            <a:ext cx="285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f</a:t>
            </a:r>
          </a:p>
        </p:txBody>
      </p:sp>
      <p:sp>
        <p:nvSpPr>
          <p:cNvPr id="62473" name="Text Box 9"/>
          <p:cNvSpPr txBox="1"/>
          <p:nvPr/>
        </p:nvSpPr>
        <p:spPr>
          <a:xfrm>
            <a:off x="3716338" y="36020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g</a:t>
            </a:r>
          </a:p>
        </p:txBody>
      </p:sp>
      <p:sp>
        <p:nvSpPr>
          <p:cNvPr id="62474" name="Text Box 10"/>
          <p:cNvSpPr txBox="1"/>
          <p:nvPr/>
        </p:nvSpPr>
        <p:spPr>
          <a:xfrm>
            <a:off x="5011738" y="2362200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e</a:t>
            </a:r>
          </a:p>
        </p:txBody>
      </p:sp>
      <p:sp>
        <p:nvSpPr>
          <p:cNvPr id="62475" name="Text Box 11"/>
          <p:cNvSpPr txBox="1"/>
          <p:nvPr/>
        </p:nvSpPr>
        <p:spPr>
          <a:xfrm>
            <a:off x="3529013" y="20780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1</a:t>
            </a:r>
          </a:p>
        </p:txBody>
      </p:sp>
      <p:sp>
        <p:nvSpPr>
          <p:cNvPr id="62476" name="Text Box 12"/>
          <p:cNvSpPr txBox="1"/>
          <p:nvPr/>
        </p:nvSpPr>
        <p:spPr>
          <a:xfrm>
            <a:off x="4675188" y="1676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7</a:t>
            </a:r>
          </a:p>
        </p:txBody>
      </p:sp>
      <p:sp>
        <p:nvSpPr>
          <p:cNvPr id="62477" name="Text Box 13"/>
          <p:cNvSpPr txBox="1"/>
          <p:nvPr/>
        </p:nvSpPr>
        <p:spPr>
          <a:xfrm>
            <a:off x="5741988" y="2133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4</a:t>
            </a:r>
          </a:p>
        </p:txBody>
      </p:sp>
      <p:sp>
        <p:nvSpPr>
          <p:cNvPr id="62478" name="Text Box 14"/>
          <p:cNvSpPr txBox="1"/>
          <p:nvPr/>
        </p:nvSpPr>
        <p:spPr>
          <a:xfrm>
            <a:off x="5468938" y="31448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5</a:t>
            </a:r>
          </a:p>
        </p:txBody>
      </p:sp>
      <p:sp>
        <p:nvSpPr>
          <p:cNvPr id="62479" name="Text Box 15"/>
          <p:cNvSpPr txBox="1"/>
          <p:nvPr/>
        </p:nvSpPr>
        <p:spPr>
          <a:xfrm>
            <a:off x="5360988" y="24590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3</a:t>
            </a:r>
          </a:p>
        </p:txBody>
      </p:sp>
      <p:sp>
        <p:nvSpPr>
          <p:cNvPr id="62480" name="Text Box 16"/>
          <p:cNvSpPr txBox="1"/>
          <p:nvPr/>
        </p:nvSpPr>
        <p:spPr>
          <a:xfrm>
            <a:off x="5000625" y="29162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2</a:t>
            </a:r>
          </a:p>
        </p:txBody>
      </p:sp>
      <p:sp>
        <p:nvSpPr>
          <p:cNvPr id="62481" name="Text Box 17"/>
          <p:cNvSpPr txBox="1"/>
          <p:nvPr/>
        </p:nvSpPr>
        <p:spPr>
          <a:xfrm>
            <a:off x="4598988" y="27638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9</a:t>
            </a:r>
          </a:p>
        </p:txBody>
      </p:sp>
      <p:sp>
        <p:nvSpPr>
          <p:cNvPr id="62482" name="Text Box 18"/>
          <p:cNvSpPr txBox="1"/>
          <p:nvPr/>
        </p:nvSpPr>
        <p:spPr>
          <a:xfrm>
            <a:off x="4249738" y="36020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6</a:t>
            </a:r>
          </a:p>
        </p:txBody>
      </p:sp>
      <p:sp>
        <p:nvSpPr>
          <p:cNvPr id="62483" name="Text Box 19"/>
          <p:cNvSpPr txBox="1"/>
          <p:nvPr/>
        </p:nvSpPr>
        <p:spPr>
          <a:xfrm>
            <a:off x="3868738" y="2251075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8</a:t>
            </a:r>
          </a:p>
        </p:txBody>
      </p:sp>
      <p:sp>
        <p:nvSpPr>
          <p:cNvPr id="62484" name="Text Box 20"/>
          <p:cNvSpPr txBox="1"/>
          <p:nvPr/>
        </p:nvSpPr>
        <p:spPr>
          <a:xfrm>
            <a:off x="4603750" y="225107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10</a:t>
            </a:r>
          </a:p>
        </p:txBody>
      </p:sp>
      <p:sp>
        <p:nvSpPr>
          <p:cNvPr id="62485" name="Text Box 21"/>
          <p:cNvSpPr txBox="1"/>
          <p:nvPr/>
        </p:nvSpPr>
        <p:spPr>
          <a:xfrm>
            <a:off x="733425" y="1012825"/>
            <a:ext cx="85344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/>
              <a:t>Use Prim’s algorithm starting with vertex </a:t>
            </a:r>
            <a:r>
              <a:rPr lang="en-US" altLang="en-US" sz="2000" b="1" i="1" dirty="0"/>
              <a:t>a</a:t>
            </a:r>
            <a:r>
              <a:rPr lang="en-US" altLang="en-US" sz="2000" dirty="0"/>
              <a:t> to find a minimal spanning tree of the graph below. Indicate the order in which edges are added to form the tree.</a:t>
            </a:r>
          </a:p>
        </p:txBody>
      </p:sp>
      <p:sp>
        <p:nvSpPr>
          <p:cNvPr id="62486" name="Text Box 22"/>
          <p:cNvSpPr txBox="1"/>
          <p:nvPr/>
        </p:nvSpPr>
        <p:spPr>
          <a:xfrm>
            <a:off x="381000" y="3962400"/>
            <a:ext cx="38862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/>
              <a:t>SOLUTION</a:t>
            </a:r>
            <a:r>
              <a:rPr lang="en-US" altLang="en-US" sz="2000" dirty="0"/>
              <a:t>:	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/>
              <a:t>Minimal spanning tree</a:t>
            </a:r>
          </a:p>
        </p:txBody>
      </p:sp>
      <p:graphicFrame>
        <p:nvGraphicFramePr>
          <p:cNvPr id="62487" name="Object 23"/>
          <p:cNvGraphicFramePr>
            <a:graphicFrameLocks noChangeAspect="1"/>
          </p:cNvGraphicFramePr>
          <p:nvPr/>
        </p:nvGraphicFramePr>
        <p:xfrm>
          <a:off x="5867400" y="4398963"/>
          <a:ext cx="2738438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743200" imgH="1647825" progId="CorelDRAW.Graphic.10">
                  <p:embed/>
                </p:oleObj>
              </mc:Choice>
              <mc:Fallback>
                <p:oleObj r:id="rId4" imgW="2743200" imgH="1647825" progId="CorelDRAW.Graphic.10">
                  <p:embed/>
                  <p:pic>
                    <p:nvPicPr>
                      <p:cNvPr id="62487" name="Object 2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67400" y="4398963"/>
                        <a:ext cx="2738438" cy="164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8" name="Text Box 24"/>
          <p:cNvSpPr txBox="1"/>
          <p:nvPr/>
        </p:nvSpPr>
        <p:spPr>
          <a:xfrm>
            <a:off x="5548313" y="4897438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a</a:t>
            </a:r>
          </a:p>
        </p:txBody>
      </p:sp>
      <p:sp>
        <p:nvSpPr>
          <p:cNvPr id="62489" name="Text Box 25"/>
          <p:cNvSpPr txBox="1"/>
          <p:nvPr/>
        </p:nvSpPr>
        <p:spPr>
          <a:xfrm>
            <a:off x="6483350" y="401796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b</a:t>
            </a:r>
          </a:p>
        </p:txBody>
      </p:sp>
      <p:sp>
        <p:nvSpPr>
          <p:cNvPr id="62490" name="Text Box 26"/>
          <p:cNvSpPr txBox="1"/>
          <p:nvPr/>
        </p:nvSpPr>
        <p:spPr>
          <a:xfrm>
            <a:off x="7869238" y="4017963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</a:t>
            </a:r>
          </a:p>
        </p:txBody>
      </p:sp>
      <p:sp>
        <p:nvSpPr>
          <p:cNvPr id="62491" name="Text Box 27"/>
          <p:cNvSpPr txBox="1"/>
          <p:nvPr/>
        </p:nvSpPr>
        <p:spPr>
          <a:xfrm>
            <a:off x="8540750" y="4876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d</a:t>
            </a:r>
          </a:p>
        </p:txBody>
      </p:sp>
      <p:sp>
        <p:nvSpPr>
          <p:cNvPr id="62492" name="Text Box 28"/>
          <p:cNvSpPr txBox="1"/>
          <p:nvPr/>
        </p:nvSpPr>
        <p:spPr>
          <a:xfrm>
            <a:off x="7151688" y="5943600"/>
            <a:ext cx="285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f</a:t>
            </a:r>
          </a:p>
        </p:txBody>
      </p:sp>
      <p:sp>
        <p:nvSpPr>
          <p:cNvPr id="62493" name="Text Box 29"/>
          <p:cNvSpPr txBox="1"/>
          <p:nvPr/>
        </p:nvSpPr>
        <p:spPr>
          <a:xfrm>
            <a:off x="6192838" y="5943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g</a:t>
            </a:r>
          </a:p>
        </p:txBody>
      </p:sp>
      <p:sp>
        <p:nvSpPr>
          <p:cNvPr id="62494" name="Text Box 30"/>
          <p:cNvSpPr txBox="1"/>
          <p:nvPr/>
        </p:nvSpPr>
        <p:spPr>
          <a:xfrm>
            <a:off x="7488238" y="4703763"/>
            <a:ext cx="319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e</a:t>
            </a:r>
          </a:p>
        </p:txBody>
      </p:sp>
      <p:sp>
        <p:nvSpPr>
          <p:cNvPr id="62495" name="Text Box 31"/>
          <p:cNvSpPr txBox="1"/>
          <p:nvPr/>
        </p:nvSpPr>
        <p:spPr>
          <a:xfrm>
            <a:off x="6005513" y="4419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1</a:t>
            </a:r>
          </a:p>
        </p:txBody>
      </p:sp>
      <p:sp>
        <p:nvSpPr>
          <p:cNvPr id="62496" name="Text Box 32"/>
          <p:cNvSpPr txBox="1"/>
          <p:nvPr/>
        </p:nvSpPr>
        <p:spPr>
          <a:xfrm>
            <a:off x="7151688" y="401796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7</a:t>
            </a:r>
          </a:p>
        </p:txBody>
      </p:sp>
      <p:sp>
        <p:nvSpPr>
          <p:cNvPr id="62497" name="Text Box 33"/>
          <p:cNvSpPr txBox="1"/>
          <p:nvPr/>
        </p:nvSpPr>
        <p:spPr>
          <a:xfrm>
            <a:off x="8218488" y="4475163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4</a:t>
            </a:r>
          </a:p>
        </p:txBody>
      </p:sp>
      <p:sp>
        <p:nvSpPr>
          <p:cNvPr id="62498" name="Text Box 34"/>
          <p:cNvSpPr txBox="1"/>
          <p:nvPr/>
        </p:nvSpPr>
        <p:spPr>
          <a:xfrm>
            <a:off x="7837488" y="4800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3</a:t>
            </a:r>
          </a:p>
        </p:txBody>
      </p:sp>
      <p:sp>
        <p:nvSpPr>
          <p:cNvPr id="62499" name="Text Box 35"/>
          <p:cNvSpPr txBox="1"/>
          <p:nvPr/>
        </p:nvSpPr>
        <p:spPr>
          <a:xfrm>
            <a:off x="7539038" y="5257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2</a:t>
            </a:r>
          </a:p>
        </p:txBody>
      </p:sp>
      <p:sp>
        <p:nvSpPr>
          <p:cNvPr id="62500" name="Text Box 36"/>
          <p:cNvSpPr txBox="1"/>
          <p:nvPr/>
        </p:nvSpPr>
        <p:spPr>
          <a:xfrm>
            <a:off x="6726238" y="5943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6</a:t>
            </a:r>
          </a:p>
        </p:txBody>
      </p:sp>
      <p:sp>
        <p:nvSpPr>
          <p:cNvPr id="62501" name="Text Box 37"/>
          <p:cNvSpPr txBox="1"/>
          <p:nvPr/>
        </p:nvSpPr>
        <p:spPr>
          <a:xfrm>
            <a:off x="381000" y="5410200"/>
            <a:ext cx="58674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/>
              <a:t>Order of adding the edges:	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/>
              <a:t>{a,b}, {b.c}, {c,d}, {d,e}, {e,f}, {f,g}</a:t>
            </a:r>
          </a:p>
        </p:txBody>
      </p:sp>
      <p:pic>
        <p:nvPicPr>
          <p:cNvPr id="62502" name="Picture 25" descr="siide b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009650" y="1168400"/>
            <a:ext cx="8134350" cy="45212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 power distribution network consists of 8 consumption points labeled A to H. The details of the connections between the consumption points and their respective distances are provided below:</a:t>
            </a:r>
          </a:p>
          <a:p>
            <a:pPr lvl="1"/>
            <a:r>
              <a:rPr lang="en-US" sz="1885" dirty="0">
                <a:solidFill>
                  <a:schemeClr val="accent1">
                    <a:lumMod val="50000"/>
                  </a:schemeClr>
                </a:solidFill>
              </a:rPr>
              <a:t>A &lt;-&gt; C: 15 miles, B &lt;-&gt; C: 20 miles, B &lt;-&gt; D: 25 miles, </a:t>
            </a:r>
          </a:p>
          <a:p>
            <a:pPr lvl="1"/>
            <a:r>
              <a:rPr lang="en-US" sz="1885" dirty="0">
                <a:solidFill>
                  <a:schemeClr val="accent1">
                    <a:lumMod val="50000"/>
                  </a:schemeClr>
                </a:solidFill>
              </a:rPr>
              <a:t>C &lt;-&gt; E: 30 miles, D &lt;-&gt; E: 35 miles, E &lt;-&gt; F: 40 miles, E &lt;-&gt; G: 45 miles, </a:t>
            </a:r>
          </a:p>
          <a:p>
            <a:pPr lvl="1"/>
            <a:r>
              <a:rPr lang="en-US" sz="1885" dirty="0">
                <a:solidFill>
                  <a:schemeClr val="accent1">
                    <a:lumMod val="50000"/>
                  </a:schemeClr>
                </a:solidFill>
              </a:rPr>
              <a:t>F &lt;-&gt; G: 50 miles, F &lt;-&gt; H: 55 miles, G &lt;-&gt; H: 60 miles</a:t>
            </a:r>
          </a:p>
          <a:p>
            <a:pPr marL="0" lvl="1" algn="just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ea typeface="+mn-ea"/>
                <a:cs typeface="+mn-cs"/>
                <a:sym typeface="+mn-ea"/>
              </a:rPr>
              <a:t>For economic reasons, it is desired to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connect power stations to various consumption points in a way that minimizes the total distance covered by the power lines, that is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ea typeface="+mn-ea"/>
                <a:cs typeface="+mn-cs"/>
                <a:sym typeface="+mn-ea"/>
              </a:rPr>
              <a:t>construct the</a:t>
            </a:r>
            <a:r>
              <a:rPr lang="en-US" sz="2195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sz="2195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+mn-ea"/>
              </a:rPr>
              <a:t>least possible number</a:t>
            </a:r>
            <a:r>
              <a:rPr lang="en-US" sz="2195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cs typeface="+mn-ea"/>
                <a:sym typeface="+mn-ea"/>
              </a:rPr>
              <a:t>of power lines to connect the power stations. Find the desire network along with minimum cost.  </a:t>
            </a:r>
            <a:endParaRPr kumimoji="0" lang="en-US" sz="2400" b="0" i="0" u="none" strike="noStrike" kern="0" cap="none" spc="0" normalizeH="0" baseline="0" dirty="0">
              <a:solidFill>
                <a:schemeClr val="accent1">
                  <a:lumMod val="50000"/>
                </a:schemeClr>
              </a:solidFill>
              <a:latin typeface="+mn-lt"/>
              <a:cs typeface="+mn-ea"/>
            </a:endParaRPr>
          </a:p>
          <a:p>
            <a:pPr marL="0" indent="0">
              <a:buNone/>
            </a:pPr>
            <a:endParaRPr lang="en-US" sz="11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95</a:t>
            </a:fld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Your Turn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04240" y="4406900"/>
            <a:ext cx="8239760" cy="1362075"/>
          </a:xfrm>
          <a:solidFill>
            <a:srgbClr val="FFC000"/>
          </a:solidFill>
        </p:spPr>
        <p:txBody>
          <a:bodyPr/>
          <a:lstStyle/>
          <a:p>
            <a:r>
              <a:rPr lang="en-US" dirty="0"/>
              <a:t>Applications of Graphs: </a:t>
            </a:r>
            <a:r>
              <a:rPr lang="en-US" dirty="0">
                <a:solidFill>
                  <a:srgbClr val="C00000"/>
                </a:solidFill>
              </a:rPr>
              <a:t>SHORTEST PATH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96</a:t>
            </a:fld>
            <a:endParaRPr lang="en-US"/>
          </a:p>
        </p:txBody>
      </p:sp>
      <p:pic>
        <p:nvPicPr>
          <p:cNvPr id="5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5"/>
          <p:cNvSpPr>
            <a:spLocks noGrp="1"/>
          </p:cNvSpPr>
          <p:nvPr/>
        </p:nvSpPr>
        <p:spPr>
          <a:xfrm>
            <a:off x="76200" y="0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algn="r">
              <a:buClrTx/>
              <a:buSzTx/>
              <a:buFontTx/>
            </a:pPr>
            <a:endParaRPr lang="en-US" altLang="en-US" sz="3200" dirty="0">
              <a:solidFill>
                <a:schemeClr val="bg1"/>
              </a:solidFill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vert="horz" wrap="square" lIns="0" tIns="0" rIns="0" bIns="0" numCol="1" anchor="t" anchorCtr="0" compatLnSpc="1">
            <a:normAutofit fontScale="90000"/>
          </a:bodyPr>
          <a:lstStyle/>
          <a:p>
            <a:pPr marL="0" marR="0" lvl="0" indent="0" algn="ctr" defTabSz="457200" rtl="0" eaLnBrk="0" fontAlgn="auto" latinLnBrk="0" hangingPunct="0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3B62A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-101" charset="-128"/>
                <a:cs typeface="MS PGothic" panose="020B0600070205080204" pitchFamily="-101" charset="-128"/>
              </a:rPr>
              <a:t>Single-Source Shortest Path Problem </a:t>
            </a:r>
          </a:p>
        </p:txBody>
      </p:sp>
      <p:sp>
        <p:nvSpPr>
          <p:cNvPr id="16387" name="Rectangle 2"/>
          <p:cNvSpPr>
            <a:spLocks noGrp="1"/>
          </p:cNvSpPr>
          <p:nvPr>
            <p:ph idx="1"/>
          </p:nvPr>
        </p:nvSpPr>
        <p:spPr>
          <a:xfrm>
            <a:off x="840740" y="1043940"/>
            <a:ext cx="8302625" cy="4938395"/>
          </a:xfrm>
        </p:spPr>
        <p:txBody>
          <a:bodyPr vert="horz" wrap="square" lIns="0" tIns="0" rIns="0" bIns="0" anchor="t" anchorCtr="0"/>
          <a:lstStyle/>
          <a:p>
            <a:pPr marL="0" indent="0" algn="just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b="1" u="sng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Single-Source Shortest Path Problem</a:t>
            </a:r>
            <a:r>
              <a: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 The problem of finding shortest paths from a source vertex </a:t>
            </a:r>
            <a:r>
              <a:rPr i="1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to all other vertices in the graph.</a:t>
            </a:r>
          </a:p>
        </p:txBody>
      </p:sp>
      <p:pic>
        <p:nvPicPr>
          <p:cNvPr id="1638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563" y="3086100"/>
            <a:ext cx="3808412" cy="2516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vert="horz" wrap="square" lIns="0" tIns="0" rIns="0" bIns="0" anchor="t" anchorCtr="0"/>
          <a:lstStyle/>
          <a:p>
            <a:pPr>
              <a:lnSpc>
                <a:spcPct val="95000"/>
              </a:lnSpc>
            </a:pPr>
            <a:r>
              <a:rPr sz="3900">
                <a:solidFill>
                  <a:srgbClr val="3B62AF"/>
                </a:solidFill>
                <a:latin typeface="Arial" panose="020B0604020202020204" pitchFamily="34" charset="0"/>
              </a:rPr>
              <a:t>Applications</a:t>
            </a:r>
          </a:p>
        </p:txBody>
      </p:sp>
      <p:sp>
        <p:nvSpPr>
          <p:cNvPr id="17411" name="Rectangle 2"/>
          <p:cNvSpPr>
            <a:spLocks noGrp="1"/>
          </p:cNvSpPr>
          <p:nvPr>
            <p:ph idx="1"/>
          </p:nvPr>
        </p:nvSpPr>
        <p:spPr>
          <a:xfrm>
            <a:off x="807085" y="1079500"/>
            <a:ext cx="8336915" cy="4942205"/>
          </a:xfrm>
        </p:spPr>
        <p:txBody>
          <a:bodyPr vert="horz" wrap="square" lIns="0" tIns="0" rIns="0" bIns="0" anchor="t" anchorCtr="0"/>
          <a:lstStyle/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 Maps (Map Quest, Google Maps) </a:t>
            </a:r>
            <a:endParaRPr sz="240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 Routing Systems</a:t>
            </a:r>
          </a:p>
        </p:txBody>
      </p:sp>
      <p:pic>
        <p:nvPicPr>
          <p:cNvPr id="1741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15" y="2403475"/>
            <a:ext cx="3413125" cy="3328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75" y="2070100"/>
            <a:ext cx="3760788" cy="4094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vert="horz" wrap="square" lIns="0" tIns="0" rIns="0" bIns="0" anchor="t" anchorCtr="0"/>
          <a:lstStyle/>
          <a:p>
            <a:pPr>
              <a:lnSpc>
                <a:spcPct val="95000"/>
              </a:lnSpc>
            </a:pPr>
            <a:r>
              <a:rPr sz="3900" b="1" err="1">
                <a:solidFill>
                  <a:srgbClr val="3B62AF"/>
                </a:solidFill>
                <a:latin typeface="Arial" panose="020B0604020202020204" pitchFamily="34" charset="0"/>
              </a:rPr>
              <a:t>Dijkstra's</a:t>
            </a:r>
            <a:r>
              <a:rPr sz="3900" b="1">
                <a:solidFill>
                  <a:srgbClr val="3B62AF"/>
                </a:solidFill>
                <a:latin typeface="Arial" panose="020B0604020202020204" pitchFamily="34" charset="0"/>
              </a:rPr>
              <a:t> algorithm </a:t>
            </a:r>
          </a:p>
        </p:txBody>
      </p:sp>
      <p:sp>
        <p:nvSpPr>
          <p:cNvPr id="18435" name="Rectangle 2"/>
          <p:cNvSpPr>
            <a:spLocks noGrp="1"/>
          </p:cNvSpPr>
          <p:nvPr>
            <p:ph idx="1"/>
          </p:nvPr>
        </p:nvSpPr>
        <p:spPr>
          <a:xfrm>
            <a:off x="840105" y="1097280"/>
            <a:ext cx="8249920" cy="4939030"/>
          </a:xfrm>
        </p:spPr>
        <p:txBody>
          <a:bodyPr vert="horz" wrap="square" lIns="0" tIns="0" rIns="0" bIns="0" anchor="t" anchorCtr="0"/>
          <a:lstStyle/>
          <a:p>
            <a:pPr marL="0" indent="0" algn="just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sz="2500" b="1" u="sng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Dijkstra's</a:t>
            </a:r>
            <a:r>
              <a:rPr sz="2500" b="1" u="sng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algorithm</a:t>
            </a:r>
            <a:r>
              <a:rPr sz="2500" b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sz="2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-</a:t>
            </a:r>
            <a:r>
              <a:rPr sz="2500" b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sz="2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is a solution to the single-source shortest path problem in graph theory. </a:t>
            </a:r>
            <a:endParaRPr sz="250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sz="2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 </a:t>
            </a:r>
            <a:endParaRPr sz="250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sz="2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Works on both directed and undirected graphs. However, all edges must have nonnegative weights.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sz="250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sz="2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Input: Weighted graph G={E,V} and source vertex </a:t>
            </a:r>
            <a:r>
              <a:rPr sz="2500" i="1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 sz="2500" err="1">
                <a:solidFill>
                  <a:schemeClr val="bg2">
                    <a:lumMod val="60000"/>
                    <a:lumOff val="40000"/>
                  </a:schemeClr>
                </a:solidFill>
                <a:latin typeface="Constantia" panose="02030602050306030303" pitchFamily="-101" charset="0"/>
              </a:rPr>
              <a:t>∈</a:t>
            </a:r>
            <a:r>
              <a:rPr sz="250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 sz="2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, such that all edge weights are nonnegative</a:t>
            </a:r>
            <a:endParaRPr sz="250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sz="2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 </a:t>
            </a:r>
            <a:endParaRPr sz="250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sz="2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Output: Lengths of shortest paths (or the shortest paths themselves) from a given source vertex</a:t>
            </a:r>
            <a:r>
              <a:rPr sz="2500" i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sz="2500" i="1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 sz="2500" err="1">
                <a:solidFill>
                  <a:schemeClr val="bg2">
                    <a:lumMod val="60000"/>
                    <a:lumOff val="40000"/>
                  </a:schemeClr>
                </a:solidFill>
                <a:latin typeface="Constantia" panose="02030602050306030303" pitchFamily="-101" charset="0"/>
              </a:rPr>
              <a:t>∈</a:t>
            </a:r>
            <a:r>
              <a:rPr sz="250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 sz="2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to all other vertices</a:t>
            </a:r>
            <a:endParaRPr sz="250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sz="2500" b="1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sz="2500" b="1" u="sng">
              <a:solidFill>
                <a:srgbClr val="444444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100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95235" name="Text Placeholder 95234"/>
          <p:cNvSpPr>
            <a:spLocks noGrp="1"/>
          </p:cNvSpPr>
          <p:nvPr>
            <p:ph type="body" idx="1"/>
          </p:nvPr>
        </p:nvSpPr>
        <p:spPr>
          <a:xfrm>
            <a:off x="876300" y="1270000"/>
            <a:ext cx="8267065" cy="4521200"/>
          </a:xfrm>
        </p:spPr>
        <p:txBody>
          <a:bodyPr/>
          <a:lstStyle/>
          <a:p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  <a:cs typeface="+mn-cs"/>
              </a:rPr>
              <a:t>Con</a:t>
            </a:r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sider a weighted directed graph</a:t>
            </a:r>
          </a:p>
          <a:p>
            <a:pPr lvl="1" algn="just"/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Each node x represents a city x</a:t>
            </a:r>
          </a:p>
          <a:p>
            <a:pPr lvl="1" algn="just"/>
            <a:r>
              <a:rPr lang="en-US" altLang="zh-TW" sz="24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Each edge (x, y) has a number which represent the cost of traveling from city x to city y</a:t>
            </a:r>
          </a:p>
          <a:p>
            <a:pPr algn="just"/>
            <a:r>
              <a:rPr lang="en-US" altLang="zh-TW" sz="2800">
                <a:solidFill>
                  <a:srgbClr val="FF3300"/>
                </a:solidFill>
                <a:ea typeface="PMingLiU" pitchFamily="18" charset="-120"/>
              </a:rPr>
              <a:t>Problem</a:t>
            </a:r>
            <a:r>
              <a:rPr lang="en-US" altLang="zh-TW" sz="2800">
                <a:ea typeface="PMingLiU" pitchFamily="18" charset="-120"/>
              </a:rPr>
              <a:t>: </a:t>
            </a:r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find the minimum cost to travel from city x to city y</a:t>
            </a:r>
            <a:endParaRPr lang="en-US" altLang="zh-TW" sz="2800">
              <a:ea typeface="PMingLiU" pitchFamily="18" charset="-120"/>
            </a:endParaRPr>
          </a:p>
          <a:p>
            <a:pPr algn="just"/>
            <a:r>
              <a:rPr lang="en-US" altLang="zh-TW" sz="2800">
                <a:solidFill>
                  <a:srgbClr val="FF3300"/>
                </a:solidFill>
                <a:ea typeface="PMingLiU" pitchFamily="18" charset="-120"/>
              </a:rPr>
              <a:t>Solution</a:t>
            </a:r>
            <a:r>
              <a:rPr lang="en-US" altLang="zh-TW" sz="2800">
                <a:ea typeface="PMingLiU" pitchFamily="18" charset="-120"/>
              </a:rPr>
              <a:t>: </a:t>
            </a:r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find the</a:t>
            </a:r>
            <a:r>
              <a:rPr lang="en-US" altLang="zh-TW" sz="2800">
                <a:ea typeface="PMingLiU" pitchFamily="18" charset="-120"/>
              </a:rPr>
              <a:t> </a:t>
            </a:r>
            <a:r>
              <a:rPr lang="en-US" altLang="zh-TW" sz="2800">
                <a:solidFill>
                  <a:srgbClr val="FF3300"/>
                </a:solidFill>
                <a:ea typeface="PMingLiU" pitchFamily="18" charset="-120"/>
              </a:rPr>
              <a:t>shortest path</a:t>
            </a:r>
            <a:r>
              <a:rPr lang="en-US" altLang="zh-TW" sz="2800">
                <a:ea typeface="PMingLiU" pitchFamily="18" charset="-120"/>
              </a:rPr>
              <a:t> </a:t>
            </a:r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from x to y</a:t>
            </a: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Shortest Path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altLang="x-none" dirty="0"/>
              <a:t>CS201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101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96259" name="Text Placeholder 96258"/>
          <p:cNvSpPr>
            <a:spLocks noGrp="1"/>
          </p:cNvSpPr>
          <p:nvPr>
            <p:ph type="body" idx="1"/>
          </p:nvPr>
        </p:nvSpPr>
        <p:spPr>
          <a:xfrm>
            <a:off x="876300" y="1270000"/>
            <a:ext cx="8268335" cy="4521200"/>
          </a:xfrm>
        </p:spPr>
        <p:txBody>
          <a:bodyPr/>
          <a:lstStyle/>
          <a:p>
            <a:pPr algn="just"/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Given a weighted directed graph G.</a:t>
            </a:r>
          </a:p>
          <a:p>
            <a:pPr algn="just"/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Let P be a path of G from x to y.</a:t>
            </a:r>
          </a:p>
          <a:p>
            <a:pPr algn="just"/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cost(P) = </a:t>
            </a:r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  <a:sym typeface="Symbol" panose="05050102010706020507" pitchFamily="18" charset="2"/>
              </a:rPr>
              <a:t></a:t>
            </a:r>
            <a:r>
              <a:rPr lang="en-US" altLang="zh-TW" sz="2800" baseline="-2500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  <a:sym typeface="Symbol" panose="05050102010706020507" pitchFamily="18" charset="2"/>
              </a:rPr>
              <a:t>eP</a:t>
            </a:r>
            <a:r>
              <a:rPr lang="en-US" altLang="zh-TW" sz="280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  <a:sym typeface="Symbol" panose="05050102010706020507" pitchFamily="18" charset="2"/>
              </a:rPr>
              <a:t>weight(e</a:t>
            </a:r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  <a:sym typeface="Symbol" panose="05050102010706020507" pitchFamily="18" charset="2"/>
              </a:rPr>
              <a:t>)</a:t>
            </a:r>
          </a:p>
          <a:p>
            <a:pPr algn="just"/>
            <a:r>
              <a:rPr lang="en-US" altLang="zh-TW" sz="2800">
                <a:solidFill>
                  <a:schemeClr val="accent1">
                    <a:lumMod val="50000"/>
                  </a:schemeClr>
                </a:solidFill>
                <a:ea typeface="PMingLiU" pitchFamily="18" charset="-120"/>
                <a:sym typeface="Symbol" panose="05050102010706020507" pitchFamily="18" charset="2"/>
              </a:rPr>
              <a:t>The shortest path is a path P which minimizes cost(P)</a:t>
            </a:r>
          </a:p>
        </p:txBody>
      </p:sp>
      <p:grpSp>
        <p:nvGrpSpPr>
          <p:cNvPr id="96260" name="Group 96259"/>
          <p:cNvGrpSpPr/>
          <p:nvPr/>
        </p:nvGrpSpPr>
        <p:grpSpPr>
          <a:xfrm>
            <a:off x="2209800" y="3810000"/>
            <a:ext cx="3886200" cy="2187575"/>
            <a:chOff x="720" y="2736"/>
            <a:chExt cx="2448" cy="1378"/>
          </a:xfrm>
        </p:grpSpPr>
        <p:sp>
          <p:nvSpPr>
            <p:cNvPr id="96261" name="Text Box 96260"/>
            <p:cNvSpPr txBox="1"/>
            <p:nvPr/>
          </p:nvSpPr>
          <p:spPr>
            <a:xfrm>
              <a:off x="1776" y="2736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6262" name="Oval 96261"/>
            <p:cNvSpPr/>
            <p:nvPr/>
          </p:nvSpPr>
          <p:spPr>
            <a:xfrm>
              <a:off x="1834" y="3120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263" name="Oval 96262"/>
            <p:cNvSpPr/>
            <p:nvPr/>
          </p:nvSpPr>
          <p:spPr>
            <a:xfrm>
              <a:off x="2554" y="3168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264" name="Oval 96263"/>
            <p:cNvSpPr/>
            <p:nvPr/>
          </p:nvSpPr>
          <p:spPr>
            <a:xfrm>
              <a:off x="2506" y="3792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265" name="Oval 96264"/>
            <p:cNvSpPr/>
            <p:nvPr/>
          </p:nvSpPr>
          <p:spPr>
            <a:xfrm>
              <a:off x="1498" y="3696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266" name="Straight Connector 96265"/>
            <p:cNvSpPr/>
            <p:nvPr/>
          </p:nvSpPr>
          <p:spPr>
            <a:xfrm flipH="1" flipV="1">
              <a:off x="2074" y="3216"/>
              <a:ext cx="48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6267" name="Straight Connector 96266"/>
            <p:cNvSpPr/>
            <p:nvPr/>
          </p:nvSpPr>
          <p:spPr>
            <a:xfrm flipH="1" flipV="1">
              <a:off x="1738" y="3792"/>
              <a:ext cx="76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stealth" w="lg" len="lg"/>
              <a:tailEnd type="none" w="lg" len="lg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6268" name="Straight Connector 96267"/>
            <p:cNvSpPr/>
            <p:nvPr/>
          </p:nvSpPr>
          <p:spPr>
            <a:xfrm flipH="1">
              <a:off x="1738" y="3312"/>
              <a:ext cx="81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stealth" w="lg" len="lg"/>
              <a:tailEnd type="none" w="lg" len="lg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6269" name="Straight Connector 96268"/>
            <p:cNvSpPr/>
            <p:nvPr/>
          </p:nvSpPr>
          <p:spPr>
            <a:xfrm flipH="1">
              <a:off x="1690" y="3312"/>
              <a:ext cx="192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6270" name="Oval 96269"/>
            <p:cNvSpPr/>
            <p:nvPr/>
          </p:nvSpPr>
          <p:spPr>
            <a:xfrm>
              <a:off x="960" y="3264"/>
              <a:ext cx="247" cy="22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endParaRPr lang="en-US" altLang="x-none" sz="2400">
                <a:latin typeface="Tahoma" panose="020B0604030504040204" pitchFamily="34" charset="0"/>
              </a:endParaRPr>
            </a:p>
          </p:txBody>
        </p:sp>
        <p:sp>
          <p:nvSpPr>
            <p:cNvPr id="96271" name="Straight Connector 96270"/>
            <p:cNvSpPr/>
            <p:nvPr/>
          </p:nvSpPr>
          <p:spPr>
            <a:xfrm flipV="1">
              <a:off x="1200" y="3264"/>
              <a:ext cx="62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6272" name="Text Box 96271"/>
            <p:cNvSpPr txBox="1"/>
            <p:nvPr/>
          </p:nvSpPr>
          <p:spPr>
            <a:xfrm>
              <a:off x="720" y="2928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6273" name="Text Box 96272"/>
            <p:cNvSpPr txBox="1"/>
            <p:nvPr/>
          </p:nvSpPr>
          <p:spPr>
            <a:xfrm>
              <a:off x="1238" y="3749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6274" name="Text Box 96273"/>
            <p:cNvSpPr txBox="1"/>
            <p:nvPr/>
          </p:nvSpPr>
          <p:spPr>
            <a:xfrm>
              <a:off x="2832" y="2880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6275" name="Text Box 96274"/>
            <p:cNvSpPr txBox="1"/>
            <p:nvPr/>
          </p:nvSpPr>
          <p:spPr>
            <a:xfrm>
              <a:off x="2784" y="3648"/>
              <a:ext cx="3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3200">
                  <a:solidFill>
                    <a:schemeClr val="folHlink"/>
                  </a:solidFill>
                  <a:latin typeface="Tahoma" panose="020B0604030504040204" pitchFamily="34" charset="0"/>
                </a:rPr>
                <a:t>v</a:t>
              </a:r>
              <a:r>
                <a:rPr lang="en-US" altLang="zh-TW" sz="3200" baseline="-25000">
                  <a:solidFill>
                    <a:schemeClr val="folHlink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96276" name="Straight Connector 96275"/>
            <p:cNvSpPr/>
            <p:nvPr/>
          </p:nvSpPr>
          <p:spPr>
            <a:xfrm flipV="1">
              <a:off x="2640" y="3360"/>
              <a:ext cx="48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stealth" w="lg" len="lg"/>
              <a:tailEnd type="none" w="lg" len="lg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6277" name="Text Box 96276"/>
            <p:cNvSpPr txBox="1"/>
            <p:nvPr/>
          </p:nvSpPr>
          <p:spPr>
            <a:xfrm>
              <a:off x="1310" y="3104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96278" name="Text Box 96277"/>
            <p:cNvSpPr txBox="1"/>
            <p:nvPr/>
          </p:nvSpPr>
          <p:spPr>
            <a:xfrm>
              <a:off x="2249" y="2976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6279" name="Text Box 96278"/>
            <p:cNvSpPr txBox="1"/>
            <p:nvPr/>
          </p:nvSpPr>
          <p:spPr>
            <a:xfrm>
              <a:off x="2023" y="3384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6280" name="Text Box 96279"/>
            <p:cNvSpPr txBox="1"/>
            <p:nvPr/>
          </p:nvSpPr>
          <p:spPr>
            <a:xfrm>
              <a:off x="2567" y="3430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6281" name="Text Box 96280"/>
            <p:cNvSpPr txBox="1"/>
            <p:nvPr/>
          </p:nvSpPr>
          <p:spPr>
            <a:xfrm>
              <a:off x="2023" y="3656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96282" name="Text Box 96281"/>
            <p:cNvSpPr txBox="1"/>
            <p:nvPr/>
          </p:nvSpPr>
          <p:spPr>
            <a:xfrm>
              <a:off x="1705" y="3293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x-none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4</a:t>
              </a:r>
            </a:p>
          </p:txBody>
        </p:sp>
      </p:grpSp>
      <p:grpSp>
        <p:nvGrpSpPr>
          <p:cNvPr id="96283" name="Group 96282"/>
          <p:cNvGrpSpPr/>
          <p:nvPr/>
        </p:nvGrpSpPr>
        <p:grpSpPr>
          <a:xfrm>
            <a:off x="5562600" y="4800600"/>
            <a:ext cx="2692400" cy="457200"/>
            <a:chOff x="3976" y="3456"/>
            <a:chExt cx="1696" cy="288"/>
          </a:xfrm>
        </p:grpSpPr>
        <p:sp>
          <p:nvSpPr>
            <p:cNvPr id="96284" name="Text Box 96283"/>
            <p:cNvSpPr txBox="1"/>
            <p:nvPr/>
          </p:nvSpPr>
          <p:spPr>
            <a:xfrm>
              <a:off x="4416" y="3456"/>
              <a:ext cx="12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TW" sz="2400">
                  <a:solidFill>
                    <a:schemeClr val="folHlink"/>
                  </a:solidFill>
                  <a:latin typeface="Tahoma" panose="020B0604030504040204" pitchFamily="34" charset="0"/>
                </a:rPr>
                <a:t>Shortest Path</a:t>
              </a:r>
            </a:p>
          </p:txBody>
        </p:sp>
        <p:sp>
          <p:nvSpPr>
            <p:cNvPr id="96285" name="Straight Connector 96284"/>
            <p:cNvSpPr/>
            <p:nvPr/>
          </p:nvSpPr>
          <p:spPr>
            <a:xfrm flipH="1">
              <a:off x="3976" y="3600"/>
              <a:ext cx="440" cy="96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96286" name="Group 96285"/>
          <p:cNvGrpSpPr/>
          <p:nvPr/>
        </p:nvGrpSpPr>
        <p:grpSpPr>
          <a:xfrm>
            <a:off x="2971800" y="4648200"/>
            <a:ext cx="2362200" cy="838200"/>
            <a:chOff x="4224" y="3312"/>
            <a:chExt cx="1488" cy="528"/>
          </a:xfrm>
        </p:grpSpPr>
        <p:sp>
          <p:nvSpPr>
            <p:cNvPr id="96287" name="Straight Connector 96286"/>
            <p:cNvSpPr/>
            <p:nvPr/>
          </p:nvSpPr>
          <p:spPr>
            <a:xfrm flipH="1">
              <a:off x="4762" y="3360"/>
              <a:ext cx="816" cy="48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stealth" w="lg" len="lg"/>
              <a:tailEnd type="none" w="lg" len="lg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6288" name="Straight Connector 96287"/>
            <p:cNvSpPr/>
            <p:nvPr/>
          </p:nvSpPr>
          <p:spPr>
            <a:xfrm flipH="1">
              <a:off x="4714" y="3360"/>
              <a:ext cx="192" cy="384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6289" name="Straight Connector 96288"/>
            <p:cNvSpPr/>
            <p:nvPr/>
          </p:nvSpPr>
          <p:spPr>
            <a:xfrm flipV="1">
              <a:off x="4224" y="3312"/>
              <a:ext cx="624" cy="96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6290" name="Straight Connector 96289"/>
            <p:cNvSpPr/>
            <p:nvPr/>
          </p:nvSpPr>
          <p:spPr>
            <a:xfrm flipV="1">
              <a:off x="5664" y="3408"/>
              <a:ext cx="48" cy="432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miter/>
              <a:headEnd type="stealth" w="lg" len="lg"/>
              <a:tailEnd type="none" w="lg" len="lg"/>
            </a:ln>
          </p:spPr>
          <p:txBody>
            <a:bodyPr/>
            <a:lstStyle/>
            <a:p>
              <a:endParaRPr lang="LID4096"/>
            </a:p>
          </p:txBody>
        </p:sp>
      </p:grp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Formal definition of shortest path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102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97283" name="Text Placeholder 97282"/>
          <p:cNvSpPr>
            <a:spLocks noGrp="1"/>
          </p:cNvSpPr>
          <p:nvPr>
            <p:ph type="body" idx="1"/>
          </p:nvPr>
        </p:nvSpPr>
        <p:spPr>
          <a:xfrm>
            <a:off x="876300" y="1270000"/>
            <a:ext cx="8268335" cy="4521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Consider a graph G, each edge (u, v) has a weight w(u, v) &gt; 0.</a:t>
            </a:r>
          </a:p>
          <a:p>
            <a:pPr algn="just">
              <a:lnSpc>
                <a:spcPct val="90000"/>
              </a:lnSpc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Suppose we want to find the shortest path starting from v</a:t>
            </a:r>
            <a:r>
              <a:rPr lang="en-US" altLang="zh-TW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1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to any node v</a:t>
            </a:r>
            <a:r>
              <a:rPr lang="en-US" altLang="zh-TW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endParaRPr lang="en-US" altLang="zh-TW">
              <a:solidFill>
                <a:schemeClr val="accent1">
                  <a:lumMod val="50000"/>
                </a:schemeClr>
              </a:solidFill>
              <a:ea typeface="PMingLiU" pitchFamily="18" charset="-120"/>
            </a:endParaRPr>
          </a:p>
          <a:p>
            <a:pPr algn="just">
              <a:lnSpc>
                <a:spcPct val="90000"/>
              </a:lnSpc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Let VS be a subset of nodes in G</a:t>
            </a:r>
          </a:p>
          <a:p>
            <a:pPr algn="just">
              <a:lnSpc>
                <a:spcPct val="90000"/>
              </a:lnSpc>
            </a:pP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Let cost[v</a:t>
            </a:r>
            <a:r>
              <a:rPr lang="en-US" altLang="zh-TW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] be the weight of the shortest path from v</a:t>
            </a:r>
            <a:r>
              <a:rPr lang="en-US" altLang="zh-TW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1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to v</a:t>
            </a:r>
            <a:r>
              <a:rPr lang="en-US" altLang="zh-TW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that passes through nodes in VS only.</a:t>
            </a: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Dijkstra’s Algorithm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103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98307" name="Text Box 98306"/>
          <p:cNvSpPr txBox="1"/>
          <p:nvPr/>
        </p:nvSpPr>
        <p:spPr>
          <a:xfrm>
            <a:off x="3429000" y="15240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98308" name="Oval 98307"/>
          <p:cNvSpPr/>
          <p:nvPr/>
        </p:nvSpPr>
        <p:spPr>
          <a:xfrm>
            <a:off x="3978275" y="19812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8309" name="Oval 98308"/>
          <p:cNvSpPr/>
          <p:nvPr/>
        </p:nvSpPr>
        <p:spPr>
          <a:xfrm>
            <a:off x="5121275" y="20574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8310" name="Oval 98309"/>
          <p:cNvSpPr/>
          <p:nvPr/>
        </p:nvSpPr>
        <p:spPr>
          <a:xfrm>
            <a:off x="5045075" y="30480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8311" name="Oval 98310"/>
          <p:cNvSpPr/>
          <p:nvPr/>
        </p:nvSpPr>
        <p:spPr>
          <a:xfrm>
            <a:off x="3444875" y="28956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8312" name="Straight Connector 98311"/>
          <p:cNvSpPr/>
          <p:nvPr/>
        </p:nvSpPr>
        <p:spPr>
          <a:xfrm flipH="1" flipV="1">
            <a:off x="4359275" y="2133600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8313" name="Straight Connector 98312"/>
          <p:cNvSpPr/>
          <p:nvPr/>
        </p:nvSpPr>
        <p:spPr>
          <a:xfrm flipH="1" flipV="1">
            <a:off x="3825875" y="3048000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8314" name="Straight Connector 98313"/>
          <p:cNvSpPr/>
          <p:nvPr/>
        </p:nvSpPr>
        <p:spPr>
          <a:xfrm flipH="1">
            <a:off x="3825875" y="2286000"/>
            <a:ext cx="12954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8315" name="Straight Connector 98314"/>
          <p:cNvSpPr/>
          <p:nvPr/>
        </p:nvSpPr>
        <p:spPr>
          <a:xfrm flipH="1">
            <a:off x="3749675" y="2286000"/>
            <a:ext cx="3048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8316" name="Oval 98315"/>
          <p:cNvSpPr/>
          <p:nvPr/>
        </p:nvSpPr>
        <p:spPr>
          <a:xfrm>
            <a:off x="2590800" y="22098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>
              <a:latin typeface="Tahoma" panose="020B0604030504040204" pitchFamily="34" charset="0"/>
            </a:endParaRPr>
          </a:p>
        </p:txBody>
      </p:sp>
      <p:sp>
        <p:nvSpPr>
          <p:cNvPr id="98317" name="Straight Connector 98316"/>
          <p:cNvSpPr/>
          <p:nvPr/>
        </p:nvSpPr>
        <p:spPr>
          <a:xfrm flipV="1">
            <a:off x="2971800" y="2209800"/>
            <a:ext cx="990600" cy="1524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8318" name="Text Box 98317"/>
          <p:cNvSpPr txBox="1"/>
          <p:nvPr/>
        </p:nvSpPr>
        <p:spPr>
          <a:xfrm>
            <a:off x="2209800" y="1676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98319" name="Text Box 98318"/>
          <p:cNvSpPr txBox="1"/>
          <p:nvPr/>
        </p:nvSpPr>
        <p:spPr>
          <a:xfrm>
            <a:off x="3032125" y="29797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98320" name="Text Box 98319"/>
          <p:cNvSpPr txBox="1"/>
          <p:nvPr/>
        </p:nvSpPr>
        <p:spPr>
          <a:xfrm>
            <a:off x="5562600" y="16002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98321" name="Text Box 98320"/>
          <p:cNvSpPr txBox="1"/>
          <p:nvPr/>
        </p:nvSpPr>
        <p:spPr>
          <a:xfrm>
            <a:off x="5486400" y="2819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98322" name="Straight Connector 98321"/>
          <p:cNvSpPr/>
          <p:nvPr/>
        </p:nvSpPr>
        <p:spPr>
          <a:xfrm flipV="1">
            <a:off x="5257800" y="2362200"/>
            <a:ext cx="762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8323" name="Text Box 98322"/>
          <p:cNvSpPr txBox="1"/>
          <p:nvPr/>
        </p:nvSpPr>
        <p:spPr>
          <a:xfrm>
            <a:off x="3146425" y="195580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98324" name="Text Box 98323"/>
          <p:cNvSpPr txBox="1"/>
          <p:nvPr/>
        </p:nvSpPr>
        <p:spPr>
          <a:xfrm>
            <a:off x="4637088" y="17526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98325" name="Text Box 98324"/>
          <p:cNvSpPr txBox="1"/>
          <p:nvPr/>
        </p:nvSpPr>
        <p:spPr>
          <a:xfrm>
            <a:off x="4278313" y="24003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98326" name="Text Box 98325"/>
          <p:cNvSpPr txBox="1"/>
          <p:nvPr/>
        </p:nvSpPr>
        <p:spPr>
          <a:xfrm>
            <a:off x="5141913" y="2473325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98327" name="Text Box 98326"/>
          <p:cNvSpPr txBox="1"/>
          <p:nvPr/>
        </p:nvSpPr>
        <p:spPr>
          <a:xfrm>
            <a:off x="4278313" y="28321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98328" name="Text Box 98327"/>
          <p:cNvSpPr txBox="1"/>
          <p:nvPr/>
        </p:nvSpPr>
        <p:spPr>
          <a:xfrm>
            <a:off x="3773488" y="2255838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</a:p>
        </p:txBody>
      </p:sp>
      <p:graphicFrame>
        <p:nvGraphicFramePr>
          <p:cNvPr id="98401" name="Table 98400"/>
          <p:cNvGraphicFramePr/>
          <p:nvPr/>
        </p:nvGraphicFramePr>
        <p:xfrm>
          <a:off x="457200" y="3657600"/>
          <a:ext cx="8305800" cy="2538413"/>
        </p:xfrm>
        <a:graphic>
          <a:graphicData uri="http://schemas.openxmlformats.org/drawingml/2006/table">
            <a:tbl>
              <a:tblPr/>
              <a:tblGrid>
                <a:gridCol w="3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38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v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VS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3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4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5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1</a:t>
                      </a:r>
                      <a:endParaRPr lang="en-US" sz="1800">
                        <a:solidFill>
                          <a:schemeClr val="accent2"/>
                        </a:solidFill>
                        <a:ea typeface="PMingLiU" pitchFamily="18" charset="-12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baseline="-250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baseline="-250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baseline="-250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baseline="-250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Example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104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99331" name="Text Box 99330"/>
          <p:cNvSpPr txBox="1"/>
          <p:nvPr/>
        </p:nvSpPr>
        <p:spPr>
          <a:xfrm>
            <a:off x="3733800" y="13716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99332" name="Oval 99331"/>
          <p:cNvSpPr/>
          <p:nvPr/>
        </p:nvSpPr>
        <p:spPr>
          <a:xfrm>
            <a:off x="3825875" y="19812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9333" name="Oval 99332"/>
          <p:cNvSpPr/>
          <p:nvPr/>
        </p:nvSpPr>
        <p:spPr>
          <a:xfrm>
            <a:off x="4968875" y="20574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9334" name="Oval 99333"/>
          <p:cNvSpPr/>
          <p:nvPr/>
        </p:nvSpPr>
        <p:spPr>
          <a:xfrm>
            <a:off x="4892675" y="30480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9335" name="Oval 99334"/>
          <p:cNvSpPr/>
          <p:nvPr/>
        </p:nvSpPr>
        <p:spPr>
          <a:xfrm>
            <a:off x="3292475" y="28956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9336" name="Straight Connector 99335"/>
          <p:cNvSpPr/>
          <p:nvPr/>
        </p:nvSpPr>
        <p:spPr>
          <a:xfrm flipH="1" flipV="1">
            <a:off x="4206875" y="2133600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9337" name="Straight Connector 99336"/>
          <p:cNvSpPr/>
          <p:nvPr/>
        </p:nvSpPr>
        <p:spPr>
          <a:xfrm flipH="1" flipV="1">
            <a:off x="3673475" y="3048000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9338" name="Straight Connector 99337"/>
          <p:cNvSpPr/>
          <p:nvPr/>
        </p:nvSpPr>
        <p:spPr>
          <a:xfrm flipH="1">
            <a:off x="3673475" y="2286000"/>
            <a:ext cx="12954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9339" name="Straight Connector 99338"/>
          <p:cNvSpPr/>
          <p:nvPr/>
        </p:nvSpPr>
        <p:spPr>
          <a:xfrm flipH="1">
            <a:off x="3597275" y="2286000"/>
            <a:ext cx="304800" cy="6096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9340" name="Oval 99339"/>
          <p:cNvSpPr/>
          <p:nvPr/>
        </p:nvSpPr>
        <p:spPr>
          <a:xfrm>
            <a:off x="2438400" y="22098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 dirty="0">
              <a:latin typeface="Tahoma" panose="020B0604030504040204" pitchFamily="34" charset="0"/>
            </a:endParaRPr>
          </a:p>
        </p:txBody>
      </p:sp>
      <p:sp>
        <p:nvSpPr>
          <p:cNvPr id="99341" name="Straight Connector 99340"/>
          <p:cNvSpPr/>
          <p:nvPr/>
        </p:nvSpPr>
        <p:spPr>
          <a:xfrm flipV="1">
            <a:off x="2819400" y="2209800"/>
            <a:ext cx="990600" cy="1524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9342" name="Text Box 99341"/>
          <p:cNvSpPr txBox="1"/>
          <p:nvPr/>
        </p:nvSpPr>
        <p:spPr>
          <a:xfrm>
            <a:off x="2057400" y="1676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99343" name="Text Box 99342"/>
          <p:cNvSpPr txBox="1"/>
          <p:nvPr/>
        </p:nvSpPr>
        <p:spPr>
          <a:xfrm>
            <a:off x="2879725" y="29797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99344" name="Text Box 99343"/>
          <p:cNvSpPr txBox="1"/>
          <p:nvPr/>
        </p:nvSpPr>
        <p:spPr>
          <a:xfrm>
            <a:off x="5410200" y="16002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99345" name="Text Box 99344"/>
          <p:cNvSpPr txBox="1"/>
          <p:nvPr/>
        </p:nvSpPr>
        <p:spPr>
          <a:xfrm>
            <a:off x="5334000" y="2819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99346" name="Straight Connector 99345"/>
          <p:cNvSpPr/>
          <p:nvPr/>
        </p:nvSpPr>
        <p:spPr>
          <a:xfrm flipV="1">
            <a:off x="5105400" y="2362200"/>
            <a:ext cx="762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99347" name="Text Box 99346"/>
          <p:cNvSpPr txBox="1"/>
          <p:nvPr/>
        </p:nvSpPr>
        <p:spPr>
          <a:xfrm>
            <a:off x="2994025" y="195580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99348" name="Text Box 99347"/>
          <p:cNvSpPr txBox="1"/>
          <p:nvPr/>
        </p:nvSpPr>
        <p:spPr>
          <a:xfrm>
            <a:off x="4484688" y="17526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99349" name="Text Box 99348"/>
          <p:cNvSpPr txBox="1"/>
          <p:nvPr/>
        </p:nvSpPr>
        <p:spPr>
          <a:xfrm>
            <a:off x="4125913" y="24003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99350" name="Text Box 99349"/>
          <p:cNvSpPr txBox="1"/>
          <p:nvPr/>
        </p:nvSpPr>
        <p:spPr>
          <a:xfrm>
            <a:off x="4989513" y="2473325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99351" name="Text Box 99350"/>
          <p:cNvSpPr txBox="1"/>
          <p:nvPr/>
        </p:nvSpPr>
        <p:spPr>
          <a:xfrm>
            <a:off x="4125913" y="28321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99352" name="Text Box 99351"/>
          <p:cNvSpPr txBox="1"/>
          <p:nvPr/>
        </p:nvSpPr>
        <p:spPr>
          <a:xfrm>
            <a:off x="3621088" y="2255838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</a:p>
        </p:txBody>
      </p:sp>
      <p:graphicFrame>
        <p:nvGraphicFramePr>
          <p:cNvPr id="99425" name="Table 99424"/>
          <p:cNvGraphicFramePr/>
          <p:nvPr/>
        </p:nvGraphicFramePr>
        <p:xfrm>
          <a:off x="304800" y="3657600"/>
          <a:ext cx="8305800" cy="2538413"/>
        </p:xfrm>
        <a:graphic>
          <a:graphicData uri="http://schemas.openxmlformats.org/drawingml/2006/table">
            <a:tbl>
              <a:tblPr/>
              <a:tblGrid>
                <a:gridCol w="3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38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v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VS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3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4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5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1</a:t>
                      </a:r>
                      <a:endParaRPr lang="en-US" sz="1800">
                        <a:solidFill>
                          <a:schemeClr val="accent2"/>
                        </a:solidFill>
                        <a:ea typeface="PMingLiU" pitchFamily="18" charset="-12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2</a:t>
                      </a:r>
                      <a:endParaRPr lang="en-US" sz="1800">
                        <a:solidFill>
                          <a:schemeClr val="accent2"/>
                        </a:solidFill>
                        <a:ea typeface="PMingLiU" pitchFamily="18" charset="-12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1800" baseline="-250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2</a:t>
                      </a:r>
                      <a:endParaRPr lang="en-US" sz="1800" baseline="-25000">
                        <a:solidFill>
                          <a:schemeClr val="accent2"/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3300"/>
                          </a:solidFill>
                          <a:ea typeface="PMingLiU" pitchFamily="18" charset="-120"/>
                        </a:rPr>
                        <a:t>9</a:t>
                      </a:r>
                      <a:endParaRPr lang="en-US" sz="1800">
                        <a:solidFill>
                          <a:srgbClr val="FF3300"/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baseline="-250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baseline="-250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baseline="-250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Example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105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100355" name="Text Box 100354"/>
          <p:cNvSpPr txBox="1"/>
          <p:nvPr/>
        </p:nvSpPr>
        <p:spPr>
          <a:xfrm>
            <a:off x="3733800" y="13716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00356" name="Oval 100355"/>
          <p:cNvSpPr/>
          <p:nvPr/>
        </p:nvSpPr>
        <p:spPr>
          <a:xfrm>
            <a:off x="3825875" y="19812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357" name="Oval 100356"/>
          <p:cNvSpPr/>
          <p:nvPr/>
        </p:nvSpPr>
        <p:spPr>
          <a:xfrm>
            <a:off x="4968875" y="20574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358" name="Oval 100357"/>
          <p:cNvSpPr/>
          <p:nvPr/>
        </p:nvSpPr>
        <p:spPr>
          <a:xfrm>
            <a:off x="4892675" y="30480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359" name="Oval 100358"/>
          <p:cNvSpPr/>
          <p:nvPr/>
        </p:nvSpPr>
        <p:spPr>
          <a:xfrm>
            <a:off x="3292475" y="28956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360" name="Straight Connector 100359"/>
          <p:cNvSpPr/>
          <p:nvPr/>
        </p:nvSpPr>
        <p:spPr>
          <a:xfrm flipH="1" flipV="1">
            <a:off x="4206875" y="2133600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0361" name="Straight Connector 100360"/>
          <p:cNvSpPr/>
          <p:nvPr/>
        </p:nvSpPr>
        <p:spPr>
          <a:xfrm flipH="1" flipV="1">
            <a:off x="3673475" y="3048000"/>
            <a:ext cx="1219200" cy="1524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0362" name="Straight Connector 100361"/>
          <p:cNvSpPr/>
          <p:nvPr/>
        </p:nvSpPr>
        <p:spPr>
          <a:xfrm flipH="1">
            <a:off x="3673475" y="2286000"/>
            <a:ext cx="1295400" cy="7620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0363" name="Straight Connector 100362"/>
          <p:cNvSpPr/>
          <p:nvPr/>
        </p:nvSpPr>
        <p:spPr>
          <a:xfrm flipH="1">
            <a:off x="3597275" y="2286000"/>
            <a:ext cx="304800" cy="6096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0364" name="Oval 100363"/>
          <p:cNvSpPr/>
          <p:nvPr/>
        </p:nvSpPr>
        <p:spPr>
          <a:xfrm>
            <a:off x="2438400" y="22098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 dirty="0">
              <a:latin typeface="Tahoma" panose="020B0604030504040204" pitchFamily="34" charset="0"/>
            </a:endParaRPr>
          </a:p>
        </p:txBody>
      </p:sp>
      <p:sp>
        <p:nvSpPr>
          <p:cNvPr id="100365" name="Straight Connector 100364"/>
          <p:cNvSpPr/>
          <p:nvPr/>
        </p:nvSpPr>
        <p:spPr>
          <a:xfrm flipV="1">
            <a:off x="2819400" y="2209800"/>
            <a:ext cx="990600" cy="1524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0366" name="Text Box 100365"/>
          <p:cNvSpPr txBox="1"/>
          <p:nvPr/>
        </p:nvSpPr>
        <p:spPr>
          <a:xfrm>
            <a:off x="2057400" y="1676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00367" name="Text Box 100366"/>
          <p:cNvSpPr txBox="1"/>
          <p:nvPr/>
        </p:nvSpPr>
        <p:spPr>
          <a:xfrm>
            <a:off x="2879725" y="29797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00368" name="Text Box 100367"/>
          <p:cNvSpPr txBox="1"/>
          <p:nvPr/>
        </p:nvSpPr>
        <p:spPr>
          <a:xfrm>
            <a:off x="5410200" y="16002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00369" name="Text Box 100368"/>
          <p:cNvSpPr txBox="1"/>
          <p:nvPr/>
        </p:nvSpPr>
        <p:spPr>
          <a:xfrm>
            <a:off x="5334000" y="2819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folHlink"/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folHlink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00370" name="Straight Connector 100369"/>
          <p:cNvSpPr/>
          <p:nvPr/>
        </p:nvSpPr>
        <p:spPr>
          <a:xfrm flipV="1">
            <a:off x="5105400" y="2362200"/>
            <a:ext cx="762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0371" name="Text Box 100370"/>
          <p:cNvSpPr txBox="1"/>
          <p:nvPr/>
        </p:nvSpPr>
        <p:spPr>
          <a:xfrm>
            <a:off x="2994025" y="195580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00372" name="Text Box 100371"/>
          <p:cNvSpPr txBox="1"/>
          <p:nvPr/>
        </p:nvSpPr>
        <p:spPr>
          <a:xfrm>
            <a:off x="4484688" y="17526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00373" name="Text Box 100372"/>
          <p:cNvSpPr txBox="1"/>
          <p:nvPr/>
        </p:nvSpPr>
        <p:spPr>
          <a:xfrm>
            <a:off x="4125913" y="24003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00374" name="Text Box 100373"/>
          <p:cNvSpPr txBox="1"/>
          <p:nvPr/>
        </p:nvSpPr>
        <p:spPr>
          <a:xfrm>
            <a:off x="4989513" y="2473325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00375" name="Text Box 100374"/>
          <p:cNvSpPr txBox="1"/>
          <p:nvPr/>
        </p:nvSpPr>
        <p:spPr>
          <a:xfrm>
            <a:off x="4125913" y="28321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00376" name="Text Box 100375"/>
          <p:cNvSpPr txBox="1"/>
          <p:nvPr/>
        </p:nvSpPr>
        <p:spPr>
          <a:xfrm>
            <a:off x="3621088" y="2255838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folHlink"/>
                </a:solidFill>
                <a:latin typeface="Tahoma" panose="020B0604030504040204" pitchFamily="34" charset="0"/>
              </a:rPr>
              <a:t>4</a:t>
            </a:r>
          </a:p>
        </p:txBody>
      </p:sp>
      <p:graphicFrame>
        <p:nvGraphicFramePr>
          <p:cNvPr id="100449" name="Table 100448"/>
          <p:cNvGraphicFramePr/>
          <p:nvPr/>
        </p:nvGraphicFramePr>
        <p:xfrm>
          <a:off x="381000" y="3657600"/>
          <a:ext cx="8305800" cy="2538413"/>
        </p:xfrm>
        <a:graphic>
          <a:graphicData uri="http://schemas.openxmlformats.org/drawingml/2006/table">
            <a:tbl>
              <a:tblPr/>
              <a:tblGrid>
                <a:gridCol w="3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38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v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VS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3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4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ea typeface="PMingLiU" pitchFamily="18" charset="-120"/>
                        </a:rPr>
                        <a:t>5</a:t>
                      </a:r>
                      <a:r>
                        <a:rPr lang="en-US" altLang="zh-TW" sz="1800">
                          <a:ea typeface="PMingLiU" pitchFamily="18" charset="-120"/>
                        </a:rPr>
                        <a:t>]</a:t>
                      </a:r>
                      <a:endParaRPr lang="en-US" sz="1800"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1</a:t>
                      </a:r>
                      <a:endParaRPr lang="en-US" sz="1800">
                        <a:solidFill>
                          <a:schemeClr val="accent2"/>
                        </a:solidFill>
                        <a:ea typeface="PMingLiU" pitchFamily="18" charset="-12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2</a:t>
                      </a:r>
                      <a:endParaRPr lang="en-US" sz="1800">
                        <a:solidFill>
                          <a:schemeClr val="accent2"/>
                        </a:solidFill>
                        <a:ea typeface="PMingLiU" pitchFamily="18" charset="-12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1800" baseline="-250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2</a:t>
                      </a:r>
                      <a:endParaRPr lang="en-US" sz="1800" baseline="-25000">
                        <a:solidFill>
                          <a:schemeClr val="accent2"/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3</a:t>
                      </a:r>
                      <a:endParaRPr lang="en-US" sz="1800">
                        <a:solidFill>
                          <a:schemeClr val="accent2"/>
                        </a:solidFill>
                        <a:ea typeface="PMingLiU" pitchFamily="18" charset="-12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1800" baseline="-25000">
                          <a:solidFill>
                            <a:schemeClr val="accent2"/>
                          </a:solidFill>
                          <a:ea typeface="PMingLiU" pitchFamily="18" charset="-120"/>
                        </a:rPr>
                        <a:t>4</a:t>
                      </a:r>
                      <a:endParaRPr lang="en-US" sz="1800" baseline="-25000">
                        <a:solidFill>
                          <a:schemeClr val="accent2"/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3300"/>
                          </a:solidFill>
                          <a:ea typeface="PMingLiU" pitchFamily="18" charset="-120"/>
                        </a:rPr>
                        <a:t>12</a:t>
                      </a:r>
                      <a:endParaRPr lang="en-US" sz="1800">
                        <a:solidFill>
                          <a:srgbClr val="FF3300"/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3300"/>
                          </a:solidFill>
                          <a:ea typeface="PMingLiU" pitchFamily="18" charset="-120"/>
                        </a:rPr>
                        <a:t>17</a:t>
                      </a:r>
                      <a:endParaRPr lang="en-US" sz="1800">
                        <a:solidFill>
                          <a:srgbClr val="FF3300"/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baseline="-250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baseline="-250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folHlink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Example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106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101379" name="Text Box 101378"/>
          <p:cNvSpPr txBox="1"/>
          <p:nvPr/>
        </p:nvSpPr>
        <p:spPr>
          <a:xfrm>
            <a:off x="3733800" y="13716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01380" name="Oval 101379"/>
          <p:cNvSpPr/>
          <p:nvPr/>
        </p:nvSpPr>
        <p:spPr>
          <a:xfrm>
            <a:off x="3825875" y="19812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1381" name="Oval 101380"/>
          <p:cNvSpPr/>
          <p:nvPr/>
        </p:nvSpPr>
        <p:spPr>
          <a:xfrm>
            <a:off x="4968875" y="20574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1382" name="Oval 101381"/>
          <p:cNvSpPr/>
          <p:nvPr/>
        </p:nvSpPr>
        <p:spPr>
          <a:xfrm>
            <a:off x="4892675" y="30480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1383" name="Oval 101382"/>
          <p:cNvSpPr/>
          <p:nvPr/>
        </p:nvSpPr>
        <p:spPr>
          <a:xfrm>
            <a:off x="3292475" y="28956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1384" name="Straight Connector 101383"/>
          <p:cNvSpPr/>
          <p:nvPr/>
        </p:nvSpPr>
        <p:spPr>
          <a:xfrm flipH="1" flipV="1">
            <a:off x="4206875" y="2133600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1385" name="Straight Connector 101384"/>
          <p:cNvSpPr/>
          <p:nvPr/>
        </p:nvSpPr>
        <p:spPr>
          <a:xfrm flipH="1" flipV="1">
            <a:off x="3673475" y="3048000"/>
            <a:ext cx="1219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1386" name="Straight Connector 101385"/>
          <p:cNvSpPr/>
          <p:nvPr/>
        </p:nvSpPr>
        <p:spPr>
          <a:xfrm flipH="1">
            <a:off x="3673475" y="2286000"/>
            <a:ext cx="1295400" cy="7620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1387" name="Straight Connector 101386"/>
          <p:cNvSpPr/>
          <p:nvPr/>
        </p:nvSpPr>
        <p:spPr>
          <a:xfrm flipH="1">
            <a:off x="3597275" y="2286000"/>
            <a:ext cx="304800" cy="6096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1388" name="Oval 101387"/>
          <p:cNvSpPr/>
          <p:nvPr/>
        </p:nvSpPr>
        <p:spPr>
          <a:xfrm>
            <a:off x="2438400" y="2209800"/>
            <a:ext cx="392113" cy="34925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endParaRPr lang="en-US" altLang="x-none" sz="2400" dirty="0">
              <a:latin typeface="Tahoma" panose="020B0604030504040204" pitchFamily="34" charset="0"/>
            </a:endParaRPr>
          </a:p>
        </p:txBody>
      </p:sp>
      <p:sp>
        <p:nvSpPr>
          <p:cNvPr id="101389" name="Straight Connector 101388"/>
          <p:cNvSpPr/>
          <p:nvPr/>
        </p:nvSpPr>
        <p:spPr>
          <a:xfrm flipV="1">
            <a:off x="2819400" y="2209800"/>
            <a:ext cx="990600" cy="1524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stealth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1390" name="Text Box 101389"/>
          <p:cNvSpPr txBox="1"/>
          <p:nvPr/>
        </p:nvSpPr>
        <p:spPr>
          <a:xfrm>
            <a:off x="2057400" y="1676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01391" name="Text Box 101390"/>
          <p:cNvSpPr txBox="1"/>
          <p:nvPr/>
        </p:nvSpPr>
        <p:spPr>
          <a:xfrm>
            <a:off x="2879725" y="2979738"/>
            <a:ext cx="5334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01392" name="Text Box 101391"/>
          <p:cNvSpPr txBox="1"/>
          <p:nvPr/>
        </p:nvSpPr>
        <p:spPr>
          <a:xfrm>
            <a:off x="5394325" y="1826895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01393" name="Text Box 101392"/>
          <p:cNvSpPr txBox="1"/>
          <p:nvPr/>
        </p:nvSpPr>
        <p:spPr>
          <a:xfrm>
            <a:off x="5334000" y="2819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TW" sz="32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v</a:t>
            </a:r>
            <a:r>
              <a:rPr lang="en-US" altLang="zh-TW" sz="3200" baseline="-250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01394" name="Straight Connector 101393"/>
          <p:cNvSpPr/>
          <p:nvPr/>
        </p:nvSpPr>
        <p:spPr>
          <a:xfrm flipV="1">
            <a:off x="5105400" y="2362200"/>
            <a:ext cx="76200" cy="68580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miter/>
            <a:headEnd type="stealth" w="lg" len="lg"/>
            <a:tailEnd type="none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01395" name="Text Box 101394"/>
          <p:cNvSpPr txBox="1"/>
          <p:nvPr/>
        </p:nvSpPr>
        <p:spPr>
          <a:xfrm>
            <a:off x="3038475" y="1905000"/>
            <a:ext cx="35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01396" name="Text Box 101395"/>
          <p:cNvSpPr txBox="1"/>
          <p:nvPr/>
        </p:nvSpPr>
        <p:spPr>
          <a:xfrm>
            <a:off x="4484688" y="1752600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01397" name="Text Box 101396"/>
          <p:cNvSpPr txBox="1"/>
          <p:nvPr/>
        </p:nvSpPr>
        <p:spPr>
          <a:xfrm>
            <a:off x="4333558" y="2498725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01398" name="Text Box 101397"/>
          <p:cNvSpPr txBox="1"/>
          <p:nvPr/>
        </p:nvSpPr>
        <p:spPr>
          <a:xfrm>
            <a:off x="5189538" y="2498725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01399" name="Text Box 101398"/>
          <p:cNvSpPr txBox="1"/>
          <p:nvPr/>
        </p:nvSpPr>
        <p:spPr>
          <a:xfrm>
            <a:off x="4113213" y="3063875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01400" name="Text Box 101399"/>
          <p:cNvSpPr txBox="1"/>
          <p:nvPr/>
        </p:nvSpPr>
        <p:spPr>
          <a:xfrm>
            <a:off x="3381693" y="2285683"/>
            <a:ext cx="350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x-none" sz="240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4</a:t>
            </a:r>
          </a:p>
        </p:txBody>
      </p:sp>
      <p:graphicFrame>
        <p:nvGraphicFramePr>
          <p:cNvPr id="101481" name="Table 101480"/>
          <p:cNvGraphicFramePr/>
          <p:nvPr/>
        </p:nvGraphicFramePr>
        <p:xfrm>
          <a:off x="717550" y="3727450"/>
          <a:ext cx="8305800" cy="2538413"/>
        </p:xfrm>
        <a:graphic>
          <a:graphicData uri="http://schemas.openxmlformats.org/drawingml/2006/table">
            <a:tbl>
              <a:tblPr/>
              <a:tblGrid>
                <a:gridCol w="3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4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38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v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VS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4</a:t>
                      </a: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cost[v</a:t>
                      </a:r>
                      <a:r>
                        <a:rPr lang="en-US" altLang="zh-TW" sz="1800" baseline="-250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5</a:t>
                      </a:r>
                      <a:r>
                        <a:rPr lang="en-US" altLang="zh-TW" sz="1800">
                          <a:solidFill>
                            <a:srgbClr val="FFFF00"/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US" altLang="x-none" sz="18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x-none" sz="18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∞</a:t>
                      </a:r>
                      <a:endParaRPr lang="en-US" altLang="x-none" sz="1800">
                        <a:solidFill>
                          <a:schemeClr val="accent1">
                            <a:lumMod val="50000"/>
                          </a:schemeClr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17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16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[v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2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4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, 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3, 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v</a:t>
                      </a:r>
                      <a:r>
                        <a:rPr lang="en-US" altLang="zh-TW" sz="1800" baseline="-250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]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12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chemeClr val="accent1">
                              <a:lumMod val="50000"/>
                            </a:schemeClr>
                          </a:solidFill>
                          <a:ea typeface="PMingLiU" pitchFamily="18" charset="-120"/>
                        </a:rPr>
                        <a:t>9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TW" sz="1800">
                          <a:solidFill>
                            <a:srgbClr val="FF3300"/>
                          </a:solidFill>
                          <a:ea typeface="PMingLiU" pitchFamily="18" charset="-120"/>
                        </a:rPr>
                        <a:t>16</a:t>
                      </a:r>
                      <a:endParaRPr lang="en-US" sz="1800">
                        <a:solidFill>
                          <a:srgbClr val="FF3300"/>
                        </a:solidFill>
                        <a:ea typeface="PMingLiU" pitchFamily="18" charset="-12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Example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TW" altLang="en-US" dirty="0"/>
              <a:t>2025/11/25</a:t>
            </a:fld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x-none" dirty="0"/>
              <a:t>107</a:t>
            </a:fld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102403" name="Text Placeholder 1024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TW" sz="2000" b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Algorithm </a:t>
            </a:r>
            <a:r>
              <a:rPr lang="en-US" altLang="zh-TW" sz="2000" b="1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shortestPath</a:t>
            </a:r>
            <a:r>
              <a:rPr lang="en-US" altLang="zh-TW" sz="2000" b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()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n = number of nodes in the graph;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for i = 1 to n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cost[v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] = w(v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1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, 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VS = { 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1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};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for step = 2 to n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find the smallest cost[v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] s.t. 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is not in VS;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include 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to VS;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for (all nodes </a:t>
            </a:r>
            <a:r>
              <a:rPr lang="en-US" altLang="zh-TW" sz="2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v</a:t>
            </a:r>
            <a:r>
              <a:rPr lang="en-US" altLang="zh-TW" sz="2000" baseline="-25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j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 not in VS)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	if (</a:t>
            </a:r>
            <a:r>
              <a:rPr lang="en-US" altLang="zh-TW" sz="2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cost[v</a:t>
            </a:r>
            <a:r>
              <a:rPr lang="en-US" altLang="zh-TW" sz="2000" baseline="-25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j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] &gt; cost[v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] + w(v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, </a:t>
            </a:r>
            <a:r>
              <a:rPr lang="en-US" altLang="zh-TW" sz="2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v</a:t>
            </a:r>
            <a:r>
              <a:rPr lang="en-US" altLang="zh-TW" sz="2000" baseline="-25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j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))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		</a:t>
            </a:r>
            <a:r>
              <a:rPr lang="en-US" altLang="zh-TW" sz="2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cost[v</a:t>
            </a:r>
            <a:r>
              <a:rPr lang="en-US" altLang="zh-TW" sz="2000" baseline="-25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j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] = cost[v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] + w(v</a:t>
            </a:r>
            <a:r>
              <a:rPr lang="en-US" altLang="zh-TW" sz="2000" baseline="-25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i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, </a:t>
            </a:r>
            <a:r>
              <a:rPr lang="en-US" altLang="zh-TW" sz="2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v</a:t>
            </a:r>
            <a:r>
              <a:rPr lang="en-US" altLang="zh-TW" sz="2000" baseline="-25000" dirty="0" err="1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j</a:t>
            </a: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	}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>
                <a:solidFill>
                  <a:schemeClr val="accent1">
                    <a:lumMod val="50000"/>
                  </a:schemeClr>
                </a:solidFill>
                <a:ea typeface="PMingLiU" pitchFamily="18" charset="-120"/>
              </a:rPr>
              <a:t>}</a:t>
            </a: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Dijkstra’s Algorithm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009650" y="1168400"/>
            <a:ext cx="8134350" cy="45212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Consider the following adjacency list. The number in 2</a:t>
            </a:r>
            <a:r>
              <a:rPr lang="en-US" sz="2400" baseline="30000" dirty="0">
                <a:solidFill>
                  <a:schemeClr val="accent1">
                    <a:lumMod val="50000"/>
                  </a:schemeClr>
                </a:solidFill>
              </a:rPr>
              <a:t>nd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field represents the weight of corresponding edge.</a:t>
            </a:r>
          </a:p>
          <a:p>
            <a:pPr algn="just"/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Draw weighted graph using above adjacency list.</a:t>
            </a:r>
          </a:p>
          <a:p>
            <a:pPr algn="just"/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Traverse the graph using BFS starting from node “a”.</a:t>
            </a:r>
          </a:p>
          <a:p>
            <a:pPr algn="just"/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Find its Minimum Spanning Tree using Kruskal’s Algorithm.</a:t>
            </a:r>
          </a:p>
          <a:p>
            <a:pPr algn="just"/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Find shortest path from source “a” to all other vertices using Dijkstra’s algorithm.</a:t>
            </a:r>
          </a:p>
          <a:p>
            <a:pPr marL="0" indent="0">
              <a:buNone/>
            </a:pP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1ADA0-3BB4-460A-B7EB-C1A8DEAFE2E2}" type="slidenum">
              <a:rPr lang="en-US" smtClean="0"/>
              <a:t>108</a:t>
            </a:fld>
            <a:endParaRPr lang="en-US"/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Your Turn</a:t>
            </a:r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1496695" y="2084705"/>
          <a:ext cx="4952365" cy="206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099560" imgH="1615440" progId="Paint.Picture">
                  <p:embed/>
                </p:oleObj>
              </mc:Choice>
              <mc:Fallback>
                <p:oleObj r:id="rId5" imgW="4099560" imgH="1615440" progId="Paint.Picture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96695" y="2084705"/>
                        <a:ext cx="4952365" cy="2061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AutoShape 1026"/>
          <p:cNvSpPr>
            <a:spLocks noChangeArrowheads="1"/>
          </p:cNvSpPr>
          <p:nvPr/>
        </p:nvSpPr>
        <p:spPr bwMode="auto">
          <a:xfrm>
            <a:off x="949325" y="1341438"/>
            <a:ext cx="7712075" cy="4419600"/>
          </a:xfrm>
          <a:prstGeom prst="verticalScroll">
            <a:avLst>
              <a:gd name="adj" fmla="val 12500"/>
            </a:avLst>
          </a:prstGeom>
          <a:solidFill>
            <a:srgbClr val="00B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0659" name="Rectangle 1027"/>
          <p:cNvSpPr>
            <a:spLocks noChangeArrowheads="1"/>
          </p:cNvSpPr>
          <p:nvPr/>
        </p:nvSpPr>
        <p:spPr bwMode="auto">
          <a:xfrm>
            <a:off x="2019300" y="3124200"/>
            <a:ext cx="5883275" cy="11080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6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" charset="0"/>
                <a:ea typeface="PMingLiU" pitchFamily="18" charset="-120"/>
                <a:cs typeface="+mn-cs"/>
              </a:rPr>
              <a:t>CONCLUSION</a:t>
            </a:r>
          </a:p>
        </p:txBody>
      </p:sp>
      <p:pic>
        <p:nvPicPr>
          <p:cNvPr id="11268" name="Picture 3" descr="siide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5"/>
          <p:cNvSpPr>
            <a:spLocks noGrp="1"/>
          </p:cNvSpPr>
          <p:nvPr/>
        </p:nvSpPr>
        <p:spPr>
          <a:xfrm>
            <a:off x="152400" y="66675"/>
            <a:ext cx="8991600" cy="615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b="1" dirty="0">
              <a:solidFill>
                <a:srgbClr val="E5E5FF"/>
              </a:solidFill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PawisTemplate">
  <a:themeElements>
    <a:clrScheme name="PawisTemplate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awis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PawisTemplate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wisTemplate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wisTemplate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8F054C24C56045B24747200A570474" ma:contentTypeVersion="3" ma:contentTypeDescription="Create a new document." ma:contentTypeScope="" ma:versionID="6659872a9db82e5433bc61f5e330b941">
  <xsd:schema xmlns:xsd="http://www.w3.org/2001/XMLSchema" xmlns:xs="http://www.w3.org/2001/XMLSchema" xmlns:p="http://schemas.microsoft.com/office/2006/metadata/properties" xmlns:ns2="fbb113d8-a423-4c9e-8257-bae59865eaa2" targetNamespace="http://schemas.microsoft.com/office/2006/metadata/properties" ma:root="true" ma:fieldsID="8c79d49e9fff2e2b7aa0d234d221ce65" ns2:_="">
    <xsd:import namespace="fbb113d8-a423-4c9e-8257-bae59865ea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113d8-a423-4c9e-8257-bae59865ea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C6C780-0597-4293-A6A2-AE7BA578BDDE}"/>
</file>

<file path=customXml/itemProps2.xml><?xml version="1.0" encoding="utf-8"?>
<ds:datastoreItem xmlns:ds="http://schemas.openxmlformats.org/officeDocument/2006/customXml" ds:itemID="{3FC088DF-BCD5-4C87-AABD-C9E5759419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179B36-4F27-415F-B015-F3E283A43E8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2532</TotalTime>
  <Words>6701</Words>
  <Application>Microsoft Office PowerPoint</Application>
  <PresentationFormat>On-screen Show (4:3)</PresentationFormat>
  <Paragraphs>1976</Paragraphs>
  <Slides>109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109</vt:i4>
      </vt:variant>
    </vt:vector>
  </HeadingPairs>
  <TitlesOfParts>
    <vt:vector size="131" baseType="lpstr">
      <vt:lpstr>PMingLiU</vt:lpstr>
      <vt:lpstr>Arial</vt:lpstr>
      <vt:lpstr>Arial Black</vt:lpstr>
      <vt:lpstr>Calibri</vt:lpstr>
      <vt:lpstr>Calibri Light</vt:lpstr>
      <vt:lpstr>Cambria</vt:lpstr>
      <vt:lpstr>Cambria Math</vt:lpstr>
      <vt:lpstr>Constantia</vt:lpstr>
      <vt:lpstr>Courier New</vt:lpstr>
      <vt:lpstr>Garamond</vt:lpstr>
      <vt:lpstr>Symbol</vt:lpstr>
      <vt:lpstr>Tahoma</vt:lpstr>
      <vt:lpstr>Times</vt:lpstr>
      <vt:lpstr>Times New Roman</vt:lpstr>
      <vt:lpstr>Wingdings</vt:lpstr>
      <vt:lpstr>PawisTemplate</vt:lpstr>
      <vt:lpstr>Custom Design</vt:lpstr>
      <vt:lpstr>1_Custom Design</vt:lpstr>
      <vt:lpstr>2_Custom Design</vt:lpstr>
      <vt:lpstr>Bitmap Image</vt:lpstr>
      <vt:lpstr>Visio</vt:lpstr>
      <vt:lpstr>CorelDRAW.Graphic.10</vt:lpstr>
      <vt:lpstr>    Data Structure (and Algorithm)</vt:lpstr>
      <vt:lpstr>PowerPoint Presentation</vt:lpstr>
      <vt:lpstr>PowerPoint Presentation</vt:lpstr>
      <vt:lpstr>PowerPoint Presentation</vt:lpstr>
      <vt:lpstr>Graph Terminology</vt:lpstr>
      <vt:lpstr>Definitions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Adjacency matrix of undirected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Graphs: Traversals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Iterative DFS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Graphs: SPANNING TREE</vt:lpstr>
      <vt:lpstr>Motivation </vt:lpstr>
      <vt:lpstr>Reduction of data size </vt:lpstr>
      <vt:lpstr>Spanning Tree </vt:lpstr>
      <vt:lpstr>Spanning Tree </vt:lpstr>
      <vt:lpstr>An other Example</vt:lpstr>
      <vt:lpstr>Solution</vt:lpstr>
      <vt:lpstr>Solution</vt:lpstr>
      <vt:lpstr>Weighted graph</vt:lpstr>
      <vt:lpstr>Minimum Spanning Tree?</vt:lpstr>
      <vt:lpstr>Example</vt:lpstr>
      <vt:lpstr>Solution</vt:lpstr>
      <vt:lpstr>Greedy approach</vt:lpstr>
      <vt:lpstr>Cutting Edge </vt:lpstr>
      <vt:lpstr>Growing Edge </vt:lpstr>
      <vt:lpstr>Growing Edge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Graphs: SHORTEST PATH</vt:lpstr>
      <vt:lpstr>Single-Source Shortest Path Problem </vt:lpstr>
      <vt:lpstr>Applications</vt:lpstr>
      <vt:lpstr>Dijkstra's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Presentation template</dc:title>
  <dc:creator>madani</dc:creator>
  <cp:lastModifiedBy>Atique Ahmad Zafar</cp:lastModifiedBy>
  <cp:revision>1249</cp:revision>
  <dcterms:created xsi:type="dcterms:W3CDTF">2007-01-29T15:54:00Z</dcterms:created>
  <dcterms:modified xsi:type="dcterms:W3CDTF">2025-11-25T08:48:39Z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  <property fmtid="{D5CDD505-2E9C-101B-9397-08002B2CF9AE}" pid="3" name="ICV">
    <vt:lpwstr>D2A721D23B5E48CC936067F7E6544CA3_12</vt:lpwstr>
  </property>
  <property fmtid="{D5CDD505-2E9C-101B-9397-08002B2CF9AE}" pid="4" name="KSOProductBuildVer">
    <vt:lpwstr>1033-12.2.0.16909</vt:lpwstr>
  </property>
  <property fmtid="{D5CDD505-2E9C-101B-9397-08002B2CF9AE}" pid="5" name="ContentTypeId">
    <vt:lpwstr>0x010100408F054C24C56045B24747200A570474</vt:lpwstr>
  </property>
</Properties>
</file>