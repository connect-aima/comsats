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25"/>
  </p:notesMasterIdLst>
  <p:sldIdLst>
    <p:sldId id="256" r:id="rId4"/>
    <p:sldId id="257" r:id="rId5"/>
    <p:sldId id="258" r:id="rId6"/>
    <p:sldId id="259" r:id="rId7"/>
    <p:sldId id="260" r:id="rId8"/>
    <p:sldId id="261" r:id="rId9"/>
    <p:sldId id="262" r:id="rId10"/>
    <p:sldId id="266" r:id="rId11"/>
    <p:sldId id="263" r:id="rId12"/>
    <p:sldId id="264" r:id="rId13"/>
    <p:sldId id="265" r:id="rId14"/>
    <p:sldId id="267" r:id="rId15"/>
    <p:sldId id="268" r:id="rId16"/>
    <p:sldId id="269" r:id="rId17"/>
    <p:sldId id="270" r:id="rId18"/>
    <p:sldId id="271" r:id="rId19"/>
    <p:sldId id="272" r:id="rId20"/>
    <p:sldId id="273" r:id="rId21"/>
    <p:sldId id="274" r:id="rId22"/>
    <p:sldId id="275"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64A9B4-8238-4298-A468-7C14A3F32EDE}" v="13" dt="2025-09-05T09:16:45.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627"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customXml" Target="../customXml/item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33"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ustomXml" Target="../customXml/item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ique Ahmad Zafar" userId="3c3190ae-5c8d-4775-903c-57da784da929" providerId="ADAL" clId="{FDA3D10F-A405-4F67-9390-1B016CBB2367}"/>
    <pc:docChg chg="undo custSel modSld">
      <pc:chgData name="Atique Ahmad Zafar" userId="3c3190ae-5c8d-4775-903c-57da784da929" providerId="ADAL" clId="{FDA3D10F-A405-4F67-9390-1B016CBB2367}" dt="2025-02-12T03:32:31.877" v="19" actId="20577"/>
      <pc:docMkLst>
        <pc:docMk/>
      </pc:docMkLst>
      <pc:sldChg chg="modSp mod">
        <pc:chgData name="Atique Ahmad Zafar" userId="3c3190ae-5c8d-4775-903c-57da784da929" providerId="ADAL" clId="{FDA3D10F-A405-4F67-9390-1B016CBB2367}" dt="2025-02-12T03:32:31.877" v="19" actId="20577"/>
        <pc:sldMkLst>
          <pc:docMk/>
          <pc:sldMk cId="0" sldId="258"/>
        </pc:sldMkLst>
      </pc:sldChg>
    </pc:docChg>
  </pc:docChgLst>
  <pc:docChgLst>
    <pc:chgData name="Atique Ahmad Zafar" userId="3c3190ae-5c8d-4775-903c-57da784da929" providerId="ADAL" clId="{939B054C-F8A9-4478-8F2C-9BA32CC365B5}"/>
    <pc:docChg chg="undo custSel addSld delSld modSld">
      <pc:chgData name="Atique Ahmad Zafar" userId="3c3190ae-5c8d-4775-903c-57da784da929" providerId="ADAL" clId="{939B054C-F8A9-4478-8F2C-9BA32CC365B5}" dt="2025-09-05T09:17:48.099" v="81" actId="47"/>
      <pc:docMkLst>
        <pc:docMk/>
      </pc:docMkLst>
      <pc:sldChg chg="modSp mod">
        <pc:chgData name="Atique Ahmad Zafar" userId="3c3190ae-5c8d-4775-903c-57da784da929" providerId="ADAL" clId="{939B054C-F8A9-4478-8F2C-9BA32CC365B5}" dt="2025-09-05T08:56:07.975" v="0" actId="27636"/>
        <pc:sldMkLst>
          <pc:docMk/>
          <pc:sldMk cId="0" sldId="260"/>
        </pc:sldMkLst>
        <pc:spChg chg="mod">
          <ac:chgData name="Atique Ahmad Zafar" userId="3c3190ae-5c8d-4775-903c-57da784da929" providerId="ADAL" clId="{939B054C-F8A9-4478-8F2C-9BA32CC365B5}" dt="2025-09-05T08:56:07.975" v="0" actId="27636"/>
          <ac:spMkLst>
            <pc:docMk/>
            <pc:sldMk cId="0" sldId="260"/>
            <ac:spMk id="5" creationId="{00000000-0000-0000-0000-000000000000}"/>
          </ac:spMkLst>
        </pc:spChg>
      </pc:sldChg>
      <pc:sldChg chg="modSp new del mod">
        <pc:chgData name="Atique Ahmad Zafar" userId="3c3190ae-5c8d-4775-903c-57da784da929" providerId="ADAL" clId="{939B054C-F8A9-4478-8F2C-9BA32CC365B5}" dt="2025-09-05T09:17:48.099" v="81" actId="47"/>
        <pc:sldMkLst>
          <pc:docMk/>
          <pc:sldMk cId="355028922" sldId="276"/>
        </pc:sldMkLst>
        <pc:spChg chg="mod">
          <ac:chgData name="Atique Ahmad Zafar" userId="3c3190ae-5c8d-4775-903c-57da784da929" providerId="ADAL" clId="{939B054C-F8A9-4478-8F2C-9BA32CC365B5}" dt="2025-09-05T09:14:13.724" v="33" actId="20577"/>
          <ac:spMkLst>
            <pc:docMk/>
            <pc:sldMk cId="355028922" sldId="276"/>
            <ac:spMk id="4" creationId="{F14E5113-49D5-AB9A-F4AC-5344B09AC352}"/>
          </ac:spMkLst>
        </pc:spChg>
      </pc:sldChg>
      <pc:sldChg chg="new del">
        <pc:chgData name="Atique Ahmad Zafar" userId="3c3190ae-5c8d-4775-903c-57da784da929" providerId="ADAL" clId="{939B054C-F8A9-4478-8F2C-9BA32CC365B5}" dt="2025-09-05T09:13:35.901" v="2" actId="680"/>
        <pc:sldMkLst>
          <pc:docMk/>
          <pc:sldMk cId="1475467725" sldId="276"/>
        </pc:sldMkLst>
      </pc:sldChg>
      <pc:sldChg chg="modSp new mod">
        <pc:chgData name="Atique Ahmad Zafar" userId="3c3190ae-5c8d-4775-903c-57da784da929" providerId="ADAL" clId="{939B054C-F8A9-4478-8F2C-9BA32CC365B5}" dt="2025-09-05T09:17:02.915" v="80" actId="14100"/>
        <pc:sldMkLst>
          <pc:docMk/>
          <pc:sldMk cId="2915837136" sldId="277"/>
        </pc:sldMkLst>
        <pc:spChg chg="mod">
          <ac:chgData name="Atique Ahmad Zafar" userId="3c3190ae-5c8d-4775-903c-57da784da929" providerId="ADAL" clId="{939B054C-F8A9-4478-8F2C-9BA32CC365B5}" dt="2025-09-05T09:14:55.380" v="36"/>
          <ac:spMkLst>
            <pc:docMk/>
            <pc:sldMk cId="2915837136" sldId="277"/>
            <ac:spMk id="2" creationId="{4951C1DA-0F2D-71FE-9F2D-C569061C4747}"/>
          </ac:spMkLst>
        </pc:spChg>
        <pc:spChg chg="mod">
          <ac:chgData name="Atique Ahmad Zafar" userId="3c3190ae-5c8d-4775-903c-57da784da929" providerId="ADAL" clId="{939B054C-F8A9-4478-8F2C-9BA32CC365B5}" dt="2025-09-05T09:15:13.428" v="37"/>
          <ac:spMkLst>
            <pc:docMk/>
            <pc:sldMk cId="2915837136" sldId="277"/>
            <ac:spMk id="3" creationId="{62CE68A9-A031-67A0-740E-9CF4013BFBB1}"/>
          </ac:spMkLst>
        </pc:spChg>
        <pc:spChg chg="mod">
          <ac:chgData name="Atique Ahmad Zafar" userId="3c3190ae-5c8d-4775-903c-57da784da929" providerId="ADAL" clId="{939B054C-F8A9-4478-8F2C-9BA32CC365B5}" dt="2025-09-05T09:16:18.389" v="76" actId="27636"/>
          <ac:spMkLst>
            <pc:docMk/>
            <pc:sldMk cId="2915837136" sldId="277"/>
            <ac:spMk id="4" creationId="{75E21CE8-B436-3C67-A6FD-32B011457BB1}"/>
          </ac:spMkLst>
        </pc:spChg>
        <pc:spChg chg="mod">
          <ac:chgData name="Atique Ahmad Zafar" userId="3c3190ae-5c8d-4775-903c-57da784da929" providerId="ADAL" clId="{939B054C-F8A9-4478-8F2C-9BA32CC365B5}" dt="2025-09-05T09:15:59.530" v="74" actId="6549"/>
          <ac:spMkLst>
            <pc:docMk/>
            <pc:sldMk cId="2915837136" sldId="277"/>
            <ac:spMk id="6" creationId="{5F91330A-55AB-AC84-4DE9-EF79D332BC02}"/>
          </ac:spMkLst>
        </pc:spChg>
        <pc:spChg chg="mod">
          <ac:chgData name="Atique Ahmad Zafar" userId="3c3190ae-5c8d-4775-903c-57da784da929" providerId="ADAL" clId="{939B054C-F8A9-4478-8F2C-9BA32CC365B5}" dt="2025-09-05T09:17:02.915" v="80" actId="14100"/>
          <ac:spMkLst>
            <pc:docMk/>
            <pc:sldMk cId="2915837136" sldId="277"/>
            <ac:spMk id="7" creationId="{C61AAD1A-08BE-4DFF-CFD7-3A646B5FE8F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9/5/2025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int n = </a:t>
            </a:r>
            <a:r>
              <a:rPr lang="en-US" dirty="0" err="1"/>
              <a:t>sizeof</a:t>
            </a:r>
            <a:r>
              <a:rPr lang="en-US" dirty="0"/>
              <a:t>(</a:t>
            </a:r>
            <a:r>
              <a:rPr lang="en-US" dirty="0" err="1"/>
              <a:t>arr</a:t>
            </a:r>
            <a:r>
              <a:rPr lang="en-US" dirty="0"/>
              <a:t>) / </a:t>
            </a:r>
            <a:r>
              <a:rPr lang="en-US" dirty="0" err="1"/>
              <a:t>sizeof</a:t>
            </a:r>
            <a:r>
              <a:rPr lang="en-US" dirty="0"/>
              <a:t>(</a:t>
            </a:r>
            <a:r>
              <a:rPr lang="en-US" dirty="0" err="1"/>
              <a:t>arr</a:t>
            </a:r>
            <a:r>
              <a:rPr lang="en-US" dirty="0"/>
              <a:t>[0]);</a:t>
            </a:r>
          </a:p>
        </p:txBody>
      </p:sp>
      <p:sp>
        <p:nvSpPr>
          <p:cNvPr id="4" name="Slide Number Placeholder 3"/>
          <p:cNvSpPr>
            <a:spLocks noGrp="1"/>
          </p:cNvSpPr>
          <p:nvPr>
            <p:ph type="sldNum" sz="quarter" idx="10"/>
          </p:nvPr>
        </p:nvSpPr>
        <p:spPr/>
        <p:txBody>
          <a:bodyPr/>
          <a:lstStyle/>
          <a:p>
            <a:fld id="{29ED50B0-D53F-4459-8D78-0CE7DA098017}" type="slidenum">
              <a:rPr lang="en-US" smtClean="0"/>
              <a:pPr/>
              <a:t>14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comsats.org.pk/images/images_r01_c01.jpg"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defRPr/>
            </a:lvl1pPr>
          </a:lstStyle>
          <a:p>
            <a:r>
              <a:rPr lang="en-US" dirty="0"/>
              <a:t>Algorithm and Data Structure </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pic>
        <p:nvPicPr>
          <p:cNvPr id="11265" name="Picture 1" descr="http://www.comsats.org.pk/images/images_r01_c01.jpg"/>
          <p:cNvPicPr>
            <a:picLocks noChangeAspect="1" noChangeArrowheads="1"/>
          </p:cNvPicPr>
          <p:nvPr userDrawn="1"/>
        </p:nvPicPr>
        <p:blipFill>
          <a:blip r:embed="rId2" r:link="rId3"/>
          <a:srcRect/>
          <a:stretch>
            <a:fillRect/>
          </a:stretch>
        </p:blipFill>
        <p:spPr bwMode="auto">
          <a:xfrm>
            <a:off x="0" y="0"/>
            <a:ext cx="914400" cy="952500"/>
          </a:xfrm>
          <a:prstGeom prst="rect">
            <a:avLst/>
          </a:prstGeom>
          <a:noFill/>
        </p:spPr>
      </p:pic>
      <p:sp>
        <p:nvSpPr>
          <p:cNvPr id="14" name="Rectangle 13"/>
          <p:cNvSpPr/>
          <p:nvPr userDrawn="1"/>
        </p:nvSpPr>
        <p:spPr>
          <a:xfrm>
            <a:off x="990600" y="228600"/>
            <a:ext cx="7689926" cy="461665"/>
          </a:xfrm>
          <a:prstGeom prst="rect">
            <a:avLst/>
          </a:prstGeom>
          <a:noFill/>
        </p:spPr>
        <p:txBody>
          <a:bodyPr wrap="none" lIns="91440" tIns="45720" rIns="91440" bIns="45720">
            <a:spAutoFit/>
          </a:bodyPr>
          <a:lstStyle/>
          <a:p>
            <a:pPr algn="ctr"/>
            <a:r>
              <a:rPr kumimoji="0" lang="en-US" sz="2400" b="1" u="sng" kern="1200" cap="none" spc="0" dirty="0">
                <a:ln w="18000">
                  <a:solidFill>
                    <a:schemeClr val="accent2">
                      <a:satMod val="140000"/>
                    </a:schemeClr>
                  </a:solidFill>
                  <a:prstDash val="solid"/>
                  <a:miter lim="800000"/>
                </a:ln>
                <a:solidFill>
                  <a:schemeClr val="accent2">
                    <a:lumMod val="50000"/>
                  </a:schemeClr>
                </a:solidFill>
                <a:effectLst/>
                <a:latin typeface="+mj-lt"/>
                <a:ea typeface="+mj-ea"/>
                <a:cs typeface="+mj-cs"/>
              </a:rPr>
              <a:t>COMSATS Institute of Information Technology</a:t>
            </a:r>
            <a:endParaRPr lang="en-US" sz="2400" b="1" u="sng" cap="none" spc="0" dirty="0">
              <a:ln w="18000">
                <a:solidFill>
                  <a:schemeClr val="accent2">
                    <a:satMod val="140000"/>
                  </a:schemeClr>
                </a:solidFill>
                <a:prstDash val="solid"/>
                <a:miter lim="800000"/>
              </a:ln>
              <a:solidFill>
                <a:schemeClr val="accent2">
                  <a:lumMod val="50000"/>
                </a:schemeClr>
              </a:solidFill>
              <a:effectLst/>
            </a:endParaRP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2133600"/>
            <a:ext cx="6858000" cy="1371600"/>
          </a:xfrm>
          <a:prstGeom prst="rect">
            <a:avLst/>
          </a:prstGeom>
        </p:spPr>
        <p:txBody>
          <a:bodyPr vert="horz" anchor="t" anchorCtr="0">
            <a:normAutofit/>
          </a:bodyPr>
          <a:lstStyle>
            <a:lvl1pPr algn="r">
              <a:defRPr sz="3200">
                <a:solidFill>
                  <a:schemeClr val="tx1"/>
                </a:solidFill>
              </a:defRPr>
            </a:lvl1pPr>
          </a:lstStyle>
          <a:p>
            <a:r>
              <a:rPr kumimoji="0" lang="en-US" sz="3200" b="0" i="0" u="none" strike="noStrike" kern="1200" cap="none" spc="0" normalizeH="0" baseline="0" noProof="0" dirty="0">
                <a:ln>
                  <a:noFill/>
                </a:ln>
                <a:solidFill>
                  <a:schemeClr val="tx1"/>
                </a:solidFill>
                <a:effectLst/>
                <a:uLnTx/>
                <a:uFillTx/>
                <a:latin typeface="+mj-lt"/>
                <a:ea typeface="+mj-ea"/>
                <a:cs typeface="+mj-cs"/>
              </a:rPr>
              <a:t>Algorithm and Data Structure</a:t>
            </a:r>
          </a:p>
          <a:p>
            <a:r>
              <a:rPr kumimoji="0" lang="en-US" sz="3200" b="0" i="0" u="none" strike="noStrike" kern="1200" cap="none" spc="0" normalizeH="0" baseline="0" noProof="0" dirty="0">
                <a:ln>
                  <a:noFill/>
                </a:ln>
                <a:solidFill>
                  <a:schemeClr val="tx1"/>
                </a:solidFill>
                <a:effectLst/>
                <a:uLnTx/>
                <a:uFillTx/>
                <a:latin typeface="+mj-lt"/>
                <a:ea typeface="+mj-ea"/>
                <a:cs typeface="+mj-cs"/>
              </a:rPr>
              <a:t>(CSC-211)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Lists using Array</a:t>
            </a:r>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a:t>
            </a:r>
          </a:p>
        </p:txBody>
      </p:sp>
      <p:sp>
        <p:nvSpPr>
          <p:cNvPr id="4" name="Slide Number Placeholder 3"/>
          <p:cNvSpPr>
            <a:spLocks noGrp="1"/>
          </p:cNvSpPr>
          <p:nvPr>
            <p:ph type="sldNum" sz="quarter" idx="12"/>
          </p:nvPr>
        </p:nvSpPr>
        <p:spPr/>
        <p:txBody>
          <a:bodyPr/>
          <a:lstStyle/>
          <a:p>
            <a:fld id="{4B084175-AE3F-4F83-9362-C827856E231F}" type="slidenum">
              <a:rPr lang="en-US" smtClean="0"/>
              <a:pPr/>
              <a:t>2</a:t>
            </a:fld>
            <a:endParaRPr lang="en-US" dirty="0"/>
          </a:p>
        </p:txBody>
      </p:sp>
      <p:sp>
        <p:nvSpPr>
          <p:cNvPr id="5" name="Content Placeholder 4"/>
          <p:cNvSpPr>
            <a:spLocks noGrp="1"/>
          </p:cNvSpPr>
          <p:nvPr>
            <p:ph sz="quarter" idx="1"/>
          </p:nvPr>
        </p:nvSpPr>
        <p:spPr/>
        <p:txBody>
          <a:bodyPr>
            <a:normAutofit/>
          </a:bodyPr>
          <a:lstStyle/>
          <a:p>
            <a:r>
              <a:rPr lang="en-US" dirty="0"/>
              <a:t>Suppose we wish to arrange the percentage marks obtained by 100 students in ascending order</a:t>
            </a:r>
          </a:p>
          <a:p>
            <a:r>
              <a:rPr lang="en-US" dirty="0"/>
              <a:t>In such a case we have two options to store these marks in memory:</a:t>
            </a:r>
          </a:p>
          <a:p>
            <a:pPr lvl="1">
              <a:buNone/>
            </a:pPr>
            <a:r>
              <a:rPr lang="en-US" dirty="0"/>
              <a:t>(a) Construct 100 variables to store percentage marks obtained by 100 different students, i.e. each variable containing one student’s marks</a:t>
            </a:r>
          </a:p>
          <a:p>
            <a:pPr lvl="1">
              <a:buNone/>
            </a:pPr>
            <a:r>
              <a:rPr lang="en-US" dirty="0"/>
              <a:t>(b) Construct one variable (called array or subscripted variable) capable of storing or holding all the hundred values</a:t>
            </a:r>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Why Array</a:t>
            </a:r>
          </a:p>
        </p:txBody>
      </p:sp>
      <p:sp>
        <p:nvSpPr>
          <p:cNvPr id="4" name="Slide Number Placeholder 3"/>
          <p:cNvSpPr>
            <a:spLocks noGrp="1"/>
          </p:cNvSpPr>
          <p:nvPr>
            <p:ph type="sldNum" sz="quarter" idx="12"/>
          </p:nvPr>
        </p:nvSpPr>
        <p:spPr/>
        <p:txBody>
          <a:bodyPr/>
          <a:lstStyle/>
          <a:p>
            <a:fld id="{4B084175-AE3F-4F83-9362-C827856E231F}" type="slidenum">
              <a:rPr lang="en-US" smtClean="0"/>
              <a:pPr/>
              <a:t>3</a:t>
            </a:fld>
            <a:endParaRPr lang="en-US" dirty="0"/>
          </a:p>
        </p:txBody>
      </p:sp>
      <p:sp>
        <p:nvSpPr>
          <p:cNvPr id="5" name="Content Placeholder 4"/>
          <p:cNvSpPr>
            <a:spLocks noGrp="1"/>
          </p:cNvSpPr>
          <p:nvPr>
            <p:ph sz="quarter" idx="1"/>
          </p:nvPr>
        </p:nvSpPr>
        <p:spPr/>
        <p:txBody>
          <a:bodyPr/>
          <a:lstStyle/>
          <a:p>
            <a:r>
              <a:rPr lang="en-US" dirty="0"/>
              <a:t>Obviously, the second alternative is better. A simple reason for this is, it would be much easier to handle one variable than handling 100 different variables</a:t>
            </a:r>
          </a:p>
          <a:p>
            <a:r>
              <a:rPr lang="en-US" dirty="0"/>
              <a:t>Moreover, there are certain logics that cannot be dealt with, without the use of an array</a:t>
            </a:r>
          </a:p>
          <a:p>
            <a:pPr lvl="1"/>
            <a:r>
              <a:rPr lang="en-US" dirty="0"/>
              <a:t>Sorting a Collection of Data</a:t>
            </a:r>
          </a:p>
          <a:p>
            <a:pPr lvl="1"/>
            <a:r>
              <a:rPr lang="en-US" dirty="0"/>
              <a:t>Implementing a Stack or Queue</a:t>
            </a:r>
          </a:p>
          <a:p>
            <a:pPr lvl="1"/>
            <a:r>
              <a:rPr lang="en-US" dirty="0"/>
              <a:t>Matrix Operations (2D Arrays are Necessary)</a:t>
            </a:r>
          </a:p>
          <a:p>
            <a:pPr lvl="1"/>
            <a:r>
              <a:rPr lang="en-US" dirty="0"/>
              <a:t>Implementing a Stack or Queue</a:t>
            </a:r>
          </a:p>
          <a:p>
            <a:r>
              <a:rPr lang="en-US" dirty="0"/>
              <a:t>Based on the above facts, we can define array as:</a:t>
            </a:r>
          </a:p>
          <a:p>
            <a:pPr lvl="1"/>
            <a:r>
              <a:rPr lang="en-US" dirty="0"/>
              <a:t>“A collective name given to a group of ‘similar quantities’”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4B084175-AE3F-4F83-9362-C827856E231F}" type="slidenum">
              <a:rPr lang="en-US" smtClean="0"/>
              <a:pPr/>
              <a:t>4</a:t>
            </a:fld>
            <a:endParaRPr lang="en-US" dirty="0"/>
          </a:p>
        </p:txBody>
      </p:sp>
      <p:sp>
        <p:nvSpPr>
          <p:cNvPr id="5" name="Content Placeholder 4"/>
          <p:cNvSpPr>
            <a:spLocks noGrp="1"/>
          </p:cNvSpPr>
          <p:nvPr>
            <p:ph sz="quarter" idx="1"/>
          </p:nvPr>
        </p:nvSpPr>
        <p:spPr/>
        <p:txBody>
          <a:bodyPr/>
          <a:lstStyle/>
          <a:p>
            <a:r>
              <a:rPr lang="en-US" dirty="0"/>
              <a:t>These similar quantities could be percentage marks of 100 students, or salaries of 300 employees, or ages of 50 employees</a:t>
            </a:r>
          </a:p>
          <a:p>
            <a:endParaRPr lang="en-US" dirty="0"/>
          </a:p>
          <a:p>
            <a:r>
              <a:rPr lang="en-US" dirty="0"/>
              <a:t>What is important is that the quantities must be ‘</a:t>
            </a:r>
            <a:r>
              <a:rPr lang="en-US" b="1" dirty="0"/>
              <a:t>similar</a:t>
            </a:r>
            <a:r>
              <a:rPr lang="en-US" dirty="0"/>
              <a:t>’</a:t>
            </a:r>
          </a:p>
          <a:p>
            <a:r>
              <a:rPr lang="en-US" dirty="0"/>
              <a:t>These similar elements could be all </a:t>
            </a:r>
            <a:r>
              <a:rPr lang="en-US" dirty="0" err="1">
                <a:solidFill>
                  <a:srgbClr val="0070C0"/>
                </a:solidFill>
                <a:latin typeface="Consolas" pitchFamily="49" charset="0"/>
                <a:cs typeface="Consolas" pitchFamily="49" charset="0"/>
              </a:rPr>
              <a:t>int</a:t>
            </a:r>
            <a:r>
              <a:rPr lang="en-US" dirty="0"/>
              <a:t>, or all </a:t>
            </a:r>
            <a:r>
              <a:rPr lang="en-US" dirty="0">
                <a:solidFill>
                  <a:srgbClr val="0070C0"/>
                </a:solidFill>
                <a:latin typeface="Consolas" pitchFamily="49" charset="0"/>
                <a:cs typeface="Consolas" pitchFamily="49" charset="0"/>
              </a:rPr>
              <a:t>float</a:t>
            </a:r>
            <a:r>
              <a:rPr lang="en-US" dirty="0"/>
              <a:t>, or all </a:t>
            </a:r>
            <a:r>
              <a:rPr lang="en-US" dirty="0">
                <a:solidFill>
                  <a:srgbClr val="0070C0"/>
                </a:solidFill>
                <a:latin typeface="Consolas" pitchFamily="49" charset="0"/>
                <a:cs typeface="Consolas" pitchFamily="49" charset="0"/>
              </a:rPr>
              <a:t>char</a:t>
            </a:r>
            <a:endParaRPr lang="en-US" dirty="0"/>
          </a:p>
          <a:p>
            <a:endParaRPr lang="en-US" dirty="0"/>
          </a:p>
          <a:p>
            <a:r>
              <a:rPr lang="en-US" dirty="0"/>
              <a:t>Each member in the group is referred to by its position in the group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For Example</a:t>
            </a:r>
          </a:p>
        </p:txBody>
      </p:sp>
      <p:sp>
        <p:nvSpPr>
          <p:cNvPr id="4" name="Slide Number Placeholder 3"/>
          <p:cNvSpPr>
            <a:spLocks noGrp="1"/>
          </p:cNvSpPr>
          <p:nvPr>
            <p:ph type="sldNum" sz="quarter" idx="12"/>
          </p:nvPr>
        </p:nvSpPr>
        <p:spPr/>
        <p:txBody>
          <a:bodyPr/>
          <a:lstStyle/>
          <a:p>
            <a:fld id="{4B084175-AE3F-4F83-9362-C827856E231F}" type="slidenum">
              <a:rPr lang="en-US" smtClean="0"/>
              <a:pPr/>
              <a:t>5</a:t>
            </a:fld>
            <a:endParaRPr lang="en-US"/>
          </a:p>
        </p:txBody>
      </p:sp>
      <p:sp>
        <p:nvSpPr>
          <p:cNvPr id="5" name="Content Placeholder 4"/>
          <p:cNvSpPr>
            <a:spLocks noGrp="1"/>
          </p:cNvSpPr>
          <p:nvPr>
            <p:ph sz="quarter" idx="1"/>
          </p:nvPr>
        </p:nvSpPr>
        <p:spPr/>
        <p:txBody>
          <a:bodyPr>
            <a:normAutofit lnSpcReduction="10000"/>
          </a:bodyPr>
          <a:lstStyle/>
          <a:p>
            <a:r>
              <a:rPr lang="en-US" dirty="0"/>
              <a:t>Assume the following group of numbers, which represent percentage marks obtained by five students</a:t>
            </a:r>
          </a:p>
          <a:p>
            <a:pPr>
              <a:buNone/>
            </a:pPr>
            <a:r>
              <a:rPr lang="it-IT" dirty="0"/>
              <a:t>	</a:t>
            </a:r>
            <a:r>
              <a:rPr lang="it-IT" dirty="0">
                <a:latin typeface="Consolas" pitchFamily="49" charset="0"/>
                <a:cs typeface="Consolas" pitchFamily="49" charset="0"/>
              </a:rPr>
              <a:t>per = { 48, 88, 34, 23, 96 }</a:t>
            </a:r>
          </a:p>
          <a:p>
            <a:pPr>
              <a:buNone/>
            </a:pPr>
            <a:endParaRPr lang="it-IT" dirty="0"/>
          </a:p>
          <a:p>
            <a:r>
              <a:rPr lang="en-US" dirty="0"/>
              <a:t>In C, the </a:t>
            </a:r>
            <a:r>
              <a:rPr lang="en-US" b="1" dirty="0"/>
              <a:t>fourth</a:t>
            </a:r>
            <a:r>
              <a:rPr lang="en-US" dirty="0"/>
              <a:t> number is referred as </a:t>
            </a:r>
            <a:r>
              <a:rPr lang="en-US" b="1" dirty="0">
                <a:latin typeface="Consolas" pitchFamily="49" charset="0"/>
                <a:cs typeface="Consolas" pitchFamily="49" charset="0"/>
              </a:rPr>
              <a:t>per[3]</a:t>
            </a:r>
          </a:p>
          <a:p>
            <a:r>
              <a:rPr lang="en-US" dirty="0"/>
              <a:t>Because in C the counting of elements begins with 0 and not with 1</a:t>
            </a:r>
          </a:p>
          <a:p>
            <a:r>
              <a:rPr lang="en-US" dirty="0"/>
              <a:t>Thus, in this example per[3] refers to 23 and </a:t>
            </a:r>
            <a:r>
              <a:rPr lang="en-US" b="1" dirty="0">
                <a:latin typeface="Consolas" pitchFamily="49" charset="0"/>
                <a:cs typeface="Consolas" pitchFamily="49" charset="0"/>
              </a:rPr>
              <a:t>per[4]</a:t>
            </a:r>
            <a:r>
              <a:rPr lang="en-US" dirty="0"/>
              <a:t> refers to 96</a:t>
            </a:r>
          </a:p>
          <a:p>
            <a:r>
              <a:rPr lang="en-US" dirty="0"/>
              <a:t>In general, the notation would be </a:t>
            </a:r>
            <a:r>
              <a:rPr lang="en-US" b="1" dirty="0">
                <a:latin typeface="Consolas" pitchFamily="49" charset="0"/>
                <a:cs typeface="Consolas" pitchFamily="49" charset="0"/>
              </a:rPr>
              <a:t>per[</a:t>
            </a:r>
            <a:r>
              <a:rPr lang="en-US" b="1" dirty="0" err="1">
                <a:latin typeface="Consolas" pitchFamily="49" charset="0"/>
                <a:cs typeface="Consolas" pitchFamily="49" charset="0"/>
              </a:rPr>
              <a:t>i</a:t>
            </a:r>
            <a:r>
              <a:rPr lang="en-US" b="1" dirty="0">
                <a:latin typeface="Consolas" pitchFamily="49" charset="0"/>
                <a:cs typeface="Consolas" pitchFamily="49" charset="0"/>
              </a:rPr>
              <a:t>]</a:t>
            </a:r>
            <a:r>
              <a:rPr lang="en-US" b="1" dirty="0"/>
              <a:t>, </a:t>
            </a:r>
            <a:r>
              <a:rPr lang="en-US" dirty="0"/>
              <a:t>where, </a:t>
            </a:r>
            <a:r>
              <a:rPr lang="en-US" dirty="0" err="1"/>
              <a:t>i</a:t>
            </a:r>
            <a:r>
              <a:rPr lang="en-US" dirty="0"/>
              <a:t> can take a value 0, 1, 2, 3, or 4, depending on the position of the element being referred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of Linear Array In Memory</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normAutofit lnSpcReduction="10000"/>
          </a:bodyPr>
          <a:lstStyle/>
          <a:p>
            <a:r>
              <a:rPr lang="en-US" dirty="0"/>
              <a:t>An array occupies a continuous block of memory</a:t>
            </a:r>
          </a:p>
          <a:p>
            <a:endParaRPr lang="en-US" dirty="0"/>
          </a:p>
          <a:p>
            <a:r>
              <a:rPr lang="en-US" dirty="0"/>
              <a:t>Each element of the array also has unique memory address</a:t>
            </a:r>
          </a:p>
          <a:p>
            <a:endParaRPr lang="en-US" dirty="0"/>
          </a:p>
          <a:p>
            <a:r>
              <a:rPr lang="en-US" dirty="0"/>
              <a:t>Starting address of the array called base address</a:t>
            </a:r>
          </a:p>
          <a:p>
            <a:endParaRPr lang="en-US" dirty="0"/>
          </a:p>
          <a:p>
            <a:r>
              <a:rPr lang="en-US" dirty="0"/>
              <a:t>If base address of the array is known , the address of any element of the array can be found</a:t>
            </a:r>
          </a:p>
          <a:p>
            <a:pPr>
              <a:buNone/>
            </a:pPr>
            <a:r>
              <a:rPr lang="en-US" dirty="0"/>
              <a:t>               </a:t>
            </a:r>
          </a:p>
          <a:p>
            <a:pPr>
              <a:buNone/>
            </a:pPr>
            <a:r>
              <a:rPr lang="en-US" dirty="0"/>
              <a:t>                    L(X[K])= L</a:t>
            </a:r>
            <a:r>
              <a:rPr lang="en-US" sz="1600" baseline="-25000" dirty="0"/>
              <a:t>0</a:t>
            </a:r>
            <a:r>
              <a:rPr lang="en-US" dirty="0"/>
              <a:t> + C * (K-1)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lstStyle/>
          <a:p>
            <a:r>
              <a:rPr lang="en-US" dirty="0"/>
              <a:t>Array X has 5 elements</a:t>
            </a:r>
          </a:p>
          <a:p>
            <a:r>
              <a:rPr lang="en-US" dirty="0"/>
              <a:t>Each of 2 bytes length </a:t>
            </a:r>
          </a:p>
          <a:p>
            <a:pPr>
              <a:buNone/>
            </a:pPr>
            <a:r>
              <a:rPr lang="en-US" dirty="0"/>
              <a:t>To find out the address of third element of X when the base address of the array is L</a:t>
            </a:r>
            <a:r>
              <a:rPr lang="en-US" sz="1600" baseline="-25000" dirty="0"/>
              <a:t>0   </a:t>
            </a:r>
            <a:r>
              <a:rPr lang="en-US" sz="2000" dirty="0"/>
              <a:t>=200</a:t>
            </a:r>
            <a:r>
              <a:rPr lang="en-US" sz="1600" dirty="0"/>
              <a:t>                  </a:t>
            </a:r>
          </a:p>
          <a:p>
            <a:pPr>
              <a:buNone/>
            </a:pPr>
            <a:r>
              <a:rPr lang="en-US" sz="1600" dirty="0"/>
              <a:t>                      </a:t>
            </a:r>
            <a:endParaRPr lang="en-US" dirty="0"/>
          </a:p>
          <a:p>
            <a:r>
              <a:rPr lang="en-US" dirty="0"/>
              <a:t>L(X[3]) = 200 + 2 * (3-1)</a:t>
            </a:r>
          </a:p>
          <a:p>
            <a:pPr>
              <a:buNone/>
            </a:pPr>
            <a:r>
              <a:rPr lang="en-US" dirty="0"/>
              <a:t>               = 200 + 4</a:t>
            </a:r>
          </a:p>
          <a:p>
            <a:pPr>
              <a:buNone/>
            </a:pPr>
            <a:r>
              <a:rPr lang="en-US" dirty="0"/>
              <a:t>               = 204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on linear Arrays</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lstStyle/>
          <a:p>
            <a:r>
              <a:rPr lang="en-US" dirty="0"/>
              <a:t>A linear array is a list of a finite number n of homogenous data elements (data elements of the same type)</a:t>
            </a:r>
          </a:p>
          <a:p>
            <a:pPr lvl="1"/>
            <a:r>
              <a:rPr lang="en-US" dirty="0"/>
              <a:t>Traversal: Processing each element in the list</a:t>
            </a:r>
          </a:p>
          <a:p>
            <a:pPr lvl="1"/>
            <a:r>
              <a:rPr lang="en-US" dirty="0"/>
              <a:t>Search: Finding the location of the element with a given value or the record with a given key</a:t>
            </a:r>
          </a:p>
          <a:p>
            <a:pPr lvl="1"/>
            <a:r>
              <a:rPr lang="en-US" dirty="0"/>
              <a:t>Insertion: Adding a new element from the list</a:t>
            </a:r>
          </a:p>
          <a:p>
            <a:pPr lvl="1"/>
            <a:r>
              <a:rPr lang="en-US" dirty="0"/>
              <a:t>Sorting: Arranging the elements in some type of order</a:t>
            </a:r>
          </a:p>
          <a:p>
            <a:pPr lvl="1"/>
            <a:r>
              <a:rPr lang="en-US" dirty="0"/>
              <a:t>Merging: Combining two lists into a single list</a:t>
            </a:r>
          </a:p>
          <a:p>
            <a:pPr lvl="1"/>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Traversing Operation </a:t>
            </a:r>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Content Placeholder 3"/>
          <p:cNvSpPr>
            <a:spLocks noGrp="1"/>
          </p:cNvSpPr>
          <p:nvPr>
            <p:ph sz="quarter" idx="1"/>
          </p:nvPr>
        </p:nvSpPr>
        <p:spPr/>
        <p:txBody>
          <a:bodyPr/>
          <a:lstStyle/>
          <a:p>
            <a:r>
              <a:rPr lang="en-US" dirty="0"/>
              <a:t>Each element of an array is accessed exactly once for processing.</a:t>
            </a:r>
          </a:p>
          <a:p>
            <a:r>
              <a:rPr lang="en-US" dirty="0"/>
              <a:t>Also called visiting of the array</a:t>
            </a:r>
          </a:p>
          <a:p>
            <a:pPr>
              <a:buNone/>
            </a:pPr>
            <a:r>
              <a:rPr lang="en-US" dirty="0"/>
              <a:t>Example</a:t>
            </a:r>
          </a:p>
          <a:p>
            <a:pPr lvl="1"/>
            <a:r>
              <a:rPr lang="en-US" dirty="0"/>
              <a:t>Sum of values of each element of an array</a:t>
            </a:r>
          </a:p>
          <a:p>
            <a:pPr lvl="1"/>
            <a:r>
              <a:rPr lang="en-US" dirty="0"/>
              <a:t>Print value of each element of array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to compute the sum of values of a linear array having ten elements</a:t>
            </a:r>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Content Placeholder 3"/>
          <p:cNvSpPr>
            <a:spLocks noGrp="1"/>
          </p:cNvSpPr>
          <p:nvPr>
            <p:ph sz="quarter" idx="1"/>
          </p:nvPr>
        </p:nvSpPr>
        <p:spPr/>
        <p:txBody>
          <a:bodyPr>
            <a:normAutofit/>
          </a:bodyPr>
          <a:lstStyle/>
          <a:p>
            <a:pPr marL="514350" indent="-514350"/>
            <a:r>
              <a:rPr lang="en-US" dirty="0"/>
              <a:t>Input values in array ABC</a:t>
            </a:r>
          </a:p>
          <a:p>
            <a:pPr marL="514350" indent="-514350"/>
            <a:r>
              <a:rPr lang="en-US" dirty="0"/>
              <a:t> SUM = 0</a:t>
            </a:r>
          </a:p>
          <a:p>
            <a:pPr marL="514350" indent="-514350"/>
            <a:r>
              <a:rPr lang="en-US" dirty="0"/>
              <a:t>[Compute sum of array ABC]</a:t>
            </a:r>
          </a:p>
          <a:p>
            <a:pPr marL="788670" lvl="1" indent="-514350"/>
            <a:r>
              <a:rPr lang="en-US" dirty="0"/>
              <a:t>REPEAT FOR C = 0 to 9</a:t>
            </a:r>
          </a:p>
          <a:p>
            <a:pPr marL="788670" lvl="1" indent="-514350"/>
            <a:r>
              <a:rPr lang="en-US" dirty="0"/>
              <a:t>SUM = SUM + ABC[C]</a:t>
            </a:r>
          </a:p>
          <a:p>
            <a:pPr marL="514350" indent="-514350">
              <a:buNone/>
            </a:pPr>
            <a:r>
              <a:rPr lang="en-US" dirty="0"/>
              <a:t>	[End of the loop]</a:t>
            </a:r>
          </a:p>
          <a:p>
            <a:pPr marL="514350" indent="-514350">
              <a:buNone/>
            </a:pPr>
            <a:r>
              <a:rPr lang="en-US" dirty="0"/>
              <a:t>   	[Print the calculated sum]</a:t>
            </a:r>
          </a:p>
          <a:p>
            <a:pPr marL="514350" indent="-514350"/>
            <a:r>
              <a:rPr lang="en-US" dirty="0"/>
              <a:t>PRINT SUM</a:t>
            </a:r>
          </a:p>
          <a:p>
            <a:pPr marL="514350" indent="-514350"/>
            <a:r>
              <a:rPr lang="en-US" dirty="0"/>
              <a:t>EXIT </a:t>
            </a:r>
          </a:p>
          <a:p>
            <a:pPr marL="514350" indent="-514350"/>
            <a:endParaRPr lang="en-US" dirty="0"/>
          </a:p>
          <a:p>
            <a:pPr marL="514350" indent="-514350"/>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Inserting Operation</a:t>
            </a:r>
            <a:br>
              <a:rPr lang="en-US" dirty="0"/>
            </a:br>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Content Placeholder 3"/>
          <p:cNvSpPr>
            <a:spLocks noGrp="1"/>
          </p:cNvSpPr>
          <p:nvPr>
            <p:ph sz="quarter" idx="1"/>
          </p:nvPr>
        </p:nvSpPr>
        <p:spPr/>
        <p:txBody>
          <a:bodyPr/>
          <a:lstStyle/>
          <a:p>
            <a:r>
              <a:rPr lang="en-US" dirty="0"/>
              <a:t>In inserting operation, new items are added into an array</a:t>
            </a:r>
          </a:p>
          <a:p>
            <a:pPr lvl="1"/>
            <a:r>
              <a:rPr lang="en-US" dirty="0"/>
              <a:t>At the end of an array without disturbing other elements of the array if there is an empty element.</a:t>
            </a:r>
          </a:p>
          <a:p>
            <a:pPr lvl="1"/>
            <a:r>
              <a:rPr lang="en-US" dirty="0"/>
              <a:t>At some specified location within the array</a:t>
            </a:r>
          </a:p>
          <a:p>
            <a:pPr>
              <a:buNone/>
            </a:pP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Write an algorithm to add 6 values into elements at the end of the array ‘temp’ that has only four items stored in its first four elements</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pPr>
              <a:buNone/>
            </a:pPr>
            <a:r>
              <a:rPr lang="en-US" dirty="0"/>
              <a:t>1- REPEAT Step-2 TO 3 FOR I = 4 to 9</a:t>
            </a:r>
          </a:p>
          <a:p>
            <a:pPr>
              <a:buNone/>
            </a:pPr>
            <a:r>
              <a:rPr lang="en-US" dirty="0"/>
              <a:t>2-INPUT value in N</a:t>
            </a:r>
          </a:p>
          <a:p>
            <a:pPr>
              <a:buNone/>
            </a:pPr>
            <a:r>
              <a:rPr lang="en-US" dirty="0"/>
              <a:t>3-Temp [I] = N</a:t>
            </a:r>
          </a:p>
          <a:p>
            <a:pPr>
              <a:buNone/>
            </a:pPr>
            <a:r>
              <a:rPr lang="en-US" dirty="0"/>
              <a:t>[End of Step-2 Loop]</a:t>
            </a:r>
          </a:p>
          <a:p>
            <a:pPr>
              <a:buNone/>
            </a:pPr>
            <a:r>
              <a:rPr lang="en-US" dirty="0"/>
              <a:t>4-EXIST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value at specified location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To insert new value, the value of all the existing elements are moved one step forward or backward to make space for the new value</a:t>
            </a:r>
          </a:p>
          <a:p>
            <a:r>
              <a:rPr lang="en-US" dirty="0"/>
              <a:t>Write an algorithm to insert a value M at location pos in array ABC having N element.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lnSpcReduction="10000"/>
          </a:bodyPr>
          <a:lstStyle/>
          <a:p>
            <a:pPr>
              <a:buNone/>
            </a:pPr>
            <a:r>
              <a:rPr lang="en-US" dirty="0"/>
              <a:t>1- Input value in M</a:t>
            </a:r>
          </a:p>
          <a:p>
            <a:pPr>
              <a:buNone/>
            </a:pPr>
            <a:r>
              <a:rPr lang="en-US" dirty="0"/>
              <a:t>2- Input position in POS</a:t>
            </a:r>
          </a:p>
          <a:p>
            <a:pPr>
              <a:buNone/>
            </a:pPr>
            <a:r>
              <a:rPr lang="en-US" dirty="0"/>
              <a:t>[Move elements one step forward]</a:t>
            </a:r>
          </a:p>
          <a:p>
            <a:pPr>
              <a:buNone/>
            </a:pPr>
            <a:r>
              <a:rPr lang="en-US" dirty="0"/>
              <a:t>3- REPEAT step – 4 TO 5 WHILE N&gt;=POS</a:t>
            </a:r>
          </a:p>
          <a:p>
            <a:pPr>
              <a:buNone/>
            </a:pPr>
            <a:r>
              <a:rPr lang="en-US" dirty="0"/>
              <a:t>4- ABC[N+1]=ABC[N] // from where you need to insert value</a:t>
            </a:r>
          </a:p>
          <a:p>
            <a:pPr>
              <a:buNone/>
            </a:pPr>
            <a:r>
              <a:rPr lang="en-US" dirty="0"/>
              <a:t>5- N=N-1</a:t>
            </a:r>
          </a:p>
          <a:p>
            <a:pPr>
              <a:buNone/>
            </a:pPr>
            <a:r>
              <a:rPr lang="en-US" dirty="0"/>
              <a:t>[End of step-3 Loop]</a:t>
            </a:r>
          </a:p>
          <a:p>
            <a:pPr>
              <a:buNone/>
            </a:pPr>
            <a:r>
              <a:rPr lang="en-US" dirty="0"/>
              <a:t>[Insert value M at Position POS]</a:t>
            </a:r>
          </a:p>
          <a:p>
            <a:pPr>
              <a:buNone/>
            </a:pPr>
            <a:r>
              <a:rPr lang="en-US" dirty="0"/>
              <a:t>6- ABC[POS]=M</a:t>
            </a:r>
          </a:p>
          <a:p>
            <a:pPr>
              <a:buNone/>
            </a:pPr>
            <a:r>
              <a:rPr lang="en-US" dirty="0"/>
              <a:t>7- Exit </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Deleting operations</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One Like insertion , deletion can be performed at the end  or at any position in the array.</a:t>
            </a:r>
          </a:p>
          <a:p>
            <a:r>
              <a:rPr lang="en-US" dirty="0"/>
              <a:t>To remove the last element from the array, the last element is accessed and deleted by placing null value or by decreasing the size of array by one element if it is the last element of the array.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Write an algorithm to delete the value at location K of an array ‘country’ having N elements</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lnSpcReduction="10000"/>
          </a:bodyPr>
          <a:lstStyle/>
          <a:p>
            <a:pPr>
              <a:buNone/>
            </a:pPr>
            <a:r>
              <a:rPr lang="en-US" dirty="0"/>
              <a:t>1- Input location K</a:t>
            </a:r>
          </a:p>
          <a:p>
            <a:pPr>
              <a:buNone/>
            </a:pPr>
            <a:r>
              <a:rPr lang="en-US" dirty="0"/>
              <a:t>2- IF K &gt; N then </a:t>
            </a:r>
          </a:p>
          <a:p>
            <a:pPr>
              <a:buNone/>
            </a:pPr>
            <a:r>
              <a:rPr lang="en-US" dirty="0"/>
              <a:t>		PRINT “Invalid location”</a:t>
            </a:r>
          </a:p>
          <a:p>
            <a:pPr>
              <a:buNone/>
            </a:pPr>
            <a:r>
              <a:rPr lang="en-US" dirty="0"/>
              <a:t>		return</a:t>
            </a:r>
          </a:p>
          <a:p>
            <a:pPr>
              <a:buNone/>
            </a:pPr>
            <a:r>
              <a:rPr lang="en-US" dirty="0"/>
              <a:t>	END IF</a:t>
            </a:r>
          </a:p>
          <a:p>
            <a:pPr>
              <a:buNone/>
            </a:pPr>
            <a:r>
              <a:rPr lang="en-US" dirty="0"/>
              <a:t>	[Move each element from the specified location one step towards the beginning. The item at the specified location is automatically deleted]</a:t>
            </a:r>
          </a:p>
          <a:p>
            <a:pPr>
              <a:buNone/>
            </a:pPr>
            <a:r>
              <a:rPr lang="en-US" dirty="0"/>
              <a:t>3- REPEAT FOR C = K TO N-1</a:t>
            </a:r>
          </a:p>
          <a:p>
            <a:pPr>
              <a:buNone/>
            </a:pPr>
            <a:r>
              <a:rPr lang="en-US" dirty="0"/>
              <a:t>               Country[C]= Country[C+1]</a:t>
            </a:r>
          </a:p>
          <a:p>
            <a:pPr>
              <a:buNone/>
            </a:pPr>
            <a:r>
              <a:rPr lang="en-US" dirty="0"/>
              <a:t>    [End of the loop]</a:t>
            </a:r>
          </a:p>
          <a:p>
            <a:pPr>
              <a:buNone/>
            </a:pPr>
            <a:r>
              <a:rPr lang="en-US" dirty="0"/>
              <a:t>4- EXIT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p>
        </p:txBody>
      </p:sp>
      <p:sp>
        <p:nvSpPr>
          <p:cNvPr id="3" name="Slide Number Placeholder 2"/>
          <p:cNvSpPr>
            <a:spLocks noGrp="1"/>
          </p:cNvSpPr>
          <p:nvPr>
            <p:ph type="sldNum" sz="quarter" idx="12"/>
          </p:nvPr>
        </p:nvSpPr>
        <p:spPr/>
        <p:txBody>
          <a:bodyPr/>
          <a:lstStyle/>
          <a:p>
            <a:fld id="{95335651-1A2C-4E2F-80CB-8C4D69804B63}" type="slidenum">
              <a:rPr lang="en-US" smtClean="0"/>
              <a:pPr/>
              <a:t>17</a:t>
            </a:fld>
            <a:endParaRPr lang="en-US"/>
          </a:p>
        </p:txBody>
      </p:sp>
      <p:sp>
        <p:nvSpPr>
          <p:cNvPr id="4" name="Content Placeholder 3"/>
          <p:cNvSpPr>
            <a:spLocks noGrp="1"/>
          </p:cNvSpPr>
          <p:nvPr>
            <p:ph sz="quarter" idx="1"/>
          </p:nvPr>
        </p:nvSpPr>
        <p:spPr/>
        <p:txBody>
          <a:bodyPr/>
          <a:lstStyle/>
          <a:p>
            <a:pPr>
              <a:lnSpc>
                <a:spcPct val="80000"/>
              </a:lnSpc>
            </a:pPr>
            <a:r>
              <a:rPr lang="en-US" sz="2400" dirty="0"/>
              <a:t>A function is called ‘recursive’ if a statement within the body of a function calls the same function</a:t>
            </a:r>
          </a:p>
          <a:p>
            <a:pPr>
              <a:lnSpc>
                <a:spcPct val="80000"/>
              </a:lnSpc>
            </a:pPr>
            <a:r>
              <a:rPr lang="en-US" sz="2400" dirty="0"/>
              <a:t>Sometimes called ‘circular definition’</a:t>
            </a:r>
          </a:p>
          <a:p>
            <a:pPr>
              <a:lnSpc>
                <a:spcPct val="80000"/>
              </a:lnSpc>
            </a:pPr>
            <a:r>
              <a:rPr lang="en-US" sz="2400" dirty="0"/>
              <a:t>Recursion is thus the process of defining something in terms </a:t>
            </a:r>
            <a:r>
              <a:rPr lang="en-US" sz="2400"/>
              <a:t>of itself</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p>
        </p:txBody>
      </p:sp>
      <p:sp>
        <p:nvSpPr>
          <p:cNvPr id="3" name="Slide Number Placeholder 2"/>
          <p:cNvSpPr>
            <a:spLocks noGrp="1"/>
          </p:cNvSpPr>
          <p:nvPr>
            <p:ph type="sldNum" sz="quarter" idx="12"/>
          </p:nvPr>
        </p:nvSpPr>
        <p:spPr/>
        <p:txBody>
          <a:bodyPr/>
          <a:lstStyle/>
          <a:p>
            <a:fld id="{95335651-1A2C-4E2F-80CB-8C4D69804B63}" type="slidenum">
              <a:rPr lang="en-US" smtClean="0"/>
              <a:pPr/>
              <a:t>18</a:t>
            </a:fld>
            <a:endParaRPr lang="en-US"/>
          </a:p>
        </p:txBody>
      </p:sp>
      <p:sp>
        <p:nvSpPr>
          <p:cNvPr id="4" name="Content Placeholder 3"/>
          <p:cNvSpPr>
            <a:spLocks noGrp="1"/>
          </p:cNvSpPr>
          <p:nvPr>
            <p:ph sz="quarter" idx="1"/>
          </p:nvPr>
        </p:nvSpPr>
        <p:spPr/>
        <p:txBody>
          <a:bodyPr>
            <a:noAutofit/>
          </a:bodyPr>
          <a:lstStyle/>
          <a:p>
            <a:pPr marL="0" marR="0">
              <a:lnSpc>
                <a:spcPct val="115000"/>
              </a:lnSpc>
              <a:spcBef>
                <a:spcPts val="0"/>
              </a:spcBef>
              <a:spcAft>
                <a:spcPts val="0"/>
              </a:spcAft>
              <a:buNone/>
            </a:pPr>
            <a:r>
              <a:rPr lang="en-US" sz="1200" dirty="0">
                <a:solidFill>
                  <a:srgbClr val="008000"/>
                </a:solidFill>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solidFill>
                  <a:srgbClr val="008000"/>
                </a:solidFill>
                <a:latin typeface="Consolas"/>
                <a:ea typeface="Calibri"/>
                <a:cs typeface="Times New Roman"/>
              </a:rPr>
              <a:t>* Print Numbers in descending order</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solidFill>
                  <a:srgbClr val="008000"/>
                </a:solidFill>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err="1">
                <a:latin typeface="Consolas"/>
                <a:ea typeface="Calibri"/>
                <a:cs typeface="Times New Roman"/>
              </a:rPr>
              <a:t>pNum</a:t>
            </a:r>
            <a:r>
              <a:rPr lang="en-US" sz="1200" dirty="0">
                <a:latin typeface="Consolas"/>
                <a:ea typeface="Calibri"/>
                <a:cs typeface="Times New Roman"/>
              </a:rPr>
              <a:t>(</a:t>
            </a:r>
            <a:r>
              <a:rPr lang="en-US" sz="1200" dirty="0" err="1">
                <a:solidFill>
                  <a:srgbClr val="0000FF"/>
                </a:solidFill>
                <a:latin typeface="Consolas"/>
                <a:ea typeface="Calibri"/>
                <a:cs typeface="Times New Roman"/>
              </a:rPr>
              <a:t>int</a:t>
            </a:r>
            <a:r>
              <a:rPr lang="en-US" sz="1200" dirty="0">
                <a:latin typeface="Consolas"/>
                <a:ea typeface="Calibri"/>
                <a:cs typeface="Times New Roman"/>
              </a:rPr>
              <a:t> n)</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cout</a:t>
            </a:r>
            <a:r>
              <a:rPr lang="en-US" sz="1200" dirty="0">
                <a:latin typeface="Consolas"/>
                <a:ea typeface="Calibri"/>
                <a:cs typeface="Times New Roman"/>
              </a:rPr>
              <a:t>&lt;&lt;n;</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n--;</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a:solidFill>
                  <a:srgbClr val="0000FF"/>
                </a:solidFill>
                <a:latin typeface="Consolas"/>
                <a:ea typeface="Calibri"/>
                <a:cs typeface="Times New Roman"/>
              </a:rPr>
              <a:t>if</a:t>
            </a:r>
            <a:r>
              <a:rPr lang="en-US" sz="1200" dirty="0">
                <a:latin typeface="Consolas"/>
                <a:ea typeface="Calibri"/>
                <a:cs typeface="Times New Roman"/>
              </a:rPr>
              <a:t>(n==0) {</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cout</a:t>
            </a:r>
            <a:r>
              <a:rPr lang="en-US" sz="1200" dirty="0">
                <a:latin typeface="Consolas"/>
                <a:ea typeface="Calibri"/>
                <a:cs typeface="Times New Roman"/>
              </a:rPr>
              <a:t>&lt;&lt;</a:t>
            </a:r>
            <a:r>
              <a:rPr lang="en-US" sz="1200" dirty="0">
                <a:solidFill>
                  <a:srgbClr val="A31515"/>
                </a:solidFill>
                <a:latin typeface="Consolas"/>
                <a:ea typeface="Calibri"/>
                <a:cs typeface="Times New Roman"/>
              </a:rPr>
              <a:t>"\</a:t>
            </a:r>
            <a:r>
              <a:rPr lang="en-US" sz="1200" dirty="0" err="1">
                <a:solidFill>
                  <a:srgbClr val="A31515"/>
                </a:solidFill>
                <a:latin typeface="Consolas"/>
                <a:ea typeface="Calibri"/>
                <a:cs typeface="Times New Roman"/>
              </a:rPr>
              <a:t>nReturning</a:t>
            </a:r>
            <a:r>
              <a:rPr lang="en-US" sz="1200" dirty="0">
                <a:solidFill>
                  <a:srgbClr val="A31515"/>
                </a:solidFill>
                <a:latin typeface="Consolas"/>
                <a:ea typeface="Calibri"/>
                <a:cs typeface="Times New Roman"/>
              </a:rPr>
              <a:t> from </a:t>
            </a:r>
            <a:r>
              <a:rPr lang="en-US" sz="1200" dirty="0" err="1">
                <a:solidFill>
                  <a:srgbClr val="A31515"/>
                </a:solidFill>
                <a:latin typeface="Consolas"/>
                <a:ea typeface="Calibri"/>
                <a:cs typeface="Times New Roman"/>
              </a:rPr>
              <a:t>pNum</a:t>
            </a:r>
            <a:r>
              <a:rPr lang="en-US" sz="1200" dirty="0">
                <a:solidFill>
                  <a:srgbClr val="A31515"/>
                </a:solidFill>
                <a:latin typeface="Consolas"/>
                <a:ea typeface="Calibri"/>
                <a:cs typeface="Times New Roman"/>
              </a:rPr>
              <a:t>"</a:t>
            </a: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a:solidFill>
                  <a:srgbClr val="0000FF"/>
                </a:solidFill>
                <a:latin typeface="Consolas"/>
                <a:ea typeface="Calibri"/>
                <a:cs typeface="Times New Roman"/>
              </a:rPr>
              <a:t>return</a:t>
            </a: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pNum</a:t>
            </a:r>
            <a:r>
              <a:rPr lang="en-US" sz="1200" dirty="0">
                <a:latin typeface="Consolas"/>
                <a:ea typeface="Calibri"/>
                <a:cs typeface="Times New Roman"/>
              </a:rPr>
              <a:t>(n);</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cout</a:t>
            </a:r>
            <a:r>
              <a:rPr lang="en-US" sz="1200" dirty="0">
                <a:latin typeface="Consolas"/>
                <a:ea typeface="Calibri"/>
                <a:cs typeface="Times New Roman"/>
              </a:rPr>
              <a:t>&lt;&lt;</a:t>
            </a:r>
            <a:r>
              <a:rPr lang="en-US" sz="1200" dirty="0">
                <a:solidFill>
                  <a:srgbClr val="A31515"/>
                </a:solidFill>
                <a:latin typeface="Consolas"/>
                <a:ea typeface="Calibri"/>
                <a:cs typeface="Times New Roman"/>
              </a:rPr>
              <a:t>"\</a:t>
            </a:r>
            <a:r>
              <a:rPr lang="en-US" sz="1200" dirty="0" err="1">
                <a:solidFill>
                  <a:srgbClr val="A31515"/>
                </a:solidFill>
                <a:latin typeface="Consolas"/>
                <a:ea typeface="Calibri"/>
                <a:cs typeface="Times New Roman"/>
              </a:rPr>
              <a:t>nExiting</a:t>
            </a:r>
            <a:r>
              <a:rPr lang="en-US" sz="1200" dirty="0">
                <a:solidFill>
                  <a:srgbClr val="A31515"/>
                </a:solidFill>
                <a:latin typeface="Consolas"/>
                <a:ea typeface="Calibri"/>
                <a:cs typeface="Times New Roman"/>
              </a:rPr>
              <a:t> </a:t>
            </a:r>
            <a:r>
              <a:rPr lang="en-US" sz="1200" dirty="0" err="1">
                <a:solidFill>
                  <a:srgbClr val="A31515"/>
                </a:solidFill>
                <a:latin typeface="Consolas"/>
                <a:ea typeface="Calibri"/>
                <a:cs typeface="Times New Roman"/>
              </a:rPr>
              <a:t>pNum</a:t>
            </a:r>
            <a:r>
              <a:rPr lang="en-US" sz="1200" dirty="0">
                <a:solidFill>
                  <a:srgbClr val="A31515"/>
                </a:solidFill>
                <a:latin typeface="Consolas"/>
                <a:ea typeface="Calibri"/>
                <a:cs typeface="Times New Roman"/>
              </a:rPr>
              <a:t>"</a:t>
            </a: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main( )</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solidFill>
                  <a:srgbClr val="0000FF"/>
                </a:solidFill>
                <a:latin typeface="Consolas"/>
                <a:ea typeface="Calibri"/>
                <a:cs typeface="Times New Roman"/>
              </a:rPr>
              <a:t>int</a:t>
            </a:r>
            <a:r>
              <a:rPr lang="en-US" sz="1200" dirty="0">
                <a:latin typeface="Consolas"/>
                <a:ea typeface="Calibri"/>
                <a:cs typeface="Times New Roman"/>
              </a:rPr>
              <a:t> num;</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cout</a:t>
            </a:r>
            <a:r>
              <a:rPr lang="en-US" sz="1200" dirty="0">
                <a:latin typeface="Consolas"/>
                <a:ea typeface="Calibri"/>
                <a:cs typeface="Times New Roman"/>
              </a:rPr>
              <a:t>&lt;&lt;</a:t>
            </a:r>
            <a:r>
              <a:rPr lang="en-US" sz="1200" dirty="0">
                <a:solidFill>
                  <a:srgbClr val="A31515"/>
                </a:solidFill>
                <a:latin typeface="Consolas"/>
                <a:ea typeface="Calibri"/>
                <a:cs typeface="Times New Roman"/>
              </a:rPr>
              <a:t>"Enter a number greater than 0: “</a:t>
            </a: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cin</a:t>
            </a:r>
            <a:r>
              <a:rPr lang="en-US" sz="1200" dirty="0">
                <a:latin typeface="Consolas"/>
                <a:ea typeface="Calibri"/>
                <a:cs typeface="Times New Roman"/>
              </a:rPr>
              <a:t>&gt;&gt;num;</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pNum</a:t>
            </a:r>
            <a:r>
              <a:rPr lang="en-US" sz="1200" dirty="0">
                <a:latin typeface="Consolas"/>
                <a:ea typeface="Calibri"/>
                <a:cs typeface="Times New Roman"/>
              </a:rPr>
              <a:t>(num);</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	</a:t>
            </a:r>
            <a:r>
              <a:rPr lang="en-US" sz="1200" dirty="0" err="1">
                <a:latin typeface="Consolas"/>
                <a:ea typeface="Calibri"/>
                <a:cs typeface="Times New Roman"/>
              </a:rPr>
              <a:t>getch</a:t>
            </a:r>
            <a:r>
              <a:rPr lang="en-US" sz="1200" dirty="0">
                <a:latin typeface="Consolas"/>
                <a:ea typeface="Calibri"/>
                <a:cs typeface="Times New Roman"/>
              </a:rPr>
              <a:t>();</a:t>
            </a:r>
            <a:endParaRPr lang="en-US" sz="1200" dirty="0">
              <a:latin typeface="Calibri"/>
              <a:ea typeface="Calibri"/>
              <a:cs typeface="Times New Roman"/>
            </a:endParaRPr>
          </a:p>
          <a:p>
            <a:pPr marL="0" marR="0">
              <a:lnSpc>
                <a:spcPct val="115000"/>
              </a:lnSpc>
              <a:spcBef>
                <a:spcPts val="0"/>
              </a:spcBef>
              <a:spcAft>
                <a:spcPts val="0"/>
              </a:spcAft>
              <a:buNone/>
            </a:pPr>
            <a:r>
              <a:rPr lang="en-US" sz="1200" dirty="0">
                <a:latin typeface="Consolas"/>
                <a:ea typeface="Calibri"/>
                <a:cs typeface="Times New Roman"/>
              </a:rPr>
              <a:t>}</a:t>
            </a:r>
            <a:endParaRPr lang="en-US" sz="1200" dirty="0">
              <a:latin typeface="Calibri"/>
              <a:ea typeface="Calibri"/>
              <a:cs typeface="Times New Roman"/>
            </a:endParaRPr>
          </a:p>
        </p:txBody>
      </p:sp>
      <p:sp>
        <p:nvSpPr>
          <p:cNvPr id="5" name="Rounded Rectangle 4"/>
          <p:cNvSpPr/>
          <p:nvPr/>
        </p:nvSpPr>
        <p:spPr>
          <a:xfrm>
            <a:off x="4343400" y="304800"/>
            <a:ext cx="4572000" cy="1736646"/>
          </a:xfrm>
          <a:prstGeom prst="roundRect">
            <a:avLst/>
          </a:prstGeom>
        </p:spPr>
        <p:style>
          <a:lnRef idx="2">
            <a:schemeClr val="accent2"/>
          </a:lnRef>
          <a:fillRef idx="1">
            <a:schemeClr val="lt1"/>
          </a:fillRef>
          <a:effectRef idx="0">
            <a:schemeClr val="accent2"/>
          </a:effectRef>
          <a:fontRef idx="minor">
            <a:schemeClr val="dk1"/>
          </a:fontRef>
        </p:style>
        <p:txBody>
          <a:bodyPr>
            <a:spAutoFit/>
          </a:bodyPr>
          <a:lstStyle/>
          <a:p>
            <a:r>
              <a:rPr lang="en-US" sz="1600" b="1" u="sng" dirty="0"/>
              <a:t>Output:</a:t>
            </a:r>
          </a:p>
          <a:p>
            <a:r>
              <a:rPr lang="en-US" sz="1600" dirty="0">
                <a:latin typeface="Consolas" pitchFamily="49" charset="0"/>
                <a:cs typeface="Consolas" pitchFamily="49" charset="0"/>
              </a:rPr>
              <a:t>Enter a number greater than 0: 3</a:t>
            </a:r>
          </a:p>
          <a:p>
            <a:r>
              <a:rPr lang="en-US" sz="1600" dirty="0">
                <a:latin typeface="Consolas" pitchFamily="49" charset="0"/>
                <a:cs typeface="Consolas" pitchFamily="49" charset="0"/>
              </a:rPr>
              <a:t>3, 2, 1,</a:t>
            </a:r>
          </a:p>
          <a:p>
            <a:r>
              <a:rPr lang="en-US" sz="1600" dirty="0">
                <a:latin typeface="Consolas" pitchFamily="49" charset="0"/>
                <a:cs typeface="Consolas" pitchFamily="49" charset="0"/>
              </a:rPr>
              <a:t>Returning from </a:t>
            </a:r>
            <a:r>
              <a:rPr lang="en-US" sz="1600" dirty="0" err="1">
                <a:latin typeface="Consolas" pitchFamily="49" charset="0"/>
                <a:cs typeface="Consolas" pitchFamily="49" charset="0"/>
              </a:rPr>
              <a:t>pNum</a:t>
            </a:r>
            <a:endParaRPr lang="en-US" sz="1600" dirty="0">
              <a:latin typeface="Consolas" pitchFamily="49" charset="0"/>
              <a:cs typeface="Consolas" pitchFamily="49" charset="0"/>
            </a:endParaRPr>
          </a:p>
          <a:p>
            <a:r>
              <a:rPr lang="en-US" sz="1600" dirty="0">
                <a:latin typeface="Consolas" pitchFamily="49" charset="0"/>
                <a:cs typeface="Consolas" pitchFamily="49" charset="0"/>
              </a:rPr>
              <a:t>Exiting </a:t>
            </a:r>
            <a:r>
              <a:rPr lang="en-US" sz="1600" dirty="0" err="1">
                <a:latin typeface="Consolas" pitchFamily="49" charset="0"/>
                <a:cs typeface="Consolas" pitchFamily="49" charset="0"/>
              </a:rPr>
              <a:t>pNum</a:t>
            </a:r>
            <a:endParaRPr lang="en-US" sz="1600" dirty="0">
              <a:latin typeface="Consolas" pitchFamily="49" charset="0"/>
              <a:cs typeface="Consolas" pitchFamily="49" charset="0"/>
            </a:endParaRPr>
          </a:p>
          <a:p>
            <a:r>
              <a:rPr lang="en-US" sz="1600" dirty="0">
                <a:latin typeface="Consolas" pitchFamily="49" charset="0"/>
                <a:cs typeface="Consolas" pitchFamily="49" charset="0"/>
              </a:rPr>
              <a:t>Exiting </a:t>
            </a:r>
            <a:r>
              <a:rPr lang="en-US" sz="1600" dirty="0" err="1">
                <a:latin typeface="Consolas" pitchFamily="49" charset="0"/>
                <a:cs typeface="Consolas" pitchFamily="49" charset="0"/>
              </a:rPr>
              <a:t>pNum</a:t>
            </a:r>
            <a:endParaRPr lang="en-US" sz="1600" dirty="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dirty="0"/>
              <a:t>Recursion (Factorial Example)</a:t>
            </a:r>
          </a:p>
        </p:txBody>
      </p:sp>
      <p:sp>
        <p:nvSpPr>
          <p:cNvPr id="153603" name="Rectangle 3"/>
          <p:cNvSpPr>
            <a:spLocks noGrp="1" noChangeArrowheads="1"/>
          </p:cNvSpPr>
          <p:nvPr>
            <p:ph sz="quarter" idx="1"/>
          </p:nvPr>
        </p:nvSpPr>
        <p:spPr/>
        <p:txBody>
          <a:bodyPr/>
          <a:lstStyle/>
          <a:p>
            <a:pPr>
              <a:lnSpc>
                <a:spcPct val="80000"/>
              </a:lnSpc>
            </a:pPr>
            <a:r>
              <a:rPr lang="en-US" sz="2800" dirty="0"/>
              <a:t>For example, </a:t>
            </a:r>
            <a:r>
              <a:rPr lang="en-US" sz="2800" dirty="0">
                <a:latin typeface="Consolas" pitchFamily="49" charset="0"/>
                <a:cs typeface="Consolas" pitchFamily="49" charset="0"/>
              </a:rPr>
              <a:t>4</a:t>
            </a:r>
            <a:r>
              <a:rPr lang="en-US" sz="2800" dirty="0"/>
              <a:t> factorial is </a:t>
            </a:r>
            <a:r>
              <a:rPr lang="en-US" sz="2800" dirty="0">
                <a:latin typeface="Consolas" pitchFamily="49" charset="0"/>
                <a:cs typeface="Consolas" pitchFamily="49" charset="0"/>
              </a:rPr>
              <a:t>4 * 3 * 2 * 1</a:t>
            </a:r>
          </a:p>
          <a:p>
            <a:pPr>
              <a:lnSpc>
                <a:spcPct val="80000"/>
              </a:lnSpc>
            </a:pPr>
            <a:r>
              <a:rPr lang="en-US" sz="2800" dirty="0"/>
              <a:t>Or it could be expressed </a:t>
            </a:r>
          </a:p>
          <a:p>
            <a:pPr lvl="1">
              <a:lnSpc>
                <a:spcPct val="80000"/>
              </a:lnSpc>
              <a:buFont typeface="Wingdings" pitchFamily="2" charset="2"/>
              <a:buNone/>
            </a:pPr>
            <a:r>
              <a:rPr lang="en-US" sz="2400" dirty="0">
                <a:latin typeface="Consolas" pitchFamily="49" charset="0"/>
                <a:cs typeface="Consolas" pitchFamily="49" charset="0"/>
              </a:rPr>
              <a:t> </a:t>
            </a:r>
            <a:r>
              <a:rPr lang="en-US" sz="2400" dirty="0">
                <a:solidFill>
                  <a:schemeClr val="tx1"/>
                </a:solidFill>
                <a:latin typeface="Consolas" pitchFamily="49" charset="0"/>
                <a:cs typeface="Consolas" pitchFamily="49" charset="0"/>
              </a:rPr>
              <a:t>4! = 4 * 3!</a:t>
            </a:r>
          </a:p>
          <a:p>
            <a:pPr lvl="1">
              <a:lnSpc>
                <a:spcPct val="80000"/>
              </a:lnSpc>
              <a:buFont typeface="Wingdings" pitchFamily="2" charset="2"/>
              <a:buNone/>
            </a:pPr>
            <a:r>
              <a:rPr lang="en-US" sz="2400" dirty="0">
                <a:solidFill>
                  <a:schemeClr val="tx1"/>
                </a:solidFill>
                <a:latin typeface="Consolas" pitchFamily="49" charset="0"/>
                <a:cs typeface="Consolas" pitchFamily="49" charset="0"/>
              </a:rPr>
              <a:t>    = 4 * 3 * 2!</a:t>
            </a:r>
          </a:p>
          <a:p>
            <a:pPr lvl="1">
              <a:lnSpc>
                <a:spcPct val="80000"/>
              </a:lnSpc>
              <a:buFont typeface="Wingdings" pitchFamily="2" charset="2"/>
              <a:buNone/>
            </a:pPr>
            <a:r>
              <a:rPr lang="en-US" sz="2400" dirty="0">
                <a:solidFill>
                  <a:schemeClr val="tx1"/>
                </a:solidFill>
                <a:latin typeface="Consolas" pitchFamily="49" charset="0"/>
                <a:cs typeface="Consolas" pitchFamily="49" charset="0"/>
              </a:rPr>
              <a:t>    = 4 * 3 * 2 * 1!</a:t>
            </a:r>
          </a:p>
        </p:txBody>
      </p:sp>
      <p:sp>
        <p:nvSpPr>
          <p:cNvPr id="5" name="Slide Number Placeholder 4"/>
          <p:cNvSpPr>
            <a:spLocks noGrp="1"/>
          </p:cNvSpPr>
          <p:nvPr>
            <p:ph type="sldNum" sz="quarter" idx="12"/>
          </p:nvPr>
        </p:nvSpPr>
        <p:spPr/>
        <p:txBody>
          <a:bodyPr/>
          <a:lstStyle/>
          <a:p>
            <a:fld id="{95335651-1A2C-4E2F-80CB-8C4D69804B6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dirty="0"/>
              <a:t>Recursion (Factorial Example)</a:t>
            </a:r>
          </a:p>
        </p:txBody>
      </p:sp>
      <p:sp>
        <p:nvSpPr>
          <p:cNvPr id="154627" name="Rectangle 3"/>
          <p:cNvSpPr>
            <a:spLocks noGrp="1" noChangeArrowheads="1"/>
          </p:cNvSpPr>
          <p:nvPr>
            <p:ph sz="quarter" idx="1"/>
          </p:nvPr>
        </p:nvSpPr>
        <p:spPr/>
        <p:txBody>
          <a:bodyPr/>
          <a:lstStyle/>
          <a:p>
            <a:pPr lvl="1">
              <a:lnSpc>
                <a:spcPct val="80000"/>
              </a:lnSpc>
              <a:buFont typeface="Wingdings" pitchFamily="2" charset="2"/>
              <a:buNone/>
            </a:pPr>
            <a:r>
              <a:rPr lang="en-US" sz="1400"/>
              <a:t> </a:t>
            </a:r>
          </a:p>
        </p:txBody>
      </p:sp>
      <p:sp>
        <p:nvSpPr>
          <p:cNvPr id="154633" name="Rectangle 9"/>
          <p:cNvSpPr>
            <a:spLocks noGrp="1" noChangeArrowheads="1"/>
          </p:cNvSpPr>
          <p:nvPr>
            <p:ph type="body" sz="half" idx="4294967295"/>
          </p:nvPr>
        </p:nvSpPr>
        <p:spPr>
          <a:xfrm>
            <a:off x="4572001" y="1273098"/>
            <a:ext cx="4343399" cy="4857750"/>
          </a:xfrm>
          <a:prstGeom prst="rect">
            <a:avLst/>
          </a:prstGeom>
        </p:spPr>
        <p:style>
          <a:lnRef idx="2">
            <a:schemeClr val="accent5"/>
          </a:lnRef>
          <a:fillRef idx="1">
            <a:schemeClr val="lt1"/>
          </a:fillRef>
          <a:effectRef idx="0">
            <a:schemeClr val="accent5"/>
          </a:effectRef>
          <a:fontRef idx="minor">
            <a:schemeClr val="dk1"/>
          </a:fontRef>
        </p:style>
        <p:txBody>
          <a:bodyPr>
            <a:noAutofit/>
          </a:bodyPr>
          <a:lstStyle/>
          <a:p>
            <a:pPr marL="0" marR="0" defTabSz="274320">
              <a:lnSpc>
                <a:spcPct val="115000"/>
              </a:lnSpc>
              <a:spcBef>
                <a:spcPts val="0"/>
              </a:spcBef>
              <a:spcAft>
                <a:spcPts val="0"/>
              </a:spcAft>
              <a:buNone/>
            </a:pPr>
            <a:r>
              <a:rPr lang="en-US" sz="1400" dirty="0">
                <a:latin typeface="Consolas"/>
                <a:ea typeface="Calibri"/>
                <a:cs typeface="Times New Roman"/>
              </a:rPr>
              <a:t>main(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err="1">
                <a:solidFill>
                  <a:srgbClr val="0000FF"/>
                </a:solidFill>
                <a:latin typeface="Consolas"/>
                <a:ea typeface="Calibri"/>
                <a:cs typeface="Times New Roman"/>
              </a:rPr>
              <a:t>int</a:t>
            </a:r>
            <a:r>
              <a:rPr lang="en-US" sz="1400" dirty="0">
                <a:latin typeface="Consolas"/>
                <a:ea typeface="Calibri"/>
                <a:cs typeface="Times New Roman"/>
              </a:rPr>
              <a:t> a, fact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err="1">
                <a:latin typeface="Consolas"/>
                <a:ea typeface="Calibri"/>
                <a:cs typeface="Times New Roman"/>
              </a:rPr>
              <a:t>cout</a:t>
            </a:r>
            <a:r>
              <a:rPr lang="en-US" sz="1400" dirty="0">
                <a:latin typeface="Consolas"/>
                <a:ea typeface="Calibri"/>
                <a:cs typeface="Times New Roman"/>
              </a:rPr>
              <a:t>&lt;&lt;</a:t>
            </a:r>
            <a:r>
              <a:rPr lang="en-US" sz="1400" dirty="0">
                <a:solidFill>
                  <a:srgbClr val="A31515"/>
                </a:solidFill>
                <a:latin typeface="Consolas"/>
                <a:ea typeface="Calibri"/>
                <a:cs typeface="Times New Roman"/>
              </a:rPr>
              <a:t>"\</a:t>
            </a:r>
            <a:r>
              <a:rPr lang="en-US" sz="1400" dirty="0" err="1">
                <a:solidFill>
                  <a:srgbClr val="A31515"/>
                </a:solidFill>
                <a:latin typeface="Consolas"/>
                <a:ea typeface="Calibri"/>
                <a:cs typeface="Times New Roman"/>
              </a:rPr>
              <a:t>nEnter</a:t>
            </a:r>
            <a:r>
              <a:rPr lang="en-US" sz="1400" dirty="0">
                <a:solidFill>
                  <a:srgbClr val="A31515"/>
                </a:solidFill>
                <a:latin typeface="Consolas"/>
                <a:ea typeface="Calibri"/>
                <a:cs typeface="Times New Roman"/>
              </a:rPr>
              <a:t> any number “</a:t>
            </a: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err="1">
                <a:latin typeface="Consolas"/>
                <a:ea typeface="Calibri"/>
                <a:cs typeface="Times New Roman"/>
              </a:rPr>
              <a:t>cin</a:t>
            </a:r>
            <a:r>
              <a:rPr lang="en-US" sz="1400" dirty="0">
                <a:latin typeface="Consolas"/>
                <a:ea typeface="Calibri"/>
                <a:cs typeface="Times New Roman"/>
              </a:rPr>
              <a:t>&gt;&gt;a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fact = </a:t>
            </a:r>
            <a:r>
              <a:rPr lang="en-US" sz="1400" dirty="0" err="1">
                <a:latin typeface="Consolas"/>
                <a:ea typeface="Calibri"/>
                <a:cs typeface="Times New Roman"/>
              </a:rPr>
              <a:t>rec</a:t>
            </a:r>
            <a:r>
              <a:rPr lang="en-US" sz="1400" dirty="0">
                <a:latin typeface="Consolas"/>
                <a:ea typeface="Calibri"/>
                <a:cs typeface="Times New Roman"/>
              </a:rPr>
              <a:t> ( a )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err="1">
                <a:latin typeface="Consolas"/>
                <a:ea typeface="Calibri"/>
                <a:cs typeface="Times New Roman"/>
              </a:rPr>
              <a:t>cout</a:t>
            </a:r>
            <a:r>
              <a:rPr lang="en-US" sz="1400" dirty="0">
                <a:latin typeface="Consolas"/>
                <a:ea typeface="Calibri"/>
                <a:cs typeface="Times New Roman"/>
              </a:rPr>
              <a:t>&lt;&lt;</a:t>
            </a:r>
            <a:r>
              <a:rPr lang="en-US" sz="1400" dirty="0">
                <a:solidFill>
                  <a:srgbClr val="A31515"/>
                </a:solidFill>
                <a:latin typeface="Consolas"/>
                <a:ea typeface="Calibri"/>
                <a:cs typeface="Times New Roman"/>
              </a:rPr>
              <a:t>"Factorial value“&lt;&lt;</a:t>
            </a:r>
            <a:r>
              <a:rPr lang="en-US" sz="1400" dirty="0">
                <a:latin typeface="Consolas"/>
                <a:ea typeface="Calibri"/>
                <a:cs typeface="Times New Roman"/>
              </a:rPr>
              <a:t> fact;</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0"/>
              </a:spcAft>
              <a:buNone/>
            </a:pPr>
            <a:endParaRPr lang="en-US" sz="1400" dirty="0">
              <a:solidFill>
                <a:srgbClr val="0000FF"/>
              </a:solidFill>
              <a:latin typeface="Consolas"/>
              <a:ea typeface="Calibri"/>
              <a:cs typeface="Times New Roman"/>
            </a:endParaRPr>
          </a:p>
          <a:p>
            <a:pPr marL="0" marR="0" defTabSz="274320">
              <a:lnSpc>
                <a:spcPct val="115000"/>
              </a:lnSpc>
              <a:spcBef>
                <a:spcPts val="0"/>
              </a:spcBef>
              <a:spcAft>
                <a:spcPts val="0"/>
              </a:spcAft>
              <a:buNone/>
            </a:pPr>
            <a:r>
              <a:rPr lang="en-US" sz="1400" dirty="0" err="1">
                <a:solidFill>
                  <a:srgbClr val="0000FF"/>
                </a:solidFill>
                <a:latin typeface="Consolas"/>
                <a:ea typeface="Calibri"/>
                <a:cs typeface="Times New Roman"/>
              </a:rPr>
              <a:t>int</a:t>
            </a:r>
            <a:r>
              <a:rPr lang="en-US" sz="1400" dirty="0">
                <a:latin typeface="Consolas"/>
                <a:ea typeface="Calibri"/>
                <a:cs typeface="Times New Roman"/>
              </a:rPr>
              <a:t> </a:t>
            </a:r>
            <a:r>
              <a:rPr lang="en-US" sz="1400" dirty="0" err="1">
                <a:latin typeface="Consolas"/>
                <a:ea typeface="Calibri"/>
                <a:cs typeface="Times New Roman"/>
              </a:rPr>
              <a:t>rec</a:t>
            </a:r>
            <a:r>
              <a:rPr lang="en-US" sz="1400" dirty="0">
                <a:latin typeface="Consolas"/>
                <a:ea typeface="Calibri"/>
                <a:cs typeface="Times New Roman"/>
              </a:rPr>
              <a:t> ( </a:t>
            </a:r>
            <a:r>
              <a:rPr lang="en-US" sz="1400" dirty="0" err="1">
                <a:solidFill>
                  <a:srgbClr val="0000FF"/>
                </a:solidFill>
                <a:latin typeface="Consolas"/>
                <a:ea typeface="Calibri"/>
                <a:cs typeface="Times New Roman"/>
              </a:rPr>
              <a:t>int</a:t>
            </a:r>
            <a:r>
              <a:rPr lang="en-US" sz="1400" dirty="0">
                <a:latin typeface="Consolas"/>
                <a:ea typeface="Calibri"/>
                <a:cs typeface="Times New Roman"/>
              </a:rPr>
              <a:t> x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err="1">
                <a:solidFill>
                  <a:srgbClr val="0000FF"/>
                </a:solidFill>
                <a:latin typeface="Consolas"/>
                <a:ea typeface="Calibri"/>
                <a:cs typeface="Times New Roman"/>
              </a:rPr>
              <a:t>int</a:t>
            </a:r>
            <a:r>
              <a:rPr lang="en-US" sz="1400" dirty="0">
                <a:latin typeface="Consolas"/>
                <a:ea typeface="Calibri"/>
                <a:cs typeface="Times New Roman"/>
              </a:rPr>
              <a:t> f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a:solidFill>
                  <a:srgbClr val="0000FF"/>
                </a:solidFill>
                <a:latin typeface="Consolas"/>
                <a:ea typeface="Calibri"/>
                <a:cs typeface="Times New Roman"/>
              </a:rPr>
              <a:t>if</a:t>
            </a:r>
            <a:r>
              <a:rPr lang="en-US" sz="1400" dirty="0">
                <a:latin typeface="Consolas"/>
                <a:ea typeface="Calibri"/>
                <a:cs typeface="Times New Roman"/>
              </a:rPr>
              <a:t> ( x == 1 )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a:solidFill>
                  <a:srgbClr val="0000FF"/>
                </a:solidFill>
                <a:latin typeface="Consolas"/>
                <a:ea typeface="Calibri"/>
                <a:cs typeface="Times New Roman"/>
              </a:rPr>
              <a:t>return</a:t>
            </a:r>
            <a:r>
              <a:rPr lang="en-US" sz="1400" dirty="0">
                <a:latin typeface="Consolas"/>
                <a:ea typeface="Calibri"/>
                <a:cs typeface="Times New Roman"/>
              </a:rPr>
              <a:t>  1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a:solidFill>
                  <a:srgbClr val="0000FF"/>
                </a:solidFill>
                <a:latin typeface="Consolas"/>
                <a:ea typeface="Calibri"/>
                <a:cs typeface="Times New Roman"/>
              </a:rPr>
              <a:t>else</a:t>
            </a: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f = x * </a:t>
            </a:r>
            <a:r>
              <a:rPr lang="en-US" sz="1400" dirty="0" err="1">
                <a:latin typeface="Consolas"/>
                <a:ea typeface="Calibri"/>
                <a:cs typeface="Times New Roman"/>
              </a:rPr>
              <a:t>rec</a:t>
            </a:r>
            <a:r>
              <a:rPr lang="en-US" sz="1400" dirty="0">
                <a:latin typeface="Consolas"/>
                <a:ea typeface="Calibri"/>
                <a:cs typeface="Times New Roman"/>
              </a:rPr>
              <a:t> ( x - 1 )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r>
              <a:rPr lang="en-US" sz="1400" dirty="0">
                <a:solidFill>
                  <a:srgbClr val="0000FF"/>
                </a:solidFill>
                <a:latin typeface="Consolas"/>
                <a:ea typeface="Calibri"/>
                <a:cs typeface="Times New Roman"/>
              </a:rPr>
              <a:t>return</a:t>
            </a:r>
            <a:r>
              <a:rPr lang="en-US" sz="1400" dirty="0">
                <a:latin typeface="Consolas"/>
                <a:ea typeface="Calibri"/>
                <a:cs typeface="Times New Roman"/>
              </a:rPr>
              <a:t> f  ;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0"/>
              </a:spcAft>
              <a:buNone/>
            </a:pPr>
            <a:r>
              <a:rPr lang="en-US" sz="1400" dirty="0">
                <a:latin typeface="Consolas"/>
                <a:ea typeface="Calibri"/>
                <a:cs typeface="Times New Roman"/>
              </a:rPr>
              <a:t> </a:t>
            </a:r>
            <a:endParaRPr lang="en-US" sz="1400" dirty="0">
              <a:latin typeface="Calibri"/>
              <a:ea typeface="Calibri"/>
              <a:cs typeface="Times New Roman"/>
            </a:endParaRPr>
          </a:p>
          <a:p>
            <a:pPr marL="0" marR="0" defTabSz="274320">
              <a:lnSpc>
                <a:spcPct val="115000"/>
              </a:lnSpc>
              <a:spcBef>
                <a:spcPts val="0"/>
              </a:spcBef>
              <a:spcAft>
                <a:spcPts val="1000"/>
              </a:spcAft>
              <a:buNone/>
            </a:pPr>
            <a:r>
              <a:rPr lang="en-US" sz="1400" dirty="0">
                <a:latin typeface="Calibri"/>
                <a:ea typeface="Calibri"/>
                <a:cs typeface="Times New Roman"/>
              </a:rPr>
              <a:t> </a:t>
            </a:r>
          </a:p>
          <a:p>
            <a:pPr defTabSz="274320">
              <a:lnSpc>
                <a:spcPct val="80000"/>
              </a:lnSpc>
            </a:pPr>
            <a:endParaRPr lang="en-US" sz="1400" dirty="0"/>
          </a:p>
        </p:txBody>
      </p:sp>
      <p:sp>
        <p:nvSpPr>
          <p:cNvPr id="154635" name="Rectangle 11"/>
          <p:cNvSpPr>
            <a:spLocks noChangeArrowheads="1"/>
          </p:cNvSpPr>
          <p:nvPr/>
        </p:nvSpPr>
        <p:spPr bwMode="auto">
          <a:xfrm>
            <a:off x="185853" y="1261947"/>
            <a:ext cx="4191000" cy="4876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pPr defTabSz="182880">
              <a:lnSpc>
                <a:spcPct val="115000"/>
              </a:lnSpc>
            </a:pPr>
            <a:r>
              <a:rPr lang="en-US" sz="1400" dirty="0">
                <a:latin typeface="Consolas"/>
                <a:ea typeface="Calibri"/>
                <a:cs typeface="Times New Roman"/>
              </a:rPr>
              <a:t>main(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err="1">
                <a:solidFill>
                  <a:srgbClr val="0000FF"/>
                </a:solidFill>
                <a:latin typeface="Consolas"/>
                <a:ea typeface="Calibri"/>
                <a:cs typeface="Times New Roman"/>
              </a:rPr>
              <a:t>int</a:t>
            </a:r>
            <a:r>
              <a:rPr lang="en-US" sz="1400" dirty="0">
                <a:latin typeface="Consolas"/>
                <a:ea typeface="Calibri"/>
                <a:cs typeface="Times New Roman"/>
              </a:rPr>
              <a:t> a, fact ;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err="1">
                <a:latin typeface="Consolas"/>
                <a:ea typeface="Calibri"/>
                <a:cs typeface="Times New Roman"/>
              </a:rPr>
              <a:t>cout</a:t>
            </a:r>
            <a:r>
              <a:rPr lang="en-US" sz="1400" dirty="0">
                <a:latin typeface="Consolas"/>
                <a:ea typeface="Calibri"/>
                <a:cs typeface="Times New Roman"/>
              </a:rPr>
              <a:t>&lt;&lt;</a:t>
            </a:r>
            <a:r>
              <a:rPr lang="en-US" sz="1400" dirty="0">
                <a:solidFill>
                  <a:srgbClr val="A31515"/>
                </a:solidFill>
                <a:latin typeface="Consolas"/>
                <a:ea typeface="Calibri"/>
                <a:cs typeface="Times New Roman"/>
              </a:rPr>
              <a:t>"\</a:t>
            </a:r>
            <a:r>
              <a:rPr lang="en-US" sz="1400" dirty="0" err="1">
                <a:solidFill>
                  <a:srgbClr val="A31515"/>
                </a:solidFill>
                <a:latin typeface="Consolas"/>
                <a:ea typeface="Calibri"/>
                <a:cs typeface="Times New Roman"/>
              </a:rPr>
              <a:t>nEnter</a:t>
            </a:r>
            <a:r>
              <a:rPr lang="en-US" sz="1400" dirty="0">
                <a:solidFill>
                  <a:srgbClr val="A31515"/>
                </a:solidFill>
                <a:latin typeface="Consolas"/>
                <a:ea typeface="Calibri"/>
                <a:cs typeface="Times New Roman"/>
              </a:rPr>
              <a:t> any number "</a:t>
            </a:r>
            <a:r>
              <a:rPr lang="en-US" sz="1400" dirty="0">
                <a:latin typeface="Consolas"/>
                <a:ea typeface="Calibri"/>
                <a:cs typeface="Times New Roman"/>
              </a:rPr>
              <a:t>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err="1">
                <a:latin typeface="Consolas"/>
                <a:ea typeface="Calibri"/>
                <a:cs typeface="Times New Roman"/>
              </a:rPr>
              <a:t>cin</a:t>
            </a:r>
            <a:r>
              <a:rPr lang="en-US" sz="1400" dirty="0">
                <a:latin typeface="Consolas"/>
                <a:ea typeface="Calibri"/>
                <a:cs typeface="Times New Roman"/>
              </a:rPr>
              <a:t>&gt;&gt;a ;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fact = factorial ( a )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err="1">
                <a:latin typeface="Consolas"/>
                <a:ea typeface="Calibri"/>
                <a:cs typeface="Times New Roman"/>
              </a:rPr>
              <a:t>cout</a:t>
            </a:r>
            <a:r>
              <a:rPr lang="en-US" sz="1400" dirty="0">
                <a:latin typeface="Consolas"/>
                <a:ea typeface="Calibri"/>
                <a:cs typeface="Times New Roman"/>
              </a:rPr>
              <a:t>&lt;&lt;</a:t>
            </a:r>
            <a:r>
              <a:rPr lang="en-US" sz="1400" dirty="0">
                <a:solidFill>
                  <a:srgbClr val="A31515"/>
                </a:solidFill>
                <a:latin typeface="Consolas"/>
                <a:ea typeface="Calibri"/>
                <a:cs typeface="Times New Roman"/>
              </a:rPr>
              <a:t>"Factorial value =“&lt;&lt;</a:t>
            </a:r>
            <a:r>
              <a:rPr lang="en-US" sz="1400" dirty="0">
                <a:latin typeface="Consolas"/>
                <a:ea typeface="Calibri"/>
                <a:cs typeface="Times New Roman"/>
              </a:rPr>
              <a:t>fact;</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endParaRPr lang="en-US" sz="1400" dirty="0">
              <a:latin typeface="Calibri"/>
              <a:ea typeface="Calibri"/>
              <a:cs typeface="Times New Roman"/>
            </a:endParaRPr>
          </a:p>
          <a:p>
            <a:pPr defTabSz="182880">
              <a:lnSpc>
                <a:spcPct val="115000"/>
              </a:lnSpc>
            </a:pPr>
            <a:endParaRPr lang="en-US" sz="1400" dirty="0">
              <a:solidFill>
                <a:srgbClr val="0000FF"/>
              </a:solidFill>
              <a:latin typeface="Consolas"/>
              <a:ea typeface="Calibri"/>
              <a:cs typeface="Times New Roman"/>
            </a:endParaRPr>
          </a:p>
          <a:p>
            <a:pPr defTabSz="182880">
              <a:lnSpc>
                <a:spcPct val="115000"/>
              </a:lnSpc>
            </a:pPr>
            <a:r>
              <a:rPr lang="en-US" sz="1400" dirty="0" err="1">
                <a:solidFill>
                  <a:srgbClr val="0000FF"/>
                </a:solidFill>
                <a:latin typeface="Consolas"/>
                <a:ea typeface="Calibri"/>
                <a:cs typeface="Times New Roman"/>
              </a:rPr>
              <a:t>int</a:t>
            </a:r>
            <a:r>
              <a:rPr lang="en-US" sz="1400" dirty="0">
                <a:latin typeface="Consolas"/>
                <a:ea typeface="Calibri"/>
                <a:cs typeface="Times New Roman"/>
              </a:rPr>
              <a:t> factorial ( </a:t>
            </a:r>
            <a:r>
              <a:rPr lang="en-US" sz="1400" dirty="0" err="1">
                <a:solidFill>
                  <a:srgbClr val="0000FF"/>
                </a:solidFill>
                <a:latin typeface="Consolas"/>
                <a:ea typeface="Calibri"/>
                <a:cs typeface="Times New Roman"/>
              </a:rPr>
              <a:t>int</a:t>
            </a:r>
            <a:r>
              <a:rPr lang="en-US" sz="1400" dirty="0">
                <a:latin typeface="Consolas"/>
                <a:ea typeface="Calibri"/>
                <a:cs typeface="Times New Roman"/>
              </a:rPr>
              <a:t> x )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err="1">
                <a:solidFill>
                  <a:srgbClr val="0000FF"/>
                </a:solidFill>
                <a:latin typeface="Consolas"/>
                <a:ea typeface="Calibri"/>
                <a:cs typeface="Times New Roman"/>
              </a:rPr>
              <a:t>int</a:t>
            </a:r>
            <a:r>
              <a:rPr lang="en-US" sz="1400" dirty="0">
                <a:latin typeface="Consolas"/>
                <a:ea typeface="Calibri"/>
                <a:cs typeface="Times New Roman"/>
              </a:rPr>
              <a:t> f = 1, </a:t>
            </a:r>
            <a:r>
              <a:rPr lang="en-US" sz="1400" dirty="0" err="1">
                <a:latin typeface="Consolas"/>
                <a:ea typeface="Calibri"/>
                <a:cs typeface="Times New Roman"/>
              </a:rPr>
              <a:t>i</a:t>
            </a:r>
            <a:r>
              <a:rPr lang="en-US" sz="1400" dirty="0">
                <a:latin typeface="Consolas"/>
                <a:ea typeface="Calibri"/>
                <a:cs typeface="Times New Roman"/>
              </a:rPr>
              <a:t> ;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a:solidFill>
                  <a:srgbClr val="0000FF"/>
                </a:solidFill>
                <a:latin typeface="Consolas"/>
                <a:ea typeface="Calibri"/>
                <a:cs typeface="Times New Roman"/>
              </a:rPr>
              <a:t>for</a:t>
            </a:r>
            <a:r>
              <a:rPr lang="en-US" sz="1400" dirty="0">
                <a:latin typeface="Consolas"/>
                <a:ea typeface="Calibri"/>
                <a:cs typeface="Times New Roman"/>
              </a:rPr>
              <a:t> ( </a:t>
            </a:r>
            <a:r>
              <a:rPr lang="en-US" sz="1400" dirty="0" err="1">
                <a:latin typeface="Consolas"/>
                <a:ea typeface="Calibri"/>
                <a:cs typeface="Times New Roman"/>
              </a:rPr>
              <a:t>i</a:t>
            </a:r>
            <a:r>
              <a:rPr lang="en-US" sz="1400" dirty="0">
                <a:latin typeface="Consolas"/>
                <a:ea typeface="Calibri"/>
                <a:cs typeface="Times New Roman"/>
              </a:rPr>
              <a:t> = x ; </a:t>
            </a:r>
            <a:r>
              <a:rPr lang="en-US" sz="1400" dirty="0" err="1">
                <a:latin typeface="Consolas"/>
                <a:ea typeface="Calibri"/>
                <a:cs typeface="Times New Roman"/>
              </a:rPr>
              <a:t>i</a:t>
            </a:r>
            <a:r>
              <a:rPr lang="en-US" sz="1400" dirty="0">
                <a:latin typeface="Consolas"/>
                <a:ea typeface="Calibri"/>
                <a:cs typeface="Times New Roman"/>
              </a:rPr>
              <a:t> &gt;= 1 ; </a:t>
            </a:r>
            <a:r>
              <a:rPr lang="en-US" sz="1400" dirty="0" err="1">
                <a:latin typeface="Consolas"/>
                <a:ea typeface="Calibri"/>
                <a:cs typeface="Times New Roman"/>
              </a:rPr>
              <a:t>i</a:t>
            </a:r>
            <a:r>
              <a:rPr lang="en-US" sz="1400" dirty="0">
                <a:latin typeface="Consolas"/>
                <a:ea typeface="Calibri"/>
                <a:cs typeface="Times New Roman"/>
              </a:rPr>
              <a:t>--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f = f * </a:t>
            </a:r>
            <a:r>
              <a:rPr lang="en-US" sz="1400" dirty="0" err="1">
                <a:latin typeface="Consolas"/>
                <a:ea typeface="Calibri"/>
                <a:cs typeface="Times New Roman"/>
              </a:rPr>
              <a:t>i</a:t>
            </a:r>
            <a:r>
              <a:rPr lang="en-US" sz="1400" dirty="0">
                <a:latin typeface="Consolas"/>
                <a:ea typeface="Calibri"/>
                <a:cs typeface="Times New Roman"/>
              </a:rPr>
              <a:t> ;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r>
              <a:rPr lang="en-US" sz="1400" dirty="0">
                <a:solidFill>
                  <a:srgbClr val="0000FF"/>
                </a:solidFill>
                <a:latin typeface="Consolas"/>
                <a:ea typeface="Calibri"/>
                <a:cs typeface="Times New Roman"/>
              </a:rPr>
              <a:t>return</a:t>
            </a:r>
            <a:r>
              <a:rPr lang="en-US" sz="1400" dirty="0">
                <a:latin typeface="Consolas"/>
                <a:ea typeface="Calibri"/>
                <a:cs typeface="Times New Roman"/>
              </a:rPr>
              <a:t>  f  ;</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a:t>
            </a:r>
            <a:endParaRPr lang="en-US" sz="1400" dirty="0">
              <a:latin typeface="Calibri"/>
              <a:ea typeface="Calibri"/>
              <a:cs typeface="Times New Roman"/>
            </a:endParaRPr>
          </a:p>
          <a:p>
            <a:pPr defTabSz="182880">
              <a:lnSpc>
                <a:spcPct val="115000"/>
              </a:lnSpc>
            </a:pPr>
            <a:r>
              <a:rPr lang="en-US" sz="1400" dirty="0">
                <a:latin typeface="Consolas"/>
                <a:ea typeface="Calibri"/>
                <a:cs typeface="Times New Roman"/>
              </a:rPr>
              <a:t> </a:t>
            </a:r>
            <a:endParaRPr lang="en-US" sz="1400" dirty="0">
              <a:latin typeface="Calibri"/>
              <a:ea typeface="Calibri"/>
              <a:cs typeface="Times New Roman"/>
            </a:endParaRPr>
          </a:p>
          <a:p>
            <a:pPr defTabSz="182880">
              <a:lnSpc>
                <a:spcPct val="115000"/>
              </a:lnSpc>
              <a:spcAft>
                <a:spcPts val="1000"/>
              </a:spcAft>
            </a:pPr>
            <a:r>
              <a:rPr lang="en-US" sz="1400" dirty="0">
                <a:latin typeface="Calibri"/>
                <a:ea typeface="Calibri"/>
                <a:cs typeface="Times New Roman"/>
              </a:rPr>
              <a:t>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20</a:t>
            </a:fld>
            <a:endParaRPr lang="en-US"/>
          </a:p>
        </p:txBody>
      </p:sp>
      <p:sp>
        <p:nvSpPr>
          <p:cNvPr id="8" name="Cloud Callout 7"/>
          <p:cNvSpPr/>
          <p:nvPr/>
        </p:nvSpPr>
        <p:spPr>
          <a:xfrm>
            <a:off x="6934200" y="4111752"/>
            <a:ext cx="1676400" cy="765048"/>
          </a:xfrm>
          <a:prstGeom prst="cloudCallout">
            <a:avLst>
              <a:gd name="adj1" fmla="val -65400"/>
              <a:gd name="adj2" fmla="val 6250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t>Recursion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C1DA-0F2D-71FE-9F2D-C569061C4747}"/>
              </a:ext>
            </a:extLst>
          </p:cNvPr>
          <p:cNvSpPr>
            <a:spLocks noGrp="1"/>
          </p:cNvSpPr>
          <p:nvPr>
            <p:ph type="title"/>
          </p:nvPr>
        </p:nvSpPr>
        <p:spPr/>
        <p:txBody>
          <a:bodyPr/>
          <a:lstStyle/>
          <a:p>
            <a:r>
              <a:rPr lang="en-US" dirty="0"/>
              <a:t>Stack Visualization (when input is 4)</a:t>
            </a:r>
          </a:p>
        </p:txBody>
      </p:sp>
      <p:sp>
        <p:nvSpPr>
          <p:cNvPr id="3" name="Text Placeholder 2">
            <a:extLst>
              <a:ext uri="{FF2B5EF4-FFF2-40B4-BE49-F238E27FC236}">
                <a16:creationId xmlns:a16="http://schemas.microsoft.com/office/drawing/2014/main" id="{62CE68A9-A031-67A0-740E-9CF4013BFBB1}"/>
              </a:ext>
            </a:extLst>
          </p:cNvPr>
          <p:cNvSpPr>
            <a:spLocks noGrp="1"/>
          </p:cNvSpPr>
          <p:nvPr>
            <p:ph type="body" idx="1"/>
          </p:nvPr>
        </p:nvSpPr>
        <p:spPr/>
        <p:txBody>
          <a:bodyPr/>
          <a:lstStyle/>
          <a:p>
            <a:r>
              <a:rPr lang="en-US" dirty="0"/>
              <a:t>Growing phase (calls pushing):</a:t>
            </a:r>
          </a:p>
        </p:txBody>
      </p:sp>
      <p:sp>
        <p:nvSpPr>
          <p:cNvPr id="4" name="Text Placeholder 3">
            <a:extLst>
              <a:ext uri="{FF2B5EF4-FFF2-40B4-BE49-F238E27FC236}">
                <a16:creationId xmlns:a16="http://schemas.microsoft.com/office/drawing/2014/main" id="{75E21CE8-B436-3C67-A6FD-32B011457BB1}"/>
              </a:ext>
            </a:extLst>
          </p:cNvPr>
          <p:cNvSpPr>
            <a:spLocks noGrp="1"/>
          </p:cNvSpPr>
          <p:nvPr>
            <p:ph type="body" sz="half" idx="3"/>
          </p:nvPr>
        </p:nvSpPr>
        <p:spPr/>
        <p:txBody>
          <a:bodyPr>
            <a:normAutofit fontScale="92500" lnSpcReduction="20000"/>
          </a:bodyPr>
          <a:lstStyle/>
          <a:p>
            <a:r>
              <a:rPr lang="en-US" dirty="0"/>
              <a:t>Unwinding phase (returns popping):</a:t>
            </a:r>
          </a:p>
        </p:txBody>
      </p:sp>
      <p:sp>
        <p:nvSpPr>
          <p:cNvPr id="5" name="Footer Placeholder 4">
            <a:extLst>
              <a:ext uri="{FF2B5EF4-FFF2-40B4-BE49-F238E27FC236}">
                <a16:creationId xmlns:a16="http://schemas.microsoft.com/office/drawing/2014/main" id="{64644DC5-E1E9-E7FF-E56C-A60487D26AC6}"/>
              </a:ext>
            </a:extLst>
          </p:cNvPr>
          <p:cNvSpPr>
            <a:spLocks noGrp="1"/>
          </p:cNvSpPr>
          <p:nvPr>
            <p:ph type="ftr" sz="quarter" idx="11"/>
          </p:nvPr>
        </p:nvSpPr>
        <p:spPr/>
        <p:txBody>
          <a:bodyPr/>
          <a:lstStyle/>
          <a:p>
            <a:r>
              <a:rPr lang="en-US"/>
              <a:t>Algorithm and Data Structure </a:t>
            </a:r>
            <a:endParaRPr lang="en-US" dirty="0"/>
          </a:p>
        </p:txBody>
      </p:sp>
      <p:sp>
        <p:nvSpPr>
          <p:cNvPr id="6" name="Content Placeholder 5">
            <a:extLst>
              <a:ext uri="{FF2B5EF4-FFF2-40B4-BE49-F238E27FC236}">
                <a16:creationId xmlns:a16="http://schemas.microsoft.com/office/drawing/2014/main" id="{5F91330A-55AB-AC84-4DE9-EF79D332BC02}"/>
              </a:ext>
            </a:extLst>
          </p:cNvPr>
          <p:cNvSpPr>
            <a:spLocks noGrp="1"/>
          </p:cNvSpPr>
          <p:nvPr>
            <p:ph sz="quarter" idx="2"/>
          </p:nvPr>
        </p:nvSpPr>
        <p:spPr/>
        <p:txBody>
          <a:bodyPr/>
          <a:lstStyle/>
          <a:p>
            <a:r>
              <a:rPr lang="en-US" dirty="0"/>
              <a:t>Top → rec(1): x=1</a:t>
            </a:r>
          </a:p>
          <a:p>
            <a:pPr lvl="1"/>
            <a:r>
              <a:rPr lang="en-US" dirty="0"/>
              <a:t>rec(2): x=2, waiting f=2*?</a:t>
            </a:r>
          </a:p>
          <a:p>
            <a:pPr lvl="1"/>
            <a:r>
              <a:rPr lang="en-US" dirty="0"/>
              <a:t>rec(3): x=3, waiting f=3*?</a:t>
            </a:r>
          </a:p>
          <a:p>
            <a:pPr lvl="1"/>
            <a:r>
              <a:rPr lang="en-US" dirty="0"/>
              <a:t>rec(4): x=4, waiting f=4*?</a:t>
            </a:r>
          </a:p>
          <a:p>
            <a:pPr lvl="1"/>
            <a:r>
              <a:rPr lang="en-US" dirty="0"/>
              <a:t>main(): a=4, fact=?</a:t>
            </a:r>
          </a:p>
        </p:txBody>
      </p:sp>
      <p:sp>
        <p:nvSpPr>
          <p:cNvPr id="7" name="Content Placeholder 6">
            <a:extLst>
              <a:ext uri="{FF2B5EF4-FFF2-40B4-BE49-F238E27FC236}">
                <a16:creationId xmlns:a16="http://schemas.microsoft.com/office/drawing/2014/main" id="{C61AAD1A-08BE-4DFF-CFD7-3A646B5FE8FD}"/>
              </a:ext>
            </a:extLst>
          </p:cNvPr>
          <p:cNvSpPr>
            <a:spLocks noGrp="1"/>
          </p:cNvSpPr>
          <p:nvPr>
            <p:ph sz="quarter" idx="4"/>
          </p:nvPr>
        </p:nvSpPr>
        <p:spPr>
          <a:xfrm>
            <a:off x="4191000" y="2133600"/>
            <a:ext cx="4724400" cy="4038600"/>
          </a:xfrm>
        </p:spPr>
        <p:txBody>
          <a:bodyPr/>
          <a:lstStyle/>
          <a:p>
            <a:r>
              <a:rPr lang="en-US" dirty="0"/>
              <a:t>rec(1) → returns 1</a:t>
            </a:r>
          </a:p>
          <a:p>
            <a:r>
              <a:rPr lang="en-US" dirty="0"/>
              <a:t>rec(2) → f=2*1=2, returns 2</a:t>
            </a:r>
          </a:p>
          <a:p>
            <a:r>
              <a:rPr lang="en-US" dirty="0"/>
              <a:t>rec(3) → f=3*2=6, returns 6</a:t>
            </a:r>
          </a:p>
          <a:p>
            <a:r>
              <a:rPr lang="en-US" dirty="0"/>
              <a:t>rec(4) → f=4*6=24, returns 24</a:t>
            </a:r>
          </a:p>
          <a:p>
            <a:r>
              <a:rPr lang="en-US" dirty="0"/>
              <a:t>main   → fact=24</a:t>
            </a:r>
          </a:p>
          <a:p>
            <a:endParaRPr lang="en-US" dirty="0"/>
          </a:p>
        </p:txBody>
      </p:sp>
    </p:spTree>
    <p:extLst>
      <p:ext uri="{BB962C8B-B14F-4D97-AF65-F5344CB8AC3E}">
        <p14:creationId xmlns:p14="http://schemas.microsoft.com/office/powerpoint/2010/main" val="29158371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a9d6b0c5e03429742bb9d7b052012d2a">
  <xsd:schema xmlns:xsd="http://www.w3.org/2001/XMLSchema" xmlns:xs="http://www.w3.org/2001/XMLSchema" xmlns:p="http://schemas.microsoft.com/office/2006/metadata/properties" xmlns:ns2="fbb113d8-a423-4c9e-8257-bae59865eaa2" targetNamespace="http://schemas.microsoft.com/office/2006/metadata/properties" ma:root="true" ma:fieldsID="a285371dd10d5c24912be7db6adeb8e8"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C40F15C-AC3D-4744-B018-F0E0DACBD61F}"/>
</file>

<file path=customXml/itemProps2.xml><?xml version="1.0" encoding="utf-8"?>
<ds:datastoreItem xmlns:ds="http://schemas.openxmlformats.org/officeDocument/2006/customXml" ds:itemID="{F88E2D4C-5317-4228-8EFE-83A0080A3D61}"/>
</file>

<file path=customXml/itemProps3.xml><?xml version="1.0" encoding="utf-8"?>
<ds:datastoreItem xmlns:ds="http://schemas.openxmlformats.org/officeDocument/2006/customXml" ds:itemID="{20AA851C-2ADE-4A45-A7EA-0BF18017B653}"/>
</file>

<file path=docProps/app.xml><?xml version="1.0" encoding="utf-8"?>
<Properties xmlns="http://schemas.openxmlformats.org/officeDocument/2006/extended-properties" xmlns:vt="http://schemas.openxmlformats.org/officeDocument/2006/docPropsVTypes">
  <Template>Origin</Template>
  <TotalTime>825</TotalTime>
  <Words>1614</Words>
  <Application>Microsoft Office PowerPoint</Application>
  <PresentationFormat>On-screen Show (4:3)</PresentationFormat>
  <Paragraphs>224</Paragraphs>
  <Slides>21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21</vt:i4>
      </vt:variant>
    </vt:vector>
  </HeadingPairs>
  <TitlesOfParts>
    <vt:vector size="30" baseType="lpstr">
      <vt:lpstr>Bookman Old Style</vt:lpstr>
      <vt:lpstr>Calibri</vt:lpstr>
      <vt:lpstr>Consolas</vt:lpstr>
      <vt:lpstr>Gill Sans MT</vt:lpstr>
      <vt:lpstr>Wingdings</vt:lpstr>
      <vt:lpstr>Wingdings 3</vt:lpstr>
      <vt:lpstr>Origin</vt:lpstr>
      <vt:lpstr>2_Origin</vt:lpstr>
      <vt:lpstr>1_Origin</vt:lpstr>
      <vt:lpstr>Lists using Array</vt:lpstr>
      <vt:lpstr>Introduction</vt:lpstr>
      <vt:lpstr>Why Array</vt:lpstr>
      <vt:lpstr>PowerPoint Presentation</vt:lpstr>
      <vt:lpstr>For Example</vt:lpstr>
      <vt:lpstr>Representation of Linear Array In Memory</vt:lpstr>
      <vt:lpstr>PowerPoint Presentation</vt:lpstr>
      <vt:lpstr>Operations on linear Arrays</vt:lpstr>
      <vt:lpstr>Traversing Operation </vt:lpstr>
      <vt:lpstr>Algorithm to compute the sum of values of a linear array having ten elements</vt:lpstr>
      <vt:lpstr>Inserting Operation </vt:lpstr>
      <vt:lpstr>Write an algorithm to add 6 values into elements at the end of the array ‘temp’ that has only four items stored in its first four elements</vt:lpstr>
      <vt:lpstr>Inserting value at specified location</vt:lpstr>
      <vt:lpstr>PowerPoint Presentation</vt:lpstr>
      <vt:lpstr>Deleting operations</vt:lpstr>
      <vt:lpstr>Write an algorithm to delete the value at location K of an array ‘country’ having N elements</vt:lpstr>
      <vt:lpstr>Recursion</vt:lpstr>
      <vt:lpstr>Recursion</vt:lpstr>
      <vt:lpstr>Recursion (Factorial Example)</vt:lpstr>
      <vt:lpstr>Recursion (Factorial Example)</vt:lpstr>
      <vt:lpstr>Stack Visualization (when input is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40</cp:revision>
  <dcterms:created xsi:type="dcterms:W3CDTF">2012-09-05T05:27:50Z</dcterms:created>
  <dcterms:modified xsi:type="dcterms:W3CDTF">2025-09-05T09:17:58Z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