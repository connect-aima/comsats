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72" r:id="rId3"/>
  </p:sldMasterIdLst>
  <p:notesMasterIdLst>
    <p:notesMasterId r:id="rId33"/>
  </p:notesMasterIdLst>
  <p:sldIdLst>
    <p:sldId id="256" r:id="rId4"/>
    <p:sldId id="273" r:id="rId5"/>
    <p:sldId id="274" r:id="rId6"/>
    <p:sldId id="275" r:id="rId7"/>
    <p:sldId id="276" r:id="rId8"/>
    <p:sldId id="284" r:id="rId9"/>
    <p:sldId id="282" r:id="rId10"/>
    <p:sldId id="286" r:id="rId11"/>
    <p:sldId id="277" r:id="rId12"/>
    <p:sldId id="297" r:id="rId13"/>
    <p:sldId id="278" r:id="rId14"/>
    <p:sldId id="279" r:id="rId15"/>
    <p:sldId id="290" r:id="rId16"/>
    <p:sldId id="291" r:id="rId17"/>
    <p:sldId id="296" r:id="rId18"/>
    <p:sldId id="280" r:id="rId19"/>
    <p:sldId id="281" r:id="rId20"/>
    <p:sldId id="263" r:id="rId21"/>
    <p:sldId id="298" r:id="rId22"/>
    <p:sldId id="299" r:id="rId23"/>
    <p:sldId id="300" r:id="rId24"/>
    <p:sldId id="301" r:id="rId25"/>
    <p:sldId id="302" r:id="rId26"/>
    <p:sldId id="303" r:id="rId27"/>
    <p:sldId id="289" r:id="rId28"/>
    <p:sldId id="295" r:id="rId29"/>
    <p:sldId id="292" r:id="rId30"/>
    <p:sldId id="293" r:id="rId31"/>
    <p:sldId id="294"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F2865B-BD58-4395-9FA6-4C1F71F74BD9}" v="158" dt="2025-09-19T07:57:05.0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792" autoAdjust="0"/>
  </p:normalViewPr>
  <p:slideViewPr>
    <p:cSldViewPr>
      <p:cViewPr varScale="1">
        <p:scale>
          <a:sx n="83" d="100"/>
          <a:sy n="83" d="100"/>
        </p:scale>
        <p:origin x="145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5/10/relationships/revisionInfo" Target="revisionInfo.xml"/><Relationship Id="rId21" Type="http://schemas.openxmlformats.org/officeDocument/2006/relationships/slide" Target="slides/slide18.xml"/><Relationship Id="rId34" Type="http://schemas.openxmlformats.org/officeDocument/2006/relationships/presProps" Target="presProps.xml"/><Relationship Id="rId42"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40" Type="http://schemas.openxmlformats.org/officeDocument/2006/relationships/customXml" Target="../customXml/item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ique Ahmad Zafar" userId="3c3190ae-5c8d-4775-903c-57da784da929" providerId="ADAL" clId="{939B054C-F8A9-4478-8F2C-9BA32CC365B5}"/>
    <pc:docChg chg="undo custSel addSld delSld modSld">
      <pc:chgData name="Atique Ahmad Zafar" userId="3c3190ae-5c8d-4775-903c-57da784da929" providerId="ADAL" clId="{939B054C-F8A9-4478-8F2C-9BA32CC365B5}" dt="2025-09-19T07:57:49.133" v="262" actId="27636"/>
      <pc:docMkLst>
        <pc:docMk/>
      </pc:docMkLst>
      <pc:sldChg chg="modSp">
        <pc:chgData name="Atique Ahmad Zafar" userId="3c3190ae-5c8d-4775-903c-57da784da929" providerId="ADAL" clId="{939B054C-F8A9-4478-8F2C-9BA32CC365B5}" dt="2025-09-16T10:32:55.487" v="160" actId="6549"/>
        <pc:sldMkLst>
          <pc:docMk/>
          <pc:sldMk cId="2813967122" sldId="284"/>
        </pc:sldMkLst>
        <pc:spChg chg="mod">
          <ac:chgData name="Atique Ahmad Zafar" userId="3c3190ae-5c8d-4775-903c-57da784da929" providerId="ADAL" clId="{939B054C-F8A9-4478-8F2C-9BA32CC365B5}" dt="2025-09-16T10:32:55.487" v="160" actId="6549"/>
          <ac:spMkLst>
            <pc:docMk/>
            <pc:sldMk cId="2813967122" sldId="284"/>
            <ac:spMk id="5" creationId="{A3688455-68D7-FAEA-2CC1-4BA2835E7126}"/>
          </ac:spMkLst>
        </pc:spChg>
      </pc:sldChg>
      <pc:sldChg chg="modSp del mod modShow">
        <pc:chgData name="Atique Ahmad Zafar" userId="3c3190ae-5c8d-4775-903c-57da784da929" providerId="ADAL" clId="{939B054C-F8A9-4478-8F2C-9BA32CC365B5}" dt="2025-09-17T04:21:52.289" v="161" actId="2696"/>
        <pc:sldMkLst>
          <pc:docMk/>
          <pc:sldMk cId="3903543270" sldId="288"/>
        </pc:sldMkLst>
      </pc:sldChg>
      <pc:sldChg chg="modSp mod">
        <pc:chgData name="Atique Ahmad Zafar" userId="3c3190ae-5c8d-4775-903c-57da784da929" providerId="ADAL" clId="{939B054C-F8A9-4478-8F2C-9BA32CC365B5}" dt="2025-09-19T05:54:27.092" v="167" actId="20577"/>
        <pc:sldMkLst>
          <pc:docMk/>
          <pc:sldMk cId="2400185486" sldId="292"/>
        </pc:sldMkLst>
        <pc:spChg chg="mod">
          <ac:chgData name="Atique Ahmad Zafar" userId="3c3190ae-5c8d-4775-903c-57da784da929" providerId="ADAL" clId="{939B054C-F8A9-4478-8F2C-9BA32CC365B5}" dt="2025-09-19T05:54:27.092" v="167" actId="20577"/>
          <ac:spMkLst>
            <pc:docMk/>
            <pc:sldMk cId="2400185486" sldId="292"/>
            <ac:spMk id="4" creationId="{00000000-0000-0000-0000-000000000000}"/>
          </ac:spMkLst>
        </pc:spChg>
      </pc:sldChg>
      <pc:sldChg chg="modSp add mod modAnim">
        <pc:chgData name="Atique Ahmad Zafar" userId="3c3190ae-5c8d-4775-903c-57da784da929" providerId="ADAL" clId="{939B054C-F8A9-4478-8F2C-9BA32CC365B5}" dt="2025-09-16T09:33:29.792" v="159" actId="113"/>
        <pc:sldMkLst>
          <pc:docMk/>
          <pc:sldMk cId="252898652" sldId="297"/>
        </pc:sldMkLst>
        <pc:spChg chg="mod">
          <ac:chgData name="Atique Ahmad Zafar" userId="3c3190ae-5c8d-4775-903c-57da784da929" providerId="ADAL" clId="{939B054C-F8A9-4478-8F2C-9BA32CC365B5}" dt="2025-09-16T09:31:45.293" v="134" actId="255"/>
          <ac:spMkLst>
            <pc:docMk/>
            <pc:sldMk cId="252898652" sldId="297"/>
            <ac:spMk id="4" creationId="{BE5A1707-202D-0522-3F1D-7E02726F946B}"/>
          </ac:spMkLst>
        </pc:spChg>
        <pc:spChg chg="mod">
          <ac:chgData name="Atique Ahmad Zafar" userId="3c3190ae-5c8d-4775-903c-57da784da929" providerId="ADAL" clId="{939B054C-F8A9-4478-8F2C-9BA32CC365B5}" dt="2025-09-16T09:33:15.568" v="156" actId="113"/>
          <ac:spMkLst>
            <pc:docMk/>
            <pc:sldMk cId="252898652" sldId="297"/>
            <ac:spMk id="5" creationId="{644BFF9D-6FE6-B66B-09C9-322E717C9950}"/>
          </ac:spMkLst>
        </pc:spChg>
        <pc:spChg chg="mod">
          <ac:chgData name="Atique Ahmad Zafar" userId="3c3190ae-5c8d-4775-903c-57da784da929" providerId="ADAL" clId="{939B054C-F8A9-4478-8F2C-9BA32CC365B5}" dt="2025-09-16T09:31:52.424" v="135" actId="255"/>
          <ac:spMkLst>
            <pc:docMk/>
            <pc:sldMk cId="252898652" sldId="297"/>
            <ac:spMk id="7" creationId="{4A3743FE-1345-6308-9403-6548C483A10F}"/>
          </ac:spMkLst>
        </pc:spChg>
        <pc:spChg chg="mod">
          <ac:chgData name="Atique Ahmad Zafar" userId="3c3190ae-5c8d-4775-903c-57da784da929" providerId="ADAL" clId="{939B054C-F8A9-4478-8F2C-9BA32CC365B5}" dt="2025-09-16T09:32:08.550" v="142" actId="255"/>
          <ac:spMkLst>
            <pc:docMk/>
            <pc:sldMk cId="252898652" sldId="297"/>
            <ac:spMk id="10" creationId="{9C85BC8B-76D9-4709-616D-12615D7F2A83}"/>
          </ac:spMkLst>
        </pc:spChg>
        <pc:spChg chg="mod">
          <ac:chgData name="Atique Ahmad Zafar" userId="3c3190ae-5c8d-4775-903c-57da784da929" providerId="ADAL" clId="{939B054C-F8A9-4478-8F2C-9BA32CC365B5}" dt="2025-09-16T09:33:26.713" v="158" actId="113"/>
          <ac:spMkLst>
            <pc:docMk/>
            <pc:sldMk cId="252898652" sldId="297"/>
            <ac:spMk id="11" creationId="{FB6B85F4-32F1-18FE-FA72-4F9E4E0D5C42}"/>
          </ac:spMkLst>
        </pc:spChg>
        <pc:spChg chg="mod">
          <ac:chgData name="Atique Ahmad Zafar" userId="3c3190ae-5c8d-4775-903c-57da784da929" providerId="ADAL" clId="{939B054C-F8A9-4478-8F2C-9BA32CC365B5}" dt="2025-09-16T09:33:29.792" v="159" actId="113"/>
          <ac:spMkLst>
            <pc:docMk/>
            <pc:sldMk cId="252898652" sldId="297"/>
            <ac:spMk id="12" creationId="{6B9278F3-9850-5F5D-092F-0A44FAE71449}"/>
          </ac:spMkLst>
        </pc:spChg>
      </pc:sldChg>
      <pc:sldChg chg="add del">
        <pc:chgData name="Atique Ahmad Zafar" userId="3c3190ae-5c8d-4775-903c-57da784da929" providerId="ADAL" clId="{939B054C-F8A9-4478-8F2C-9BA32CC365B5}" dt="2025-09-16T09:24:40.352" v="65"/>
        <pc:sldMkLst>
          <pc:docMk/>
          <pc:sldMk cId="2110997891" sldId="298"/>
        </pc:sldMkLst>
      </pc:sldChg>
      <pc:sldChg chg="addSp modSp new mod">
        <pc:chgData name="Atique Ahmad Zafar" userId="3c3190ae-5c8d-4775-903c-57da784da929" providerId="ADAL" clId="{939B054C-F8A9-4478-8F2C-9BA32CC365B5}" dt="2025-09-19T07:48:58.575" v="241" actId="27636"/>
        <pc:sldMkLst>
          <pc:docMk/>
          <pc:sldMk cId="3424048005" sldId="298"/>
        </pc:sldMkLst>
        <pc:spChg chg="mod">
          <ac:chgData name="Atique Ahmad Zafar" userId="3c3190ae-5c8d-4775-903c-57da784da929" providerId="ADAL" clId="{939B054C-F8A9-4478-8F2C-9BA32CC365B5}" dt="2025-09-19T06:27:02.900" v="169"/>
          <ac:spMkLst>
            <pc:docMk/>
            <pc:sldMk cId="3424048005" sldId="298"/>
            <ac:spMk id="2" creationId="{EB947538-D41B-CC0E-7DB9-AE3709940FCF}"/>
          </ac:spMkLst>
        </pc:spChg>
        <pc:spChg chg="mod">
          <ac:chgData name="Atique Ahmad Zafar" userId="3c3190ae-5c8d-4775-903c-57da784da929" providerId="ADAL" clId="{939B054C-F8A9-4478-8F2C-9BA32CC365B5}" dt="2025-09-19T07:48:58.575" v="241" actId="27636"/>
          <ac:spMkLst>
            <pc:docMk/>
            <pc:sldMk cId="3424048005" sldId="298"/>
            <ac:spMk id="4" creationId="{8A13145B-8BFB-5CA3-8A60-1CE477717EE4}"/>
          </ac:spMkLst>
        </pc:spChg>
        <pc:spChg chg="add">
          <ac:chgData name="Atique Ahmad Zafar" userId="3c3190ae-5c8d-4775-903c-57da784da929" providerId="ADAL" clId="{939B054C-F8A9-4478-8F2C-9BA32CC365B5}" dt="2025-09-19T07:46:44.413" v="220"/>
          <ac:spMkLst>
            <pc:docMk/>
            <pc:sldMk cId="3424048005" sldId="298"/>
            <ac:spMk id="5" creationId="{658B16EF-97EE-0B0B-45AC-3F17410EBA15}"/>
          </ac:spMkLst>
        </pc:spChg>
      </pc:sldChg>
      <pc:sldChg chg="addSp delSp modSp new mod">
        <pc:chgData name="Atique Ahmad Zafar" userId="3c3190ae-5c8d-4775-903c-57da784da929" providerId="ADAL" clId="{939B054C-F8A9-4478-8F2C-9BA32CC365B5}" dt="2025-09-19T07:35:54.801" v="188" actId="20577"/>
        <pc:sldMkLst>
          <pc:docMk/>
          <pc:sldMk cId="2937318061" sldId="299"/>
        </pc:sldMkLst>
        <pc:spChg chg="mod">
          <ac:chgData name="Atique Ahmad Zafar" userId="3c3190ae-5c8d-4775-903c-57da784da929" providerId="ADAL" clId="{939B054C-F8A9-4478-8F2C-9BA32CC365B5}" dt="2025-09-19T07:35:09.523" v="175"/>
          <ac:spMkLst>
            <pc:docMk/>
            <pc:sldMk cId="2937318061" sldId="299"/>
            <ac:spMk id="2" creationId="{50A1D612-A7CA-574C-7296-0144460EB884}"/>
          </ac:spMkLst>
        </pc:spChg>
        <pc:spChg chg="add del mod">
          <ac:chgData name="Atique Ahmad Zafar" userId="3c3190ae-5c8d-4775-903c-57da784da929" providerId="ADAL" clId="{939B054C-F8A9-4478-8F2C-9BA32CC365B5}" dt="2025-09-19T07:35:54.801" v="188" actId="20577"/>
          <ac:spMkLst>
            <pc:docMk/>
            <pc:sldMk cId="2937318061" sldId="299"/>
            <ac:spMk id="4" creationId="{1FDE78D7-5656-F714-CD68-5B9C553CD5BF}"/>
          </ac:spMkLst>
        </pc:spChg>
        <pc:spChg chg="add mod">
          <ac:chgData name="Atique Ahmad Zafar" userId="3c3190ae-5c8d-4775-903c-57da784da929" providerId="ADAL" clId="{939B054C-F8A9-4478-8F2C-9BA32CC365B5}" dt="2025-09-19T07:35:18.364" v="177"/>
          <ac:spMkLst>
            <pc:docMk/>
            <pc:sldMk cId="2937318061" sldId="299"/>
            <ac:spMk id="5" creationId="{BCB960AD-1E6A-E900-CBBF-157BBD7DA4BC}"/>
          </ac:spMkLst>
        </pc:spChg>
      </pc:sldChg>
      <pc:sldChg chg="modSp new mod modShow">
        <pc:chgData name="Atique Ahmad Zafar" userId="3c3190ae-5c8d-4775-903c-57da784da929" providerId="ADAL" clId="{939B054C-F8A9-4478-8F2C-9BA32CC365B5}" dt="2025-09-19T07:51:36.554" v="243" actId="729"/>
        <pc:sldMkLst>
          <pc:docMk/>
          <pc:sldMk cId="20694762" sldId="300"/>
        </pc:sldMkLst>
        <pc:spChg chg="mod">
          <ac:chgData name="Atique Ahmad Zafar" userId="3c3190ae-5c8d-4775-903c-57da784da929" providerId="ADAL" clId="{939B054C-F8A9-4478-8F2C-9BA32CC365B5}" dt="2025-09-19T07:36:47.004" v="190"/>
          <ac:spMkLst>
            <pc:docMk/>
            <pc:sldMk cId="20694762" sldId="300"/>
            <ac:spMk id="2" creationId="{5A347DD3-FE7E-D477-F4C5-E0D20A0A77E1}"/>
          </ac:spMkLst>
        </pc:spChg>
        <pc:spChg chg="mod">
          <ac:chgData name="Atique Ahmad Zafar" userId="3c3190ae-5c8d-4775-903c-57da784da929" providerId="ADAL" clId="{939B054C-F8A9-4478-8F2C-9BA32CC365B5}" dt="2025-09-19T07:36:55.057" v="191"/>
          <ac:spMkLst>
            <pc:docMk/>
            <pc:sldMk cId="20694762" sldId="300"/>
            <ac:spMk id="4" creationId="{F1E0EF93-0E19-5889-A853-0E9F9DC01E27}"/>
          </ac:spMkLst>
        </pc:spChg>
      </pc:sldChg>
      <pc:sldChg chg="addSp modSp new mod">
        <pc:chgData name="Atique Ahmad Zafar" userId="3c3190ae-5c8d-4775-903c-57da784da929" providerId="ADAL" clId="{939B054C-F8A9-4478-8F2C-9BA32CC365B5}" dt="2025-09-19T07:57:49.133" v="262" actId="27636"/>
        <pc:sldMkLst>
          <pc:docMk/>
          <pc:sldMk cId="3879709080" sldId="301"/>
        </pc:sldMkLst>
        <pc:spChg chg="mod">
          <ac:chgData name="Atique Ahmad Zafar" userId="3c3190ae-5c8d-4775-903c-57da784da929" providerId="ADAL" clId="{939B054C-F8A9-4478-8F2C-9BA32CC365B5}" dt="2025-09-19T07:37:15.425" v="193"/>
          <ac:spMkLst>
            <pc:docMk/>
            <pc:sldMk cId="3879709080" sldId="301"/>
            <ac:spMk id="2" creationId="{7A652D16-AF09-9B90-07BD-4AFC3F8BFA8B}"/>
          </ac:spMkLst>
        </pc:spChg>
        <pc:spChg chg="mod">
          <ac:chgData name="Atique Ahmad Zafar" userId="3c3190ae-5c8d-4775-903c-57da784da929" providerId="ADAL" clId="{939B054C-F8A9-4478-8F2C-9BA32CC365B5}" dt="2025-09-19T07:57:49.133" v="262" actId="27636"/>
          <ac:spMkLst>
            <pc:docMk/>
            <pc:sldMk cId="3879709080" sldId="301"/>
            <ac:spMk id="4" creationId="{535D40FF-1A0A-36E4-E6A9-A710FB165D24}"/>
          </ac:spMkLst>
        </pc:spChg>
        <pc:spChg chg="add">
          <ac:chgData name="Atique Ahmad Zafar" userId="3c3190ae-5c8d-4775-903c-57da784da929" providerId="ADAL" clId="{939B054C-F8A9-4478-8F2C-9BA32CC365B5}" dt="2025-09-19T07:55:51.237" v="244"/>
          <ac:spMkLst>
            <pc:docMk/>
            <pc:sldMk cId="3879709080" sldId="301"/>
            <ac:spMk id="5" creationId="{B34C7597-90CB-BFCC-0466-100F095C846A}"/>
          </ac:spMkLst>
        </pc:spChg>
      </pc:sldChg>
      <pc:sldChg chg="addSp delSp modSp new mod">
        <pc:chgData name="Atique Ahmad Zafar" userId="3c3190ae-5c8d-4775-903c-57da784da929" providerId="ADAL" clId="{939B054C-F8A9-4478-8F2C-9BA32CC365B5}" dt="2025-09-19T07:42:10.974" v="212" actId="15"/>
        <pc:sldMkLst>
          <pc:docMk/>
          <pc:sldMk cId="1838540773" sldId="302"/>
        </pc:sldMkLst>
        <pc:spChg chg="mod">
          <ac:chgData name="Atique Ahmad Zafar" userId="3c3190ae-5c8d-4775-903c-57da784da929" providerId="ADAL" clId="{939B054C-F8A9-4478-8F2C-9BA32CC365B5}" dt="2025-09-19T07:38:18.356" v="199"/>
          <ac:spMkLst>
            <pc:docMk/>
            <pc:sldMk cId="1838540773" sldId="302"/>
            <ac:spMk id="2" creationId="{477CC118-0D81-9086-BA00-38448EF6D61B}"/>
          </ac:spMkLst>
        </pc:spChg>
        <pc:spChg chg="add del mod">
          <ac:chgData name="Atique Ahmad Zafar" userId="3c3190ae-5c8d-4775-903c-57da784da929" providerId="ADAL" clId="{939B054C-F8A9-4478-8F2C-9BA32CC365B5}" dt="2025-09-19T07:42:10.974" v="212" actId="15"/>
          <ac:spMkLst>
            <pc:docMk/>
            <pc:sldMk cId="1838540773" sldId="302"/>
            <ac:spMk id="4" creationId="{885865EC-B5C4-62F1-758A-B5158F955409}"/>
          </ac:spMkLst>
        </pc:spChg>
        <pc:spChg chg="add mod">
          <ac:chgData name="Atique Ahmad Zafar" userId="3c3190ae-5c8d-4775-903c-57da784da929" providerId="ADAL" clId="{939B054C-F8A9-4478-8F2C-9BA32CC365B5}" dt="2025-09-19T07:38:27.766" v="201"/>
          <ac:spMkLst>
            <pc:docMk/>
            <pc:sldMk cId="1838540773" sldId="302"/>
            <ac:spMk id="5" creationId="{01F8F4AB-79E6-0128-EC9E-B21C696587A9}"/>
          </ac:spMkLst>
        </pc:spChg>
      </pc:sldChg>
      <pc:sldChg chg="modSp new mod">
        <pc:chgData name="Atique Ahmad Zafar" userId="3c3190ae-5c8d-4775-903c-57da784da929" providerId="ADAL" clId="{939B054C-F8A9-4478-8F2C-9BA32CC365B5}" dt="2025-09-19T07:42:55.418" v="219" actId="113"/>
        <pc:sldMkLst>
          <pc:docMk/>
          <pc:sldMk cId="1552911025" sldId="303"/>
        </pc:sldMkLst>
        <pc:spChg chg="mod">
          <ac:chgData name="Atique Ahmad Zafar" userId="3c3190ae-5c8d-4775-903c-57da784da929" providerId="ADAL" clId="{939B054C-F8A9-4478-8F2C-9BA32CC365B5}" dt="2025-09-19T07:42:33.169" v="214"/>
          <ac:spMkLst>
            <pc:docMk/>
            <pc:sldMk cId="1552911025" sldId="303"/>
            <ac:spMk id="2" creationId="{541BAB7A-4937-9B9E-DE53-D03F35B1462C}"/>
          </ac:spMkLst>
        </pc:spChg>
        <pc:spChg chg="mod">
          <ac:chgData name="Atique Ahmad Zafar" userId="3c3190ae-5c8d-4775-903c-57da784da929" providerId="ADAL" clId="{939B054C-F8A9-4478-8F2C-9BA32CC365B5}" dt="2025-09-19T07:42:55.418" v="219" actId="113"/>
          <ac:spMkLst>
            <pc:docMk/>
            <pc:sldMk cId="1552911025" sldId="303"/>
            <ac:spMk id="4" creationId="{204D0ED2-581C-E656-4E40-58BAAB0750F7}"/>
          </ac:spMkLst>
        </pc:spChg>
      </pc:sldChg>
    </pc:docChg>
  </pc:docChgLst>
  <pc:docChgLst>
    <pc:chgData name="Atique Ahmad Zafar" userId="3c3190ae-5c8d-4775-903c-57da784da929" providerId="ADAL" clId="{6477827E-C108-4BB0-8DE1-9A4983197077}"/>
    <pc:docChg chg="undo custSel addSld modSld">
      <pc:chgData name="Atique Ahmad Zafar" userId="3c3190ae-5c8d-4775-903c-57da784da929" providerId="ADAL" clId="{6477827E-C108-4BB0-8DE1-9A4983197077}" dt="2025-02-24T04:00:30.227" v="113" actId="255"/>
      <pc:docMkLst>
        <pc:docMk/>
      </pc:docMkLst>
      <pc:sldChg chg="modSp mod modShow">
        <pc:chgData name="Atique Ahmad Zafar" userId="3c3190ae-5c8d-4775-903c-57da784da929" providerId="ADAL" clId="{6477827E-C108-4BB0-8DE1-9A4983197077}" dt="2025-02-24T03:59:42.163" v="107" actId="729"/>
        <pc:sldMkLst>
          <pc:docMk/>
          <pc:sldMk cId="1269555911" sldId="291"/>
        </pc:sldMkLst>
      </pc:sldChg>
      <pc:sldChg chg="addSp delSp modSp new mod">
        <pc:chgData name="Atique Ahmad Zafar" userId="3c3190ae-5c8d-4775-903c-57da784da929" providerId="ADAL" clId="{6477827E-C108-4BB0-8DE1-9A4983197077}" dt="2025-02-24T04:00:30.227" v="113" actId="255"/>
        <pc:sldMkLst>
          <pc:docMk/>
          <pc:sldMk cId="2904914140"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4DCCB-EE02-4BA4-96F8-214A24D2B51B}" type="datetimeFigureOut">
              <a:rPr lang="en-US" smtClean="0"/>
              <a:pPr/>
              <a:t>9/19/2025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D50B0-D53F-4459-8D78-0CE7DA098017}" type="slidenum">
              <a:rPr lang="en-US" smtClean="0"/>
              <a:pPr/>
              <a:t>‹#›</a:t>
            </a:fld>
            <a:endParaRPr lang="en-US" dirty="0"/>
          </a:p>
        </p:txBody>
      </p:sp>
    </p:spTree>
    <p:extLst>
      <p:ext uri="{BB962C8B-B14F-4D97-AF65-F5344CB8AC3E}">
        <p14:creationId xmlns:p14="http://schemas.microsoft.com/office/powerpoint/2010/main" val="57961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Input DATA to be inserted</a:t>
            </a:r>
            <a:r>
              <a:rPr lang="en-US" b="0" i="0" dirty="0">
                <a:solidFill>
                  <a:srgbClr val="0D0D0D"/>
                </a:solidFill>
                <a:effectLst/>
                <a:latin typeface="Söhne"/>
              </a:rPr>
              <a:t>: This is the step where you take the input data that you want to insert into the linked list.</a:t>
            </a:r>
          </a:p>
          <a:p>
            <a:pPr algn="l">
              <a:buFont typeface="+mj-lt"/>
              <a:buAutoNum type="arabicPeriod"/>
            </a:pPr>
            <a:r>
              <a:rPr lang="en-US" b="1" i="0" dirty="0">
                <a:solidFill>
                  <a:srgbClr val="0D0D0D"/>
                </a:solidFill>
                <a:effectLst/>
                <a:latin typeface="Söhne"/>
              </a:rPr>
              <a:t>Create a </a:t>
            </a:r>
            <a:r>
              <a:rPr lang="en-US" b="1" i="0" dirty="0" err="1">
                <a:solidFill>
                  <a:srgbClr val="0D0D0D"/>
                </a:solidFill>
                <a:effectLst/>
                <a:latin typeface="Söhne"/>
              </a:rPr>
              <a:t>NewNode</a:t>
            </a:r>
            <a:r>
              <a:rPr lang="en-US" b="0" i="0" dirty="0">
                <a:solidFill>
                  <a:srgbClr val="0D0D0D"/>
                </a:solidFill>
                <a:effectLst/>
                <a:latin typeface="Söhne"/>
              </a:rPr>
              <a:t>: Allocate memory for a new node and create a node called </a:t>
            </a:r>
            <a:r>
              <a:rPr lang="en-US" b="0" i="0" dirty="0" err="1">
                <a:solidFill>
                  <a:srgbClr val="0D0D0D"/>
                </a:solidFill>
                <a:effectLst/>
                <a:latin typeface="Söhne"/>
              </a:rPr>
              <a:t>NewNode</a:t>
            </a:r>
            <a:r>
              <a:rPr lang="en-US" b="0" i="0" dirty="0">
                <a:solidFill>
                  <a:srgbClr val="0D0D0D"/>
                </a:solidFill>
                <a:effectLst/>
                <a:latin typeface="Söhne"/>
              </a:rPr>
              <a:t>.</a:t>
            </a:r>
          </a:p>
          <a:p>
            <a:pPr algn="l">
              <a:buFont typeface="+mj-lt"/>
              <a:buAutoNum type="arabicPeriod"/>
            </a:pPr>
            <a:r>
              <a:rPr lang="en-US" b="1" i="0" dirty="0" err="1">
                <a:solidFill>
                  <a:srgbClr val="0D0D0D"/>
                </a:solidFill>
                <a:effectLst/>
                <a:latin typeface="Söhne"/>
              </a:rPr>
              <a:t>NewNode</a:t>
            </a:r>
            <a:r>
              <a:rPr lang="en-US" b="1" i="0" dirty="0">
                <a:solidFill>
                  <a:srgbClr val="0D0D0D"/>
                </a:solidFill>
                <a:effectLst/>
                <a:latin typeface="Söhne"/>
              </a:rPr>
              <a:t> → DATA = DATA</a:t>
            </a:r>
            <a:r>
              <a:rPr lang="en-US" b="0" i="0" dirty="0">
                <a:solidFill>
                  <a:srgbClr val="0D0D0D"/>
                </a:solidFill>
                <a:effectLst/>
                <a:latin typeface="Söhne"/>
              </a:rPr>
              <a:t>: Assign the input data to the DATA field of the newly created node.</a:t>
            </a:r>
          </a:p>
          <a:p>
            <a:pPr algn="l">
              <a:buFont typeface="+mj-lt"/>
              <a:buAutoNum type="arabicPeriod"/>
            </a:pPr>
            <a:r>
              <a:rPr lang="en-US" b="1" i="0" dirty="0">
                <a:solidFill>
                  <a:srgbClr val="0D0D0D"/>
                </a:solidFill>
                <a:effectLst/>
                <a:latin typeface="Söhne"/>
              </a:rPr>
              <a:t>If (START equal to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err="1">
                <a:solidFill>
                  <a:srgbClr val="0D0D0D"/>
                </a:solidFill>
                <a:effectLst/>
                <a:latin typeface="Söhne"/>
              </a:rPr>
              <a:t>NewNode</a:t>
            </a:r>
            <a:r>
              <a:rPr lang="en-US" b="1" i="0" dirty="0">
                <a:solidFill>
                  <a:srgbClr val="0D0D0D"/>
                </a:solidFill>
                <a:effectLst/>
                <a:latin typeface="Söhne"/>
              </a:rPr>
              <a:t> → Link = NULL</a:t>
            </a:r>
            <a:r>
              <a:rPr lang="en-US" b="0" i="0" dirty="0">
                <a:solidFill>
                  <a:srgbClr val="0D0D0D"/>
                </a:solidFill>
                <a:effectLst/>
                <a:latin typeface="Söhne"/>
              </a:rPr>
              <a:t>: If the linked list is empty (i.e., START is NULL), set the Link field of </a:t>
            </a:r>
            <a:r>
              <a:rPr lang="en-US" b="0" i="0" dirty="0" err="1">
                <a:solidFill>
                  <a:srgbClr val="0D0D0D"/>
                </a:solidFill>
                <a:effectLst/>
                <a:latin typeface="Söhne"/>
              </a:rPr>
              <a:t>NewNode</a:t>
            </a:r>
            <a:r>
              <a:rPr lang="en-US" b="0" i="0" dirty="0">
                <a:solidFill>
                  <a:srgbClr val="0D0D0D"/>
                </a:solidFill>
                <a:effectLst/>
                <a:latin typeface="Söhne"/>
              </a:rPr>
              <a:t> to NULL.</a:t>
            </a:r>
          </a:p>
          <a:p>
            <a:pPr algn="l">
              <a:buFont typeface="+mj-lt"/>
              <a:buAutoNum type="arabicPeriod"/>
            </a:pPr>
            <a:r>
              <a:rPr lang="en-US" b="1" i="0" dirty="0">
                <a:solidFill>
                  <a:srgbClr val="0D0D0D"/>
                </a:solidFill>
                <a:effectLst/>
                <a:latin typeface="Söhne"/>
              </a:rPr>
              <a:t>Else</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err="1">
                <a:solidFill>
                  <a:srgbClr val="0D0D0D"/>
                </a:solidFill>
                <a:effectLst/>
                <a:latin typeface="Söhne"/>
              </a:rPr>
              <a:t>NewNode</a:t>
            </a:r>
            <a:r>
              <a:rPr lang="en-US" b="1" i="0" dirty="0">
                <a:solidFill>
                  <a:srgbClr val="0D0D0D"/>
                </a:solidFill>
                <a:effectLst/>
                <a:latin typeface="Söhne"/>
              </a:rPr>
              <a:t> → Link = START</a:t>
            </a:r>
            <a:r>
              <a:rPr lang="en-US" b="0" i="0" dirty="0">
                <a:solidFill>
                  <a:srgbClr val="0D0D0D"/>
                </a:solidFill>
                <a:effectLst/>
                <a:latin typeface="Söhne"/>
              </a:rPr>
              <a:t>: If the linked list is not empty, set the Link field of </a:t>
            </a:r>
            <a:r>
              <a:rPr lang="en-US" b="0" i="0" dirty="0" err="1">
                <a:solidFill>
                  <a:srgbClr val="0D0D0D"/>
                </a:solidFill>
                <a:effectLst/>
                <a:latin typeface="Söhne"/>
              </a:rPr>
              <a:t>NewNode</a:t>
            </a:r>
            <a:r>
              <a:rPr lang="en-US" b="0" i="0" dirty="0">
                <a:solidFill>
                  <a:srgbClr val="0D0D0D"/>
                </a:solidFill>
                <a:effectLst/>
                <a:latin typeface="Söhne"/>
              </a:rPr>
              <a:t> to point to the current first node in the list (START).</a:t>
            </a:r>
          </a:p>
          <a:p>
            <a:pPr algn="l">
              <a:buFont typeface="+mj-lt"/>
              <a:buAutoNum type="arabicPeriod"/>
            </a:pPr>
            <a:r>
              <a:rPr lang="en-US" b="1" i="0" dirty="0">
                <a:solidFill>
                  <a:srgbClr val="0D0D0D"/>
                </a:solidFill>
                <a:effectLst/>
                <a:latin typeface="Söhne"/>
              </a:rPr>
              <a:t>START = </a:t>
            </a:r>
            <a:r>
              <a:rPr lang="en-US" b="1" i="0" dirty="0" err="1">
                <a:solidFill>
                  <a:srgbClr val="0D0D0D"/>
                </a:solidFill>
                <a:effectLst/>
                <a:latin typeface="Söhne"/>
              </a:rPr>
              <a:t>NewNode</a:t>
            </a:r>
            <a:r>
              <a:rPr lang="en-US" b="0" i="0" dirty="0">
                <a:solidFill>
                  <a:srgbClr val="0D0D0D"/>
                </a:solidFill>
                <a:effectLst/>
                <a:latin typeface="Söhne"/>
              </a:rPr>
              <a:t>: Update the START pointer to point to the newly created node. This effectively makes the new node the first node in the linked list.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5</a:t>
            </a:fld>
            <a:endParaRPr lang="en-US" dirty="0"/>
          </a:p>
        </p:txBody>
      </p:sp>
    </p:spTree>
    <p:extLst>
      <p:ext uri="{BB962C8B-B14F-4D97-AF65-F5344CB8AC3E}">
        <p14:creationId xmlns:p14="http://schemas.microsoft.com/office/powerpoint/2010/main" val="3985271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6F26-5007-3278-A0F7-B9ACFA2B8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A1D9D-2E8A-5FA5-A63F-B1A26A72C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F17821-0417-AFAF-4939-D63FD1F509E1}"/>
              </a:ext>
            </a:extLst>
          </p:cNvPr>
          <p:cNvSpPr>
            <a:spLocks noGrp="1"/>
          </p:cNvSpPr>
          <p:nvPr>
            <p:ph type="body" idx="1"/>
          </p:nvPr>
        </p:nvSpPr>
        <p:spPr/>
        <p:txBody>
          <a:bodyPr>
            <a:normAutofit lnSpcReduction="10000"/>
          </a:bodyPr>
          <a:lstStyle/>
          <a:p>
            <a:pPr algn="l">
              <a:buFont typeface="+mj-lt"/>
              <a:buAutoNum type="arabicPeriod"/>
            </a:pPr>
            <a:r>
              <a:rPr lang="en-US" b="1" i="0" dirty="0">
                <a:solidFill>
                  <a:srgbClr val="0D0D0D"/>
                </a:solidFill>
                <a:effectLst/>
                <a:latin typeface="Söhne"/>
              </a:rPr>
              <a:t>Input DATA to be inserted</a:t>
            </a:r>
            <a:r>
              <a:rPr lang="en-US" b="0" i="0" dirty="0">
                <a:solidFill>
                  <a:srgbClr val="0D0D0D"/>
                </a:solidFill>
                <a:effectLst/>
                <a:latin typeface="Söhne"/>
              </a:rPr>
              <a:t>: This is where you take the input data that you want to insert into the linked list.</a:t>
            </a:r>
          </a:p>
          <a:p>
            <a:pPr algn="l">
              <a:buFont typeface="+mj-lt"/>
              <a:buAutoNum type="arabicPeriod"/>
            </a:pPr>
            <a:r>
              <a:rPr lang="en-US" b="1" i="0" dirty="0">
                <a:solidFill>
                  <a:srgbClr val="0D0D0D"/>
                </a:solidFill>
                <a:effectLst/>
                <a:latin typeface="Söhne"/>
              </a:rPr>
              <a:t>Create a </a:t>
            </a:r>
            <a:r>
              <a:rPr lang="en-US" b="1" i="0" dirty="0" err="1">
                <a:solidFill>
                  <a:srgbClr val="0D0D0D"/>
                </a:solidFill>
                <a:effectLst/>
                <a:latin typeface="Söhne"/>
              </a:rPr>
              <a:t>NewNode</a:t>
            </a:r>
            <a:r>
              <a:rPr lang="en-US" b="0" i="0" dirty="0">
                <a:solidFill>
                  <a:srgbClr val="0D0D0D"/>
                </a:solidFill>
                <a:effectLst/>
                <a:latin typeface="Söhne"/>
              </a:rPr>
              <a:t>: Allocate memory for a new node and create a node called </a:t>
            </a:r>
            <a:r>
              <a:rPr lang="en-US" b="0" i="0" dirty="0" err="1">
                <a:solidFill>
                  <a:srgbClr val="0D0D0D"/>
                </a:solidFill>
                <a:effectLst/>
                <a:latin typeface="Söhne"/>
              </a:rPr>
              <a:t>NewNode</a:t>
            </a:r>
            <a:r>
              <a:rPr lang="en-US" b="0" i="0" dirty="0">
                <a:solidFill>
                  <a:srgbClr val="0D0D0D"/>
                </a:solidFill>
                <a:effectLst/>
                <a:latin typeface="Söhne"/>
              </a:rPr>
              <a:t>.</a:t>
            </a:r>
          </a:p>
          <a:p>
            <a:pPr algn="l">
              <a:buFont typeface="+mj-lt"/>
              <a:buAutoNum type="arabicPeriod"/>
            </a:pPr>
            <a:r>
              <a:rPr lang="en-US" b="1" i="0" dirty="0" err="1">
                <a:solidFill>
                  <a:srgbClr val="0D0D0D"/>
                </a:solidFill>
                <a:effectLst/>
                <a:latin typeface="Söhne"/>
              </a:rPr>
              <a:t>NewNode</a:t>
            </a:r>
            <a:r>
              <a:rPr lang="en-US" b="1" i="0" dirty="0">
                <a:solidFill>
                  <a:srgbClr val="0D0D0D"/>
                </a:solidFill>
                <a:effectLst/>
                <a:latin typeface="Söhne"/>
              </a:rPr>
              <a:t> → DATA = DATA</a:t>
            </a:r>
            <a:r>
              <a:rPr lang="en-US" b="0" i="0" dirty="0">
                <a:solidFill>
                  <a:srgbClr val="0D0D0D"/>
                </a:solidFill>
                <a:effectLst/>
                <a:latin typeface="Söhne"/>
              </a:rPr>
              <a:t>: Assign the input data to the DATA field of the newly created node.</a:t>
            </a:r>
          </a:p>
          <a:p>
            <a:pPr algn="l">
              <a:buFont typeface="+mj-lt"/>
              <a:buAutoNum type="arabicPeriod"/>
            </a:pPr>
            <a:r>
              <a:rPr lang="en-US" b="1" i="0" dirty="0" err="1">
                <a:solidFill>
                  <a:srgbClr val="0D0D0D"/>
                </a:solidFill>
                <a:effectLst/>
                <a:latin typeface="Söhne"/>
              </a:rPr>
              <a:t>NewNode</a:t>
            </a:r>
            <a:r>
              <a:rPr lang="en-US" b="1" i="0" dirty="0">
                <a:solidFill>
                  <a:srgbClr val="0D0D0D"/>
                </a:solidFill>
                <a:effectLst/>
                <a:latin typeface="Söhne"/>
              </a:rPr>
              <a:t> → Next = NULL</a:t>
            </a:r>
            <a:r>
              <a:rPr lang="en-US" b="0" i="0" dirty="0">
                <a:solidFill>
                  <a:srgbClr val="0D0D0D"/>
                </a:solidFill>
                <a:effectLst/>
                <a:latin typeface="Söhne"/>
              </a:rPr>
              <a:t>: Set the Next field of </a:t>
            </a:r>
            <a:r>
              <a:rPr lang="en-US" b="0" i="0" dirty="0" err="1">
                <a:solidFill>
                  <a:srgbClr val="0D0D0D"/>
                </a:solidFill>
                <a:effectLst/>
                <a:latin typeface="Söhne"/>
              </a:rPr>
              <a:t>NewNode</a:t>
            </a:r>
            <a:r>
              <a:rPr lang="en-US" b="0" i="0" dirty="0">
                <a:solidFill>
                  <a:srgbClr val="0D0D0D"/>
                </a:solidFill>
                <a:effectLst/>
                <a:latin typeface="Söhne"/>
              </a:rPr>
              <a:t> to NULL. This is because the new node will be inserted at the end, so its Next should be NULL.</a:t>
            </a:r>
          </a:p>
          <a:p>
            <a:pPr algn="l">
              <a:buFont typeface="+mj-lt"/>
              <a:buAutoNum type="arabicPeriod"/>
            </a:pPr>
            <a:r>
              <a:rPr lang="en-US" b="1" i="0" dirty="0">
                <a:solidFill>
                  <a:srgbClr val="0D0D0D"/>
                </a:solidFill>
                <a:effectLst/>
                <a:latin typeface="Söhne"/>
              </a:rPr>
              <a:t>If (START equal to NULL)</a:t>
            </a:r>
            <a:endParaRPr lang="en-US" b="0" i="0" dirty="0">
              <a:solidFill>
                <a:srgbClr val="0D0D0D"/>
              </a:solidFill>
              <a:effectLst/>
              <a:latin typeface="Söhne"/>
            </a:endParaRPr>
          </a:p>
          <a:p>
            <a:pPr marL="742950" lvl="1" indent="-285750" algn="l">
              <a:buFont typeface="+mj-lt"/>
              <a:buAutoNum type="arabicPeriod"/>
            </a:pPr>
            <a:r>
              <a:rPr lang="en-US" b="1" i="0" dirty="0">
                <a:solidFill>
                  <a:srgbClr val="0D0D0D"/>
                </a:solidFill>
                <a:effectLst/>
                <a:latin typeface="Söhne"/>
              </a:rPr>
              <a:t>START = </a:t>
            </a:r>
            <a:r>
              <a:rPr lang="en-US" b="1" i="0" dirty="0" err="1">
                <a:solidFill>
                  <a:srgbClr val="0D0D0D"/>
                </a:solidFill>
                <a:effectLst/>
                <a:latin typeface="Söhne"/>
              </a:rPr>
              <a:t>NewNode</a:t>
            </a:r>
            <a:r>
              <a:rPr lang="en-US" b="0" i="0" dirty="0">
                <a:solidFill>
                  <a:srgbClr val="0D0D0D"/>
                </a:solidFill>
                <a:effectLst/>
                <a:latin typeface="Söhne"/>
              </a:rPr>
              <a:t>: If the linked list is empty (i.e., START is NULL), set the START pointer to the newly created node (</a:t>
            </a:r>
            <a:r>
              <a:rPr lang="en-US" b="0" i="0" dirty="0" err="1">
                <a:solidFill>
                  <a:srgbClr val="0D0D0D"/>
                </a:solidFill>
                <a:effectLst/>
                <a:latin typeface="Söhne"/>
              </a:rPr>
              <a:t>NewNode</a:t>
            </a:r>
            <a:r>
              <a:rPr lang="en-US" b="0" i="0" dirty="0">
                <a:solidFill>
                  <a:srgbClr val="0D0D0D"/>
                </a:solidFill>
                <a:effectLst/>
                <a:latin typeface="Söhne"/>
              </a:rPr>
              <a:t>).</a:t>
            </a:r>
          </a:p>
          <a:p>
            <a:pPr algn="l">
              <a:buFont typeface="+mj-lt"/>
              <a:buAutoNum type="arabicPeriod"/>
            </a:pPr>
            <a:r>
              <a:rPr lang="en-US" b="1" i="0" dirty="0">
                <a:solidFill>
                  <a:srgbClr val="0D0D0D"/>
                </a:solidFill>
                <a:effectLst/>
                <a:latin typeface="Söhne"/>
              </a:rPr>
              <a:t>Else</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START</a:t>
            </a:r>
            <a:r>
              <a:rPr lang="en-US" b="0" i="0" dirty="0">
                <a:solidFill>
                  <a:srgbClr val="0D0D0D"/>
                </a:solidFill>
                <a:effectLst/>
                <a:latin typeface="Söhne"/>
              </a:rPr>
              <a:t>: If the linked list is not empty, create a temporary pointer TEMP and set it to the first node (START).</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While (TEMP → Next not equal to NULL)</a:t>
            </a:r>
            <a:r>
              <a:rPr lang="en-US" b="0" i="0" dirty="0">
                <a:solidFill>
                  <a:srgbClr val="0D0D0D"/>
                </a:solidFill>
                <a:effectLst/>
                <a:latin typeface="Söhne"/>
              </a:rPr>
              <a:t>: Traverse the list using TEMP until you reach the last node (where Next is NULL).</a:t>
            </a:r>
          </a:p>
          <a:p>
            <a:pPr marL="1143000" lvl="2" indent="-228600" algn="l">
              <a:buFont typeface="+mj-lt"/>
              <a:buAutoNum type="arabicPeriod"/>
            </a:pPr>
            <a:r>
              <a:rPr lang="en-US" b="0" i="0" dirty="0">
                <a:solidFill>
                  <a:srgbClr val="0D0D0D"/>
                </a:solidFill>
                <a:effectLst/>
                <a:latin typeface="Söhne"/>
              </a:rPr>
              <a:t>(</a:t>
            </a:r>
            <a:r>
              <a:rPr lang="en-US" b="0" i="0" dirty="0" err="1">
                <a:solidFill>
                  <a:srgbClr val="0D0D0D"/>
                </a:solidFill>
                <a:effectLst/>
                <a:latin typeface="Söhne"/>
              </a:rPr>
              <a:t>i</a:t>
            </a:r>
            <a:r>
              <a:rPr lang="en-US" b="0" i="0" dirty="0">
                <a:solidFill>
                  <a:srgbClr val="0D0D0D"/>
                </a:solidFill>
                <a:effectLst/>
                <a:latin typeface="Söhne"/>
              </a:rPr>
              <a:t>) </a:t>
            </a:r>
            <a:r>
              <a:rPr lang="en-US" b="1" i="0" dirty="0">
                <a:solidFill>
                  <a:srgbClr val="0D0D0D"/>
                </a:solidFill>
                <a:effectLst/>
                <a:latin typeface="Söhne"/>
              </a:rPr>
              <a:t>TEMP = TEMP → Next</a:t>
            </a:r>
            <a:r>
              <a:rPr lang="en-US" b="0" i="0" dirty="0">
                <a:solidFill>
                  <a:srgbClr val="0D0D0D"/>
                </a:solidFill>
                <a:effectLst/>
                <a:latin typeface="Söhne"/>
              </a:rPr>
              <a:t>: Move TEMP to the next node in the list.</a:t>
            </a:r>
          </a:p>
          <a:p>
            <a:pPr algn="l">
              <a:buFont typeface="+mj-lt"/>
              <a:buAutoNum type="arabicPeriod"/>
            </a:pPr>
            <a:r>
              <a:rPr lang="en-US" b="1" i="0" dirty="0">
                <a:solidFill>
                  <a:srgbClr val="0D0D0D"/>
                </a:solidFill>
                <a:effectLst/>
                <a:latin typeface="Söhne"/>
              </a:rPr>
              <a:t>TEMP → Next = </a:t>
            </a:r>
            <a:r>
              <a:rPr lang="en-US" b="1" i="0" dirty="0" err="1">
                <a:solidFill>
                  <a:srgbClr val="0D0D0D"/>
                </a:solidFill>
                <a:effectLst/>
                <a:latin typeface="Söhne"/>
              </a:rPr>
              <a:t>NewNode</a:t>
            </a:r>
            <a:r>
              <a:rPr lang="en-US" b="0" i="0" dirty="0">
                <a:solidFill>
                  <a:srgbClr val="0D0D0D"/>
                </a:solidFill>
                <a:effectLst/>
                <a:latin typeface="Söhne"/>
              </a:rPr>
              <a:t>: Once you reach the last node, set the Next field of the last node (TEMP) to point to the newly created node (</a:t>
            </a:r>
            <a:r>
              <a:rPr lang="en-US" b="0" i="0" dirty="0" err="1">
                <a:solidFill>
                  <a:srgbClr val="0D0D0D"/>
                </a:solidFill>
                <a:effectLst/>
                <a:latin typeface="Söhne"/>
              </a:rPr>
              <a:t>NewNode</a:t>
            </a:r>
            <a:r>
              <a:rPr lang="en-US" b="0" i="0" dirty="0">
                <a:solidFill>
                  <a:srgbClr val="0D0D0D"/>
                </a:solidFill>
                <a:effectLst/>
                <a:latin typeface="Söhne"/>
              </a:rPr>
              <a:t>). This effectively adds the new node to the end of the list.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r>
              <a:rPr lang="en-US" b="0" i="0" dirty="0">
                <a:solidFill>
                  <a:srgbClr val="0D0D0D"/>
                </a:solidFill>
                <a:effectLst/>
                <a:latin typeface="Söhne"/>
              </a:rPr>
              <a:t>In summary, this algorithm inserts a new node at the end of a linked list. If the list is empty, it directly makes the new node the first node. If the list is not empty, it traverses the list to find the last node and then links the new node to the last node.</a:t>
            </a:r>
          </a:p>
        </p:txBody>
      </p:sp>
      <p:sp>
        <p:nvSpPr>
          <p:cNvPr id="4" name="Slide Number Placeholder 3">
            <a:extLst>
              <a:ext uri="{FF2B5EF4-FFF2-40B4-BE49-F238E27FC236}">
                <a16:creationId xmlns:a16="http://schemas.microsoft.com/office/drawing/2014/main" id="{2570BBCF-D891-8F6C-9EB2-8CF27CC5C5AA}"/>
              </a:ext>
            </a:extLst>
          </p:cNvPr>
          <p:cNvSpPr>
            <a:spLocks noGrp="1"/>
          </p:cNvSpPr>
          <p:nvPr>
            <p:ph type="sldNum" sz="quarter" idx="5"/>
          </p:nvPr>
        </p:nvSpPr>
        <p:spPr/>
        <p:txBody>
          <a:bodyPr/>
          <a:lstStyle/>
          <a:p>
            <a:fld id="{29ED50B0-D53F-4459-8D78-0CE7DA098017}" type="slidenum">
              <a:rPr lang="en-US" smtClean="0"/>
              <a:pPr/>
              <a:t>7</a:t>
            </a:fld>
            <a:endParaRPr lang="en-US" dirty="0"/>
          </a:p>
        </p:txBody>
      </p:sp>
    </p:spTree>
    <p:extLst>
      <p:ext uri="{BB962C8B-B14F-4D97-AF65-F5344CB8AC3E}">
        <p14:creationId xmlns:p14="http://schemas.microsoft.com/office/powerpoint/2010/main" val="1277040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gn="l">
              <a:buFont typeface="+mj-lt"/>
              <a:buAutoNum type="arabicPeriod"/>
            </a:pPr>
            <a:r>
              <a:rPr lang="en-US" b="1" i="0" dirty="0">
                <a:solidFill>
                  <a:srgbClr val="0D0D0D"/>
                </a:solidFill>
                <a:effectLst/>
                <a:latin typeface="Söhne"/>
              </a:rPr>
              <a:t>Input DATA and POS to be inserted</a:t>
            </a:r>
            <a:r>
              <a:rPr lang="en-US" b="0" i="0" dirty="0">
                <a:solidFill>
                  <a:srgbClr val="0D0D0D"/>
                </a:solidFill>
                <a:effectLst/>
                <a:latin typeface="Söhne"/>
              </a:rPr>
              <a:t>: This is where you take the input data and the position (POS) at which you want to insert a new node into the linked list.</a:t>
            </a:r>
          </a:p>
          <a:p>
            <a:pPr algn="l">
              <a:buFont typeface="+mj-lt"/>
              <a:buAutoNum type="arabicPeriod"/>
            </a:pPr>
            <a:r>
              <a:rPr lang="en-US" b="1" i="0" dirty="0">
                <a:solidFill>
                  <a:srgbClr val="0D0D0D"/>
                </a:solidFill>
                <a:effectLst/>
                <a:latin typeface="Söhne"/>
              </a:rPr>
              <a:t>Initialize TEMP = START; and k = 0</a:t>
            </a:r>
            <a:r>
              <a:rPr lang="en-US" b="0" i="0" dirty="0">
                <a:solidFill>
                  <a:srgbClr val="0D0D0D"/>
                </a:solidFill>
                <a:effectLst/>
                <a:latin typeface="Söhne"/>
              </a:rPr>
              <a:t>: Initialize a temporary pointer TEMP to the first node (START) and set a counter k to 0.</a:t>
            </a:r>
          </a:p>
          <a:p>
            <a:pPr algn="l">
              <a:buFont typeface="+mj-lt"/>
              <a:buAutoNum type="arabicPeriod"/>
            </a:pPr>
            <a:r>
              <a:rPr lang="en-US" b="1" i="0" dirty="0">
                <a:solidFill>
                  <a:srgbClr val="0D0D0D"/>
                </a:solidFill>
                <a:effectLst/>
                <a:latin typeface="Söhne"/>
              </a:rPr>
              <a:t>Repeat the step 3 while (k is less than POS)</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TEMP → Next</a:t>
            </a:r>
            <a:r>
              <a:rPr lang="en-US" b="0" i="0" dirty="0">
                <a:solidFill>
                  <a:srgbClr val="0D0D0D"/>
                </a:solidFill>
                <a:effectLst/>
                <a:latin typeface="Söhne"/>
              </a:rPr>
              <a:t>: Move TEMP to the next node in the list.</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If (TEMP is equal to NULL)</a:t>
            </a:r>
            <a:endParaRPr lang="en-US" b="0" i="0" dirty="0">
              <a:solidFill>
                <a:srgbClr val="0D0D0D"/>
              </a:solidFill>
              <a:effectLst/>
              <a:latin typeface="Söhne"/>
            </a:endParaRPr>
          </a:p>
          <a:p>
            <a:pPr marL="1143000" lvl="2" indent="-228600" algn="l">
              <a:buFont typeface="+mj-lt"/>
              <a:buAutoNum type="arabicPeriod"/>
            </a:pPr>
            <a:r>
              <a:rPr lang="en-US" b="0" i="0" dirty="0">
                <a:solidFill>
                  <a:srgbClr val="0D0D0D"/>
                </a:solidFill>
                <a:effectLst/>
                <a:latin typeface="Söhne"/>
              </a:rPr>
              <a:t>(</a:t>
            </a:r>
            <a:r>
              <a:rPr lang="en-US" b="0" i="0" dirty="0" err="1">
                <a:solidFill>
                  <a:srgbClr val="0D0D0D"/>
                </a:solidFill>
                <a:effectLst/>
                <a:latin typeface="Söhne"/>
              </a:rPr>
              <a:t>i</a:t>
            </a:r>
            <a:r>
              <a:rPr lang="en-US" b="0" i="0" dirty="0">
                <a:solidFill>
                  <a:srgbClr val="0D0D0D"/>
                </a:solidFill>
                <a:effectLst/>
                <a:latin typeface="Söhne"/>
              </a:rPr>
              <a:t>) Display “Node in the list less than the position”: If TEMP becomes NULL before reaching the desired position, display an error message indicating that the node at the specified position does not exist.</a:t>
            </a:r>
          </a:p>
          <a:p>
            <a:pPr marL="1143000" lvl="2" indent="-228600" algn="l">
              <a:buFont typeface="+mj-lt"/>
              <a:buAutoNum type="arabicPeriod"/>
            </a:pPr>
            <a:r>
              <a:rPr lang="en-US" b="0" i="0" dirty="0">
                <a:solidFill>
                  <a:srgbClr val="0D0D0D"/>
                </a:solidFill>
                <a:effectLst/>
                <a:latin typeface="Söhne"/>
              </a:rPr>
              <a:t>(ii) Exit: Exit the algorithm.</a:t>
            </a:r>
          </a:p>
          <a:p>
            <a:pPr marL="742950" lvl="1" indent="-285750" algn="l">
              <a:buFont typeface="+mj-lt"/>
              <a:buAutoNum type="arabicPeriod"/>
            </a:pPr>
            <a:r>
              <a:rPr lang="en-US" b="0" i="0" dirty="0">
                <a:solidFill>
                  <a:srgbClr val="0D0D0D"/>
                </a:solidFill>
                <a:effectLst/>
                <a:latin typeface="Söhne"/>
              </a:rPr>
              <a:t>(c) </a:t>
            </a:r>
            <a:r>
              <a:rPr lang="en-US" b="1" i="0" dirty="0">
                <a:solidFill>
                  <a:srgbClr val="0D0D0D"/>
                </a:solidFill>
                <a:effectLst/>
                <a:latin typeface="Söhne"/>
              </a:rPr>
              <a:t>k = k + 1</a:t>
            </a:r>
            <a:r>
              <a:rPr lang="en-US" b="0" i="0" dirty="0">
                <a:solidFill>
                  <a:srgbClr val="0D0D0D"/>
                </a:solidFill>
                <a:effectLst/>
                <a:latin typeface="Söhne"/>
              </a:rPr>
              <a:t>: Increment the counter k.</a:t>
            </a:r>
          </a:p>
          <a:p>
            <a:pPr algn="l">
              <a:buFont typeface="+mj-lt"/>
              <a:buAutoNum type="arabicPeriod"/>
            </a:pPr>
            <a:r>
              <a:rPr lang="en-US" b="1" i="0" dirty="0">
                <a:solidFill>
                  <a:srgbClr val="0D0D0D"/>
                </a:solidFill>
                <a:effectLst/>
                <a:latin typeface="Söhne"/>
              </a:rPr>
              <a:t>Create a New Node</a:t>
            </a:r>
            <a:r>
              <a:rPr lang="en-US" b="0" i="0" dirty="0">
                <a:solidFill>
                  <a:srgbClr val="0D0D0D"/>
                </a:solidFill>
                <a:effectLst/>
                <a:latin typeface="Söhne"/>
              </a:rPr>
              <a:t>: Once the correct position is reached (or an error message is displayed if the position is beyond the list), create a new node called </a:t>
            </a:r>
            <a:r>
              <a:rPr lang="en-US" b="0" i="0" dirty="0" err="1">
                <a:solidFill>
                  <a:srgbClr val="0D0D0D"/>
                </a:solidFill>
                <a:effectLst/>
                <a:latin typeface="Söhne"/>
              </a:rPr>
              <a:t>NewNode</a:t>
            </a:r>
            <a:r>
              <a:rPr lang="en-US" b="0" i="0" dirty="0">
                <a:solidFill>
                  <a:srgbClr val="0D0D0D"/>
                </a:solidFill>
                <a:effectLst/>
                <a:latin typeface="Söhne"/>
              </a:rPr>
              <a:t>.</a:t>
            </a:r>
          </a:p>
          <a:p>
            <a:pPr algn="l">
              <a:buFont typeface="+mj-lt"/>
              <a:buAutoNum type="arabicPeriod"/>
            </a:pPr>
            <a:r>
              <a:rPr lang="en-US" b="1" i="0" dirty="0" err="1">
                <a:solidFill>
                  <a:srgbClr val="0D0D0D"/>
                </a:solidFill>
                <a:effectLst/>
                <a:latin typeface="Söhne"/>
              </a:rPr>
              <a:t>NewNode</a:t>
            </a:r>
            <a:r>
              <a:rPr lang="en-US" b="1" i="0" dirty="0">
                <a:solidFill>
                  <a:srgbClr val="0D0D0D"/>
                </a:solidFill>
                <a:effectLst/>
                <a:latin typeface="Söhne"/>
              </a:rPr>
              <a:t> → DATA = DATA</a:t>
            </a:r>
            <a:r>
              <a:rPr lang="en-US" b="0" i="0" dirty="0">
                <a:solidFill>
                  <a:srgbClr val="0D0D0D"/>
                </a:solidFill>
                <a:effectLst/>
                <a:latin typeface="Söhne"/>
              </a:rPr>
              <a:t>: Assign the input data to the DATA field of the newly created node.</a:t>
            </a:r>
          </a:p>
          <a:p>
            <a:pPr algn="l">
              <a:buFont typeface="+mj-lt"/>
              <a:buAutoNum type="arabicPeriod"/>
            </a:pPr>
            <a:r>
              <a:rPr lang="en-US" b="1" i="0" dirty="0" err="1">
                <a:solidFill>
                  <a:srgbClr val="0D0D0D"/>
                </a:solidFill>
                <a:effectLst/>
                <a:latin typeface="Söhne"/>
              </a:rPr>
              <a:t>NewNode</a:t>
            </a:r>
            <a:r>
              <a:rPr lang="en-US" b="1" i="0" dirty="0">
                <a:solidFill>
                  <a:srgbClr val="0D0D0D"/>
                </a:solidFill>
                <a:effectLst/>
                <a:latin typeface="Söhne"/>
              </a:rPr>
              <a:t> → Next = TEMP → Next</a:t>
            </a:r>
            <a:r>
              <a:rPr lang="en-US" b="0" i="0" dirty="0">
                <a:solidFill>
                  <a:srgbClr val="0D0D0D"/>
                </a:solidFill>
                <a:effectLst/>
                <a:latin typeface="Söhne"/>
              </a:rPr>
              <a:t>: Set the Next field of </a:t>
            </a:r>
            <a:r>
              <a:rPr lang="en-US" b="0" i="0" dirty="0" err="1">
                <a:solidFill>
                  <a:srgbClr val="0D0D0D"/>
                </a:solidFill>
                <a:effectLst/>
                <a:latin typeface="Söhne"/>
              </a:rPr>
              <a:t>NewNode</a:t>
            </a:r>
            <a:r>
              <a:rPr lang="en-US" b="0" i="0" dirty="0">
                <a:solidFill>
                  <a:srgbClr val="0D0D0D"/>
                </a:solidFill>
                <a:effectLst/>
                <a:latin typeface="Söhne"/>
              </a:rPr>
              <a:t> to point to the node that currently occupies the position where the new node is to be inserted.</a:t>
            </a:r>
          </a:p>
          <a:p>
            <a:pPr algn="l">
              <a:buFont typeface="+mj-lt"/>
              <a:buAutoNum type="arabicPeriod"/>
            </a:pPr>
            <a:r>
              <a:rPr lang="en-US" b="1" i="0" dirty="0">
                <a:solidFill>
                  <a:srgbClr val="0D0D0D"/>
                </a:solidFill>
                <a:effectLst/>
                <a:latin typeface="Söhne"/>
              </a:rPr>
              <a:t>TEMP → Next = </a:t>
            </a:r>
            <a:r>
              <a:rPr lang="en-US" b="1" i="0" dirty="0" err="1">
                <a:solidFill>
                  <a:srgbClr val="0D0D0D"/>
                </a:solidFill>
                <a:effectLst/>
                <a:latin typeface="Söhne"/>
              </a:rPr>
              <a:t>NewNode</a:t>
            </a:r>
            <a:r>
              <a:rPr lang="en-US" b="0" i="0" dirty="0">
                <a:solidFill>
                  <a:srgbClr val="0D0D0D"/>
                </a:solidFill>
                <a:effectLst/>
                <a:latin typeface="Söhne"/>
              </a:rPr>
              <a:t>: Update the Next field of the node at the specified position (TEMP) to point to the newly created node (</a:t>
            </a:r>
            <a:r>
              <a:rPr lang="en-US" b="0" i="0" dirty="0" err="1">
                <a:solidFill>
                  <a:srgbClr val="0D0D0D"/>
                </a:solidFill>
                <a:effectLst/>
                <a:latin typeface="Söhne"/>
              </a:rPr>
              <a:t>NewNode</a:t>
            </a:r>
            <a:r>
              <a:rPr lang="en-US" b="0" i="0" dirty="0">
                <a:solidFill>
                  <a:srgbClr val="0D0D0D"/>
                </a:solidFill>
                <a:effectLst/>
                <a:latin typeface="Söhne"/>
              </a:rPr>
              <a:t>). This effectively inserts the new node at the specified position in the list.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r>
              <a:rPr lang="en-US" b="0" i="0" dirty="0">
                <a:solidFill>
                  <a:srgbClr val="0D0D0D"/>
                </a:solidFill>
                <a:effectLst/>
                <a:latin typeface="Söhne"/>
              </a:rPr>
              <a:t>In summary, this algorithm inserts a new node at a specific position in a linked list. It traverses the list until it reaches the desired position, and then it inserts the new node at that position. If the position is beyond the end of the list, an error message is displayed.</a:t>
            </a:r>
          </a:p>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9</a:t>
            </a:fld>
            <a:endParaRPr lang="en-US" dirty="0"/>
          </a:p>
        </p:txBody>
      </p:sp>
    </p:spTree>
    <p:extLst>
      <p:ext uri="{BB962C8B-B14F-4D97-AF65-F5344CB8AC3E}">
        <p14:creationId xmlns:p14="http://schemas.microsoft.com/office/powerpoint/2010/main" val="2779808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lgn="l">
              <a:buFont typeface="+mj-lt"/>
              <a:buAutoNum type="arabicPeriod"/>
            </a:pPr>
            <a:r>
              <a:rPr lang="en-US" b="1" i="0" dirty="0">
                <a:solidFill>
                  <a:srgbClr val="0D0D0D"/>
                </a:solidFill>
                <a:effectLst/>
                <a:latin typeface="Söhne"/>
              </a:rPr>
              <a:t>Input the DATA to be deleted</a:t>
            </a:r>
            <a:r>
              <a:rPr lang="en-US" b="0" i="0" dirty="0">
                <a:solidFill>
                  <a:srgbClr val="0D0D0D"/>
                </a:solidFill>
                <a:effectLst/>
                <a:latin typeface="Söhne"/>
              </a:rPr>
              <a:t>: This is where you take the input data that you want to delete from the linked list.</a:t>
            </a:r>
          </a:p>
          <a:p>
            <a:pPr algn="l">
              <a:buFont typeface="+mj-lt"/>
              <a:buAutoNum type="arabicPeriod"/>
            </a:pPr>
            <a:r>
              <a:rPr lang="en-US" b="1" i="0" dirty="0">
                <a:solidFill>
                  <a:srgbClr val="0D0D0D"/>
                </a:solidFill>
                <a:effectLst/>
                <a:latin typeface="Söhne"/>
              </a:rPr>
              <a:t>if ((START→DATA) is equal to DATA)</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START</a:t>
            </a:r>
            <a:r>
              <a:rPr lang="en-US" b="0" i="0" dirty="0">
                <a:solidFill>
                  <a:srgbClr val="0D0D0D"/>
                </a:solidFill>
                <a:effectLst/>
                <a:latin typeface="Söhne"/>
              </a:rPr>
              <a:t>: If the data to be deleted is found in the first node, set a temporary pointer TEMP to the first node (START).</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START = START → Next</a:t>
            </a:r>
            <a:r>
              <a:rPr lang="en-US" b="0" i="0" dirty="0">
                <a:solidFill>
                  <a:srgbClr val="0D0D0D"/>
                </a:solidFill>
                <a:effectLst/>
                <a:latin typeface="Söhne"/>
              </a:rPr>
              <a:t>: Update the START pointer to skip the first node, effectively removing it from the list.</a:t>
            </a:r>
          </a:p>
          <a:p>
            <a:pPr marL="742950" lvl="1" indent="-285750" algn="l">
              <a:buFont typeface="+mj-lt"/>
              <a:buAutoNum type="arabicPeriod"/>
            </a:pPr>
            <a:r>
              <a:rPr lang="en-US" b="0" i="0" dirty="0">
                <a:solidFill>
                  <a:srgbClr val="0D0D0D"/>
                </a:solidFill>
                <a:effectLst/>
                <a:latin typeface="Söhne"/>
              </a:rPr>
              <a:t>(c)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node pointed to by TEMP.</a:t>
            </a:r>
          </a:p>
          <a:p>
            <a:pPr marL="742950" lvl="1" indent="-285750" algn="l">
              <a:buFont typeface="+mj-lt"/>
              <a:buAutoNum type="arabicPeriod"/>
            </a:pPr>
            <a:r>
              <a:rPr lang="en-US" b="0" i="0" dirty="0">
                <a:solidFill>
                  <a:srgbClr val="0D0D0D"/>
                </a:solidFill>
                <a:effectLst/>
                <a:latin typeface="Söhne"/>
              </a:rPr>
              <a:t>(d)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HOLD = START</a:t>
            </a:r>
            <a:r>
              <a:rPr lang="en-US" b="0" i="0" dirty="0">
                <a:solidFill>
                  <a:srgbClr val="0D0D0D"/>
                </a:solidFill>
                <a:effectLst/>
                <a:latin typeface="Söhne"/>
              </a:rPr>
              <a:t>: Initialize a temporary pointer HOLD to the first node.</a:t>
            </a:r>
          </a:p>
          <a:p>
            <a:pPr algn="l">
              <a:buFont typeface="+mj-lt"/>
              <a:buAutoNum type="arabicPeriod"/>
            </a:pPr>
            <a:r>
              <a:rPr lang="en-US" b="1" i="0" dirty="0">
                <a:solidFill>
                  <a:srgbClr val="0D0D0D"/>
                </a:solidFill>
                <a:effectLst/>
                <a:latin typeface="Söhne"/>
              </a:rPr>
              <a:t>while ((HOLD → Next → Next) not equal to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if ((HOLD → NEXT → DATA) equal to DATA)</a:t>
            </a:r>
            <a:endParaRPr lang="en-US" b="0" i="0" dirty="0">
              <a:solidFill>
                <a:srgbClr val="0D0D0D"/>
              </a:solidFill>
              <a:effectLst/>
              <a:latin typeface="Söhne"/>
            </a:endParaRPr>
          </a:p>
          <a:p>
            <a:pPr marL="1143000" lvl="2" indent="-228600" algn="l">
              <a:buFont typeface="+mj-lt"/>
              <a:buAutoNum type="arabicPeriod"/>
            </a:pPr>
            <a:r>
              <a:rPr lang="en-US" b="0" i="0" dirty="0">
                <a:solidFill>
                  <a:srgbClr val="0D0D0D"/>
                </a:solidFill>
                <a:effectLst/>
                <a:latin typeface="Söhne"/>
              </a:rPr>
              <a:t>(</a:t>
            </a:r>
            <a:r>
              <a:rPr lang="en-US" b="0" i="0" dirty="0" err="1">
                <a:solidFill>
                  <a:srgbClr val="0D0D0D"/>
                </a:solidFill>
                <a:effectLst/>
                <a:latin typeface="Söhne"/>
              </a:rPr>
              <a:t>i</a:t>
            </a:r>
            <a:r>
              <a:rPr lang="en-US" b="0" i="0" dirty="0">
                <a:solidFill>
                  <a:srgbClr val="0D0D0D"/>
                </a:solidFill>
                <a:effectLst/>
                <a:latin typeface="Söhne"/>
              </a:rPr>
              <a:t>) </a:t>
            </a:r>
            <a:r>
              <a:rPr lang="en-US" b="1" i="0" dirty="0">
                <a:solidFill>
                  <a:srgbClr val="0D0D0D"/>
                </a:solidFill>
                <a:effectLst/>
                <a:latin typeface="Söhne"/>
              </a:rPr>
              <a:t>TEMP = HOLD → Next</a:t>
            </a:r>
            <a:r>
              <a:rPr lang="en-US" b="0" i="0" dirty="0">
                <a:solidFill>
                  <a:srgbClr val="0D0D0D"/>
                </a:solidFill>
                <a:effectLst/>
                <a:latin typeface="Söhne"/>
              </a:rPr>
              <a:t>: If the data to be deleted is found in a non-first node, set TEMP to point to the node to be deleted.</a:t>
            </a:r>
          </a:p>
          <a:p>
            <a:pPr marL="1143000" lvl="2" indent="-228600" algn="l">
              <a:buFont typeface="+mj-lt"/>
              <a:buAutoNum type="arabicPeriod"/>
            </a:pPr>
            <a:r>
              <a:rPr lang="en-US" b="0" i="0" dirty="0">
                <a:solidFill>
                  <a:srgbClr val="0D0D0D"/>
                </a:solidFill>
                <a:effectLst/>
                <a:latin typeface="Söhne"/>
              </a:rPr>
              <a:t>(ii) </a:t>
            </a:r>
            <a:r>
              <a:rPr lang="en-US" b="1" i="0" dirty="0">
                <a:solidFill>
                  <a:srgbClr val="0D0D0D"/>
                </a:solidFill>
                <a:effectLst/>
                <a:latin typeface="Söhne"/>
              </a:rPr>
              <a:t>HOLD → Next = TEMP →Next</a:t>
            </a:r>
            <a:r>
              <a:rPr lang="en-US" b="0" i="0" dirty="0">
                <a:solidFill>
                  <a:srgbClr val="0D0D0D"/>
                </a:solidFill>
                <a:effectLst/>
                <a:latin typeface="Söhne"/>
              </a:rPr>
              <a:t>: Update the Next pointer of the node before TEMP to skip TEMP.</a:t>
            </a:r>
          </a:p>
          <a:p>
            <a:pPr marL="1143000" lvl="2" indent="-228600" algn="l">
              <a:buFont typeface="+mj-lt"/>
              <a:buAutoNum type="arabicPeriod"/>
            </a:pPr>
            <a:r>
              <a:rPr lang="en-US" b="0" i="0" dirty="0">
                <a:solidFill>
                  <a:srgbClr val="0D0D0D"/>
                </a:solidFill>
                <a:effectLst/>
                <a:latin typeface="Söhne"/>
              </a:rPr>
              <a:t>(iii)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node pointed to by TEMP.</a:t>
            </a:r>
          </a:p>
          <a:p>
            <a:pPr marL="1143000" lvl="2" indent="-228600" algn="l">
              <a:buFont typeface="+mj-lt"/>
              <a:buAutoNum type="arabicPeriod"/>
            </a:pPr>
            <a:r>
              <a:rPr lang="en-US" b="0" i="0" dirty="0">
                <a:solidFill>
                  <a:srgbClr val="0D0D0D"/>
                </a:solidFill>
                <a:effectLst/>
                <a:latin typeface="Söhne"/>
              </a:rPr>
              <a:t>(iv)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HOLD = HOLD → Next</a:t>
            </a:r>
            <a:r>
              <a:rPr lang="en-US" b="0" i="0" dirty="0">
                <a:solidFill>
                  <a:srgbClr val="0D0D0D"/>
                </a:solidFill>
                <a:effectLst/>
                <a:latin typeface="Söhne"/>
              </a:rPr>
              <a:t>: Move HOLD to the next node in the list.</a:t>
            </a:r>
          </a:p>
          <a:p>
            <a:pPr algn="l">
              <a:buFont typeface="+mj-lt"/>
              <a:buAutoNum type="arabicPeriod"/>
            </a:pPr>
            <a:r>
              <a:rPr lang="en-US" b="1" i="0" dirty="0">
                <a:solidFill>
                  <a:srgbClr val="0D0D0D"/>
                </a:solidFill>
                <a:effectLst/>
                <a:latin typeface="Söhne"/>
              </a:rPr>
              <a:t>if ((HOLD → next → DATA) == DATA)</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HOLD → Next</a:t>
            </a:r>
            <a:r>
              <a:rPr lang="en-US" b="0" i="0" dirty="0">
                <a:solidFill>
                  <a:srgbClr val="0D0D0D"/>
                </a:solidFill>
                <a:effectLst/>
                <a:latin typeface="Söhne"/>
              </a:rPr>
              <a:t>: If the data to be deleted is found at the end of the list, set TEMP to point to the last node.</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last node.</a:t>
            </a:r>
          </a:p>
          <a:p>
            <a:pPr marL="742950" lvl="1" indent="-285750" algn="l">
              <a:buFont typeface="+mj-lt"/>
              <a:buAutoNum type="arabicPeriod"/>
            </a:pPr>
            <a:r>
              <a:rPr lang="en-US" b="0" i="0" dirty="0">
                <a:solidFill>
                  <a:srgbClr val="0D0D0D"/>
                </a:solidFill>
                <a:effectLst/>
                <a:latin typeface="Söhne"/>
              </a:rPr>
              <a:t>(c) </a:t>
            </a:r>
            <a:r>
              <a:rPr lang="en-US" b="1" i="0" dirty="0">
                <a:solidFill>
                  <a:srgbClr val="0D0D0D"/>
                </a:solidFill>
                <a:effectLst/>
                <a:latin typeface="Söhne"/>
              </a:rPr>
              <a:t>HOLD → Next = NULL</a:t>
            </a:r>
            <a:r>
              <a:rPr lang="en-US" b="0" i="0" dirty="0">
                <a:solidFill>
                  <a:srgbClr val="0D0D0D"/>
                </a:solidFill>
                <a:effectLst/>
                <a:latin typeface="Söhne"/>
              </a:rPr>
              <a:t>: Update the Next pointer of the second-to-last node to NULL, effectively removing the last node.</a:t>
            </a:r>
          </a:p>
          <a:p>
            <a:pPr marL="742950" lvl="1" indent="-285750" algn="l">
              <a:buFont typeface="+mj-lt"/>
              <a:buAutoNum type="arabicPeriod"/>
            </a:pPr>
            <a:r>
              <a:rPr lang="en-US" b="0" i="0" dirty="0">
                <a:solidFill>
                  <a:srgbClr val="0D0D0D"/>
                </a:solidFill>
                <a:effectLst/>
                <a:latin typeface="Söhne"/>
              </a:rPr>
              <a:t>(d)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Display “DATA not found”</a:t>
            </a:r>
            <a:r>
              <a:rPr lang="en-US" b="0" i="0" dirty="0">
                <a:solidFill>
                  <a:srgbClr val="0D0D0D"/>
                </a:solidFill>
                <a:effectLst/>
                <a:latin typeface="Söhne"/>
              </a:rPr>
              <a:t>: If the data to be deleted is not found in the list, display a message indicating that.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r>
              <a:rPr lang="en-US" b="0" i="0" dirty="0">
                <a:solidFill>
                  <a:srgbClr val="0D0D0D"/>
                </a:solidFill>
                <a:effectLst/>
                <a:latin typeface="Söhne"/>
              </a:rPr>
              <a:t>In summary, this algorithm searches for a specific data value in the linked list and deletes the corresponding node if found. It handles deletion at the beginning, middle, and end of the list. If the data is not found, it displays a message indicating that.</a:t>
            </a:r>
          </a:p>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12</a:t>
            </a:fld>
            <a:endParaRPr lang="en-US" dirty="0"/>
          </a:p>
        </p:txBody>
      </p:sp>
    </p:spTree>
    <p:extLst>
      <p:ext uri="{BB962C8B-B14F-4D97-AF65-F5344CB8AC3E}">
        <p14:creationId xmlns:p14="http://schemas.microsoft.com/office/powerpoint/2010/main" val="1805577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AB92-EEFF-6F16-A5FB-094F3FEBB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37DC0-1C72-6548-5EAA-BACA84024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2AA314-C3B8-D32A-3020-2602FC6BA0C0}"/>
              </a:ext>
            </a:extLst>
          </p:cNvPr>
          <p:cNvSpPr>
            <a:spLocks noGrp="1"/>
          </p:cNvSpPr>
          <p:nvPr>
            <p:ph type="body" idx="1"/>
          </p:nvPr>
        </p:nvSpPr>
        <p:spPr/>
        <p:txBody>
          <a:bodyPr>
            <a:normAutofit fontScale="77500" lnSpcReduction="20000"/>
          </a:bodyPr>
          <a:lstStyle/>
          <a:p>
            <a:pPr algn="l">
              <a:buFont typeface="+mj-lt"/>
              <a:buAutoNum type="arabicPeriod"/>
            </a:pPr>
            <a:r>
              <a:rPr lang="en-US" b="1" i="0" dirty="0">
                <a:solidFill>
                  <a:srgbClr val="0D0D0D"/>
                </a:solidFill>
                <a:effectLst/>
                <a:latin typeface="Söhne"/>
              </a:rPr>
              <a:t>Input the DATA to be deleted</a:t>
            </a:r>
            <a:r>
              <a:rPr lang="en-US" b="0" i="0" dirty="0">
                <a:solidFill>
                  <a:srgbClr val="0D0D0D"/>
                </a:solidFill>
                <a:effectLst/>
                <a:latin typeface="Söhne"/>
              </a:rPr>
              <a:t>: This is where you take the input data that you want to delete from the linked list.</a:t>
            </a:r>
          </a:p>
          <a:p>
            <a:pPr algn="l">
              <a:buFont typeface="+mj-lt"/>
              <a:buAutoNum type="arabicPeriod"/>
            </a:pPr>
            <a:r>
              <a:rPr lang="en-US" b="1" i="0" dirty="0">
                <a:solidFill>
                  <a:srgbClr val="0D0D0D"/>
                </a:solidFill>
                <a:effectLst/>
                <a:latin typeface="Söhne"/>
              </a:rPr>
              <a:t>if ((START→DATA) is equal to DATA)</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START</a:t>
            </a:r>
            <a:r>
              <a:rPr lang="en-US" b="0" i="0" dirty="0">
                <a:solidFill>
                  <a:srgbClr val="0D0D0D"/>
                </a:solidFill>
                <a:effectLst/>
                <a:latin typeface="Söhne"/>
              </a:rPr>
              <a:t>: If the data to be deleted is found in the first node, set a temporary pointer TEMP to the first node (START).</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START = START → Next</a:t>
            </a:r>
            <a:r>
              <a:rPr lang="en-US" b="0" i="0" dirty="0">
                <a:solidFill>
                  <a:srgbClr val="0D0D0D"/>
                </a:solidFill>
                <a:effectLst/>
                <a:latin typeface="Söhne"/>
              </a:rPr>
              <a:t>: Update the START pointer to skip the first node, effectively removing it from the list.</a:t>
            </a:r>
          </a:p>
          <a:p>
            <a:pPr marL="742950" lvl="1" indent="-285750" algn="l">
              <a:buFont typeface="+mj-lt"/>
              <a:buAutoNum type="arabicPeriod"/>
            </a:pPr>
            <a:r>
              <a:rPr lang="en-US" b="0" i="0" dirty="0">
                <a:solidFill>
                  <a:srgbClr val="0D0D0D"/>
                </a:solidFill>
                <a:effectLst/>
                <a:latin typeface="Söhne"/>
              </a:rPr>
              <a:t>(c)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node pointed to by TEMP.</a:t>
            </a:r>
          </a:p>
          <a:p>
            <a:pPr marL="742950" lvl="1" indent="-285750" algn="l">
              <a:buFont typeface="+mj-lt"/>
              <a:buAutoNum type="arabicPeriod"/>
            </a:pPr>
            <a:r>
              <a:rPr lang="en-US" b="0" i="0" dirty="0">
                <a:solidFill>
                  <a:srgbClr val="0D0D0D"/>
                </a:solidFill>
                <a:effectLst/>
                <a:latin typeface="Söhne"/>
              </a:rPr>
              <a:t>(d)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HOLD = START</a:t>
            </a:r>
            <a:r>
              <a:rPr lang="en-US" b="0" i="0" dirty="0">
                <a:solidFill>
                  <a:srgbClr val="0D0D0D"/>
                </a:solidFill>
                <a:effectLst/>
                <a:latin typeface="Söhne"/>
              </a:rPr>
              <a:t>: Initialize a temporary pointer HOLD to the first node.</a:t>
            </a:r>
          </a:p>
          <a:p>
            <a:pPr algn="l">
              <a:buFont typeface="+mj-lt"/>
              <a:buAutoNum type="arabicPeriod"/>
            </a:pPr>
            <a:r>
              <a:rPr lang="en-US" b="1" i="0" dirty="0">
                <a:solidFill>
                  <a:srgbClr val="0D0D0D"/>
                </a:solidFill>
                <a:effectLst/>
                <a:latin typeface="Söhne"/>
              </a:rPr>
              <a:t>while ((HOLD → Next → Next) not equal to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if ((HOLD → NEXT → DATA) equal to DATA)</a:t>
            </a:r>
            <a:endParaRPr lang="en-US" b="0" i="0" dirty="0">
              <a:solidFill>
                <a:srgbClr val="0D0D0D"/>
              </a:solidFill>
              <a:effectLst/>
              <a:latin typeface="Söhne"/>
            </a:endParaRPr>
          </a:p>
          <a:p>
            <a:pPr marL="1143000" lvl="2" indent="-228600" algn="l">
              <a:buFont typeface="+mj-lt"/>
              <a:buAutoNum type="arabicPeriod"/>
            </a:pPr>
            <a:r>
              <a:rPr lang="en-US" b="0" i="0" dirty="0">
                <a:solidFill>
                  <a:srgbClr val="0D0D0D"/>
                </a:solidFill>
                <a:effectLst/>
                <a:latin typeface="Söhne"/>
              </a:rPr>
              <a:t>(</a:t>
            </a:r>
            <a:r>
              <a:rPr lang="en-US" b="0" i="0" dirty="0" err="1">
                <a:solidFill>
                  <a:srgbClr val="0D0D0D"/>
                </a:solidFill>
                <a:effectLst/>
                <a:latin typeface="Söhne"/>
              </a:rPr>
              <a:t>i</a:t>
            </a:r>
            <a:r>
              <a:rPr lang="en-US" b="0" i="0" dirty="0">
                <a:solidFill>
                  <a:srgbClr val="0D0D0D"/>
                </a:solidFill>
                <a:effectLst/>
                <a:latin typeface="Söhne"/>
              </a:rPr>
              <a:t>) </a:t>
            </a:r>
            <a:r>
              <a:rPr lang="en-US" b="1" i="0" dirty="0">
                <a:solidFill>
                  <a:srgbClr val="0D0D0D"/>
                </a:solidFill>
                <a:effectLst/>
                <a:latin typeface="Söhne"/>
              </a:rPr>
              <a:t>TEMP = HOLD → Next</a:t>
            </a:r>
            <a:r>
              <a:rPr lang="en-US" b="0" i="0" dirty="0">
                <a:solidFill>
                  <a:srgbClr val="0D0D0D"/>
                </a:solidFill>
                <a:effectLst/>
                <a:latin typeface="Söhne"/>
              </a:rPr>
              <a:t>: If the data to be deleted is found in a non-first node, set TEMP to point to the node to be deleted.</a:t>
            </a:r>
          </a:p>
          <a:p>
            <a:pPr marL="1143000" lvl="2" indent="-228600" algn="l">
              <a:buFont typeface="+mj-lt"/>
              <a:buAutoNum type="arabicPeriod"/>
            </a:pPr>
            <a:r>
              <a:rPr lang="en-US" b="0" i="0" dirty="0">
                <a:solidFill>
                  <a:srgbClr val="0D0D0D"/>
                </a:solidFill>
                <a:effectLst/>
                <a:latin typeface="Söhne"/>
              </a:rPr>
              <a:t>(ii) </a:t>
            </a:r>
            <a:r>
              <a:rPr lang="en-US" b="1" i="0" dirty="0">
                <a:solidFill>
                  <a:srgbClr val="0D0D0D"/>
                </a:solidFill>
                <a:effectLst/>
                <a:latin typeface="Söhne"/>
              </a:rPr>
              <a:t>HOLD → Next = TEMP →Next</a:t>
            </a:r>
            <a:r>
              <a:rPr lang="en-US" b="0" i="0" dirty="0">
                <a:solidFill>
                  <a:srgbClr val="0D0D0D"/>
                </a:solidFill>
                <a:effectLst/>
                <a:latin typeface="Söhne"/>
              </a:rPr>
              <a:t>: Update the Next pointer of the node before TEMP to skip TEMP.</a:t>
            </a:r>
          </a:p>
          <a:p>
            <a:pPr marL="1143000" lvl="2" indent="-228600" algn="l">
              <a:buFont typeface="+mj-lt"/>
              <a:buAutoNum type="arabicPeriod"/>
            </a:pPr>
            <a:r>
              <a:rPr lang="en-US" b="0" i="0" dirty="0">
                <a:solidFill>
                  <a:srgbClr val="0D0D0D"/>
                </a:solidFill>
                <a:effectLst/>
                <a:latin typeface="Söhne"/>
              </a:rPr>
              <a:t>(iii)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node pointed to by TEMP.</a:t>
            </a:r>
          </a:p>
          <a:p>
            <a:pPr marL="1143000" lvl="2" indent="-228600" algn="l">
              <a:buFont typeface="+mj-lt"/>
              <a:buAutoNum type="arabicPeriod"/>
            </a:pPr>
            <a:r>
              <a:rPr lang="en-US" b="0" i="0" dirty="0">
                <a:solidFill>
                  <a:srgbClr val="0D0D0D"/>
                </a:solidFill>
                <a:effectLst/>
                <a:latin typeface="Söhne"/>
              </a:rPr>
              <a:t>(iv)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HOLD = HOLD → Next</a:t>
            </a:r>
            <a:r>
              <a:rPr lang="en-US" b="0" i="0" dirty="0">
                <a:solidFill>
                  <a:srgbClr val="0D0D0D"/>
                </a:solidFill>
                <a:effectLst/>
                <a:latin typeface="Söhne"/>
              </a:rPr>
              <a:t>: Move HOLD to the next node in the list.</a:t>
            </a:r>
          </a:p>
          <a:p>
            <a:pPr algn="l">
              <a:buFont typeface="+mj-lt"/>
              <a:buAutoNum type="arabicPeriod"/>
            </a:pPr>
            <a:r>
              <a:rPr lang="en-US" b="1" i="0" dirty="0">
                <a:solidFill>
                  <a:srgbClr val="0D0D0D"/>
                </a:solidFill>
                <a:effectLst/>
                <a:latin typeface="Söhne"/>
              </a:rPr>
              <a:t>if ((HOLD → next → DATA) == DATA)</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HOLD → Next</a:t>
            </a:r>
            <a:r>
              <a:rPr lang="en-US" b="0" i="0" dirty="0">
                <a:solidFill>
                  <a:srgbClr val="0D0D0D"/>
                </a:solidFill>
                <a:effectLst/>
                <a:latin typeface="Söhne"/>
              </a:rPr>
              <a:t>: If the data to be deleted is found at the end of the list, set TEMP to point to the last node.</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last node.</a:t>
            </a:r>
          </a:p>
          <a:p>
            <a:pPr marL="742950" lvl="1" indent="-285750" algn="l">
              <a:buFont typeface="+mj-lt"/>
              <a:buAutoNum type="arabicPeriod"/>
            </a:pPr>
            <a:r>
              <a:rPr lang="en-US" b="0" i="0" dirty="0">
                <a:solidFill>
                  <a:srgbClr val="0D0D0D"/>
                </a:solidFill>
                <a:effectLst/>
                <a:latin typeface="Söhne"/>
              </a:rPr>
              <a:t>(c) </a:t>
            </a:r>
            <a:r>
              <a:rPr lang="en-US" b="1" i="0" dirty="0">
                <a:solidFill>
                  <a:srgbClr val="0D0D0D"/>
                </a:solidFill>
                <a:effectLst/>
                <a:latin typeface="Söhne"/>
              </a:rPr>
              <a:t>HOLD → Next = NULL</a:t>
            </a:r>
            <a:r>
              <a:rPr lang="en-US" b="0" i="0" dirty="0">
                <a:solidFill>
                  <a:srgbClr val="0D0D0D"/>
                </a:solidFill>
                <a:effectLst/>
                <a:latin typeface="Söhne"/>
              </a:rPr>
              <a:t>: Update the Next pointer of the second-to-last node to NULL, effectively removing the last node.</a:t>
            </a:r>
          </a:p>
          <a:p>
            <a:pPr marL="742950" lvl="1" indent="-285750" algn="l">
              <a:buFont typeface="+mj-lt"/>
              <a:buAutoNum type="arabicPeriod"/>
            </a:pPr>
            <a:r>
              <a:rPr lang="en-US" b="0" i="0" dirty="0">
                <a:solidFill>
                  <a:srgbClr val="0D0D0D"/>
                </a:solidFill>
                <a:effectLst/>
                <a:latin typeface="Söhne"/>
              </a:rPr>
              <a:t>(d)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Display “DATA not found”</a:t>
            </a:r>
            <a:r>
              <a:rPr lang="en-US" b="0" i="0" dirty="0">
                <a:solidFill>
                  <a:srgbClr val="0D0D0D"/>
                </a:solidFill>
                <a:effectLst/>
                <a:latin typeface="Söhne"/>
              </a:rPr>
              <a:t>: If the data to be deleted is not found in the list, display a message indicating that.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r>
              <a:rPr lang="en-US" b="0" i="0" dirty="0">
                <a:solidFill>
                  <a:srgbClr val="0D0D0D"/>
                </a:solidFill>
                <a:effectLst/>
                <a:latin typeface="Söhne"/>
              </a:rPr>
              <a:t>In summary, this algorithm searches for a specific data value in the linked list and deletes the corresponding node if found. It handles deletion at the beginning, middle, and end of the list. If the data is not found, it displays a message indicating that.</a:t>
            </a:r>
          </a:p>
          <a:p>
            <a:endParaRPr lang="en-US" dirty="0"/>
          </a:p>
        </p:txBody>
      </p:sp>
      <p:sp>
        <p:nvSpPr>
          <p:cNvPr id="4" name="Slide Number Placeholder 3">
            <a:extLst>
              <a:ext uri="{FF2B5EF4-FFF2-40B4-BE49-F238E27FC236}">
                <a16:creationId xmlns:a16="http://schemas.microsoft.com/office/drawing/2014/main" id="{F9A7FE80-F192-3A31-FC5F-75F648D3E388}"/>
              </a:ext>
            </a:extLst>
          </p:cNvPr>
          <p:cNvSpPr>
            <a:spLocks noGrp="1"/>
          </p:cNvSpPr>
          <p:nvPr>
            <p:ph type="sldNum" sz="quarter" idx="5"/>
          </p:nvPr>
        </p:nvSpPr>
        <p:spPr/>
        <p:txBody>
          <a:bodyPr/>
          <a:lstStyle/>
          <a:p>
            <a:fld id="{29ED50B0-D53F-4459-8D78-0CE7DA098017}" type="slidenum">
              <a:rPr lang="en-US" smtClean="0"/>
              <a:pPr/>
              <a:t>13</a:t>
            </a:fld>
            <a:endParaRPr lang="en-US" dirty="0"/>
          </a:p>
        </p:txBody>
      </p:sp>
    </p:spTree>
    <p:extLst>
      <p:ext uri="{BB962C8B-B14F-4D97-AF65-F5344CB8AC3E}">
        <p14:creationId xmlns:p14="http://schemas.microsoft.com/office/powerpoint/2010/main" val="3780332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E1865-837E-EC82-F8D5-A6D0CE5FB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CC78D-F1B9-E528-D3BB-85117B3759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5EEEA-3559-680B-7F6C-7CC56ABCD7D1}"/>
              </a:ext>
            </a:extLst>
          </p:cNvPr>
          <p:cNvSpPr>
            <a:spLocks noGrp="1"/>
          </p:cNvSpPr>
          <p:nvPr>
            <p:ph type="body" idx="1"/>
          </p:nvPr>
        </p:nvSpPr>
        <p:spPr/>
        <p:txBody>
          <a:bodyPr>
            <a:normAutofit fontScale="77500" lnSpcReduction="20000"/>
          </a:bodyPr>
          <a:lstStyle/>
          <a:p>
            <a:pPr algn="l">
              <a:buFont typeface="+mj-lt"/>
              <a:buAutoNum type="arabicPeriod"/>
            </a:pPr>
            <a:r>
              <a:rPr lang="en-US" b="1" i="0" dirty="0">
                <a:solidFill>
                  <a:srgbClr val="0D0D0D"/>
                </a:solidFill>
                <a:effectLst/>
                <a:latin typeface="Söhne"/>
              </a:rPr>
              <a:t>Input the DATA to be deleted</a:t>
            </a:r>
            <a:r>
              <a:rPr lang="en-US" b="0" i="0" dirty="0">
                <a:solidFill>
                  <a:srgbClr val="0D0D0D"/>
                </a:solidFill>
                <a:effectLst/>
                <a:latin typeface="Söhne"/>
              </a:rPr>
              <a:t>: This is where you take the input data that you want to delete from the linked list.</a:t>
            </a:r>
          </a:p>
          <a:p>
            <a:pPr algn="l">
              <a:buFont typeface="+mj-lt"/>
              <a:buAutoNum type="arabicPeriod"/>
            </a:pPr>
            <a:r>
              <a:rPr lang="en-US" b="1" i="0" dirty="0">
                <a:solidFill>
                  <a:srgbClr val="0D0D0D"/>
                </a:solidFill>
                <a:effectLst/>
                <a:latin typeface="Söhne"/>
              </a:rPr>
              <a:t>if ((START→DATA) is equal to DATA)</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START</a:t>
            </a:r>
            <a:r>
              <a:rPr lang="en-US" b="0" i="0" dirty="0">
                <a:solidFill>
                  <a:srgbClr val="0D0D0D"/>
                </a:solidFill>
                <a:effectLst/>
                <a:latin typeface="Söhne"/>
              </a:rPr>
              <a:t>: If the data to be deleted is found in the first node, set a temporary pointer TEMP to the first node (START).</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START = START → Next</a:t>
            </a:r>
            <a:r>
              <a:rPr lang="en-US" b="0" i="0" dirty="0">
                <a:solidFill>
                  <a:srgbClr val="0D0D0D"/>
                </a:solidFill>
                <a:effectLst/>
                <a:latin typeface="Söhne"/>
              </a:rPr>
              <a:t>: Update the START pointer to skip the first node, effectively removing it from the list.</a:t>
            </a:r>
          </a:p>
          <a:p>
            <a:pPr marL="742950" lvl="1" indent="-285750" algn="l">
              <a:buFont typeface="+mj-lt"/>
              <a:buAutoNum type="arabicPeriod"/>
            </a:pPr>
            <a:r>
              <a:rPr lang="en-US" b="0" i="0" dirty="0">
                <a:solidFill>
                  <a:srgbClr val="0D0D0D"/>
                </a:solidFill>
                <a:effectLst/>
                <a:latin typeface="Söhne"/>
              </a:rPr>
              <a:t>(c)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node pointed to by TEMP.</a:t>
            </a:r>
          </a:p>
          <a:p>
            <a:pPr marL="742950" lvl="1" indent="-285750" algn="l">
              <a:buFont typeface="+mj-lt"/>
              <a:buAutoNum type="arabicPeriod"/>
            </a:pPr>
            <a:r>
              <a:rPr lang="en-US" b="0" i="0" dirty="0">
                <a:solidFill>
                  <a:srgbClr val="0D0D0D"/>
                </a:solidFill>
                <a:effectLst/>
                <a:latin typeface="Söhne"/>
              </a:rPr>
              <a:t>(d)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HOLD = START</a:t>
            </a:r>
            <a:r>
              <a:rPr lang="en-US" b="0" i="0" dirty="0">
                <a:solidFill>
                  <a:srgbClr val="0D0D0D"/>
                </a:solidFill>
                <a:effectLst/>
                <a:latin typeface="Söhne"/>
              </a:rPr>
              <a:t>: Initialize a temporary pointer HOLD to the first node.</a:t>
            </a:r>
          </a:p>
          <a:p>
            <a:pPr algn="l">
              <a:buFont typeface="+mj-lt"/>
              <a:buAutoNum type="arabicPeriod"/>
            </a:pPr>
            <a:r>
              <a:rPr lang="en-US" b="1" i="0" dirty="0">
                <a:solidFill>
                  <a:srgbClr val="0D0D0D"/>
                </a:solidFill>
                <a:effectLst/>
                <a:latin typeface="Söhne"/>
              </a:rPr>
              <a:t>while ((HOLD → Next → Next) not equal to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if ((HOLD → NEXT → DATA) equal to DATA)</a:t>
            </a:r>
            <a:endParaRPr lang="en-US" b="0" i="0" dirty="0">
              <a:solidFill>
                <a:srgbClr val="0D0D0D"/>
              </a:solidFill>
              <a:effectLst/>
              <a:latin typeface="Söhne"/>
            </a:endParaRPr>
          </a:p>
          <a:p>
            <a:pPr marL="1143000" lvl="2" indent="-228600" algn="l">
              <a:buFont typeface="+mj-lt"/>
              <a:buAutoNum type="arabicPeriod"/>
            </a:pPr>
            <a:r>
              <a:rPr lang="en-US" b="0" i="0" dirty="0">
                <a:solidFill>
                  <a:srgbClr val="0D0D0D"/>
                </a:solidFill>
                <a:effectLst/>
                <a:latin typeface="Söhne"/>
              </a:rPr>
              <a:t>(</a:t>
            </a:r>
            <a:r>
              <a:rPr lang="en-US" b="0" i="0" dirty="0" err="1">
                <a:solidFill>
                  <a:srgbClr val="0D0D0D"/>
                </a:solidFill>
                <a:effectLst/>
                <a:latin typeface="Söhne"/>
              </a:rPr>
              <a:t>i</a:t>
            </a:r>
            <a:r>
              <a:rPr lang="en-US" b="0" i="0" dirty="0">
                <a:solidFill>
                  <a:srgbClr val="0D0D0D"/>
                </a:solidFill>
                <a:effectLst/>
                <a:latin typeface="Söhne"/>
              </a:rPr>
              <a:t>) </a:t>
            </a:r>
            <a:r>
              <a:rPr lang="en-US" b="1" i="0" dirty="0">
                <a:solidFill>
                  <a:srgbClr val="0D0D0D"/>
                </a:solidFill>
                <a:effectLst/>
                <a:latin typeface="Söhne"/>
              </a:rPr>
              <a:t>TEMP = HOLD → Next</a:t>
            </a:r>
            <a:r>
              <a:rPr lang="en-US" b="0" i="0" dirty="0">
                <a:solidFill>
                  <a:srgbClr val="0D0D0D"/>
                </a:solidFill>
                <a:effectLst/>
                <a:latin typeface="Söhne"/>
              </a:rPr>
              <a:t>: If the data to be deleted is found in a non-first node, set TEMP to point to the node to be deleted.</a:t>
            </a:r>
          </a:p>
          <a:p>
            <a:pPr marL="1143000" lvl="2" indent="-228600" algn="l">
              <a:buFont typeface="+mj-lt"/>
              <a:buAutoNum type="arabicPeriod"/>
            </a:pPr>
            <a:r>
              <a:rPr lang="en-US" b="0" i="0" dirty="0">
                <a:solidFill>
                  <a:srgbClr val="0D0D0D"/>
                </a:solidFill>
                <a:effectLst/>
                <a:latin typeface="Söhne"/>
              </a:rPr>
              <a:t>(ii) </a:t>
            </a:r>
            <a:r>
              <a:rPr lang="en-US" b="1" i="0" dirty="0">
                <a:solidFill>
                  <a:srgbClr val="0D0D0D"/>
                </a:solidFill>
                <a:effectLst/>
                <a:latin typeface="Söhne"/>
              </a:rPr>
              <a:t>HOLD → Next = TEMP →Next</a:t>
            </a:r>
            <a:r>
              <a:rPr lang="en-US" b="0" i="0" dirty="0">
                <a:solidFill>
                  <a:srgbClr val="0D0D0D"/>
                </a:solidFill>
                <a:effectLst/>
                <a:latin typeface="Söhne"/>
              </a:rPr>
              <a:t>: Update the Next pointer of the node before TEMP to skip TEMP.</a:t>
            </a:r>
          </a:p>
          <a:p>
            <a:pPr marL="1143000" lvl="2" indent="-228600" algn="l">
              <a:buFont typeface="+mj-lt"/>
              <a:buAutoNum type="arabicPeriod"/>
            </a:pPr>
            <a:r>
              <a:rPr lang="en-US" b="0" i="0" dirty="0">
                <a:solidFill>
                  <a:srgbClr val="0D0D0D"/>
                </a:solidFill>
                <a:effectLst/>
                <a:latin typeface="Söhne"/>
              </a:rPr>
              <a:t>(iii)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node pointed to by TEMP.</a:t>
            </a:r>
          </a:p>
          <a:p>
            <a:pPr marL="1143000" lvl="2" indent="-228600" algn="l">
              <a:buFont typeface="+mj-lt"/>
              <a:buAutoNum type="arabicPeriod"/>
            </a:pPr>
            <a:r>
              <a:rPr lang="en-US" b="0" i="0" dirty="0">
                <a:solidFill>
                  <a:srgbClr val="0D0D0D"/>
                </a:solidFill>
                <a:effectLst/>
                <a:latin typeface="Söhne"/>
              </a:rPr>
              <a:t>(iv)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HOLD = HOLD → Next</a:t>
            </a:r>
            <a:r>
              <a:rPr lang="en-US" b="0" i="0" dirty="0">
                <a:solidFill>
                  <a:srgbClr val="0D0D0D"/>
                </a:solidFill>
                <a:effectLst/>
                <a:latin typeface="Söhne"/>
              </a:rPr>
              <a:t>: Move HOLD to the next node in the list.</a:t>
            </a:r>
          </a:p>
          <a:p>
            <a:pPr algn="l">
              <a:buFont typeface="+mj-lt"/>
              <a:buAutoNum type="arabicPeriod"/>
            </a:pPr>
            <a:r>
              <a:rPr lang="en-US" b="1" i="0" dirty="0">
                <a:solidFill>
                  <a:srgbClr val="0D0D0D"/>
                </a:solidFill>
                <a:effectLst/>
                <a:latin typeface="Söhne"/>
              </a:rPr>
              <a:t>if ((HOLD → next → DATA) == DATA)</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TEMP = HOLD → Next</a:t>
            </a:r>
            <a:r>
              <a:rPr lang="en-US" b="0" i="0" dirty="0">
                <a:solidFill>
                  <a:srgbClr val="0D0D0D"/>
                </a:solidFill>
                <a:effectLst/>
                <a:latin typeface="Söhne"/>
              </a:rPr>
              <a:t>: If the data to be deleted is found at the end of the list, set TEMP to point to the last node.</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Set free the node TEMP, which is deleted</a:t>
            </a:r>
            <a:r>
              <a:rPr lang="en-US" b="0" i="0" dirty="0">
                <a:solidFill>
                  <a:srgbClr val="0D0D0D"/>
                </a:solidFill>
                <a:effectLst/>
                <a:latin typeface="Söhne"/>
              </a:rPr>
              <a:t>: Free the memory occupied by the last node.</a:t>
            </a:r>
          </a:p>
          <a:p>
            <a:pPr marL="742950" lvl="1" indent="-285750" algn="l">
              <a:buFont typeface="+mj-lt"/>
              <a:buAutoNum type="arabicPeriod"/>
            </a:pPr>
            <a:r>
              <a:rPr lang="en-US" b="0" i="0" dirty="0">
                <a:solidFill>
                  <a:srgbClr val="0D0D0D"/>
                </a:solidFill>
                <a:effectLst/>
                <a:latin typeface="Söhne"/>
              </a:rPr>
              <a:t>(c) </a:t>
            </a:r>
            <a:r>
              <a:rPr lang="en-US" b="1" i="0" dirty="0">
                <a:solidFill>
                  <a:srgbClr val="0D0D0D"/>
                </a:solidFill>
                <a:effectLst/>
                <a:latin typeface="Söhne"/>
              </a:rPr>
              <a:t>HOLD → Next = NULL</a:t>
            </a:r>
            <a:r>
              <a:rPr lang="en-US" b="0" i="0" dirty="0">
                <a:solidFill>
                  <a:srgbClr val="0D0D0D"/>
                </a:solidFill>
                <a:effectLst/>
                <a:latin typeface="Söhne"/>
              </a:rPr>
              <a:t>: Update the Next pointer of the second-to-last node to NULL, effectively removing the last node.</a:t>
            </a:r>
          </a:p>
          <a:p>
            <a:pPr marL="742950" lvl="1" indent="-285750" algn="l">
              <a:buFont typeface="+mj-lt"/>
              <a:buAutoNum type="arabicPeriod"/>
            </a:pPr>
            <a:r>
              <a:rPr lang="en-US" b="0" i="0" dirty="0">
                <a:solidFill>
                  <a:srgbClr val="0D0D0D"/>
                </a:solidFill>
                <a:effectLst/>
                <a:latin typeface="Söhne"/>
              </a:rPr>
              <a:t>(d)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Display “DATA not found”</a:t>
            </a:r>
            <a:r>
              <a:rPr lang="en-US" b="0" i="0" dirty="0">
                <a:solidFill>
                  <a:srgbClr val="0D0D0D"/>
                </a:solidFill>
                <a:effectLst/>
                <a:latin typeface="Söhne"/>
              </a:rPr>
              <a:t>: If the data to be deleted is not found in the list, display a message indicating that.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r>
              <a:rPr lang="en-US" b="0" i="0" dirty="0">
                <a:solidFill>
                  <a:srgbClr val="0D0D0D"/>
                </a:solidFill>
                <a:effectLst/>
                <a:latin typeface="Söhne"/>
              </a:rPr>
              <a:t>In summary, this algorithm searches for a specific data value in the linked list and deletes the corresponding node if found. It handles deletion at the beginning, middle, and end of the list. If the data is not found, it displays a message indicating that.</a:t>
            </a:r>
          </a:p>
          <a:p>
            <a:endParaRPr lang="en-US" dirty="0"/>
          </a:p>
        </p:txBody>
      </p:sp>
      <p:sp>
        <p:nvSpPr>
          <p:cNvPr id="4" name="Slide Number Placeholder 3">
            <a:extLst>
              <a:ext uri="{FF2B5EF4-FFF2-40B4-BE49-F238E27FC236}">
                <a16:creationId xmlns:a16="http://schemas.microsoft.com/office/drawing/2014/main" id="{7A07D9CD-6A48-3B25-A03B-4B9CF18B9F11}"/>
              </a:ext>
            </a:extLst>
          </p:cNvPr>
          <p:cNvSpPr>
            <a:spLocks noGrp="1"/>
          </p:cNvSpPr>
          <p:nvPr>
            <p:ph type="sldNum" sz="quarter" idx="5"/>
          </p:nvPr>
        </p:nvSpPr>
        <p:spPr/>
        <p:txBody>
          <a:bodyPr/>
          <a:lstStyle/>
          <a:p>
            <a:fld id="{29ED50B0-D53F-4459-8D78-0CE7DA098017}" type="slidenum">
              <a:rPr lang="en-US" smtClean="0"/>
              <a:pPr/>
              <a:t>14</a:t>
            </a:fld>
            <a:endParaRPr lang="en-US" dirty="0"/>
          </a:p>
        </p:txBody>
      </p:sp>
    </p:spTree>
    <p:extLst>
      <p:ext uri="{BB962C8B-B14F-4D97-AF65-F5344CB8AC3E}">
        <p14:creationId xmlns:p14="http://schemas.microsoft.com/office/powerpoint/2010/main" val="2130981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00000"/>
                </a:solidFill>
                <a:effectLst/>
                <a:latin typeface="Söhne"/>
              </a:rPr>
              <a:t>Input the DATA to be searched</a:t>
            </a:r>
            <a:r>
              <a:rPr lang="en-US" b="0" i="0" dirty="0">
                <a:solidFill>
                  <a:srgbClr val="000000"/>
                </a:solidFill>
                <a:effectLst/>
                <a:latin typeface="Söhne"/>
              </a:rPr>
              <a:t>: This is where you take the input data that you want to search for in the linked list.</a:t>
            </a:r>
          </a:p>
          <a:p>
            <a:pPr algn="l">
              <a:buFont typeface="+mj-lt"/>
              <a:buAutoNum type="arabicPeriod"/>
            </a:pPr>
            <a:r>
              <a:rPr lang="en-US" b="1" i="0" dirty="0">
                <a:solidFill>
                  <a:srgbClr val="000000"/>
                </a:solidFill>
                <a:effectLst/>
                <a:latin typeface="Söhne"/>
              </a:rPr>
              <a:t>Initialize TEMP = START; POS = 1;</a:t>
            </a:r>
            <a:r>
              <a:rPr lang="en-US" b="0" i="0" dirty="0">
                <a:solidFill>
                  <a:srgbClr val="000000"/>
                </a:solidFill>
                <a:effectLst/>
                <a:latin typeface="Söhne"/>
              </a:rPr>
              <a:t>: Initialize a temporary pointer TEMP to the first node (START) and set the position (POS) to 1.</a:t>
            </a:r>
          </a:p>
          <a:p>
            <a:pPr algn="l">
              <a:buFont typeface="+mj-lt"/>
              <a:buAutoNum type="arabicPeriod"/>
            </a:pPr>
            <a:r>
              <a:rPr lang="en-US" b="1" i="0" dirty="0">
                <a:solidFill>
                  <a:srgbClr val="000000"/>
                </a:solidFill>
                <a:effectLst/>
                <a:latin typeface="Söhne"/>
              </a:rPr>
              <a:t>Repeat the step 4, 5, and 6 until (TEMP is equal to NULL)</a:t>
            </a:r>
            <a:endParaRPr lang="en-US" b="0" i="0" dirty="0">
              <a:solidFill>
                <a:srgbClr val="000000"/>
              </a:solidFill>
              <a:effectLst/>
              <a:latin typeface="Söhne"/>
            </a:endParaRPr>
          </a:p>
          <a:p>
            <a:pPr marL="742950" lvl="1" indent="-285750" algn="l">
              <a:buFont typeface="+mj-lt"/>
              <a:buAutoNum type="arabicPeriod"/>
            </a:pPr>
            <a:r>
              <a:rPr lang="en-US" b="0" i="0" dirty="0">
                <a:solidFill>
                  <a:srgbClr val="000000"/>
                </a:solidFill>
                <a:effectLst/>
                <a:latin typeface="Söhne"/>
              </a:rPr>
              <a:t>4. </a:t>
            </a:r>
            <a:r>
              <a:rPr lang="en-US" b="1" i="0" dirty="0">
                <a:solidFill>
                  <a:srgbClr val="000000"/>
                </a:solidFill>
                <a:effectLst/>
                <a:latin typeface="Söhne"/>
              </a:rPr>
              <a:t>If (TEMP → DATA is equal to DATA)</a:t>
            </a:r>
            <a:endParaRPr lang="en-US" b="0" i="0" dirty="0">
              <a:solidFill>
                <a:srgbClr val="000000"/>
              </a:solidFill>
              <a:effectLst/>
              <a:latin typeface="Söhne"/>
            </a:endParaRPr>
          </a:p>
          <a:p>
            <a:pPr marL="1143000" lvl="2" indent="-228600" algn="l">
              <a:buFont typeface="+mj-lt"/>
              <a:buAutoNum type="arabicPeriod"/>
            </a:pPr>
            <a:r>
              <a:rPr lang="en-US" b="0" i="0" dirty="0">
                <a:solidFill>
                  <a:srgbClr val="000000"/>
                </a:solidFill>
                <a:effectLst/>
                <a:latin typeface="Söhne"/>
              </a:rPr>
              <a:t>(a) </a:t>
            </a:r>
            <a:r>
              <a:rPr lang="en-US" b="1" i="0" dirty="0">
                <a:solidFill>
                  <a:srgbClr val="000000"/>
                </a:solidFill>
                <a:effectLst/>
                <a:latin typeface="Söhne"/>
              </a:rPr>
              <a:t>Display “The data is found at POS”</a:t>
            </a:r>
            <a:r>
              <a:rPr lang="en-US" b="0" i="0" dirty="0">
                <a:solidFill>
                  <a:srgbClr val="000000"/>
                </a:solidFill>
                <a:effectLst/>
                <a:latin typeface="Söhne"/>
              </a:rPr>
              <a:t>: If the data in the current node is equal to the data you are searching for, display a message indicating the position where it is found.</a:t>
            </a:r>
          </a:p>
          <a:p>
            <a:pPr marL="1143000" lvl="2" indent="-228600" algn="l">
              <a:buFont typeface="+mj-lt"/>
              <a:buAutoNum type="arabicPeriod"/>
            </a:pPr>
            <a:r>
              <a:rPr lang="en-US" b="0" i="0" dirty="0">
                <a:solidFill>
                  <a:srgbClr val="000000"/>
                </a:solidFill>
                <a:effectLst/>
                <a:latin typeface="Söhne"/>
              </a:rPr>
              <a:t>(b) </a:t>
            </a:r>
            <a:r>
              <a:rPr lang="en-US" b="1" i="0" dirty="0">
                <a:solidFill>
                  <a:srgbClr val="000000"/>
                </a:solidFill>
                <a:effectLst/>
                <a:latin typeface="Söhne"/>
              </a:rPr>
              <a:t>Exit</a:t>
            </a:r>
            <a:r>
              <a:rPr lang="en-US" b="0" i="0" dirty="0">
                <a:solidFill>
                  <a:srgbClr val="000000"/>
                </a:solidFill>
                <a:effectLst/>
                <a:latin typeface="Söhne"/>
              </a:rPr>
              <a:t>: The algorithm ends here.</a:t>
            </a:r>
          </a:p>
          <a:p>
            <a:pPr marL="1143000" lvl="2" indent="-228600" algn="l">
              <a:buFont typeface="+mj-lt"/>
              <a:buAutoNum type="arabicPeriod"/>
            </a:pPr>
            <a:r>
              <a:rPr lang="en-US" b="1" i="0" dirty="0">
                <a:solidFill>
                  <a:srgbClr val="000000"/>
                </a:solidFill>
                <a:effectLst/>
                <a:latin typeface="Söhne"/>
              </a:rPr>
              <a:t>TEMP = TEMP → Next</a:t>
            </a:r>
            <a:r>
              <a:rPr lang="en-US" b="0" i="0" dirty="0">
                <a:solidFill>
                  <a:srgbClr val="000000"/>
                </a:solidFill>
                <a:effectLst/>
                <a:latin typeface="Söhne"/>
              </a:rPr>
              <a:t>: Move TEMP to the next node in the list.</a:t>
            </a:r>
          </a:p>
          <a:p>
            <a:pPr marL="1143000" lvl="2" indent="-228600" algn="l">
              <a:buFont typeface="+mj-lt"/>
              <a:buAutoNum type="arabicPeriod"/>
            </a:pPr>
            <a:r>
              <a:rPr lang="en-US" b="1" i="0" dirty="0">
                <a:solidFill>
                  <a:srgbClr val="000000"/>
                </a:solidFill>
                <a:effectLst/>
                <a:latin typeface="Söhne"/>
              </a:rPr>
              <a:t>POS = POS + 1</a:t>
            </a:r>
            <a:r>
              <a:rPr lang="en-US" b="0" i="0" dirty="0">
                <a:solidFill>
                  <a:srgbClr val="000000"/>
                </a:solidFill>
                <a:effectLst/>
                <a:latin typeface="Söhne"/>
              </a:rPr>
              <a:t>: Increment the position count.</a:t>
            </a:r>
          </a:p>
          <a:p>
            <a:pPr algn="l">
              <a:buFont typeface="+mj-lt"/>
              <a:buAutoNum type="arabicPeriod"/>
            </a:pPr>
            <a:r>
              <a:rPr lang="en-US" b="1" i="0" dirty="0">
                <a:solidFill>
                  <a:srgbClr val="000000"/>
                </a:solidFill>
                <a:effectLst/>
                <a:latin typeface="Söhne"/>
              </a:rPr>
              <a:t>If (TEMP is equal to NULL)</a:t>
            </a:r>
            <a:endParaRPr lang="en-US" b="0" i="0" dirty="0">
              <a:solidFill>
                <a:srgbClr val="000000"/>
              </a:solidFill>
              <a:effectLst/>
              <a:latin typeface="Söhne"/>
            </a:endParaRPr>
          </a:p>
          <a:p>
            <a:pPr marL="742950" lvl="1" indent="-285750" algn="l">
              <a:buFont typeface="+mj-lt"/>
              <a:buAutoNum type="arabicPeriod"/>
            </a:pPr>
            <a:r>
              <a:rPr lang="en-US" b="0" i="0" dirty="0">
                <a:solidFill>
                  <a:srgbClr val="000000"/>
                </a:solidFill>
                <a:effectLst/>
                <a:latin typeface="Söhne"/>
              </a:rPr>
              <a:t>(a) </a:t>
            </a:r>
            <a:r>
              <a:rPr lang="en-US" b="1" i="0" dirty="0">
                <a:solidFill>
                  <a:srgbClr val="000000"/>
                </a:solidFill>
                <a:effectLst/>
                <a:latin typeface="Söhne"/>
              </a:rPr>
              <a:t>Display “The data is not found in the list”</a:t>
            </a:r>
            <a:r>
              <a:rPr lang="en-US" b="0" i="0" dirty="0">
                <a:solidFill>
                  <a:srgbClr val="000000"/>
                </a:solidFill>
                <a:effectLst/>
                <a:latin typeface="Söhne"/>
              </a:rPr>
              <a:t>: If the entire list is traversed, and the data is not found, display a message indicating that the data is not present in the list.</a:t>
            </a:r>
          </a:p>
          <a:p>
            <a:pPr algn="l">
              <a:buFont typeface="+mj-lt"/>
              <a:buAutoNum type="arabicPeriod"/>
            </a:pPr>
            <a:r>
              <a:rPr lang="en-US" b="1" i="0" dirty="0">
                <a:solidFill>
                  <a:srgbClr val="000000"/>
                </a:solidFill>
                <a:effectLst/>
                <a:latin typeface="Söhne"/>
              </a:rPr>
              <a:t>Exit</a:t>
            </a:r>
            <a:r>
              <a:rPr lang="en-US" b="0" i="0" dirty="0">
                <a:solidFill>
                  <a:srgbClr val="000000"/>
                </a:solidFill>
                <a:effectLst/>
                <a:latin typeface="Söhne"/>
              </a:rPr>
              <a:t>: The algorithm ends here.</a:t>
            </a:r>
          </a:p>
          <a:p>
            <a:pPr algn="l"/>
            <a:r>
              <a:rPr lang="en-US" b="0" i="0" dirty="0">
                <a:solidFill>
                  <a:srgbClr val="000000"/>
                </a:solidFill>
                <a:effectLst/>
                <a:latin typeface="Söhne"/>
              </a:rPr>
              <a:t>In summary, this algorithm searches for a specific data value in a linked list and provides the position where the data is found. If the data is not found in the list, it displays a message indicating that. The position (POS) is updated as the algorithm traverses the list.</a:t>
            </a:r>
          </a:p>
        </p:txBody>
      </p:sp>
      <p:sp>
        <p:nvSpPr>
          <p:cNvPr id="4" name="Slide Number Placeholder 3"/>
          <p:cNvSpPr>
            <a:spLocks noGrp="1"/>
          </p:cNvSpPr>
          <p:nvPr>
            <p:ph type="sldNum" sz="quarter" idx="5"/>
          </p:nvPr>
        </p:nvSpPr>
        <p:spPr/>
        <p:txBody>
          <a:bodyPr/>
          <a:lstStyle/>
          <a:p>
            <a:fld id="{29ED50B0-D53F-4459-8D78-0CE7DA098017}" type="slidenum">
              <a:rPr lang="en-US" smtClean="0"/>
              <a:pPr/>
              <a:t>16</a:t>
            </a:fld>
            <a:endParaRPr lang="en-US" dirty="0"/>
          </a:p>
        </p:txBody>
      </p:sp>
    </p:spTree>
    <p:extLst>
      <p:ext uri="{BB962C8B-B14F-4D97-AF65-F5344CB8AC3E}">
        <p14:creationId xmlns:p14="http://schemas.microsoft.com/office/powerpoint/2010/main" val="1292168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If (START is equal to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Display “The list is Empty”</a:t>
            </a:r>
            <a:r>
              <a:rPr lang="en-US" b="0" i="0" dirty="0">
                <a:solidFill>
                  <a:srgbClr val="0D0D0D"/>
                </a:solidFill>
                <a:effectLst/>
                <a:latin typeface="Söhne"/>
              </a:rPr>
              <a:t>: If the linked list is empty (i.e., START is NULL), display a message indicating that the list is empty.</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Initialize TEMP = START</a:t>
            </a:r>
            <a:r>
              <a:rPr lang="en-US" b="0" i="0" dirty="0">
                <a:solidFill>
                  <a:srgbClr val="0D0D0D"/>
                </a:solidFill>
                <a:effectLst/>
                <a:latin typeface="Söhne"/>
              </a:rPr>
              <a:t>: Initialize a temporary pointer TEMP to the first node (START).</a:t>
            </a:r>
          </a:p>
          <a:p>
            <a:pPr algn="l">
              <a:buFont typeface="+mj-lt"/>
              <a:buAutoNum type="arabicPeriod"/>
            </a:pPr>
            <a:r>
              <a:rPr lang="en-US" b="1" i="0" dirty="0">
                <a:solidFill>
                  <a:srgbClr val="0D0D0D"/>
                </a:solidFill>
                <a:effectLst/>
                <a:latin typeface="Söhne"/>
              </a:rPr>
              <a:t>Repeat the step 4 and 5 until (TEMP ==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4. </a:t>
            </a:r>
            <a:r>
              <a:rPr lang="en-US" b="1" i="0" dirty="0">
                <a:solidFill>
                  <a:srgbClr val="0D0D0D"/>
                </a:solidFill>
                <a:effectLst/>
                <a:latin typeface="Söhne"/>
              </a:rPr>
              <a:t>Display “TEMP → DATA”</a:t>
            </a:r>
            <a:r>
              <a:rPr lang="en-US" b="0" i="0" dirty="0">
                <a:solidFill>
                  <a:srgbClr val="0D0D0D"/>
                </a:solidFill>
                <a:effectLst/>
                <a:latin typeface="Söhne"/>
              </a:rPr>
              <a:t>: Display the data in the current node pointed to by TEMP.</a:t>
            </a:r>
          </a:p>
          <a:p>
            <a:pPr marL="1143000" lvl="2" indent="-228600" algn="l">
              <a:buFont typeface="+mj-lt"/>
              <a:buAutoNum type="arabicPeriod"/>
            </a:pPr>
            <a:r>
              <a:rPr lang="en-US" b="1" i="0" dirty="0">
                <a:solidFill>
                  <a:srgbClr val="0D0D0D"/>
                </a:solidFill>
                <a:effectLst/>
                <a:latin typeface="Söhne"/>
              </a:rPr>
              <a:t>TEMP = TEMP → Next</a:t>
            </a:r>
            <a:r>
              <a:rPr lang="en-US" b="0" i="0" dirty="0">
                <a:solidFill>
                  <a:srgbClr val="0D0D0D"/>
                </a:solidFill>
                <a:effectLst/>
                <a:latin typeface="Söhne"/>
              </a:rPr>
              <a:t>: Move TEMP to the next node in the list.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r>
              <a:rPr lang="en-US" b="0" i="0" dirty="0">
                <a:solidFill>
                  <a:srgbClr val="0D0D0D"/>
                </a:solidFill>
                <a:effectLst/>
                <a:latin typeface="Söhne"/>
              </a:rPr>
              <a:t>In summary, this algorithm traverses a linked list and displays the data in each node. If the list is empty, it displays a message indicating that. The process continues until the end of the list is reached (when TEMP becomes NULL).</a:t>
            </a:r>
          </a:p>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17</a:t>
            </a:fld>
            <a:endParaRPr lang="en-US" dirty="0"/>
          </a:p>
        </p:txBody>
      </p:sp>
    </p:spTree>
    <p:extLst>
      <p:ext uri="{BB962C8B-B14F-4D97-AF65-F5344CB8AC3E}">
        <p14:creationId xmlns:p14="http://schemas.microsoft.com/office/powerpoint/2010/main" val="2050180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BD2E7-5679-077C-64EB-B935F84B6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E7A93-6C49-673B-3E5A-F598D711A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15D57-608C-FE33-2B5B-BB0AC0A0A371}"/>
              </a:ext>
            </a:extLst>
          </p:cNvPr>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If (START is equal to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 </a:t>
            </a:r>
            <a:r>
              <a:rPr lang="en-US" b="1" i="0" dirty="0">
                <a:solidFill>
                  <a:srgbClr val="0D0D0D"/>
                </a:solidFill>
                <a:effectLst/>
                <a:latin typeface="Söhne"/>
              </a:rPr>
              <a:t>Display “The list is Empty”</a:t>
            </a:r>
            <a:r>
              <a:rPr lang="en-US" b="0" i="0" dirty="0">
                <a:solidFill>
                  <a:srgbClr val="0D0D0D"/>
                </a:solidFill>
                <a:effectLst/>
                <a:latin typeface="Söhne"/>
              </a:rPr>
              <a:t>: If the linked list is empty (i.e., START is NULL), display a message indicating that the list is empty.</a:t>
            </a:r>
          </a:p>
          <a:p>
            <a:pPr marL="742950" lvl="1" indent="-285750" algn="l">
              <a:buFont typeface="+mj-lt"/>
              <a:buAutoNum type="arabicPeriod"/>
            </a:pPr>
            <a:r>
              <a:rPr lang="en-US" b="0" i="0" dirty="0">
                <a:solidFill>
                  <a:srgbClr val="0D0D0D"/>
                </a:solidFill>
                <a:effectLst/>
                <a:latin typeface="Söhne"/>
              </a:rPr>
              <a:t>(b) </a:t>
            </a: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buFont typeface="+mj-lt"/>
              <a:buAutoNum type="arabicPeriod"/>
            </a:pPr>
            <a:r>
              <a:rPr lang="en-US" b="1" i="0" dirty="0">
                <a:solidFill>
                  <a:srgbClr val="0D0D0D"/>
                </a:solidFill>
                <a:effectLst/>
                <a:latin typeface="Söhne"/>
              </a:rPr>
              <a:t>Initialize TEMP = START</a:t>
            </a:r>
            <a:r>
              <a:rPr lang="en-US" b="0" i="0" dirty="0">
                <a:solidFill>
                  <a:srgbClr val="0D0D0D"/>
                </a:solidFill>
                <a:effectLst/>
                <a:latin typeface="Söhne"/>
              </a:rPr>
              <a:t>: Initialize a temporary pointer TEMP to the first node (START).</a:t>
            </a:r>
          </a:p>
          <a:p>
            <a:pPr algn="l">
              <a:buFont typeface="+mj-lt"/>
              <a:buAutoNum type="arabicPeriod"/>
            </a:pPr>
            <a:r>
              <a:rPr lang="en-US" b="1" i="0" dirty="0">
                <a:solidFill>
                  <a:srgbClr val="0D0D0D"/>
                </a:solidFill>
                <a:effectLst/>
                <a:latin typeface="Söhne"/>
              </a:rPr>
              <a:t>Repeat the step 4 and 5 until (TEMP == NULL)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4. </a:t>
            </a:r>
            <a:r>
              <a:rPr lang="en-US" b="1" i="0" dirty="0">
                <a:solidFill>
                  <a:srgbClr val="0D0D0D"/>
                </a:solidFill>
                <a:effectLst/>
                <a:latin typeface="Söhne"/>
              </a:rPr>
              <a:t>Display “TEMP → DATA”</a:t>
            </a:r>
            <a:r>
              <a:rPr lang="en-US" b="0" i="0" dirty="0">
                <a:solidFill>
                  <a:srgbClr val="0D0D0D"/>
                </a:solidFill>
                <a:effectLst/>
                <a:latin typeface="Söhne"/>
              </a:rPr>
              <a:t>: Display the data in the current node pointed to by TEMP.</a:t>
            </a:r>
          </a:p>
          <a:p>
            <a:pPr marL="1143000" lvl="2" indent="-228600" algn="l">
              <a:buFont typeface="+mj-lt"/>
              <a:buAutoNum type="arabicPeriod"/>
            </a:pPr>
            <a:r>
              <a:rPr lang="en-US" b="1" i="0" dirty="0">
                <a:solidFill>
                  <a:srgbClr val="0D0D0D"/>
                </a:solidFill>
                <a:effectLst/>
                <a:latin typeface="Söhne"/>
              </a:rPr>
              <a:t>TEMP = TEMP → Next</a:t>
            </a:r>
            <a:r>
              <a:rPr lang="en-US" b="0" i="0" dirty="0">
                <a:solidFill>
                  <a:srgbClr val="0D0D0D"/>
                </a:solidFill>
                <a:effectLst/>
                <a:latin typeface="Söhne"/>
              </a:rPr>
              <a:t>: Move TEMP to the next node in the list.</a:t>
            </a:r>
          </a:p>
          <a:p>
            <a:pPr algn="l">
              <a:buFont typeface="+mj-lt"/>
              <a:buAutoNum type="arabicPeriod"/>
            </a:pPr>
            <a:r>
              <a:rPr lang="en-US" b="1" i="0" dirty="0">
                <a:solidFill>
                  <a:srgbClr val="0D0D0D"/>
                </a:solidFill>
                <a:effectLst/>
                <a:latin typeface="Söhne"/>
              </a:rPr>
              <a:t>Exit</a:t>
            </a:r>
            <a:r>
              <a:rPr lang="en-US" b="0" i="0" dirty="0">
                <a:solidFill>
                  <a:srgbClr val="0D0D0D"/>
                </a:solidFill>
                <a:effectLst/>
                <a:latin typeface="Söhne"/>
              </a:rPr>
              <a:t>: The algorithm ends here.</a:t>
            </a:r>
          </a:p>
          <a:p>
            <a:pPr algn="l"/>
            <a:r>
              <a:rPr lang="en-US" b="0" i="0" dirty="0">
                <a:solidFill>
                  <a:srgbClr val="0D0D0D"/>
                </a:solidFill>
                <a:effectLst/>
                <a:latin typeface="Söhne"/>
              </a:rPr>
              <a:t>In summary, this algorithm traverses a linked list and displays the data in each node. If the list is empty, it displays a message indicating that. The process continues until the end of the list is reached (when TEMP becomes NULL).</a:t>
            </a:r>
          </a:p>
          <a:p>
            <a:endParaRPr lang="en-US" dirty="0"/>
          </a:p>
        </p:txBody>
      </p:sp>
      <p:sp>
        <p:nvSpPr>
          <p:cNvPr id="4" name="Slide Number Placeholder 3">
            <a:extLst>
              <a:ext uri="{FF2B5EF4-FFF2-40B4-BE49-F238E27FC236}">
                <a16:creationId xmlns:a16="http://schemas.microsoft.com/office/drawing/2014/main" id="{7388810A-41DF-F381-E28D-BC45DA80EB88}"/>
              </a:ext>
            </a:extLst>
          </p:cNvPr>
          <p:cNvSpPr>
            <a:spLocks noGrp="1"/>
          </p:cNvSpPr>
          <p:nvPr>
            <p:ph type="sldNum" sz="quarter" idx="5"/>
          </p:nvPr>
        </p:nvSpPr>
        <p:spPr/>
        <p:txBody>
          <a:bodyPr/>
          <a:lstStyle/>
          <a:p>
            <a:fld id="{29ED50B0-D53F-4459-8D78-0CE7DA098017}" type="slidenum">
              <a:rPr lang="en-US" smtClean="0"/>
              <a:pPr/>
              <a:t>25</a:t>
            </a:fld>
            <a:endParaRPr lang="en-US" dirty="0"/>
          </a:p>
        </p:txBody>
      </p:sp>
    </p:spTree>
    <p:extLst>
      <p:ext uri="{BB962C8B-B14F-4D97-AF65-F5344CB8AC3E}">
        <p14:creationId xmlns:p14="http://schemas.microsoft.com/office/powerpoint/2010/main" val="13402581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http://www.comsats.org.pk/images/images_r01_c01.jpg"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219200" y="3886200"/>
            <a:ext cx="6858000" cy="990600"/>
          </a:xfrm>
        </p:spPr>
        <p:txBody>
          <a:bodyPr anchor="t" anchorCtr="0"/>
          <a:lstStyle>
            <a:lvl1pPr algn="r">
              <a:defRPr sz="3200" baseline="0">
                <a:solidFill>
                  <a:schemeClr val="tx1"/>
                </a:solidFill>
              </a:defRPr>
            </a:lvl1pPr>
          </a:lstStyle>
          <a:p>
            <a:r>
              <a:rPr kumimoji="0" lang="en-US" dirty="0"/>
              <a:t>Atique Ahmad </a:t>
            </a:r>
            <a:r>
              <a:rPr kumimoji="0" lang="en-US" dirty="0" err="1"/>
              <a:t>Zafar</a:t>
            </a:r>
            <a:endParaRPr kumimoji="0" lang="en-US" dirty="0"/>
          </a:p>
        </p:txBody>
      </p:sp>
      <p:sp>
        <p:nvSpPr>
          <p:cNvPr id="9" name="Subtitle 8"/>
          <p:cNvSpPr>
            <a:spLocks noGrp="1"/>
          </p:cNvSpPr>
          <p:nvPr>
            <p:ph type="subTitle" idx="1" hasCustomPrompt="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Lecture-1</a:t>
            </a:r>
            <a:endParaRPr kumimoji="0" lang="en-US" dirty="0"/>
          </a:p>
        </p:txBody>
      </p:sp>
      <p:sp>
        <p:nvSpPr>
          <p:cNvPr id="17" name="Footer Placeholder 16"/>
          <p:cNvSpPr>
            <a:spLocks noGrp="1"/>
          </p:cNvSpPr>
          <p:nvPr>
            <p:ph type="ftr" sz="quarter" idx="11"/>
          </p:nvPr>
        </p:nvSpPr>
        <p:spPr>
          <a:xfrm>
            <a:off x="2898648" y="6355080"/>
            <a:ext cx="3474720" cy="365760"/>
          </a:xfrm>
        </p:spPr>
        <p:txBody>
          <a:bodyPr/>
          <a:lstStyle>
            <a:lvl1pPr>
              <a:defRPr/>
            </a:lvl1pPr>
          </a:lstStyle>
          <a:p>
            <a:r>
              <a:rPr lang="en-US" dirty="0"/>
              <a:t>Algorithm and Data Structure </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pic>
        <p:nvPicPr>
          <p:cNvPr id="11265" name="Picture 1" descr="http://www.comsats.org.pk/images/images_r01_c01.jpg"/>
          <p:cNvPicPr>
            <a:picLocks noChangeAspect="1" noChangeArrowheads="1"/>
          </p:cNvPicPr>
          <p:nvPr userDrawn="1"/>
        </p:nvPicPr>
        <p:blipFill>
          <a:blip r:embed="rId2" r:link="rId3"/>
          <a:srcRect/>
          <a:stretch>
            <a:fillRect/>
          </a:stretch>
        </p:blipFill>
        <p:spPr bwMode="auto">
          <a:xfrm>
            <a:off x="0" y="0"/>
            <a:ext cx="914400" cy="952500"/>
          </a:xfrm>
          <a:prstGeom prst="rect">
            <a:avLst/>
          </a:prstGeom>
          <a:noFill/>
        </p:spPr>
      </p:pic>
      <p:sp>
        <p:nvSpPr>
          <p:cNvPr id="14" name="Rectangle 13"/>
          <p:cNvSpPr/>
          <p:nvPr userDrawn="1"/>
        </p:nvSpPr>
        <p:spPr>
          <a:xfrm>
            <a:off x="990600" y="228600"/>
            <a:ext cx="7689926" cy="461665"/>
          </a:xfrm>
          <a:prstGeom prst="rect">
            <a:avLst/>
          </a:prstGeom>
          <a:noFill/>
        </p:spPr>
        <p:txBody>
          <a:bodyPr wrap="none" lIns="91440" tIns="45720" rIns="91440" bIns="45720">
            <a:spAutoFit/>
          </a:bodyPr>
          <a:lstStyle/>
          <a:p>
            <a:pPr algn="ctr"/>
            <a:r>
              <a:rPr kumimoji="0" lang="en-US" sz="2400" b="1" u="sng" kern="1200" cap="none" spc="0" dirty="0">
                <a:ln w="18000">
                  <a:solidFill>
                    <a:schemeClr val="accent2">
                      <a:satMod val="140000"/>
                    </a:schemeClr>
                  </a:solidFill>
                  <a:prstDash val="solid"/>
                  <a:miter lim="800000"/>
                </a:ln>
                <a:solidFill>
                  <a:schemeClr val="accent2">
                    <a:lumMod val="50000"/>
                  </a:schemeClr>
                </a:solidFill>
                <a:effectLst/>
                <a:latin typeface="+mj-lt"/>
                <a:ea typeface="+mj-ea"/>
                <a:cs typeface="+mj-cs"/>
              </a:rPr>
              <a:t>COMSATS Institute of Information Technology</a:t>
            </a:r>
            <a:endParaRPr lang="en-US" sz="2400" b="1" u="sng" cap="none" spc="0" dirty="0">
              <a:ln w="18000">
                <a:solidFill>
                  <a:schemeClr val="accent2">
                    <a:satMod val="140000"/>
                  </a:schemeClr>
                </a:solidFill>
                <a:prstDash val="solid"/>
                <a:miter lim="800000"/>
              </a:ln>
              <a:solidFill>
                <a:schemeClr val="accent2">
                  <a:lumMod val="50000"/>
                </a:schemeClr>
              </a:solidFill>
              <a:effectLst/>
            </a:endParaRPr>
          </a:p>
        </p:txBody>
      </p:sp>
      <p:sp>
        <p:nvSpPr>
          <p:cNvPr id="15" name="Rectangle 14"/>
          <p:cNvSpPr/>
          <p:nvPr userDrawn="1"/>
        </p:nvSpPr>
        <p:spPr>
          <a:xfrm>
            <a:off x="914400" y="1752600"/>
            <a:ext cx="7315200" cy="17373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userDrawn="1"/>
        </p:nvSpPr>
        <p:spPr>
          <a:xfrm>
            <a:off x="914400" y="1752600"/>
            <a:ext cx="228600" cy="1752600"/>
          </a:xfrm>
          <a:prstGeom prst="rect">
            <a:avLst/>
          </a:prstGeom>
          <a:solidFill>
            <a:schemeClr val="accent1">
              <a:lumMod val="50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solidFill>
                <a:schemeClr val="bg2">
                  <a:lumMod val="25000"/>
                </a:schemeClr>
              </a:solidFill>
            </a:endParaRPr>
          </a:p>
        </p:txBody>
      </p:sp>
      <p:sp>
        <p:nvSpPr>
          <p:cNvPr id="18" name="Title 7"/>
          <p:cNvSpPr txBox="1">
            <a:spLocks/>
          </p:cNvSpPr>
          <p:nvPr userDrawn="1"/>
        </p:nvSpPr>
        <p:spPr>
          <a:xfrm>
            <a:off x="1219200" y="2133600"/>
            <a:ext cx="6858000" cy="1371600"/>
          </a:xfrm>
          <a:prstGeom prst="rect">
            <a:avLst/>
          </a:prstGeom>
        </p:spPr>
        <p:txBody>
          <a:bodyPr vert="horz" anchor="t" anchorCtr="0">
            <a:normAutofit/>
          </a:bodyPr>
          <a:lstStyle>
            <a:lvl1pPr algn="r">
              <a:defRPr sz="3200">
                <a:solidFill>
                  <a:schemeClr val="tx1"/>
                </a:solidFill>
              </a:defRPr>
            </a:lvl1pPr>
          </a:lstStyle>
          <a:p>
            <a:r>
              <a:rPr kumimoji="0" lang="en-US" sz="3200" b="0" i="0" u="none" strike="noStrike" kern="1200" cap="none" spc="0" normalizeH="0" baseline="0" noProof="0" dirty="0">
                <a:ln>
                  <a:noFill/>
                </a:ln>
                <a:solidFill>
                  <a:schemeClr val="tx1"/>
                </a:solidFill>
                <a:effectLst/>
                <a:uLnTx/>
                <a:uFillTx/>
                <a:latin typeface="+mj-lt"/>
                <a:ea typeface="+mj-ea"/>
                <a:cs typeface="+mj-cs"/>
              </a:rPr>
              <a:t>Algorithm and Data Structure</a:t>
            </a:r>
          </a:p>
          <a:p>
            <a:r>
              <a:rPr kumimoji="0" lang="en-US" sz="3200" b="0" i="0" u="none" strike="noStrike" kern="1200" cap="none" spc="0" normalizeH="0" baseline="0" noProof="0" dirty="0">
                <a:ln>
                  <a:noFill/>
                </a:ln>
                <a:solidFill>
                  <a:schemeClr val="tx1"/>
                </a:solidFill>
                <a:effectLst/>
                <a:uLnTx/>
                <a:uFillTx/>
                <a:latin typeface="+mj-lt"/>
                <a:ea typeface="+mj-ea"/>
                <a:cs typeface="+mj-cs"/>
              </a:rPr>
              <a:t>(CSC-211)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E664E9-BB0A-4932-9D77-E0DDE5779A37}"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E664E9-BB0A-4932-9D77-E0DDE5779A37}"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E664E9-BB0A-4932-9D77-E0DDE5779A37}"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E664E9-BB0A-4932-9D77-E0DDE5779A37}"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Singly Linked List</a:t>
            </a:r>
            <a:endParaRPr lang="en-US" dirty="0"/>
          </a:p>
        </p:txBody>
      </p:sp>
      <p:sp>
        <p:nvSpPr>
          <p:cNvPr id="3" name="Subtitle 2"/>
          <p:cNvSpPr>
            <a:spLocks noGrp="1"/>
          </p:cNvSpPr>
          <p:nvPr>
            <p:ph type="subTitle" idx="1"/>
          </p:nvPr>
        </p:nvSpPr>
        <p:spPr/>
        <p:txBody>
          <a:bodyPr/>
          <a:lstStyle/>
          <a:p>
            <a:r>
              <a:rPr lang="en-US" dirty="0"/>
              <a:t>Atique </a:t>
            </a:r>
            <a:r>
              <a:rPr lang="en-US" dirty="0" err="1"/>
              <a:t>Zafar</a:t>
            </a:r>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dirty="0"/>
              <a:t>All the nodes in a singly linked list are arranged sequentially by linking with a pointer. </a:t>
            </a:r>
          </a:p>
          <a:p>
            <a:r>
              <a:rPr lang="en-US" dirty="0"/>
              <a:t>A singly linked list can grow or shrink, because it is a dynamic data structure.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Algorithm and Data Structure </a:t>
            </a:r>
            <a:endParaRPr lang="en-US" dirty="0"/>
          </a:p>
        </p:txBody>
      </p:sp>
      <p:pic>
        <p:nvPicPr>
          <p:cNvPr id="4098" name="Picture 2"/>
          <p:cNvPicPr>
            <a:picLocks noChangeAspect="1" noChangeArrowheads="1"/>
          </p:cNvPicPr>
          <p:nvPr/>
        </p:nvPicPr>
        <p:blipFill>
          <a:blip r:embed="rId2"/>
          <a:srcRect/>
          <a:stretch>
            <a:fillRect/>
          </a:stretch>
        </p:blipFill>
        <p:spPr bwMode="auto">
          <a:xfrm>
            <a:off x="3048000" y="19049"/>
            <a:ext cx="5240810" cy="6686551"/>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0" y="990600"/>
            <a:ext cx="3057525" cy="428625"/>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6086475" y="990600"/>
            <a:ext cx="3057525" cy="428625"/>
          </a:xfrm>
          <a:prstGeom prst="rect">
            <a:avLst/>
          </a:prstGeom>
          <a:noFill/>
          <a:ln w="9525">
            <a:noFill/>
            <a:miter lim="800000"/>
            <a:headEnd/>
            <a:tailEnd/>
          </a:ln>
          <a:effectLst/>
        </p:spPr>
      </p:pic>
      <p:sp>
        <p:nvSpPr>
          <p:cNvPr id="9" name="Right Arrow 8"/>
          <p:cNvSpPr/>
          <p:nvPr/>
        </p:nvSpPr>
        <p:spPr>
          <a:xfrm>
            <a:off x="152400" y="1905000"/>
            <a:ext cx="3657600" cy="160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figure explains the different</a:t>
            </a:r>
          </a:p>
          <a:p>
            <a:r>
              <a:rPr lang="en-US" dirty="0"/>
              <a:t>operations on a singly linked list.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endParaRPr lang="en-US" dirty="0"/>
          </a:p>
          <a:p>
            <a:endParaRPr lang="en-US" dirty="0"/>
          </a:p>
          <a:p>
            <a:endParaRPr lang="en-US" dirty="0"/>
          </a:p>
          <a:p>
            <a:r>
              <a:rPr lang="en-US" dirty="0"/>
              <a:t>Suppose START is the first position in linked list. </a:t>
            </a:r>
          </a:p>
          <a:p>
            <a:r>
              <a:rPr lang="en-US" dirty="0"/>
              <a:t>Let DATA be the element to be inserted in the new node. </a:t>
            </a:r>
          </a:p>
          <a:p>
            <a:r>
              <a:rPr lang="en-US" dirty="0"/>
              <a:t>POS is the position where the new node is to be inserted. </a:t>
            </a:r>
          </a:p>
          <a:p>
            <a:r>
              <a:rPr lang="en-US" dirty="0"/>
              <a:t>TEMP is a temporary pointer to hold the node address.</a:t>
            </a:r>
          </a:p>
        </p:txBody>
      </p:sp>
      <p:pic>
        <p:nvPicPr>
          <p:cNvPr id="5123" name="Picture 3"/>
          <p:cNvPicPr>
            <a:picLocks noChangeAspect="1" noChangeArrowheads="1"/>
          </p:cNvPicPr>
          <p:nvPr/>
        </p:nvPicPr>
        <p:blipFill>
          <a:blip r:embed="rId2"/>
          <a:srcRect/>
          <a:stretch>
            <a:fillRect/>
          </a:stretch>
        </p:blipFill>
        <p:spPr bwMode="auto">
          <a:xfrm>
            <a:off x="1981200" y="1219200"/>
            <a:ext cx="4724400" cy="1243263"/>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3200" b="1" kern="1200" baseline="0" dirty="0">
                <a:solidFill>
                  <a:schemeClr val="tx1"/>
                </a:solidFill>
                <a:latin typeface="+mn-lt"/>
                <a:ea typeface="+mn-ea"/>
                <a:cs typeface="+mn-cs"/>
              </a:rPr>
              <a:t>Insert a Node at the beginning</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279019019"/>
              </p:ext>
            </p:extLst>
          </p:nvPr>
        </p:nvGraphicFramePr>
        <p:xfrm>
          <a:off x="457200" y="1219200"/>
          <a:ext cx="8229600" cy="5029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029200">
                <a:tc>
                  <a:txBody>
                    <a:bodyPr/>
                    <a:lstStyle/>
                    <a:p>
                      <a:r>
                        <a:rPr kumimoji="0" lang="en-US" sz="2400" b="0" kern="1200" baseline="0" dirty="0">
                          <a:solidFill>
                            <a:schemeClr val="tx1"/>
                          </a:solidFill>
                          <a:latin typeface="+mn-lt"/>
                          <a:ea typeface="+mn-ea"/>
                          <a:cs typeface="+mn-cs"/>
                        </a:rPr>
                        <a:t>1. Input DATA to be inserted</a:t>
                      </a:r>
                    </a:p>
                    <a:p>
                      <a:r>
                        <a:rPr kumimoji="0" lang="en-US" sz="2400" b="0" kern="1200" baseline="0" dirty="0">
                          <a:solidFill>
                            <a:schemeClr val="tx1"/>
                          </a:solidFill>
                          <a:latin typeface="+mn-lt"/>
                          <a:ea typeface="+mn-ea"/>
                          <a:cs typeface="+mn-cs"/>
                        </a:rPr>
                        <a:t>2. Create a </a:t>
                      </a:r>
                      <a:r>
                        <a:rPr kumimoji="0" lang="en-US" sz="2400" b="0" kern="1200" baseline="0" dirty="0" err="1">
                          <a:solidFill>
                            <a:schemeClr val="tx1"/>
                          </a:solidFill>
                          <a:latin typeface="+mn-lt"/>
                          <a:ea typeface="+mn-ea"/>
                          <a:cs typeface="+mn-cs"/>
                        </a:rPr>
                        <a:t>NewNode</a:t>
                      </a:r>
                      <a:endParaRPr kumimoji="0" lang="en-US" sz="2400" b="0" kern="1200" baseline="0" dirty="0">
                        <a:solidFill>
                          <a:schemeClr val="tx1"/>
                        </a:solidFill>
                        <a:latin typeface="+mn-lt"/>
                        <a:ea typeface="+mn-ea"/>
                        <a:cs typeface="+mn-cs"/>
                      </a:endParaRPr>
                    </a:p>
                    <a:p>
                      <a:r>
                        <a:rPr kumimoji="0" lang="en-US" sz="2400" b="0" kern="1200" baseline="0" dirty="0">
                          <a:solidFill>
                            <a:schemeClr val="tx1"/>
                          </a:solidFill>
                          <a:latin typeface="+mn-lt"/>
                          <a:ea typeface="+mn-ea"/>
                          <a:cs typeface="+mn-cs"/>
                        </a:rPr>
                        <a:t>3. </a:t>
                      </a:r>
                      <a:r>
                        <a:rPr kumimoji="0" lang="en-US" sz="2400" b="0" kern="1200" baseline="0" dirty="0" err="1">
                          <a:solidFill>
                            <a:schemeClr val="tx1"/>
                          </a:solidFill>
                          <a:latin typeface="+mn-lt"/>
                          <a:ea typeface="+mn-ea"/>
                          <a:cs typeface="+mn-cs"/>
                        </a:rPr>
                        <a:t>NewNode</a:t>
                      </a:r>
                      <a:r>
                        <a:rPr kumimoji="0" lang="en-US" sz="2400" b="0" kern="1200" baseline="0" dirty="0">
                          <a:solidFill>
                            <a:schemeClr val="tx1"/>
                          </a:solidFill>
                          <a:latin typeface="+mn-lt"/>
                          <a:ea typeface="+mn-ea"/>
                          <a:cs typeface="+mn-cs"/>
                        </a:rPr>
                        <a:t> → DATA = DATA</a:t>
                      </a:r>
                    </a:p>
                    <a:p>
                      <a:r>
                        <a:rPr kumimoji="0" lang="en-US" sz="2400" b="0" kern="1200" baseline="0" dirty="0">
                          <a:solidFill>
                            <a:schemeClr val="tx1"/>
                          </a:solidFill>
                          <a:latin typeface="+mn-lt"/>
                          <a:ea typeface="+mn-ea"/>
                          <a:cs typeface="+mn-cs"/>
                        </a:rPr>
                        <a:t>4. If (SATRT equal to NULL)</a:t>
                      </a:r>
                    </a:p>
                    <a:p>
                      <a:r>
                        <a:rPr kumimoji="0" lang="en-US" sz="2400" b="0" kern="1200" baseline="0" dirty="0">
                          <a:solidFill>
                            <a:schemeClr val="tx1"/>
                          </a:solidFill>
                          <a:latin typeface="+mn-lt"/>
                          <a:ea typeface="+mn-ea"/>
                          <a:cs typeface="+mn-cs"/>
                        </a:rPr>
                        <a:t>    (</a:t>
                      </a:r>
                      <a:r>
                        <a:rPr kumimoji="0" lang="en-US" sz="2400" b="0" i="1" kern="1200" baseline="0" dirty="0">
                          <a:solidFill>
                            <a:schemeClr val="tx1"/>
                          </a:solidFill>
                          <a:latin typeface="+mn-lt"/>
                          <a:ea typeface="+mn-ea"/>
                          <a:cs typeface="+mn-cs"/>
                        </a:rPr>
                        <a:t>a) </a:t>
                      </a:r>
                      <a:r>
                        <a:rPr kumimoji="0" lang="en-US" sz="2400" b="0" i="1" kern="1200" baseline="0" dirty="0" err="1">
                          <a:solidFill>
                            <a:schemeClr val="tx1"/>
                          </a:solidFill>
                          <a:latin typeface="+mn-lt"/>
                          <a:ea typeface="+mn-ea"/>
                          <a:cs typeface="+mn-cs"/>
                        </a:rPr>
                        <a:t>NewNode</a:t>
                      </a:r>
                      <a:r>
                        <a:rPr kumimoji="0" lang="en-US" sz="2400" b="0" i="1" kern="1200" baseline="0" dirty="0">
                          <a:solidFill>
                            <a:schemeClr val="tx1"/>
                          </a:solidFill>
                          <a:latin typeface="+mn-lt"/>
                          <a:ea typeface="+mn-ea"/>
                          <a:cs typeface="+mn-cs"/>
                        </a:rPr>
                        <a:t> → Link = NULL</a:t>
                      </a:r>
                    </a:p>
                    <a:p>
                      <a:r>
                        <a:rPr kumimoji="0" lang="en-US" sz="2400" b="0" kern="1200" baseline="0" dirty="0">
                          <a:solidFill>
                            <a:schemeClr val="tx1"/>
                          </a:solidFill>
                          <a:latin typeface="+mn-lt"/>
                          <a:ea typeface="+mn-ea"/>
                          <a:cs typeface="+mn-cs"/>
                        </a:rPr>
                        <a:t>5. Else</a:t>
                      </a:r>
                    </a:p>
                    <a:p>
                      <a:r>
                        <a:rPr kumimoji="0" lang="en-US" sz="2400" b="0" kern="1200" baseline="0" dirty="0">
                          <a:solidFill>
                            <a:schemeClr val="tx1"/>
                          </a:solidFill>
                          <a:latin typeface="+mn-lt"/>
                          <a:ea typeface="+mn-ea"/>
                          <a:cs typeface="+mn-cs"/>
                        </a:rPr>
                        <a:t>    (</a:t>
                      </a:r>
                      <a:r>
                        <a:rPr kumimoji="0" lang="en-US" sz="2400" b="0" i="1" kern="1200" baseline="0" dirty="0">
                          <a:solidFill>
                            <a:schemeClr val="tx1"/>
                          </a:solidFill>
                          <a:latin typeface="+mn-lt"/>
                          <a:ea typeface="+mn-ea"/>
                          <a:cs typeface="+mn-cs"/>
                        </a:rPr>
                        <a:t>a) </a:t>
                      </a:r>
                      <a:r>
                        <a:rPr kumimoji="0" lang="en-US" sz="2400" b="0" i="1" kern="1200" baseline="0" dirty="0" err="1">
                          <a:solidFill>
                            <a:schemeClr val="tx1"/>
                          </a:solidFill>
                          <a:latin typeface="+mn-lt"/>
                          <a:ea typeface="+mn-ea"/>
                          <a:cs typeface="+mn-cs"/>
                        </a:rPr>
                        <a:t>NewNode</a:t>
                      </a:r>
                      <a:r>
                        <a:rPr kumimoji="0" lang="en-US" sz="2400" b="0" i="1" kern="1200" baseline="0" dirty="0">
                          <a:solidFill>
                            <a:schemeClr val="tx1"/>
                          </a:solidFill>
                          <a:latin typeface="+mn-lt"/>
                          <a:ea typeface="+mn-ea"/>
                          <a:cs typeface="+mn-cs"/>
                        </a:rPr>
                        <a:t> → Link = START</a:t>
                      </a:r>
                    </a:p>
                    <a:p>
                      <a:r>
                        <a:rPr kumimoji="0" lang="en-US" sz="2400" b="0" kern="1200" baseline="0" dirty="0">
                          <a:solidFill>
                            <a:schemeClr val="tx1"/>
                          </a:solidFill>
                          <a:latin typeface="+mn-lt"/>
                          <a:ea typeface="+mn-ea"/>
                          <a:cs typeface="+mn-cs"/>
                        </a:rPr>
                        <a:t>6. START = </a:t>
                      </a:r>
                      <a:r>
                        <a:rPr kumimoji="0" lang="en-US" sz="2400" b="0" kern="1200" baseline="0" dirty="0" err="1">
                          <a:solidFill>
                            <a:schemeClr val="tx1"/>
                          </a:solidFill>
                          <a:latin typeface="+mn-lt"/>
                          <a:ea typeface="+mn-ea"/>
                          <a:cs typeface="+mn-cs"/>
                        </a:rPr>
                        <a:t>NewNode</a:t>
                      </a:r>
                      <a:endParaRPr kumimoji="0" lang="en-US" sz="2400" b="0" kern="1200" baseline="0" dirty="0">
                        <a:solidFill>
                          <a:schemeClr val="tx1"/>
                        </a:solidFill>
                        <a:latin typeface="+mn-lt"/>
                        <a:ea typeface="+mn-ea"/>
                        <a:cs typeface="+mn-cs"/>
                      </a:endParaRPr>
                    </a:p>
                    <a:p>
                      <a:r>
                        <a:rPr kumimoji="0" lang="en-US" sz="2400" b="0" kern="1200" baseline="0" dirty="0">
                          <a:solidFill>
                            <a:schemeClr val="tx1"/>
                          </a:solidFill>
                          <a:latin typeface="+mn-lt"/>
                          <a:ea typeface="+mn-ea"/>
                          <a:cs typeface="+mn-cs"/>
                        </a:rPr>
                        <a:t>7. Exit</a:t>
                      </a:r>
                      <a:endParaRPr lang="en-US" sz="2400" b="0" dirty="0">
                        <a:solidFill>
                          <a:schemeClr val="tx1"/>
                        </a:solidFill>
                      </a:endParaRPr>
                    </a:p>
                  </a:txBody>
                  <a:tcPr>
                    <a:solidFill>
                      <a:schemeClr val="bg1"/>
                    </a:solidFill>
                  </a:tcPr>
                </a:tc>
                <a:tc>
                  <a:txBody>
                    <a:bodyPr/>
                    <a:lstStyle/>
                    <a:p>
                      <a:endParaRPr lang="en-US" b="0" dirty="0">
                        <a:solidFill>
                          <a:schemeClr val="tx1"/>
                        </a:solidFill>
                      </a:endParaRPr>
                    </a:p>
                  </a:txBody>
                  <a:tcPr>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3D1F-F783-7BEF-EAB7-EEC17F2474A7}"/>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08F09713-1C68-8619-C4D5-D0108E19A3AA}"/>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34DC87E5-4578-C8BF-D8B5-5B870338C788}"/>
              </a:ext>
            </a:extLst>
          </p:cNvPr>
          <p:cNvSpPr>
            <a:spLocks noGrp="1"/>
          </p:cNvSpPr>
          <p:nvPr>
            <p:ph sz="quarter" idx="1"/>
          </p:nvPr>
        </p:nvSpPr>
        <p:spPr>
          <a:xfrm>
            <a:off x="457200" y="1219200"/>
            <a:ext cx="4041648" cy="1600200"/>
          </a:xfrm>
          <a:solidFill>
            <a:srgbClr val="FFFF00"/>
          </a:solidFill>
        </p:spPr>
        <p:txBody>
          <a:bodyPr>
            <a:normAutofit fontScale="55000" lnSpcReduction="20000"/>
          </a:bodyPr>
          <a:lstStyle/>
          <a:p>
            <a:pPr marL="0" indent="0">
              <a:buNone/>
            </a:pPr>
            <a:r>
              <a:rPr lang="en-US" sz="2800" b="1" dirty="0"/>
              <a:t>// Node structure representing a single node in the linked list</a:t>
            </a:r>
          </a:p>
          <a:p>
            <a:pPr marL="0" indent="0">
              <a:buNone/>
            </a:pPr>
            <a:r>
              <a:rPr lang="en-US" sz="2800" dirty="0"/>
              <a:t>struct Node {</a:t>
            </a:r>
          </a:p>
          <a:p>
            <a:pPr marL="0" indent="0">
              <a:buNone/>
            </a:pPr>
            <a:r>
              <a:rPr lang="en-US" sz="2800" dirty="0"/>
              <a:t>    int data;</a:t>
            </a:r>
          </a:p>
          <a:p>
            <a:pPr marL="0" indent="0">
              <a:buNone/>
            </a:pPr>
            <a:r>
              <a:rPr lang="en-US" sz="2800" dirty="0"/>
              <a:t>    Node* next;</a:t>
            </a:r>
          </a:p>
          <a:p>
            <a:pPr marL="0" indent="0">
              <a:buNone/>
            </a:pPr>
            <a:r>
              <a:rPr lang="en-US" sz="2800" dirty="0"/>
              <a:t>};</a:t>
            </a:r>
          </a:p>
          <a:p>
            <a:endParaRPr lang="en-US" dirty="0"/>
          </a:p>
        </p:txBody>
      </p:sp>
      <p:sp>
        <p:nvSpPr>
          <p:cNvPr id="5" name="Content Placeholder 4">
            <a:extLst>
              <a:ext uri="{FF2B5EF4-FFF2-40B4-BE49-F238E27FC236}">
                <a16:creationId xmlns:a16="http://schemas.microsoft.com/office/drawing/2014/main" id="{A3688455-68D7-FAEA-2CC1-4BA2835E7126}"/>
              </a:ext>
            </a:extLst>
          </p:cNvPr>
          <p:cNvSpPr>
            <a:spLocks noGrp="1"/>
          </p:cNvSpPr>
          <p:nvPr>
            <p:ph sz="quarter" idx="2"/>
          </p:nvPr>
        </p:nvSpPr>
        <p:spPr>
          <a:xfrm>
            <a:off x="4632198" y="1216152"/>
            <a:ext cx="4041648" cy="1146048"/>
          </a:xfrm>
          <a:solidFill>
            <a:schemeClr val="accent2">
              <a:lumMod val="60000"/>
              <a:lumOff val="40000"/>
            </a:schemeClr>
          </a:solidFill>
        </p:spPr>
        <p:txBody>
          <a:bodyPr>
            <a:normAutofit fontScale="55000" lnSpcReduction="20000"/>
          </a:bodyPr>
          <a:lstStyle/>
          <a:p>
            <a:pPr marL="0" indent="0">
              <a:buNone/>
            </a:pPr>
            <a:r>
              <a:rPr lang="en-US" sz="2800" dirty="0"/>
              <a:t> </a:t>
            </a:r>
            <a:r>
              <a:rPr lang="en-US" sz="2800" b="1" dirty="0"/>
              <a:t>// Create a </a:t>
            </a:r>
            <a:r>
              <a:rPr lang="en-US" sz="2800" b="1" dirty="0" err="1"/>
              <a:t>NewNode</a:t>
            </a:r>
            <a:endParaRPr lang="en-US" sz="2800" b="1" dirty="0"/>
          </a:p>
          <a:p>
            <a:pPr marL="0" indent="0">
              <a:buNone/>
            </a:pPr>
            <a:r>
              <a:rPr lang="en-US" sz="2800" dirty="0"/>
              <a:t>    Node* </a:t>
            </a:r>
            <a:r>
              <a:rPr lang="en-US" sz="2800" dirty="0" err="1"/>
              <a:t>newNode</a:t>
            </a:r>
            <a:r>
              <a:rPr lang="en-US" sz="2800" dirty="0"/>
              <a:t> = new Node;</a:t>
            </a:r>
          </a:p>
          <a:p>
            <a:pPr marL="0" indent="0">
              <a:buNone/>
            </a:pPr>
            <a:r>
              <a:rPr lang="en-US" sz="2800" dirty="0"/>
              <a:t>    </a:t>
            </a:r>
            <a:r>
              <a:rPr lang="en-US" sz="2800" dirty="0" err="1"/>
              <a:t>newNode</a:t>
            </a:r>
            <a:r>
              <a:rPr lang="en-US" sz="2800" dirty="0"/>
              <a:t>-&gt;data = data;</a:t>
            </a:r>
          </a:p>
          <a:p>
            <a:pPr marL="0" indent="0">
              <a:buNone/>
            </a:pPr>
            <a:r>
              <a:rPr lang="en-US" sz="2800"/>
              <a:t>    </a:t>
            </a:r>
            <a:endParaRPr lang="en-US" dirty="0"/>
          </a:p>
        </p:txBody>
      </p:sp>
      <p:sp>
        <p:nvSpPr>
          <p:cNvPr id="7" name="TextBox 6">
            <a:extLst>
              <a:ext uri="{FF2B5EF4-FFF2-40B4-BE49-F238E27FC236}">
                <a16:creationId xmlns:a16="http://schemas.microsoft.com/office/drawing/2014/main" id="{2832A507-4C35-16FE-3CCB-3AB93458869A}"/>
              </a:ext>
            </a:extLst>
          </p:cNvPr>
          <p:cNvSpPr txBox="1"/>
          <p:nvPr/>
        </p:nvSpPr>
        <p:spPr>
          <a:xfrm>
            <a:off x="457200" y="2819400"/>
            <a:ext cx="4041648" cy="1754326"/>
          </a:xfrm>
          <a:prstGeom prst="rect">
            <a:avLst/>
          </a:prstGeom>
          <a:solidFill>
            <a:srgbClr val="92D050"/>
          </a:solidFill>
        </p:spPr>
        <p:txBody>
          <a:bodyPr wrap="square">
            <a:spAutoFit/>
          </a:bodyPr>
          <a:lstStyle/>
          <a:p>
            <a:r>
              <a:rPr lang="en-US" sz="1800" dirty="0"/>
              <a:t>int main() {</a:t>
            </a:r>
          </a:p>
          <a:p>
            <a:r>
              <a:rPr lang="en-US" sz="1800" b="1" dirty="0"/>
              <a:t>    // Initialize START to NULL, indicating an empty linked list</a:t>
            </a:r>
          </a:p>
          <a:p>
            <a:r>
              <a:rPr lang="en-US" sz="1800" dirty="0"/>
              <a:t>    Node* START = </a:t>
            </a:r>
            <a:r>
              <a:rPr lang="en-US" sz="1800" dirty="0" err="1"/>
              <a:t>nullptr</a:t>
            </a:r>
            <a:r>
              <a:rPr lang="en-US" sz="1800" dirty="0"/>
              <a:t>;</a:t>
            </a:r>
          </a:p>
          <a:p>
            <a:endParaRPr lang="en-US" sz="1800" dirty="0"/>
          </a:p>
          <a:p>
            <a:r>
              <a:rPr lang="en-US" sz="1800" dirty="0"/>
              <a:t>    </a:t>
            </a:r>
          </a:p>
        </p:txBody>
      </p:sp>
      <p:sp>
        <p:nvSpPr>
          <p:cNvPr id="10" name="TextBox 9">
            <a:extLst>
              <a:ext uri="{FF2B5EF4-FFF2-40B4-BE49-F238E27FC236}">
                <a16:creationId xmlns:a16="http://schemas.microsoft.com/office/drawing/2014/main" id="{CA6DFD3E-BE9D-CB5B-2151-CFBBBFB812A2}"/>
              </a:ext>
            </a:extLst>
          </p:cNvPr>
          <p:cNvSpPr txBox="1"/>
          <p:nvPr/>
        </p:nvSpPr>
        <p:spPr>
          <a:xfrm>
            <a:off x="457200" y="4570274"/>
            <a:ext cx="4041648" cy="1754326"/>
          </a:xfrm>
          <a:prstGeom prst="rect">
            <a:avLst/>
          </a:prstGeom>
          <a:solidFill>
            <a:srgbClr val="00B0F0"/>
          </a:solidFill>
        </p:spPr>
        <p:txBody>
          <a:bodyPr wrap="square">
            <a:spAutoFit/>
          </a:bodyPr>
          <a:lstStyle/>
          <a:p>
            <a:r>
              <a:rPr lang="en-US" sz="1800" b="1" dirty="0"/>
              <a:t>// Input DATA to be inserted</a:t>
            </a:r>
          </a:p>
          <a:p>
            <a:r>
              <a:rPr lang="en-US" sz="1800" dirty="0"/>
              <a:t>    int data;</a:t>
            </a:r>
          </a:p>
          <a:p>
            <a:r>
              <a:rPr lang="en-US" sz="1800" dirty="0"/>
              <a:t>    </a:t>
            </a:r>
            <a:r>
              <a:rPr lang="en-US" sz="1800" dirty="0" err="1"/>
              <a:t>cout</a:t>
            </a:r>
            <a:r>
              <a:rPr lang="en-US" sz="1800" dirty="0"/>
              <a:t> &lt;&lt; "Enter data to be inserted: ";</a:t>
            </a:r>
          </a:p>
          <a:p>
            <a:r>
              <a:rPr lang="en-US" sz="1800" dirty="0"/>
              <a:t>    </a:t>
            </a:r>
            <a:r>
              <a:rPr lang="en-US" sz="1800" dirty="0" err="1"/>
              <a:t>cin</a:t>
            </a:r>
            <a:r>
              <a:rPr lang="en-US" sz="1800" dirty="0"/>
              <a:t> &gt;&gt; data;</a:t>
            </a:r>
          </a:p>
          <a:p>
            <a:endParaRPr lang="en-US" sz="1800" dirty="0"/>
          </a:p>
          <a:p>
            <a:r>
              <a:rPr lang="en-US" sz="1800" dirty="0"/>
              <a:t>    </a:t>
            </a:r>
          </a:p>
        </p:txBody>
      </p:sp>
      <p:sp>
        <p:nvSpPr>
          <p:cNvPr id="11" name="Content Placeholder 4">
            <a:extLst>
              <a:ext uri="{FF2B5EF4-FFF2-40B4-BE49-F238E27FC236}">
                <a16:creationId xmlns:a16="http://schemas.microsoft.com/office/drawing/2014/main" id="{A2FE2367-AE93-CC03-2054-961510AFAA4C}"/>
              </a:ext>
            </a:extLst>
          </p:cNvPr>
          <p:cNvSpPr txBox="1">
            <a:spLocks/>
          </p:cNvSpPr>
          <p:nvPr/>
        </p:nvSpPr>
        <p:spPr>
          <a:xfrm>
            <a:off x="4645154" y="2362200"/>
            <a:ext cx="4028692" cy="2390902"/>
          </a:xfrm>
          <a:prstGeom prst="rect">
            <a:avLst/>
          </a:prstGeom>
          <a:solidFill>
            <a:schemeClr val="accent4">
              <a:lumMod val="75000"/>
            </a:schemeClr>
          </a:solidFill>
        </p:spPr>
        <p:txBody>
          <a:bodyPr vert="horz">
            <a:normAutofit fontScale="5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800" b="1" dirty="0"/>
              <a:t> // If linked list is empty, set </a:t>
            </a:r>
            <a:r>
              <a:rPr lang="en-US" sz="2800" b="1" dirty="0" err="1"/>
              <a:t>NewNode</a:t>
            </a:r>
            <a:r>
              <a:rPr lang="en-US" sz="2800" b="1" dirty="0"/>
              <a:t> as the start</a:t>
            </a:r>
          </a:p>
          <a:p>
            <a:pPr marL="0" indent="0">
              <a:buNone/>
            </a:pPr>
            <a:r>
              <a:rPr lang="en-US" sz="2800" dirty="0"/>
              <a:t>    if (START == </a:t>
            </a:r>
            <a:r>
              <a:rPr lang="en-US" sz="2800" dirty="0" err="1"/>
              <a:t>nullptr</a:t>
            </a:r>
            <a:r>
              <a:rPr lang="en-US" sz="2800" dirty="0"/>
              <a:t>) {</a:t>
            </a:r>
          </a:p>
          <a:p>
            <a:pPr marL="0" indent="0">
              <a:buNone/>
            </a:pPr>
            <a:r>
              <a:rPr lang="en-US" sz="2800" dirty="0"/>
              <a:t>        </a:t>
            </a:r>
            <a:r>
              <a:rPr lang="en-US" sz="2800" dirty="0" err="1"/>
              <a:t>newNode</a:t>
            </a:r>
            <a:r>
              <a:rPr lang="en-US" sz="2800" dirty="0"/>
              <a:t>-&gt;next = </a:t>
            </a:r>
            <a:r>
              <a:rPr lang="en-US" sz="2800" dirty="0" err="1"/>
              <a:t>nullptr</a:t>
            </a:r>
            <a:r>
              <a:rPr lang="en-US" sz="2800" dirty="0"/>
              <a:t>;</a:t>
            </a:r>
          </a:p>
          <a:p>
            <a:pPr marL="0" indent="0">
              <a:buNone/>
            </a:pPr>
            <a:r>
              <a:rPr lang="en-US" sz="2800" dirty="0"/>
              <a:t>    } else {</a:t>
            </a:r>
          </a:p>
          <a:p>
            <a:pPr marL="0" indent="0">
              <a:buNone/>
            </a:pPr>
            <a:r>
              <a:rPr lang="en-US" sz="2800" b="1" dirty="0"/>
              <a:t>        // If linked list is not empty, set </a:t>
            </a:r>
            <a:r>
              <a:rPr lang="en-US" sz="2800" b="1" dirty="0" err="1"/>
              <a:t>NewNode's</a:t>
            </a:r>
            <a:r>
              <a:rPr lang="en-US" sz="2800" b="1" dirty="0"/>
              <a:t> next to current START</a:t>
            </a:r>
          </a:p>
          <a:p>
            <a:pPr marL="0" indent="0">
              <a:buNone/>
            </a:pPr>
            <a:r>
              <a:rPr lang="en-US" sz="2800" dirty="0"/>
              <a:t>        </a:t>
            </a:r>
            <a:r>
              <a:rPr lang="en-US" sz="2800" dirty="0" err="1"/>
              <a:t>newNode</a:t>
            </a:r>
            <a:r>
              <a:rPr lang="en-US" sz="2800" dirty="0"/>
              <a:t>-&gt;next = START;</a:t>
            </a:r>
          </a:p>
          <a:p>
            <a:pPr marL="0" indent="0">
              <a:buNone/>
            </a:pPr>
            <a:r>
              <a:rPr lang="en-US" sz="2800" dirty="0"/>
              <a:t>    }</a:t>
            </a:r>
            <a:endParaRPr lang="en-US" dirty="0"/>
          </a:p>
        </p:txBody>
      </p:sp>
      <p:sp>
        <p:nvSpPr>
          <p:cNvPr id="12" name="Content Placeholder 4">
            <a:extLst>
              <a:ext uri="{FF2B5EF4-FFF2-40B4-BE49-F238E27FC236}">
                <a16:creationId xmlns:a16="http://schemas.microsoft.com/office/drawing/2014/main" id="{7A8CAD2C-2BA9-D6A7-FA14-EA5C86C9BC70}"/>
              </a:ext>
            </a:extLst>
          </p:cNvPr>
          <p:cNvSpPr txBox="1">
            <a:spLocks/>
          </p:cNvSpPr>
          <p:nvPr/>
        </p:nvSpPr>
        <p:spPr>
          <a:xfrm>
            <a:off x="4645154" y="4753102"/>
            <a:ext cx="4041646" cy="1571498"/>
          </a:xfrm>
          <a:prstGeom prst="rect">
            <a:avLst/>
          </a:prstGeom>
          <a:solidFill>
            <a:schemeClr val="accent5"/>
          </a:solidFill>
        </p:spPr>
        <p:txBody>
          <a:bodyPr vert="horz">
            <a:normAutofit fontScale="5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800" dirty="0"/>
              <a:t> </a:t>
            </a:r>
            <a:r>
              <a:rPr lang="en-US" sz="2800" b="1" dirty="0"/>
              <a:t>// Update START to </a:t>
            </a:r>
            <a:r>
              <a:rPr lang="en-US" sz="2800" b="1" dirty="0" err="1"/>
              <a:t>NewNode</a:t>
            </a:r>
            <a:endParaRPr lang="en-US" sz="2800" b="1" dirty="0"/>
          </a:p>
          <a:p>
            <a:pPr marL="0" indent="0">
              <a:buNone/>
            </a:pPr>
            <a:r>
              <a:rPr lang="en-US" sz="2800" dirty="0"/>
              <a:t>    START = </a:t>
            </a:r>
            <a:r>
              <a:rPr lang="en-US" sz="2800" dirty="0" err="1"/>
              <a:t>newNode</a:t>
            </a:r>
            <a:r>
              <a:rPr lang="en-US" sz="2800" dirty="0"/>
              <a:t>;</a:t>
            </a:r>
          </a:p>
          <a:p>
            <a:pPr marL="0" indent="0">
              <a:buNone/>
            </a:pPr>
            <a:endParaRPr lang="en-US" sz="2800" dirty="0"/>
          </a:p>
          <a:p>
            <a:pPr marL="0" indent="0">
              <a:buNone/>
            </a:pPr>
            <a:r>
              <a:rPr lang="en-US" sz="2800" dirty="0"/>
              <a:t>    // Exit</a:t>
            </a:r>
          </a:p>
          <a:p>
            <a:pPr marL="0" indent="0">
              <a:buNone/>
            </a:pPr>
            <a:r>
              <a:rPr lang="en-US" sz="2800" dirty="0"/>
              <a:t>    return 0;</a:t>
            </a:r>
          </a:p>
          <a:p>
            <a:pPr marL="0" indent="0">
              <a:buNone/>
            </a:pPr>
            <a:r>
              <a:rPr lang="en-US" sz="2800" dirty="0"/>
              <a:t>}</a:t>
            </a:r>
            <a:endParaRPr lang="en-US" dirty="0"/>
          </a:p>
        </p:txBody>
      </p:sp>
    </p:spTree>
    <p:extLst>
      <p:ext uri="{BB962C8B-B14F-4D97-AF65-F5344CB8AC3E}">
        <p14:creationId xmlns:p14="http://schemas.microsoft.com/office/powerpoint/2010/main" val="2813967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48D31-4A54-5B66-BA8B-D88FDC05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BD10D9-D2CB-6F16-4F3C-7F38090DD7E5}"/>
              </a:ext>
            </a:extLst>
          </p:cNvPr>
          <p:cNvSpPr>
            <a:spLocks noGrp="1"/>
          </p:cNvSpPr>
          <p:nvPr>
            <p:ph type="title"/>
          </p:nvPr>
        </p:nvSpPr>
        <p:spPr/>
        <p:txBody>
          <a:bodyPr/>
          <a:lstStyle/>
          <a:p>
            <a:r>
              <a:rPr kumimoji="0" lang="en-US" sz="3200" b="1" kern="1200" baseline="0" dirty="0">
                <a:solidFill>
                  <a:schemeClr val="tx1"/>
                </a:solidFill>
                <a:latin typeface="+mn-lt"/>
                <a:ea typeface="+mn-ea"/>
                <a:cs typeface="+mn-cs"/>
              </a:rPr>
              <a:t>Insert a Node at the end</a:t>
            </a:r>
          </a:p>
        </p:txBody>
      </p:sp>
      <p:sp>
        <p:nvSpPr>
          <p:cNvPr id="3" name="Footer Placeholder 2">
            <a:extLst>
              <a:ext uri="{FF2B5EF4-FFF2-40B4-BE49-F238E27FC236}">
                <a16:creationId xmlns:a16="http://schemas.microsoft.com/office/drawing/2014/main" id="{50DA7C4E-A664-E5DA-F554-AEBC3EC5D586}"/>
              </a:ext>
            </a:extLst>
          </p:cNvPr>
          <p:cNvSpPr>
            <a:spLocks noGrp="1"/>
          </p:cNvSpPr>
          <p:nvPr>
            <p:ph type="ftr" sz="quarter" idx="11"/>
          </p:nvPr>
        </p:nvSpPr>
        <p:spPr/>
        <p:txBody>
          <a:bodyPr/>
          <a:lstStyle/>
          <a:p>
            <a:r>
              <a:rPr lang="en-US"/>
              <a:t>Algorithm and Data Structure </a:t>
            </a:r>
            <a:endParaRPr lang="en-US" dirty="0"/>
          </a:p>
        </p:txBody>
      </p:sp>
      <p:graphicFrame>
        <p:nvGraphicFramePr>
          <p:cNvPr id="5" name="Content Placeholder 4">
            <a:extLst>
              <a:ext uri="{FF2B5EF4-FFF2-40B4-BE49-F238E27FC236}">
                <a16:creationId xmlns:a16="http://schemas.microsoft.com/office/drawing/2014/main" id="{21D08736-B34A-00C8-F9DA-24CF44705D36}"/>
              </a:ext>
            </a:extLst>
          </p:cNvPr>
          <p:cNvGraphicFramePr>
            <a:graphicFrameLocks noGrp="1"/>
          </p:cNvGraphicFramePr>
          <p:nvPr>
            <p:ph sz="quarter" idx="1"/>
            <p:extLst>
              <p:ext uri="{D42A27DB-BD31-4B8C-83A1-F6EECF244321}">
                <p14:modId xmlns:p14="http://schemas.microsoft.com/office/powerpoint/2010/main" val="94080642"/>
              </p:ext>
            </p:extLst>
          </p:nvPr>
        </p:nvGraphicFramePr>
        <p:xfrm>
          <a:off x="457200" y="1219200"/>
          <a:ext cx="8229600" cy="51206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029200">
                <a:tc>
                  <a:txBody>
                    <a:bodyPr/>
                    <a:lstStyle/>
                    <a:p>
                      <a:r>
                        <a:rPr kumimoji="0" lang="en-US" sz="2400" b="0" kern="1200" baseline="0" dirty="0">
                          <a:solidFill>
                            <a:schemeClr val="tx1"/>
                          </a:solidFill>
                          <a:latin typeface="+mn-lt"/>
                          <a:ea typeface="+mn-ea"/>
                          <a:cs typeface="+mn-cs"/>
                        </a:rPr>
                        <a:t>1. Input DATA to be inserted</a:t>
                      </a:r>
                    </a:p>
                    <a:p>
                      <a:r>
                        <a:rPr kumimoji="0" lang="en-US" sz="2400" b="0" kern="1200" baseline="0" dirty="0">
                          <a:solidFill>
                            <a:schemeClr val="tx1"/>
                          </a:solidFill>
                          <a:latin typeface="+mn-lt"/>
                          <a:ea typeface="+mn-ea"/>
                          <a:cs typeface="+mn-cs"/>
                        </a:rPr>
                        <a:t>2. Create a </a:t>
                      </a:r>
                      <a:r>
                        <a:rPr kumimoji="0" lang="en-US" sz="2400" b="0" kern="1200" baseline="0" dirty="0" err="1">
                          <a:solidFill>
                            <a:schemeClr val="tx1"/>
                          </a:solidFill>
                          <a:latin typeface="+mn-lt"/>
                          <a:ea typeface="+mn-ea"/>
                          <a:cs typeface="+mn-cs"/>
                        </a:rPr>
                        <a:t>NewNode</a:t>
                      </a:r>
                      <a:endParaRPr kumimoji="0" lang="en-US" sz="2400" b="0" kern="1200" baseline="0" dirty="0">
                        <a:solidFill>
                          <a:schemeClr val="tx1"/>
                        </a:solidFill>
                        <a:latin typeface="+mn-lt"/>
                        <a:ea typeface="+mn-ea"/>
                        <a:cs typeface="+mn-cs"/>
                      </a:endParaRPr>
                    </a:p>
                    <a:p>
                      <a:r>
                        <a:rPr kumimoji="0" lang="en-US" sz="2400" b="0" kern="1200" baseline="0" dirty="0">
                          <a:solidFill>
                            <a:schemeClr val="tx1"/>
                          </a:solidFill>
                          <a:latin typeface="+mn-lt"/>
                          <a:ea typeface="+mn-ea"/>
                          <a:cs typeface="+mn-cs"/>
                        </a:rPr>
                        <a:t>3. </a:t>
                      </a:r>
                      <a:r>
                        <a:rPr kumimoji="0" lang="en-US" sz="2400" b="0" kern="1200" baseline="0" dirty="0" err="1">
                          <a:solidFill>
                            <a:schemeClr val="tx1"/>
                          </a:solidFill>
                          <a:latin typeface="+mn-lt"/>
                          <a:ea typeface="+mn-ea"/>
                          <a:cs typeface="+mn-cs"/>
                        </a:rPr>
                        <a:t>NewNode</a:t>
                      </a:r>
                      <a:r>
                        <a:rPr kumimoji="0" lang="en-US" sz="2400" b="0" kern="1200" baseline="0" dirty="0">
                          <a:solidFill>
                            <a:schemeClr val="tx1"/>
                          </a:solidFill>
                          <a:latin typeface="+mn-lt"/>
                          <a:ea typeface="+mn-ea"/>
                          <a:cs typeface="+mn-cs"/>
                        </a:rPr>
                        <a:t> → DATA = DATA</a:t>
                      </a:r>
                    </a:p>
                    <a:p>
                      <a:r>
                        <a:rPr kumimoji="0" lang="en-US" sz="2400" b="0" kern="1200" baseline="0" dirty="0">
                          <a:solidFill>
                            <a:schemeClr val="tx1"/>
                          </a:solidFill>
                          <a:latin typeface="+mn-lt"/>
                          <a:ea typeface="+mn-ea"/>
                          <a:cs typeface="+mn-cs"/>
                        </a:rPr>
                        <a:t>4. </a:t>
                      </a:r>
                      <a:r>
                        <a:rPr kumimoji="0" lang="en-US" sz="2400" b="0" kern="1200" baseline="0" dirty="0" err="1">
                          <a:solidFill>
                            <a:schemeClr val="tx1"/>
                          </a:solidFill>
                          <a:latin typeface="+mn-lt"/>
                          <a:ea typeface="+mn-ea"/>
                          <a:cs typeface="+mn-cs"/>
                        </a:rPr>
                        <a:t>NewNode</a:t>
                      </a:r>
                      <a:r>
                        <a:rPr kumimoji="0" lang="en-US" sz="2400" b="0" kern="1200" baseline="0" dirty="0">
                          <a:solidFill>
                            <a:schemeClr val="tx1"/>
                          </a:solidFill>
                          <a:latin typeface="+mn-lt"/>
                          <a:ea typeface="+mn-ea"/>
                          <a:cs typeface="+mn-cs"/>
                        </a:rPr>
                        <a:t> → Next = NULL</a:t>
                      </a:r>
                    </a:p>
                    <a:p>
                      <a:r>
                        <a:rPr kumimoji="0" lang="en-US" sz="2400" b="0" kern="1200" baseline="0" dirty="0">
                          <a:solidFill>
                            <a:schemeClr val="tx1"/>
                          </a:solidFill>
                          <a:latin typeface="+mn-lt"/>
                          <a:ea typeface="+mn-ea"/>
                          <a:cs typeface="+mn-cs"/>
                        </a:rPr>
                        <a:t>8. If (START equal to NULL)</a:t>
                      </a:r>
                    </a:p>
                    <a:p>
                      <a:pPr marL="342900" indent="-342900">
                        <a:buAutoNum type="alphaLcParenBoth"/>
                      </a:pPr>
                      <a:r>
                        <a:rPr kumimoji="0" lang="en-US" sz="2400" b="0" i="1" kern="1200" baseline="0" dirty="0">
                          <a:solidFill>
                            <a:schemeClr val="tx1"/>
                          </a:solidFill>
                          <a:latin typeface="+mn-lt"/>
                          <a:ea typeface="+mn-ea"/>
                          <a:cs typeface="+mn-cs"/>
                        </a:rPr>
                        <a:t>START = </a:t>
                      </a:r>
                      <a:r>
                        <a:rPr kumimoji="0" lang="en-US" sz="2400" b="0" i="1" kern="1200" baseline="0" dirty="0" err="1">
                          <a:solidFill>
                            <a:schemeClr val="tx1"/>
                          </a:solidFill>
                          <a:latin typeface="+mn-lt"/>
                          <a:ea typeface="+mn-ea"/>
                          <a:cs typeface="+mn-cs"/>
                        </a:rPr>
                        <a:t>NewNode</a:t>
                      </a:r>
                      <a:endParaRPr kumimoji="0" lang="en-US" sz="2400" b="0" i="1" kern="1200" baseline="0" dirty="0">
                        <a:solidFill>
                          <a:schemeClr val="tx1"/>
                        </a:solidFill>
                        <a:latin typeface="+mn-lt"/>
                        <a:ea typeface="+mn-ea"/>
                        <a:cs typeface="+mn-cs"/>
                      </a:endParaRPr>
                    </a:p>
                    <a:p>
                      <a:r>
                        <a:rPr kumimoji="0" lang="en-US" sz="2400" b="0" kern="1200" baseline="0" dirty="0">
                          <a:solidFill>
                            <a:schemeClr val="tx1"/>
                          </a:solidFill>
                          <a:latin typeface="+mn-lt"/>
                          <a:ea typeface="+mn-ea"/>
                          <a:cs typeface="+mn-cs"/>
                        </a:rPr>
                        <a:t>9. Else</a:t>
                      </a:r>
                    </a:p>
                    <a:p>
                      <a:r>
                        <a:rPr kumimoji="0" lang="en-US" sz="2400" b="0" kern="1200" baseline="0" dirty="0">
                          <a:solidFill>
                            <a:schemeClr val="tx1"/>
                          </a:solidFill>
                          <a:latin typeface="+mn-lt"/>
                          <a:ea typeface="+mn-ea"/>
                          <a:cs typeface="+mn-cs"/>
                        </a:rPr>
                        <a:t>(</a:t>
                      </a:r>
                      <a:r>
                        <a:rPr kumimoji="0" lang="en-US" sz="2400" b="0" i="1" kern="1200" baseline="0" dirty="0">
                          <a:solidFill>
                            <a:schemeClr val="tx1"/>
                          </a:solidFill>
                          <a:latin typeface="+mn-lt"/>
                          <a:ea typeface="+mn-ea"/>
                          <a:cs typeface="+mn-cs"/>
                        </a:rPr>
                        <a:t>a) TEMP = START</a:t>
                      </a:r>
                    </a:p>
                    <a:p>
                      <a:r>
                        <a:rPr kumimoji="0" lang="en-US" sz="2400" b="0" kern="1200" baseline="0" dirty="0">
                          <a:solidFill>
                            <a:schemeClr val="tx1"/>
                          </a:solidFill>
                          <a:latin typeface="+mn-lt"/>
                          <a:ea typeface="+mn-ea"/>
                          <a:cs typeface="+mn-cs"/>
                        </a:rPr>
                        <a:t>(</a:t>
                      </a:r>
                      <a:r>
                        <a:rPr kumimoji="0" lang="en-US" sz="2400" b="0" i="1" kern="1200" baseline="0" dirty="0">
                          <a:solidFill>
                            <a:schemeClr val="tx1"/>
                          </a:solidFill>
                          <a:latin typeface="+mn-lt"/>
                          <a:ea typeface="+mn-ea"/>
                          <a:cs typeface="+mn-cs"/>
                        </a:rPr>
                        <a:t>b) While (TEMP → Next not equal to NULL)</a:t>
                      </a:r>
                    </a:p>
                    <a:p>
                      <a:r>
                        <a:rPr kumimoji="0" lang="en-US" sz="2400" b="0" kern="1200" baseline="0" dirty="0">
                          <a:solidFill>
                            <a:schemeClr val="tx1"/>
                          </a:solidFill>
                          <a:latin typeface="+mn-lt"/>
                          <a:ea typeface="+mn-ea"/>
                          <a:cs typeface="+mn-cs"/>
                        </a:rPr>
                        <a:t>(</a:t>
                      </a:r>
                      <a:r>
                        <a:rPr kumimoji="0" lang="en-US" sz="2400" b="0" i="1" kern="1200" baseline="0" dirty="0" err="1">
                          <a:solidFill>
                            <a:schemeClr val="tx1"/>
                          </a:solidFill>
                          <a:latin typeface="+mn-lt"/>
                          <a:ea typeface="+mn-ea"/>
                          <a:cs typeface="+mn-cs"/>
                        </a:rPr>
                        <a:t>i</a:t>
                      </a:r>
                      <a:r>
                        <a:rPr kumimoji="0" lang="en-US" sz="2400" b="0" i="1" kern="1200" baseline="0" dirty="0">
                          <a:solidFill>
                            <a:schemeClr val="tx1"/>
                          </a:solidFill>
                          <a:latin typeface="+mn-lt"/>
                          <a:ea typeface="+mn-ea"/>
                          <a:cs typeface="+mn-cs"/>
                        </a:rPr>
                        <a:t>) TEMP = TEMP → Next</a:t>
                      </a:r>
                    </a:p>
                    <a:p>
                      <a:r>
                        <a:rPr kumimoji="0" lang="en-US" sz="2400" b="0" kern="1200" baseline="0" dirty="0">
                          <a:solidFill>
                            <a:schemeClr val="tx1"/>
                          </a:solidFill>
                          <a:latin typeface="+mn-lt"/>
                          <a:ea typeface="+mn-ea"/>
                          <a:cs typeface="+mn-cs"/>
                        </a:rPr>
                        <a:t>10. TEMP → Next = </a:t>
                      </a:r>
                      <a:r>
                        <a:rPr kumimoji="0" lang="en-US" sz="2400" b="0" kern="1200" baseline="0" dirty="0" err="1">
                          <a:solidFill>
                            <a:schemeClr val="tx1"/>
                          </a:solidFill>
                          <a:latin typeface="+mn-lt"/>
                          <a:ea typeface="+mn-ea"/>
                          <a:cs typeface="+mn-cs"/>
                        </a:rPr>
                        <a:t>NewNode</a:t>
                      </a:r>
                      <a:endParaRPr kumimoji="0" lang="en-US" sz="2400" b="0" kern="1200" baseline="0" dirty="0">
                        <a:solidFill>
                          <a:schemeClr val="tx1"/>
                        </a:solidFill>
                        <a:latin typeface="+mn-lt"/>
                        <a:ea typeface="+mn-ea"/>
                        <a:cs typeface="+mn-cs"/>
                      </a:endParaRPr>
                    </a:p>
                    <a:p>
                      <a:r>
                        <a:rPr kumimoji="0" lang="en-US" sz="2400" b="0" kern="1200" baseline="0" dirty="0">
                          <a:solidFill>
                            <a:schemeClr val="tx1"/>
                          </a:solidFill>
                          <a:latin typeface="+mn-lt"/>
                          <a:ea typeface="+mn-ea"/>
                          <a:cs typeface="+mn-cs"/>
                        </a:rPr>
                        <a:t>11. Exit</a:t>
                      </a:r>
                      <a:endParaRPr lang="en-US" sz="2400" b="0" dirty="0">
                        <a:solidFill>
                          <a:schemeClr val="tx1"/>
                        </a:solidFill>
                      </a:endParaRPr>
                    </a:p>
                    <a:p>
                      <a:endParaRPr lang="en-US" b="0" dirty="0">
                        <a:solidFill>
                          <a:schemeClr val="tx1"/>
                        </a:solidFill>
                      </a:endParaRPr>
                    </a:p>
                  </a:txBody>
                  <a:tcPr>
                    <a:solidFill>
                      <a:schemeClr val="bg1"/>
                    </a:solidFill>
                  </a:tcPr>
                </a:tc>
                <a:tc>
                  <a:txBody>
                    <a:bodyPr/>
                    <a:lstStyle/>
                    <a:p>
                      <a:endParaRPr lang="en-US" b="0" dirty="0">
                        <a:solidFill>
                          <a:schemeClr val="tx1"/>
                        </a:solidFill>
                      </a:endParaRP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81313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6C386-1C4C-8E9D-CFE6-A16C8642C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36C88-A1FA-3ABE-FC0F-E4494FAF97B8}"/>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E79BFE2A-FE52-1E46-9868-2DD40691015C}"/>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A57869E1-BB21-A200-508F-A56EEF5BF316}"/>
              </a:ext>
            </a:extLst>
          </p:cNvPr>
          <p:cNvSpPr>
            <a:spLocks noGrp="1"/>
          </p:cNvSpPr>
          <p:nvPr>
            <p:ph sz="quarter" idx="1"/>
          </p:nvPr>
        </p:nvSpPr>
        <p:spPr>
          <a:xfrm>
            <a:off x="457200" y="1219200"/>
            <a:ext cx="4041648" cy="1371600"/>
          </a:xfrm>
          <a:solidFill>
            <a:srgbClr val="FFFF00"/>
          </a:solidFill>
        </p:spPr>
        <p:txBody>
          <a:bodyPr>
            <a:normAutofit fontScale="47500" lnSpcReduction="20000"/>
          </a:bodyPr>
          <a:lstStyle/>
          <a:p>
            <a:pPr marL="0" indent="0">
              <a:buNone/>
            </a:pPr>
            <a:r>
              <a:rPr lang="en-US" sz="2800" b="1" dirty="0"/>
              <a:t>// Node structure representing a single node in the linked list</a:t>
            </a:r>
          </a:p>
          <a:p>
            <a:pPr marL="0" indent="0">
              <a:buNone/>
            </a:pPr>
            <a:r>
              <a:rPr lang="en-US" sz="2800" dirty="0"/>
              <a:t>struct Node {</a:t>
            </a:r>
          </a:p>
          <a:p>
            <a:pPr marL="0" indent="0">
              <a:buNone/>
            </a:pPr>
            <a:r>
              <a:rPr lang="en-US" sz="2800" dirty="0"/>
              <a:t>    int data;</a:t>
            </a:r>
          </a:p>
          <a:p>
            <a:pPr marL="0" indent="0">
              <a:buNone/>
            </a:pPr>
            <a:r>
              <a:rPr lang="en-US" sz="2800" dirty="0"/>
              <a:t>    Node* next;</a:t>
            </a:r>
          </a:p>
          <a:p>
            <a:pPr marL="0" indent="0">
              <a:buNone/>
            </a:pPr>
            <a:r>
              <a:rPr lang="en-US" sz="2800" dirty="0"/>
              <a:t>};</a:t>
            </a:r>
          </a:p>
        </p:txBody>
      </p:sp>
      <p:sp>
        <p:nvSpPr>
          <p:cNvPr id="5" name="Content Placeholder 4">
            <a:extLst>
              <a:ext uri="{FF2B5EF4-FFF2-40B4-BE49-F238E27FC236}">
                <a16:creationId xmlns:a16="http://schemas.microsoft.com/office/drawing/2014/main" id="{A51432B0-08E6-C0CB-C977-89595DC915C4}"/>
              </a:ext>
            </a:extLst>
          </p:cNvPr>
          <p:cNvSpPr>
            <a:spLocks noGrp="1"/>
          </p:cNvSpPr>
          <p:nvPr>
            <p:ph sz="quarter" idx="2"/>
          </p:nvPr>
        </p:nvSpPr>
        <p:spPr>
          <a:xfrm>
            <a:off x="4632198" y="1216152"/>
            <a:ext cx="4041648" cy="1370698"/>
          </a:xfrm>
          <a:solidFill>
            <a:schemeClr val="accent2">
              <a:lumMod val="60000"/>
              <a:lumOff val="40000"/>
            </a:schemeClr>
          </a:solidFill>
        </p:spPr>
        <p:txBody>
          <a:bodyPr>
            <a:normAutofit fontScale="47500" lnSpcReduction="20000"/>
          </a:bodyPr>
          <a:lstStyle/>
          <a:p>
            <a:pPr marL="0" indent="0">
              <a:buNone/>
            </a:pPr>
            <a:r>
              <a:rPr lang="en-US" sz="2800" b="1" dirty="0"/>
              <a:t>  // If linked list is empty, set </a:t>
            </a:r>
            <a:r>
              <a:rPr lang="en-US" sz="2800" b="1" dirty="0" err="1"/>
              <a:t>NewNode</a:t>
            </a:r>
            <a:r>
              <a:rPr lang="en-US" sz="2800" b="1" dirty="0"/>
              <a:t> as the start</a:t>
            </a:r>
          </a:p>
          <a:p>
            <a:pPr marL="0" indent="0">
              <a:buNone/>
            </a:pPr>
            <a:r>
              <a:rPr lang="en-US" sz="2800" dirty="0"/>
              <a:t>    if (START == </a:t>
            </a:r>
            <a:r>
              <a:rPr lang="en-US" sz="2800" dirty="0" err="1"/>
              <a:t>nullptr</a:t>
            </a:r>
            <a:r>
              <a:rPr lang="en-US" sz="2800" dirty="0"/>
              <a:t>) {</a:t>
            </a:r>
          </a:p>
          <a:p>
            <a:pPr marL="0" indent="0">
              <a:buNone/>
            </a:pPr>
            <a:r>
              <a:rPr lang="en-US" sz="2800" dirty="0"/>
              <a:t>        START = </a:t>
            </a:r>
            <a:r>
              <a:rPr lang="en-US" sz="2800" dirty="0" err="1"/>
              <a:t>newNode</a:t>
            </a:r>
            <a:r>
              <a:rPr lang="en-US" sz="2800" dirty="0"/>
              <a:t>;</a:t>
            </a:r>
          </a:p>
          <a:p>
            <a:pPr marL="0" indent="0">
              <a:buNone/>
            </a:pPr>
            <a:r>
              <a:rPr lang="en-US" sz="2800" dirty="0"/>
              <a:t>    } </a:t>
            </a:r>
          </a:p>
          <a:p>
            <a:pPr marL="0" indent="0">
              <a:buNone/>
            </a:pPr>
            <a:r>
              <a:rPr lang="en-US" sz="2800" dirty="0"/>
              <a:t>      else {</a:t>
            </a:r>
            <a:endParaRPr lang="en-US" dirty="0"/>
          </a:p>
        </p:txBody>
      </p:sp>
      <p:sp>
        <p:nvSpPr>
          <p:cNvPr id="7" name="TextBox 6">
            <a:extLst>
              <a:ext uri="{FF2B5EF4-FFF2-40B4-BE49-F238E27FC236}">
                <a16:creationId xmlns:a16="http://schemas.microsoft.com/office/drawing/2014/main" id="{6452D1E5-872D-290B-2751-64DC7A0C5783}"/>
              </a:ext>
            </a:extLst>
          </p:cNvPr>
          <p:cNvSpPr txBox="1"/>
          <p:nvPr/>
        </p:nvSpPr>
        <p:spPr>
          <a:xfrm>
            <a:off x="457200" y="2590800"/>
            <a:ext cx="4041648" cy="1200329"/>
          </a:xfrm>
          <a:prstGeom prst="rect">
            <a:avLst/>
          </a:prstGeom>
          <a:solidFill>
            <a:srgbClr val="92D050"/>
          </a:solidFill>
        </p:spPr>
        <p:txBody>
          <a:bodyPr wrap="square">
            <a:spAutoFit/>
          </a:bodyPr>
          <a:lstStyle/>
          <a:p>
            <a:r>
              <a:rPr lang="en-US" sz="1800" dirty="0"/>
              <a:t>int main() {</a:t>
            </a:r>
          </a:p>
          <a:p>
            <a:r>
              <a:rPr lang="en-US" sz="1800" b="1" dirty="0"/>
              <a:t>    // Initialize START to NULL, indicating an empty linked list</a:t>
            </a:r>
          </a:p>
          <a:p>
            <a:r>
              <a:rPr lang="en-US" sz="1800" dirty="0"/>
              <a:t>    Node* START = </a:t>
            </a:r>
            <a:r>
              <a:rPr lang="en-US" sz="1800" dirty="0" err="1"/>
              <a:t>nullptr</a:t>
            </a:r>
            <a:r>
              <a:rPr lang="en-US" sz="1800" dirty="0"/>
              <a:t>;</a:t>
            </a:r>
          </a:p>
        </p:txBody>
      </p:sp>
      <p:sp>
        <p:nvSpPr>
          <p:cNvPr id="10" name="TextBox 9">
            <a:extLst>
              <a:ext uri="{FF2B5EF4-FFF2-40B4-BE49-F238E27FC236}">
                <a16:creationId xmlns:a16="http://schemas.microsoft.com/office/drawing/2014/main" id="{79A54C78-AF78-C31E-5357-643DF9603AA6}"/>
              </a:ext>
            </a:extLst>
          </p:cNvPr>
          <p:cNvSpPr txBox="1"/>
          <p:nvPr/>
        </p:nvSpPr>
        <p:spPr>
          <a:xfrm>
            <a:off x="457200" y="3767078"/>
            <a:ext cx="4041648" cy="2585323"/>
          </a:xfrm>
          <a:prstGeom prst="rect">
            <a:avLst/>
          </a:prstGeom>
          <a:solidFill>
            <a:srgbClr val="00B0F0"/>
          </a:solidFill>
        </p:spPr>
        <p:txBody>
          <a:bodyPr wrap="square">
            <a:spAutoFit/>
          </a:bodyPr>
          <a:lstStyle/>
          <a:p>
            <a:r>
              <a:rPr lang="en-US" sz="1800" b="1" dirty="0"/>
              <a:t>// Input DATA to be inserted</a:t>
            </a:r>
          </a:p>
          <a:p>
            <a:r>
              <a:rPr lang="en-US" sz="1800" dirty="0"/>
              <a:t>    int data;</a:t>
            </a:r>
          </a:p>
          <a:p>
            <a:r>
              <a:rPr lang="en-US" sz="1800" dirty="0"/>
              <a:t>    </a:t>
            </a:r>
            <a:r>
              <a:rPr lang="en-US" sz="1800" dirty="0" err="1"/>
              <a:t>cout</a:t>
            </a:r>
            <a:r>
              <a:rPr lang="en-US" sz="1800" dirty="0"/>
              <a:t> &lt;&lt; "Enter data to be inserted: ";</a:t>
            </a:r>
          </a:p>
          <a:p>
            <a:r>
              <a:rPr lang="en-US" sz="1800" dirty="0"/>
              <a:t>    </a:t>
            </a:r>
            <a:r>
              <a:rPr lang="en-US" sz="1800" dirty="0" err="1"/>
              <a:t>cin</a:t>
            </a:r>
            <a:r>
              <a:rPr lang="en-US" sz="1800" dirty="0"/>
              <a:t> &gt;&gt; data;</a:t>
            </a:r>
          </a:p>
          <a:p>
            <a:r>
              <a:rPr lang="en-US" dirty="0"/>
              <a:t> </a:t>
            </a:r>
            <a:r>
              <a:rPr lang="en-US" b="1" dirty="0"/>
              <a:t>// Create a </a:t>
            </a:r>
            <a:r>
              <a:rPr lang="en-US" b="1" dirty="0" err="1"/>
              <a:t>NewNode</a:t>
            </a:r>
            <a:endParaRPr lang="en-US" b="1" dirty="0"/>
          </a:p>
          <a:p>
            <a:r>
              <a:rPr lang="en-US" dirty="0"/>
              <a:t>    Node* </a:t>
            </a:r>
            <a:r>
              <a:rPr lang="en-US" dirty="0" err="1"/>
              <a:t>newNode</a:t>
            </a:r>
            <a:r>
              <a:rPr lang="en-US" dirty="0"/>
              <a:t> = new Node;</a:t>
            </a:r>
          </a:p>
          <a:p>
            <a:r>
              <a:rPr lang="en-US" dirty="0"/>
              <a:t>    </a:t>
            </a:r>
            <a:r>
              <a:rPr lang="en-US" dirty="0" err="1"/>
              <a:t>newNode</a:t>
            </a:r>
            <a:r>
              <a:rPr lang="en-US" dirty="0"/>
              <a:t>-&gt;data = data;</a:t>
            </a:r>
          </a:p>
          <a:p>
            <a:r>
              <a:rPr lang="en-US" dirty="0"/>
              <a:t>    </a:t>
            </a:r>
            <a:r>
              <a:rPr lang="en-US" dirty="0" err="1"/>
              <a:t>newNode</a:t>
            </a:r>
            <a:r>
              <a:rPr lang="en-US" dirty="0"/>
              <a:t>-&gt;next = </a:t>
            </a:r>
            <a:r>
              <a:rPr lang="en-US" dirty="0" err="1"/>
              <a:t>nullptr</a:t>
            </a:r>
            <a:r>
              <a:rPr lang="en-US" dirty="0"/>
              <a:t>;</a:t>
            </a:r>
            <a:endParaRPr lang="en-US" sz="1800" dirty="0"/>
          </a:p>
          <a:p>
            <a:endParaRPr lang="en-US" sz="1800" dirty="0"/>
          </a:p>
        </p:txBody>
      </p:sp>
      <p:sp>
        <p:nvSpPr>
          <p:cNvPr id="11" name="Content Placeholder 4">
            <a:extLst>
              <a:ext uri="{FF2B5EF4-FFF2-40B4-BE49-F238E27FC236}">
                <a16:creationId xmlns:a16="http://schemas.microsoft.com/office/drawing/2014/main" id="{D1F26F4C-9E9E-D53D-3044-FE07748158AE}"/>
              </a:ext>
            </a:extLst>
          </p:cNvPr>
          <p:cNvSpPr txBox="1">
            <a:spLocks/>
          </p:cNvSpPr>
          <p:nvPr/>
        </p:nvSpPr>
        <p:spPr>
          <a:xfrm>
            <a:off x="4645154" y="2590800"/>
            <a:ext cx="4028692" cy="2162302"/>
          </a:xfrm>
          <a:prstGeom prst="rect">
            <a:avLst/>
          </a:prstGeom>
          <a:solidFill>
            <a:schemeClr val="accent4">
              <a:lumMod val="75000"/>
            </a:schemeClr>
          </a:solidFill>
        </p:spPr>
        <p:txBody>
          <a:bodyPr vert="horz">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800" b="1" dirty="0"/>
              <a:t> // If linked list is not empty, traverse to the end and insert at the end</a:t>
            </a:r>
          </a:p>
          <a:p>
            <a:pPr marL="0" indent="0">
              <a:buNone/>
            </a:pPr>
            <a:r>
              <a:rPr lang="en-US" sz="2800" dirty="0"/>
              <a:t>        Node* temp = START;</a:t>
            </a:r>
          </a:p>
          <a:p>
            <a:pPr marL="0" indent="0">
              <a:buNone/>
            </a:pPr>
            <a:r>
              <a:rPr lang="en-US" sz="2800" dirty="0"/>
              <a:t>        while (temp-&gt;next != </a:t>
            </a:r>
            <a:r>
              <a:rPr lang="en-US" sz="2800" dirty="0" err="1"/>
              <a:t>nullptr</a:t>
            </a:r>
            <a:r>
              <a:rPr lang="en-US" sz="2800" dirty="0"/>
              <a:t>) {</a:t>
            </a:r>
          </a:p>
          <a:p>
            <a:pPr marL="0" indent="0">
              <a:buNone/>
            </a:pPr>
            <a:r>
              <a:rPr lang="en-US" sz="2800" dirty="0"/>
              <a:t>            temp = temp-&gt;next;</a:t>
            </a:r>
          </a:p>
          <a:p>
            <a:pPr marL="0" indent="0">
              <a:buNone/>
            </a:pPr>
            <a:r>
              <a:rPr lang="en-US" sz="2800" dirty="0"/>
              <a:t>        }</a:t>
            </a:r>
            <a:endParaRPr lang="en-US" dirty="0"/>
          </a:p>
        </p:txBody>
      </p:sp>
      <p:sp>
        <p:nvSpPr>
          <p:cNvPr id="12" name="Content Placeholder 4">
            <a:extLst>
              <a:ext uri="{FF2B5EF4-FFF2-40B4-BE49-F238E27FC236}">
                <a16:creationId xmlns:a16="http://schemas.microsoft.com/office/drawing/2014/main" id="{392278AA-27F6-2E87-BE41-432401A5EC9A}"/>
              </a:ext>
            </a:extLst>
          </p:cNvPr>
          <p:cNvSpPr txBox="1">
            <a:spLocks/>
          </p:cNvSpPr>
          <p:nvPr/>
        </p:nvSpPr>
        <p:spPr>
          <a:xfrm>
            <a:off x="4645154" y="4753101"/>
            <a:ext cx="4041646" cy="1599299"/>
          </a:xfrm>
          <a:prstGeom prst="rect">
            <a:avLst/>
          </a:prstGeom>
          <a:solidFill>
            <a:schemeClr val="accent5"/>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200" dirty="0"/>
              <a:t> </a:t>
            </a:r>
            <a:r>
              <a:rPr lang="en-US" sz="1200" b="1" dirty="0"/>
              <a:t>// Insert </a:t>
            </a:r>
            <a:r>
              <a:rPr lang="en-US" sz="1200" b="1" dirty="0" err="1"/>
              <a:t>NewNode</a:t>
            </a:r>
            <a:r>
              <a:rPr lang="en-US" sz="1200" b="1" dirty="0"/>
              <a:t> at the end</a:t>
            </a:r>
          </a:p>
          <a:p>
            <a:pPr marL="0" indent="0">
              <a:buNone/>
            </a:pPr>
            <a:r>
              <a:rPr lang="en-US" sz="1200" dirty="0"/>
              <a:t>        temp-&gt;next = </a:t>
            </a:r>
            <a:r>
              <a:rPr lang="en-US" sz="1200" dirty="0" err="1"/>
              <a:t>newNode</a:t>
            </a:r>
            <a:r>
              <a:rPr lang="en-US" sz="1200" dirty="0"/>
              <a:t>;</a:t>
            </a:r>
          </a:p>
          <a:p>
            <a:pPr marL="0" indent="0">
              <a:buNone/>
            </a:pPr>
            <a:r>
              <a:rPr lang="en-US" sz="1200" dirty="0"/>
              <a:t>    }</a:t>
            </a:r>
          </a:p>
          <a:p>
            <a:pPr marL="0" indent="0">
              <a:buNone/>
            </a:pPr>
            <a:r>
              <a:rPr lang="en-US" sz="1200" dirty="0"/>
              <a:t>    // Exit</a:t>
            </a:r>
          </a:p>
          <a:p>
            <a:pPr marL="0" indent="0">
              <a:buNone/>
            </a:pPr>
            <a:r>
              <a:rPr lang="en-US" sz="1200" dirty="0"/>
              <a:t>    return 0;</a:t>
            </a:r>
          </a:p>
          <a:p>
            <a:pPr marL="0" indent="0">
              <a:buNone/>
            </a:pPr>
            <a:r>
              <a:rPr lang="en-US" sz="1200" dirty="0"/>
              <a:t>}</a:t>
            </a:r>
          </a:p>
        </p:txBody>
      </p:sp>
    </p:spTree>
    <p:extLst>
      <p:ext uri="{BB962C8B-B14F-4D97-AF65-F5344CB8AC3E}">
        <p14:creationId xmlns:p14="http://schemas.microsoft.com/office/powerpoint/2010/main" val="407434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Insert a Node at any specified position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lnSpcReduction="10000"/>
          </a:bodyPr>
          <a:lstStyle/>
          <a:p>
            <a:pPr lvl="1">
              <a:buNone/>
            </a:pPr>
            <a:r>
              <a:rPr lang="en-US" dirty="0"/>
              <a:t>1. Input DATA and POS to be inserted</a:t>
            </a:r>
          </a:p>
          <a:p>
            <a:pPr lvl="1">
              <a:buNone/>
            </a:pPr>
            <a:r>
              <a:rPr lang="en-US" dirty="0"/>
              <a:t>2. initialize TEMP = START; and k = 0</a:t>
            </a:r>
          </a:p>
          <a:p>
            <a:pPr lvl="1">
              <a:buNone/>
            </a:pPr>
            <a:r>
              <a:rPr lang="en-US" dirty="0"/>
              <a:t>3. Repeat the step 3 while( k is less than POS)</a:t>
            </a:r>
          </a:p>
          <a:p>
            <a:pPr lvl="2">
              <a:buNone/>
            </a:pPr>
            <a:r>
              <a:rPr lang="it-IT" dirty="0"/>
              <a:t>(</a:t>
            </a:r>
            <a:r>
              <a:rPr lang="it-IT" i="1" dirty="0"/>
              <a:t>a) TEMP = TEMP </a:t>
            </a:r>
            <a:r>
              <a:rPr lang="en-US" dirty="0"/>
              <a:t>→ </a:t>
            </a:r>
            <a:r>
              <a:rPr lang="it-IT" i="1" dirty="0"/>
              <a:t>Next</a:t>
            </a:r>
          </a:p>
          <a:p>
            <a:pPr lvl="2">
              <a:buNone/>
            </a:pPr>
            <a:r>
              <a:rPr lang="en-US" dirty="0"/>
              <a:t>(</a:t>
            </a:r>
            <a:r>
              <a:rPr lang="en-US" i="1" dirty="0"/>
              <a:t>b) If (TEMP is equal to NULL)</a:t>
            </a:r>
          </a:p>
          <a:p>
            <a:pPr lvl="3">
              <a:buNone/>
            </a:pPr>
            <a:r>
              <a:rPr lang="en-US" dirty="0"/>
              <a:t>(</a:t>
            </a:r>
            <a:r>
              <a:rPr lang="en-US" i="1" dirty="0" err="1"/>
              <a:t>i</a:t>
            </a:r>
            <a:r>
              <a:rPr lang="en-US" i="1" dirty="0"/>
              <a:t>) Display “Node in the list less than the position”</a:t>
            </a:r>
          </a:p>
          <a:p>
            <a:pPr lvl="3">
              <a:buNone/>
            </a:pPr>
            <a:r>
              <a:rPr lang="en-US" dirty="0"/>
              <a:t>(</a:t>
            </a:r>
            <a:r>
              <a:rPr lang="en-US" i="1" dirty="0"/>
              <a:t>ii) Exit</a:t>
            </a:r>
          </a:p>
          <a:p>
            <a:pPr lvl="2">
              <a:buNone/>
            </a:pPr>
            <a:r>
              <a:rPr lang="en-US" dirty="0"/>
              <a:t>(</a:t>
            </a:r>
            <a:r>
              <a:rPr lang="en-US" i="1" dirty="0"/>
              <a:t>c) k = k + 1</a:t>
            </a:r>
          </a:p>
          <a:p>
            <a:pPr lvl="1">
              <a:buNone/>
            </a:pPr>
            <a:r>
              <a:rPr lang="en-US" dirty="0"/>
              <a:t>4. Create a New Node</a:t>
            </a:r>
          </a:p>
          <a:p>
            <a:pPr lvl="1">
              <a:buNone/>
            </a:pPr>
            <a:r>
              <a:rPr lang="en-US" dirty="0"/>
              <a:t>5. </a:t>
            </a:r>
            <a:r>
              <a:rPr lang="en-US" dirty="0" err="1"/>
              <a:t>NewNode</a:t>
            </a:r>
            <a:r>
              <a:rPr lang="en-US" dirty="0"/>
              <a:t> → DATA = DATA</a:t>
            </a:r>
          </a:p>
          <a:p>
            <a:pPr lvl="1">
              <a:buNone/>
            </a:pPr>
            <a:r>
              <a:rPr lang="en-US" dirty="0"/>
              <a:t>6. </a:t>
            </a:r>
            <a:r>
              <a:rPr lang="en-US" dirty="0" err="1"/>
              <a:t>NewNode</a:t>
            </a:r>
            <a:r>
              <a:rPr lang="en-US" dirty="0"/>
              <a:t> → Next = TEMP → Next</a:t>
            </a:r>
          </a:p>
          <a:p>
            <a:pPr lvl="1">
              <a:buNone/>
            </a:pPr>
            <a:r>
              <a:rPr lang="en-US" dirty="0"/>
              <a:t>7. TEMP → Next = </a:t>
            </a:r>
            <a:r>
              <a:rPr lang="en-US" dirty="0" err="1"/>
              <a:t>NewNode</a:t>
            </a:r>
            <a:endParaRPr lang="en-US" dirty="0"/>
          </a:p>
          <a:p>
            <a:pPr lvl="1">
              <a:buNone/>
            </a:pPr>
            <a:r>
              <a:rPr lang="en-US" dirty="0"/>
              <a:t>8. Exit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0F8E2-C616-7BFB-0D1B-DFBC8FE01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354E5-B2B2-B464-9D6F-7F8F74FA2145}"/>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28862F62-B70D-92E8-2A4D-48262D29E0CD}"/>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BE5A1707-202D-0522-3F1D-7E02726F946B}"/>
              </a:ext>
            </a:extLst>
          </p:cNvPr>
          <p:cNvSpPr>
            <a:spLocks noGrp="1"/>
          </p:cNvSpPr>
          <p:nvPr>
            <p:ph sz="quarter" idx="1"/>
          </p:nvPr>
        </p:nvSpPr>
        <p:spPr>
          <a:xfrm>
            <a:off x="457200" y="1219200"/>
            <a:ext cx="4041648" cy="1371600"/>
          </a:xfrm>
          <a:solidFill>
            <a:srgbClr val="FFFF00"/>
          </a:solidFill>
        </p:spPr>
        <p:txBody>
          <a:bodyPr>
            <a:noAutofit/>
          </a:bodyPr>
          <a:lstStyle/>
          <a:p>
            <a:pPr marL="0" indent="0">
              <a:buNone/>
            </a:pPr>
            <a:r>
              <a:rPr lang="en-US" sz="1100" b="1" dirty="0"/>
              <a:t>// Node structure representing a single node in the linked list</a:t>
            </a:r>
          </a:p>
          <a:p>
            <a:pPr marL="0" indent="0">
              <a:buNone/>
            </a:pPr>
            <a:r>
              <a:rPr lang="en-US" sz="1100" dirty="0"/>
              <a:t>struct Node {</a:t>
            </a:r>
          </a:p>
          <a:p>
            <a:pPr marL="0" indent="0">
              <a:buNone/>
            </a:pPr>
            <a:r>
              <a:rPr lang="en-US" sz="1100" dirty="0"/>
              <a:t>    int data;</a:t>
            </a:r>
          </a:p>
          <a:p>
            <a:pPr marL="0" indent="0">
              <a:buNone/>
            </a:pPr>
            <a:r>
              <a:rPr lang="en-US" sz="1100" dirty="0"/>
              <a:t>    Node* next;</a:t>
            </a:r>
          </a:p>
          <a:p>
            <a:pPr marL="0" indent="0">
              <a:buNone/>
            </a:pPr>
            <a:r>
              <a:rPr lang="en-US" sz="1100" dirty="0"/>
              <a:t>};</a:t>
            </a:r>
          </a:p>
        </p:txBody>
      </p:sp>
      <p:sp>
        <p:nvSpPr>
          <p:cNvPr id="5" name="Content Placeholder 4">
            <a:extLst>
              <a:ext uri="{FF2B5EF4-FFF2-40B4-BE49-F238E27FC236}">
                <a16:creationId xmlns:a16="http://schemas.microsoft.com/office/drawing/2014/main" id="{644BFF9D-6FE6-B66B-09C9-322E717C9950}"/>
              </a:ext>
            </a:extLst>
          </p:cNvPr>
          <p:cNvSpPr>
            <a:spLocks noGrp="1"/>
          </p:cNvSpPr>
          <p:nvPr>
            <p:ph sz="quarter" idx="2"/>
          </p:nvPr>
        </p:nvSpPr>
        <p:spPr>
          <a:xfrm>
            <a:off x="457200" y="4460796"/>
            <a:ext cx="4041648" cy="1891604"/>
          </a:xfrm>
          <a:solidFill>
            <a:schemeClr val="accent2">
              <a:lumMod val="60000"/>
              <a:lumOff val="40000"/>
            </a:schemeClr>
          </a:solidFill>
        </p:spPr>
        <p:txBody>
          <a:bodyPr>
            <a:normAutofit/>
          </a:bodyPr>
          <a:lstStyle/>
          <a:p>
            <a:pPr marL="0" indent="0">
              <a:buNone/>
            </a:pPr>
            <a:r>
              <a:rPr lang="en-US" sz="1200" b="1" dirty="0"/>
              <a:t> // Create New Node</a:t>
            </a:r>
          </a:p>
          <a:p>
            <a:pPr marL="0" indent="0">
              <a:buNone/>
            </a:pPr>
            <a:r>
              <a:rPr lang="en-US" sz="1200" dirty="0"/>
              <a:t>     Node* </a:t>
            </a:r>
            <a:r>
              <a:rPr lang="en-US" sz="1200" dirty="0" err="1"/>
              <a:t>newNode</a:t>
            </a:r>
            <a:r>
              <a:rPr lang="en-US" sz="1200" dirty="0"/>
              <a:t> = new Node;  // </a:t>
            </a:r>
            <a:r>
              <a:rPr lang="en-US" sz="1200" b="1" dirty="0"/>
              <a:t>dynamically allocate   memory for new node</a:t>
            </a:r>
          </a:p>
          <a:p>
            <a:pPr marL="0" indent="0">
              <a:buNone/>
            </a:pPr>
            <a:r>
              <a:rPr lang="en-US" sz="1200" dirty="0"/>
              <a:t>    </a:t>
            </a:r>
            <a:r>
              <a:rPr lang="en-US" sz="1200" dirty="0" err="1"/>
              <a:t>newNode</a:t>
            </a:r>
            <a:r>
              <a:rPr lang="en-US" sz="1200" dirty="0"/>
              <a:t>-&gt;data = data;      </a:t>
            </a:r>
            <a:r>
              <a:rPr lang="en-US" sz="1200" b="1" dirty="0"/>
              <a:t>// store input data</a:t>
            </a:r>
          </a:p>
          <a:p>
            <a:pPr marL="0" indent="0">
              <a:buNone/>
            </a:pPr>
            <a:r>
              <a:rPr lang="en-US" sz="1200" dirty="0"/>
              <a:t>    </a:t>
            </a:r>
            <a:r>
              <a:rPr lang="en-US" sz="1200" dirty="0" err="1"/>
              <a:t>newNode</a:t>
            </a:r>
            <a:r>
              <a:rPr lang="en-US" sz="1200" dirty="0"/>
              <a:t>-&gt;next = </a:t>
            </a:r>
            <a:r>
              <a:rPr lang="en-US" sz="1200" dirty="0" err="1"/>
              <a:t>nullptr</a:t>
            </a:r>
            <a:r>
              <a:rPr lang="en-US" sz="1200" dirty="0"/>
              <a:t>;   </a:t>
            </a:r>
            <a:r>
              <a:rPr lang="en-US" sz="1200" b="1" dirty="0"/>
              <a:t>// by default, no link yet</a:t>
            </a:r>
          </a:p>
        </p:txBody>
      </p:sp>
      <p:sp>
        <p:nvSpPr>
          <p:cNvPr id="7" name="TextBox 6">
            <a:extLst>
              <a:ext uri="{FF2B5EF4-FFF2-40B4-BE49-F238E27FC236}">
                <a16:creationId xmlns:a16="http://schemas.microsoft.com/office/drawing/2014/main" id="{4A3743FE-1345-6308-9403-6548C483A10F}"/>
              </a:ext>
            </a:extLst>
          </p:cNvPr>
          <p:cNvSpPr txBox="1"/>
          <p:nvPr/>
        </p:nvSpPr>
        <p:spPr>
          <a:xfrm>
            <a:off x="457200" y="2590800"/>
            <a:ext cx="4041648" cy="769441"/>
          </a:xfrm>
          <a:prstGeom prst="rect">
            <a:avLst/>
          </a:prstGeom>
          <a:solidFill>
            <a:srgbClr val="92D050"/>
          </a:solidFill>
        </p:spPr>
        <p:txBody>
          <a:bodyPr wrap="square">
            <a:spAutoFit/>
          </a:bodyPr>
          <a:lstStyle/>
          <a:p>
            <a:r>
              <a:rPr lang="en-US" sz="1100" dirty="0"/>
              <a:t>int main() {</a:t>
            </a:r>
          </a:p>
          <a:p>
            <a:r>
              <a:rPr lang="en-US" sz="1100" b="1" dirty="0"/>
              <a:t>    // Initialize START to NULL, indicating an empty linked list</a:t>
            </a:r>
          </a:p>
          <a:p>
            <a:r>
              <a:rPr lang="en-US" sz="1100" dirty="0"/>
              <a:t>    Node* START = </a:t>
            </a:r>
            <a:r>
              <a:rPr lang="en-US" sz="1100" dirty="0" err="1"/>
              <a:t>nullptr</a:t>
            </a:r>
            <a:r>
              <a:rPr lang="en-US" sz="1100" dirty="0"/>
              <a:t>;</a:t>
            </a:r>
          </a:p>
        </p:txBody>
      </p:sp>
      <p:sp>
        <p:nvSpPr>
          <p:cNvPr id="10" name="TextBox 9">
            <a:extLst>
              <a:ext uri="{FF2B5EF4-FFF2-40B4-BE49-F238E27FC236}">
                <a16:creationId xmlns:a16="http://schemas.microsoft.com/office/drawing/2014/main" id="{9C85BC8B-76D9-4709-616D-12615D7F2A83}"/>
              </a:ext>
            </a:extLst>
          </p:cNvPr>
          <p:cNvSpPr txBox="1"/>
          <p:nvPr/>
        </p:nvSpPr>
        <p:spPr>
          <a:xfrm>
            <a:off x="457200" y="3352800"/>
            <a:ext cx="4041648" cy="1107996"/>
          </a:xfrm>
          <a:prstGeom prst="rect">
            <a:avLst/>
          </a:prstGeom>
          <a:solidFill>
            <a:srgbClr val="00B0F0"/>
          </a:solidFill>
        </p:spPr>
        <p:txBody>
          <a:bodyPr wrap="square">
            <a:spAutoFit/>
          </a:bodyPr>
          <a:lstStyle/>
          <a:p>
            <a:r>
              <a:rPr lang="en-US" sz="1100" b="1" dirty="0"/>
              <a:t> // Input DATA and POS to be inserted</a:t>
            </a:r>
          </a:p>
          <a:p>
            <a:r>
              <a:rPr lang="en-US" sz="1100" dirty="0"/>
              <a:t>    int data, pos;</a:t>
            </a:r>
          </a:p>
          <a:p>
            <a:r>
              <a:rPr lang="en-US" sz="1100" dirty="0"/>
              <a:t>    </a:t>
            </a:r>
            <a:r>
              <a:rPr lang="en-US" sz="1100" dirty="0" err="1"/>
              <a:t>cout</a:t>
            </a:r>
            <a:r>
              <a:rPr lang="en-US" sz="1100" dirty="0"/>
              <a:t> &lt;&lt; "Enter data to be inserted: ";</a:t>
            </a:r>
          </a:p>
          <a:p>
            <a:r>
              <a:rPr lang="en-US" sz="1100" dirty="0"/>
              <a:t>    </a:t>
            </a:r>
            <a:r>
              <a:rPr lang="en-US" sz="1100" dirty="0" err="1"/>
              <a:t>cin</a:t>
            </a:r>
            <a:r>
              <a:rPr lang="en-US" sz="1100" dirty="0"/>
              <a:t> &gt;&gt; data;</a:t>
            </a:r>
          </a:p>
          <a:p>
            <a:r>
              <a:rPr lang="en-US" sz="1100" dirty="0"/>
              <a:t>    </a:t>
            </a:r>
            <a:r>
              <a:rPr lang="en-US" sz="1100" dirty="0" err="1"/>
              <a:t>cout</a:t>
            </a:r>
            <a:r>
              <a:rPr lang="en-US" sz="1100" dirty="0"/>
              <a:t> &lt;&lt; "Enter position to insert: ";</a:t>
            </a:r>
          </a:p>
          <a:p>
            <a:r>
              <a:rPr lang="en-US" sz="1100" dirty="0"/>
              <a:t>    </a:t>
            </a:r>
            <a:r>
              <a:rPr lang="en-US" sz="1100" dirty="0" err="1"/>
              <a:t>cin</a:t>
            </a:r>
            <a:r>
              <a:rPr lang="en-US" sz="1100" dirty="0"/>
              <a:t> &gt;&gt; pos;</a:t>
            </a:r>
          </a:p>
        </p:txBody>
      </p:sp>
      <p:sp>
        <p:nvSpPr>
          <p:cNvPr id="11" name="Content Placeholder 4">
            <a:extLst>
              <a:ext uri="{FF2B5EF4-FFF2-40B4-BE49-F238E27FC236}">
                <a16:creationId xmlns:a16="http://schemas.microsoft.com/office/drawing/2014/main" id="{FB6B85F4-32F1-18FE-FA72-4F9E4E0D5C42}"/>
              </a:ext>
            </a:extLst>
          </p:cNvPr>
          <p:cNvSpPr txBox="1">
            <a:spLocks/>
          </p:cNvSpPr>
          <p:nvPr/>
        </p:nvSpPr>
        <p:spPr>
          <a:xfrm>
            <a:off x="4645154" y="1219201"/>
            <a:ext cx="4028692" cy="1196378"/>
          </a:xfrm>
          <a:prstGeom prst="rect">
            <a:avLst/>
          </a:prstGeom>
          <a:solidFill>
            <a:schemeClr val="accent4">
              <a:lumMod val="75000"/>
            </a:schemeClr>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000" b="1" dirty="0"/>
              <a:t>  // Case 1: Insert at Beginning (pos = 0)</a:t>
            </a:r>
          </a:p>
          <a:p>
            <a:pPr marL="0" indent="0">
              <a:buNone/>
            </a:pPr>
            <a:r>
              <a:rPr lang="en-US" sz="1000" dirty="0"/>
              <a:t>if (pos == 0) {</a:t>
            </a:r>
          </a:p>
          <a:p>
            <a:pPr marL="0" indent="0">
              <a:buNone/>
            </a:pPr>
            <a:r>
              <a:rPr lang="en-US" sz="1000" dirty="0"/>
              <a:t>        </a:t>
            </a:r>
            <a:r>
              <a:rPr lang="en-US" sz="1000" dirty="0" err="1"/>
              <a:t>newNode</a:t>
            </a:r>
            <a:r>
              <a:rPr lang="en-US" sz="1000" dirty="0"/>
              <a:t>-&gt;next = START;  </a:t>
            </a:r>
            <a:r>
              <a:rPr lang="en-US" sz="1000" b="1" dirty="0"/>
              <a:t>// link new node to the old first node</a:t>
            </a:r>
          </a:p>
          <a:p>
            <a:pPr marL="0" indent="0">
              <a:buNone/>
            </a:pPr>
            <a:r>
              <a:rPr lang="en-US" sz="1000" dirty="0"/>
              <a:t>        START = </a:t>
            </a:r>
            <a:r>
              <a:rPr lang="en-US" sz="1000" dirty="0" err="1"/>
              <a:t>newNode</a:t>
            </a:r>
            <a:r>
              <a:rPr lang="en-US" sz="1000" b="1" dirty="0"/>
              <a:t>;        // make START point to the new node</a:t>
            </a:r>
          </a:p>
          <a:p>
            <a:pPr marL="0" indent="0">
              <a:buNone/>
            </a:pPr>
            <a:r>
              <a:rPr lang="en-US" sz="1000" dirty="0"/>
              <a:t>    }</a:t>
            </a:r>
          </a:p>
        </p:txBody>
      </p:sp>
      <p:sp>
        <p:nvSpPr>
          <p:cNvPr id="12" name="Content Placeholder 4">
            <a:extLst>
              <a:ext uri="{FF2B5EF4-FFF2-40B4-BE49-F238E27FC236}">
                <a16:creationId xmlns:a16="http://schemas.microsoft.com/office/drawing/2014/main" id="{6B9278F3-9850-5F5D-092F-0A44FAE71449}"/>
              </a:ext>
            </a:extLst>
          </p:cNvPr>
          <p:cNvSpPr txBox="1">
            <a:spLocks/>
          </p:cNvSpPr>
          <p:nvPr/>
        </p:nvSpPr>
        <p:spPr>
          <a:xfrm>
            <a:off x="4645154" y="2419529"/>
            <a:ext cx="4041646" cy="3932871"/>
          </a:xfrm>
          <a:prstGeom prst="rect">
            <a:avLst/>
          </a:prstGeom>
          <a:solidFill>
            <a:schemeClr val="accent5"/>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050" dirty="0"/>
              <a:t>  // Case 2: Insert at Other Positions</a:t>
            </a:r>
          </a:p>
          <a:p>
            <a:pPr marL="0" indent="0">
              <a:buNone/>
            </a:pPr>
            <a:r>
              <a:rPr lang="en-US" sz="1050" dirty="0"/>
              <a:t>else {</a:t>
            </a:r>
          </a:p>
          <a:p>
            <a:pPr marL="0" indent="0">
              <a:buNone/>
            </a:pPr>
            <a:r>
              <a:rPr lang="en-US" sz="1050" dirty="0"/>
              <a:t>        Node* temp = START</a:t>
            </a:r>
            <a:r>
              <a:rPr lang="en-US" sz="1050" b="1" dirty="0"/>
              <a:t>;     // start traversing from first node</a:t>
            </a:r>
          </a:p>
          <a:p>
            <a:pPr marL="0" indent="0">
              <a:buNone/>
            </a:pPr>
            <a:r>
              <a:rPr lang="en-US" sz="1050" dirty="0"/>
              <a:t>        </a:t>
            </a:r>
            <a:r>
              <a:rPr lang="en-US" sz="1050" b="1" dirty="0"/>
              <a:t>// move temp to (pos-1)</a:t>
            </a:r>
            <a:r>
              <a:rPr lang="en-US" sz="1050" b="1" dirty="0" err="1"/>
              <a:t>th</a:t>
            </a:r>
            <a:r>
              <a:rPr lang="en-US" sz="1050" b="1" dirty="0"/>
              <a:t> node</a:t>
            </a:r>
          </a:p>
          <a:p>
            <a:pPr marL="0" indent="0">
              <a:buNone/>
            </a:pPr>
            <a:r>
              <a:rPr lang="en-US" sz="1050" dirty="0"/>
              <a:t>        for (int k = 0; k &lt; pos - 1 &amp;&amp; temp != </a:t>
            </a:r>
            <a:r>
              <a:rPr lang="en-US" sz="1050" dirty="0" err="1"/>
              <a:t>nullptr</a:t>
            </a:r>
            <a:r>
              <a:rPr lang="en-US" sz="1050" dirty="0"/>
              <a:t>; k++)</a:t>
            </a:r>
          </a:p>
          <a:p>
            <a:pPr marL="0" indent="0">
              <a:buNone/>
            </a:pPr>
            <a:r>
              <a:rPr lang="en-US" sz="1050" dirty="0"/>
              <a:t>            temp = temp-&gt;next;</a:t>
            </a:r>
          </a:p>
          <a:p>
            <a:pPr marL="0" indent="0">
              <a:buNone/>
            </a:pPr>
            <a:r>
              <a:rPr lang="en-US" sz="1050" b="1" dirty="0"/>
              <a:t>        // if temp is NULL → position is invalid</a:t>
            </a:r>
          </a:p>
          <a:p>
            <a:pPr marL="0" indent="0">
              <a:buNone/>
            </a:pPr>
            <a:r>
              <a:rPr lang="en-US" sz="1050" dirty="0"/>
              <a:t>        if (temp == </a:t>
            </a:r>
            <a:r>
              <a:rPr lang="en-US" sz="1050" dirty="0" err="1"/>
              <a:t>nullptr</a:t>
            </a:r>
            <a:r>
              <a:rPr lang="en-US" sz="1050" dirty="0"/>
              <a:t>) {</a:t>
            </a:r>
          </a:p>
          <a:p>
            <a:pPr marL="0" indent="0">
              <a:buNone/>
            </a:pPr>
            <a:r>
              <a:rPr lang="en-US" sz="1050" dirty="0"/>
              <a:t>            </a:t>
            </a:r>
            <a:r>
              <a:rPr lang="en-US" sz="1050" dirty="0" err="1"/>
              <a:t>cout</a:t>
            </a:r>
            <a:r>
              <a:rPr lang="en-US" sz="1050" dirty="0"/>
              <a:t> &lt;&lt; "Invalid position." &lt;&lt; </a:t>
            </a:r>
            <a:r>
              <a:rPr lang="en-US" sz="1050" dirty="0" err="1"/>
              <a:t>endl</a:t>
            </a:r>
            <a:r>
              <a:rPr lang="en-US" sz="1050" dirty="0"/>
              <a:t>;</a:t>
            </a:r>
          </a:p>
          <a:p>
            <a:pPr marL="0" indent="0">
              <a:buNone/>
            </a:pPr>
            <a:r>
              <a:rPr lang="en-US" sz="1050" dirty="0"/>
              <a:t>            return 1;</a:t>
            </a:r>
          </a:p>
          <a:p>
            <a:pPr marL="0" indent="0">
              <a:buNone/>
            </a:pPr>
            <a:r>
              <a:rPr lang="en-US" sz="1050" dirty="0"/>
              <a:t>        }</a:t>
            </a:r>
          </a:p>
          <a:p>
            <a:pPr marL="0" indent="0">
              <a:buNone/>
            </a:pPr>
            <a:r>
              <a:rPr lang="en-US" sz="1050" b="1" dirty="0"/>
              <a:t>        // link new node at the desired position</a:t>
            </a:r>
          </a:p>
          <a:p>
            <a:pPr marL="0" indent="0">
              <a:buNone/>
            </a:pPr>
            <a:r>
              <a:rPr lang="en-US" sz="1050" dirty="0"/>
              <a:t>        </a:t>
            </a:r>
            <a:r>
              <a:rPr lang="en-US" sz="1050" dirty="0" err="1"/>
              <a:t>newNode</a:t>
            </a:r>
            <a:r>
              <a:rPr lang="en-US" sz="1050" dirty="0"/>
              <a:t>-&gt;next = temp-&gt;next;</a:t>
            </a:r>
          </a:p>
          <a:p>
            <a:pPr marL="0" indent="0">
              <a:buNone/>
            </a:pPr>
            <a:r>
              <a:rPr lang="en-US" sz="1050" dirty="0"/>
              <a:t>        temp-&gt;next = </a:t>
            </a:r>
            <a:r>
              <a:rPr lang="en-US" sz="1050" dirty="0" err="1"/>
              <a:t>newNode</a:t>
            </a:r>
            <a:r>
              <a:rPr lang="en-US" sz="1050" dirty="0"/>
              <a:t>;</a:t>
            </a:r>
          </a:p>
          <a:p>
            <a:pPr marL="0" indent="0">
              <a:buNone/>
            </a:pPr>
            <a:r>
              <a:rPr lang="en-US" sz="1050" dirty="0"/>
              <a:t>    }</a:t>
            </a:r>
          </a:p>
          <a:p>
            <a:pPr marL="0" indent="0">
              <a:buNone/>
            </a:pPr>
            <a:r>
              <a:rPr lang="en-US" sz="1050" dirty="0"/>
              <a:t> return 0;</a:t>
            </a:r>
          </a:p>
          <a:p>
            <a:pPr marL="0" indent="0">
              <a:buNone/>
            </a:pPr>
            <a:r>
              <a:rPr lang="en-US" sz="1050" dirty="0"/>
              <a:t>}</a:t>
            </a:r>
          </a:p>
        </p:txBody>
      </p:sp>
    </p:spTree>
    <p:extLst>
      <p:ext uri="{BB962C8B-B14F-4D97-AF65-F5344CB8AC3E}">
        <p14:creationId xmlns:p14="http://schemas.microsoft.com/office/powerpoint/2010/main" val="252898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ALGORITHM FOR DELETING A NODE</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pic>
        <p:nvPicPr>
          <p:cNvPr id="1026" name="Picture 2"/>
          <p:cNvPicPr>
            <a:picLocks noChangeAspect="1" noChangeArrowheads="1"/>
          </p:cNvPicPr>
          <p:nvPr/>
        </p:nvPicPr>
        <p:blipFill>
          <a:blip r:embed="rId2"/>
          <a:srcRect/>
          <a:stretch>
            <a:fillRect/>
          </a:stretch>
        </p:blipFill>
        <p:spPr bwMode="auto">
          <a:xfrm>
            <a:off x="457200" y="2057400"/>
            <a:ext cx="8308731" cy="2667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a:t>Suppose START is the first position in linked list. Let DATA be the element to be deleted. TEMP is a temporary pointer to hold the node address.</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848936879"/>
              </p:ext>
            </p:extLst>
          </p:nvPr>
        </p:nvGraphicFramePr>
        <p:xfrm>
          <a:off x="457200" y="1219200"/>
          <a:ext cx="8229600" cy="510540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5105400">
                <a:tc>
                  <a:txBody>
                    <a:bodyPr/>
                    <a:lstStyle/>
                    <a:p>
                      <a:r>
                        <a:rPr kumimoji="0" lang="en-US" sz="2400" b="1" kern="1200" baseline="0" dirty="0">
                          <a:solidFill>
                            <a:srgbClr val="00B050"/>
                          </a:solidFill>
                          <a:latin typeface="+mn-lt"/>
                          <a:ea typeface="+mn-ea"/>
                          <a:cs typeface="+mn-cs"/>
                        </a:rPr>
                        <a:t>IF the Data to be deleted is found at first position</a:t>
                      </a:r>
                    </a:p>
                    <a:p>
                      <a:pPr marL="457200" indent="-457200">
                        <a:buAutoNum type="arabicPeriod"/>
                      </a:pPr>
                      <a:r>
                        <a:rPr kumimoji="0" lang="en-US" sz="2400" b="1" kern="1200" baseline="0" dirty="0">
                          <a:solidFill>
                            <a:schemeClr val="tx1"/>
                          </a:solidFill>
                          <a:latin typeface="+mn-lt"/>
                          <a:ea typeface="+mn-ea"/>
                          <a:cs typeface="+mn-cs"/>
                        </a:rPr>
                        <a:t>Input the DATA to be deleted</a:t>
                      </a:r>
                    </a:p>
                    <a:p>
                      <a:r>
                        <a:rPr kumimoji="0" lang="en-US" sz="2400" b="1" kern="1200" baseline="0" dirty="0">
                          <a:solidFill>
                            <a:schemeClr val="tx1"/>
                          </a:solidFill>
                          <a:latin typeface="+mn-lt"/>
                          <a:ea typeface="+mn-ea"/>
                          <a:cs typeface="+mn-cs"/>
                        </a:rPr>
                        <a:t>2. if ((START</a:t>
                      </a:r>
                      <a:r>
                        <a:rPr kumimoji="0" lang="en-US" sz="2400" b="1" i="1" kern="1200" baseline="0" dirty="0">
                          <a:solidFill>
                            <a:schemeClr val="tx1"/>
                          </a:solidFill>
                          <a:latin typeface="+mn-lt"/>
                          <a:ea typeface="+mn-ea"/>
                          <a:cs typeface="+mn-cs"/>
                        </a:rPr>
                        <a:t>→</a:t>
                      </a:r>
                      <a:r>
                        <a:rPr kumimoji="0" lang="en-US" sz="2400" b="1" kern="1200" baseline="0" dirty="0">
                          <a:solidFill>
                            <a:schemeClr val="tx1"/>
                          </a:solidFill>
                          <a:latin typeface="+mn-lt"/>
                          <a:ea typeface="+mn-ea"/>
                          <a:cs typeface="+mn-cs"/>
                        </a:rPr>
                        <a:t>DATA) is equal to DATA)</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a) TEMP = START</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b) START = START → Next</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c) Set free the node TEMP, which  </a:t>
                      </a:r>
                    </a:p>
                    <a:p>
                      <a:r>
                        <a:rPr kumimoji="0" lang="en-US" sz="2400" b="1" i="1" kern="1200" baseline="0" dirty="0">
                          <a:solidFill>
                            <a:schemeClr val="tx1"/>
                          </a:solidFill>
                          <a:latin typeface="+mn-lt"/>
                          <a:ea typeface="+mn-ea"/>
                          <a:cs typeface="+mn-cs"/>
                        </a:rPr>
                        <a:t>        is deleted</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d) Exit</a:t>
                      </a:r>
                    </a:p>
                    <a:p>
                      <a:r>
                        <a:rPr kumimoji="0" lang="en-US" sz="2400" b="1" kern="1200" baseline="0" dirty="0">
                          <a:solidFill>
                            <a:schemeClr val="tx1"/>
                          </a:solidFill>
                          <a:latin typeface="+mn-lt"/>
                          <a:ea typeface="+mn-ea"/>
                          <a:cs typeface="+mn-cs"/>
                        </a:rPr>
                        <a:t>3. Display “DATA not found”</a:t>
                      </a:r>
                    </a:p>
                    <a:p>
                      <a:r>
                        <a:rPr kumimoji="0" lang="en-US" sz="2400" b="1" kern="1200" baseline="0" dirty="0">
                          <a:solidFill>
                            <a:schemeClr val="tx1"/>
                          </a:solidFill>
                          <a:latin typeface="+mn-lt"/>
                          <a:ea typeface="+mn-ea"/>
                          <a:cs typeface="+mn-cs"/>
                        </a:rPr>
                        <a:t>4. Exit</a:t>
                      </a:r>
                      <a:endParaRPr lang="en-US" sz="2400" dirty="0">
                        <a:solidFill>
                          <a:schemeClr val="tx1"/>
                        </a:solidFill>
                      </a:endParaRPr>
                    </a:p>
                    <a:p>
                      <a:endParaRPr kumimoji="0" lang="en-US" sz="2400" b="1" i="1"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9746B-70D2-D828-2C21-ACD218C15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05613-D225-311A-752A-5635FE568020}"/>
              </a:ext>
            </a:extLst>
          </p:cNvPr>
          <p:cNvSpPr>
            <a:spLocks noGrp="1"/>
          </p:cNvSpPr>
          <p:nvPr>
            <p:ph type="title"/>
          </p:nvPr>
        </p:nvSpPr>
        <p:spPr/>
        <p:txBody>
          <a:bodyPr>
            <a:noAutofit/>
          </a:bodyPr>
          <a:lstStyle/>
          <a:p>
            <a:r>
              <a:rPr lang="en-US" sz="2000" dirty="0"/>
              <a:t>Suppose START is the first position in linked list. Let DATA be the element to be deleted. TEMP, HOLD is a temporary pointer to hold the node address.</a:t>
            </a:r>
          </a:p>
        </p:txBody>
      </p:sp>
      <p:sp>
        <p:nvSpPr>
          <p:cNvPr id="3" name="Footer Placeholder 2">
            <a:extLst>
              <a:ext uri="{FF2B5EF4-FFF2-40B4-BE49-F238E27FC236}">
                <a16:creationId xmlns:a16="http://schemas.microsoft.com/office/drawing/2014/main" id="{600B685D-33A0-A3BA-7F54-C9E636D4654C}"/>
              </a:ext>
            </a:extLst>
          </p:cNvPr>
          <p:cNvSpPr>
            <a:spLocks noGrp="1"/>
          </p:cNvSpPr>
          <p:nvPr>
            <p:ph type="ftr" sz="quarter" idx="11"/>
          </p:nvPr>
        </p:nvSpPr>
        <p:spPr/>
        <p:txBody>
          <a:bodyPr/>
          <a:lstStyle/>
          <a:p>
            <a:r>
              <a:rPr lang="en-US"/>
              <a:t>Algorithm and Data Structure </a:t>
            </a:r>
            <a:endParaRPr lang="en-US" dirty="0"/>
          </a:p>
        </p:txBody>
      </p:sp>
      <p:graphicFrame>
        <p:nvGraphicFramePr>
          <p:cNvPr id="5" name="Content Placeholder 4">
            <a:extLst>
              <a:ext uri="{FF2B5EF4-FFF2-40B4-BE49-F238E27FC236}">
                <a16:creationId xmlns:a16="http://schemas.microsoft.com/office/drawing/2014/main" id="{6E1BBCC4-D5F8-6D02-E132-024B45409C79}"/>
              </a:ext>
            </a:extLst>
          </p:cNvPr>
          <p:cNvGraphicFramePr>
            <a:graphicFrameLocks noGrp="1"/>
          </p:cNvGraphicFramePr>
          <p:nvPr>
            <p:ph sz="quarter" idx="1"/>
            <p:extLst>
              <p:ext uri="{D42A27DB-BD31-4B8C-83A1-F6EECF244321}">
                <p14:modId xmlns:p14="http://schemas.microsoft.com/office/powerpoint/2010/main" val="1240879938"/>
              </p:ext>
            </p:extLst>
          </p:nvPr>
        </p:nvGraphicFramePr>
        <p:xfrm>
          <a:off x="457200" y="1219200"/>
          <a:ext cx="8229600" cy="521208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5105400">
                <a:tc>
                  <a:txBody>
                    <a:bodyPr/>
                    <a:lstStyle/>
                    <a:p>
                      <a:r>
                        <a:rPr kumimoji="0" lang="en-US" sz="2400" b="1" kern="1200" baseline="0" dirty="0">
                          <a:solidFill>
                            <a:srgbClr val="00B050"/>
                          </a:solidFill>
                          <a:latin typeface="+mn-lt"/>
                          <a:ea typeface="+mn-ea"/>
                          <a:cs typeface="+mn-cs"/>
                        </a:rPr>
                        <a:t>If the data to be deleted is found at any middle position</a:t>
                      </a:r>
                    </a:p>
                    <a:p>
                      <a:r>
                        <a:rPr kumimoji="0" lang="en-US" sz="2400" b="1" kern="1200" baseline="0" dirty="0">
                          <a:solidFill>
                            <a:schemeClr val="tx1"/>
                          </a:solidFill>
                          <a:latin typeface="+mn-lt"/>
                          <a:ea typeface="+mn-ea"/>
                          <a:cs typeface="+mn-cs"/>
                        </a:rPr>
                        <a:t>1. Input the DATA to be deleted</a:t>
                      </a:r>
                    </a:p>
                    <a:p>
                      <a:r>
                        <a:rPr kumimoji="0" lang="en-US" sz="2400" b="1" kern="1200" baseline="0" dirty="0">
                          <a:solidFill>
                            <a:schemeClr val="tx1"/>
                          </a:solidFill>
                          <a:latin typeface="+mn-lt"/>
                          <a:ea typeface="+mn-ea"/>
                          <a:cs typeface="+mn-cs"/>
                        </a:rPr>
                        <a:t>2. HOLD = START</a:t>
                      </a:r>
                    </a:p>
                    <a:p>
                      <a:r>
                        <a:rPr kumimoji="0" lang="en-US" sz="2400" b="1" kern="1200" baseline="0" dirty="0">
                          <a:solidFill>
                            <a:schemeClr val="tx1"/>
                          </a:solidFill>
                          <a:latin typeface="+mn-lt"/>
                          <a:ea typeface="+mn-ea"/>
                          <a:cs typeface="+mn-cs"/>
                        </a:rPr>
                        <a:t>3. while ((HOLD </a:t>
                      </a:r>
                      <a:r>
                        <a:rPr kumimoji="0" lang="en-US" sz="2400" b="1" i="1" kern="1200" baseline="0" dirty="0">
                          <a:solidFill>
                            <a:schemeClr val="tx1"/>
                          </a:solidFill>
                          <a:latin typeface="+mn-lt"/>
                          <a:ea typeface="+mn-ea"/>
                          <a:cs typeface="+mn-cs"/>
                        </a:rPr>
                        <a:t>→</a:t>
                      </a:r>
                      <a:r>
                        <a:rPr kumimoji="0" lang="en-US" sz="2400" b="1" kern="1200" baseline="0" dirty="0">
                          <a:solidFill>
                            <a:schemeClr val="tx1"/>
                          </a:solidFill>
                          <a:latin typeface="+mn-lt"/>
                          <a:ea typeface="+mn-ea"/>
                          <a:cs typeface="+mn-cs"/>
                        </a:rPr>
                        <a:t> Next </a:t>
                      </a:r>
                      <a:r>
                        <a:rPr kumimoji="0" lang="en-US" sz="2400" b="1" i="1" kern="1200" baseline="0" dirty="0">
                          <a:solidFill>
                            <a:schemeClr val="tx1"/>
                          </a:solidFill>
                          <a:latin typeface="+mn-lt"/>
                          <a:ea typeface="+mn-ea"/>
                          <a:cs typeface="+mn-cs"/>
                        </a:rPr>
                        <a:t>→</a:t>
                      </a:r>
                      <a:r>
                        <a:rPr kumimoji="0" lang="en-US" sz="2400" b="1" kern="1200" baseline="0" dirty="0">
                          <a:solidFill>
                            <a:schemeClr val="tx1"/>
                          </a:solidFill>
                          <a:latin typeface="+mn-lt"/>
                          <a:ea typeface="+mn-ea"/>
                          <a:cs typeface="+mn-cs"/>
                        </a:rPr>
                        <a:t> Next) not equal to NULL))</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a) if ((HOLD → NEXT → DATA) equal to DATA)</a:t>
                      </a:r>
                    </a:p>
                    <a:p>
                      <a:r>
                        <a:rPr kumimoji="0" lang="en-US" sz="2400" b="1" kern="1200" baseline="0" dirty="0">
                          <a:solidFill>
                            <a:schemeClr val="tx1"/>
                          </a:solidFill>
                          <a:latin typeface="+mn-lt"/>
                          <a:ea typeface="+mn-ea"/>
                          <a:cs typeface="+mn-cs"/>
                        </a:rPr>
                        <a:t>      (</a:t>
                      </a:r>
                      <a:r>
                        <a:rPr kumimoji="0" lang="en-US" sz="2400" b="1" i="1" kern="1200" baseline="0" dirty="0" err="1">
                          <a:solidFill>
                            <a:schemeClr val="tx1"/>
                          </a:solidFill>
                          <a:latin typeface="+mn-lt"/>
                          <a:ea typeface="+mn-ea"/>
                          <a:cs typeface="+mn-cs"/>
                        </a:rPr>
                        <a:t>i</a:t>
                      </a:r>
                      <a:r>
                        <a:rPr kumimoji="0" lang="en-US" sz="2400" b="1" i="1" kern="1200" baseline="0" dirty="0">
                          <a:solidFill>
                            <a:schemeClr val="tx1"/>
                          </a:solidFill>
                          <a:latin typeface="+mn-lt"/>
                          <a:ea typeface="+mn-ea"/>
                          <a:cs typeface="+mn-cs"/>
                        </a:rPr>
                        <a:t>) TEMP = HOLD → Next</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ii) HOLD → Next = TEMP →Next</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iii) Set free the node TEMP, which is  </a:t>
                      </a:r>
                    </a:p>
                    <a:p>
                      <a:r>
                        <a:rPr kumimoji="0" lang="en-US" sz="2400" b="1" i="1" kern="1200" baseline="0" dirty="0">
                          <a:solidFill>
                            <a:schemeClr val="tx1"/>
                          </a:solidFill>
                          <a:latin typeface="+mn-lt"/>
                          <a:ea typeface="+mn-ea"/>
                          <a:cs typeface="+mn-cs"/>
                        </a:rPr>
                        <a:t>             deleted</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iv) Exit</a:t>
                      </a:r>
                    </a:p>
                    <a:p>
                      <a:r>
                        <a:rPr kumimoji="0" lang="en-US" sz="2400" b="1" kern="1200" baseline="0" dirty="0">
                          <a:solidFill>
                            <a:schemeClr val="tx1"/>
                          </a:solidFill>
                          <a:latin typeface="+mn-lt"/>
                          <a:ea typeface="+mn-ea"/>
                          <a:cs typeface="+mn-cs"/>
                        </a:rPr>
                        <a:t>   (</a:t>
                      </a:r>
                      <a:r>
                        <a:rPr kumimoji="0" lang="en-US" sz="2400" b="1" i="1" kern="1200" baseline="0" dirty="0">
                          <a:solidFill>
                            <a:schemeClr val="tx1"/>
                          </a:solidFill>
                          <a:latin typeface="+mn-lt"/>
                          <a:ea typeface="+mn-ea"/>
                          <a:cs typeface="+mn-cs"/>
                        </a:rPr>
                        <a:t>b) HOLD = HOLD → Next</a:t>
                      </a:r>
                    </a:p>
                    <a:p>
                      <a:r>
                        <a:rPr kumimoji="0" lang="en-US" sz="2400" b="1" kern="1200" baseline="0" dirty="0">
                          <a:solidFill>
                            <a:schemeClr val="tx1"/>
                          </a:solidFill>
                          <a:latin typeface="+mn-lt"/>
                          <a:ea typeface="+mn-ea"/>
                          <a:cs typeface="+mn-cs"/>
                        </a:rPr>
                        <a:t>4. Display “DATA not found”</a:t>
                      </a:r>
                    </a:p>
                    <a:p>
                      <a:r>
                        <a:rPr kumimoji="0" lang="en-US" sz="2400" b="1" kern="1200" baseline="0" dirty="0">
                          <a:solidFill>
                            <a:schemeClr val="tx1"/>
                          </a:solidFill>
                          <a:latin typeface="+mn-lt"/>
                          <a:ea typeface="+mn-ea"/>
                          <a:cs typeface="+mn-cs"/>
                        </a:rPr>
                        <a:t>5. Exit</a:t>
                      </a:r>
                      <a:endParaRPr lang="en-US" sz="2400" dirty="0">
                        <a:solidFill>
                          <a:schemeClr val="tx1"/>
                        </a:solidFill>
                      </a:endParaRPr>
                    </a:p>
                    <a:p>
                      <a:endParaRPr lang="en-US" sz="2400" dirty="0">
                        <a:solidFill>
                          <a:schemeClr val="tx1"/>
                        </a:solidFill>
                      </a:endParaRP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76792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A6A3EB-2528-BB69-8BC2-67948365F2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7AC58-8BF7-2741-FE28-BFF96ADA4058}"/>
              </a:ext>
            </a:extLst>
          </p:cNvPr>
          <p:cNvSpPr>
            <a:spLocks noGrp="1"/>
          </p:cNvSpPr>
          <p:nvPr>
            <p:ph type="title"/>
          </p:nvPr>
        </p:nvSpPr>
        <p:spPr/>
        <p:txBody>
          <a:bodyPr>
            <a:noAutofit/>
          </a:bodyPr>
          <a:lstStyle/>
          <a:p>
            <a:r>
              <a:rPr lang="en-US" sz="2000" dirty="0"/>
              <a:t>Suppose START is the first position in linked list. Let DATA be the element to be deleted. TEMP, HOLD is a temporary pointer to hold the node address.</a:t>
            </a:r>
          </a:p>
        </p:txBody>
      </p:sp>
      <p:sp>
        <p:nvSpPr>
          <p:cNvPr id="3" name="Footer Placeholder 2">
            <a:extLst>
              <a:ext uri="{FF2B5EF4-FFF2-40B4-BE49-F238E27FC236}">
                <a16:creationId xmlns:a16="http://schemas.microsoft.com/office/drawing/2014/main" id="{FBB594E3-FBC5-C3EA-1DA6-FA2AE5A5EB06}"/>
              </a:ext>
            </a:extLst>
          </p:cNvPr>
          <p:cNvSpPr>
            <a:spLocks noGrp="1"/>
          </p:cNvSpPr>
          <p:nvPr>
            <p:ph type="ftr" sz="quarter" idx="11"/>
          </p:nvPr>
        </p:nvSpPr>
        <p:spPr/>
        <p:txBody>
          <a:bodyPr/>
          <a:lstStyle/>
          <a:p>
            <a:r>
              <a:rPr lang="en-US"/>
              <a:t>Algorithm and Data Structure </a:t>
            </a:r>
            <a:endParaRPr lang="en-US" dirty="0"/>
          </a:p>
        </p:txBody>
      </p:sp>
      <p:graphicFrame>
        <p:nvGraphicFramePr>
          <p:cNvPr id="5" name="Content Placeholder 4">
            <a:extLst>
              <a:ext uri="{FF2B5EF4-FFF2-40B4-BE49-F238E27FC236}">
                <a16:creationId xmlns:a16="http://schemas.microsoft.com/office/drawing/2014/main" id="{3198E1E2-48CC-D1FE-9580-347707EBD203}"/>
              </a:ext>
            </a:extLst>
          </p:cNvPr>
          <p:cNvGraphicFramePr>
            <a:graphicFrameLocks noGrp="1"/>
          </p:cNvGraphicFramePr>
          <p:nvPr>
            <p:ph sz="quarter" idx="1"/>
            <p:extLst>
              <p:ext uri="{D42A27DB-BD31-4B8C-83A1-F6EECF244321}">
                <p14:modId xmlns:p14="http://schemas.microsoft.com/office/powerpoint/2010/main" val="1121528946"/>
              </p:ext>
            </p:extLst>
          </p:nvPr>
        </p:nvGraphicFramePr>
        <p:xfrm>
          <a:off x="457200" y="1219200"/>
          <a:ext cx="8229600" cy="510540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5105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kern="1200" baseline="0" dirty="0">
                          <a:solidFill>
                            <a:srgbClr val="00B050"/>
                          </a:solidFill>
                          <a:latin typeface="+mn-lt"/>
                          <a:ea typeface="+mn-ea"/>
                          <a:cs typeface="+mn-cs"/>
                        </a:rPr>
                        <a:t>If the data to be deleted is found at last position</a:t>
                      </a:r>
                    </a:p>
                    <a:p>
                      <a:pPr marL="342900" indent="-342900">
                        <a:buAutoNum type="arabicPeriod"/>
                      </a:pPr>
                      <a:r>
                        <a:rPr kumimoji="0" lang="en-US" sz="2800" b="1" kern="1200" baseline="0" dirty="0">
                          <a:solidFill>
                            <a:schemeClr val="tx1"/>
                          </a:solidFill>
                          <a:latin typeface="+mn-lt"/>
                          <a:ea typeface="+mn-ea"/>
                          <a:cs typeface="+mn-cs"/>
                        </a:rPr>
                        <a:t>Input the DATA to be deleted</a:t>
                      </a:r>
                    </a:p>
                    <a:p>
                      <a:r>
                        <a:rPr kumimoji="0" lang="en-US" sz="2800" b="1" kern="1200" baseline="0" dirty="0">
                          <a:solidFill>
                            <a:schemeClr val="tx1"/>
                          </a:solidFill>
                          <a:latin typeface="+mn-lt"/>
                          <a:ea typeface="+mn-ea"/>
                          <a:cs typeface="+mn-cs"/>
                        </a:rPr>
                        <a:t>2. if ((HOLD </a:t>
                      </a:r>
                      <a:r>
                        <a:rPr kumimoji="0" lang="en-US" sz="2800" b="1" i="1" kern="1200" baseline="0" dirty="0">
                          <a:solidFill>
                            <a:schemeClr val="tx1"/>
                          </a:solidFill>
                          <a:latin typeface="+mn-lt"/>
                          <a:ea typeface="+mn-ea"/>
                          <a:cs typeface="+mn-cs"/>
                        </a:rPr>
                        <a:t>→</a:t>
                      </a:r>
                      <a:r>
                        <a:rPr kumimoji="0" lang="en-US" sz="2800" b="1" kern="1200" baseline="0" dirty="0">
                          <a:solidFill>
                            <a:schemeClr val="tx1"/>
                          </a:solidFill>
                          <a:latin typeface="+mn-lt"/>
                          <a:ea typeface="+mn-ea"/>
                          <a:cs typeface="+mn-cs"/>
                        </a:rPr>
                        <a:t> next </a:t>
                      </a:r>
                      <a:r>
                        <a:rPr kumimoji="0" lang="en-US" sz="2800" b="1" i="1" kern="1200" baseline="0" dirty="0">
                          <a:solidFill>
                            <a:schemeClr val="tx1"/>
                          </a:solidFill>
                          <a:latin typeface="+mn-lt"/>
                          <a:ea typeface="+mn-ea"/>
                          <a:cs typeface="+mn-cs"/>
                        </a:rPr>
                        <a:t>→</a:t>
                      </a:r>
                      <a:r>
                        <a:rPr kumimoji="0" lang="en-US" sz="2800" b="1" kern="1200" baseline="0" dirty="0">
                          <a:solidFill>
                            <a:schemeClr val="tx1"/>
                          </a:solidFill>
                          <a:latin typeface="+mn-lt"/>
                          <a:ea typeface="+mn-ea"/>
                          <a:cs typeface="+mn-cs"/>
                        </a:rPr>
                        <a:t> DATA) == DATA)</a:t>
                      </a:r>
                    </a:p>
                    <a:p>
                      <a:r>
                        <a:rPr kumimoji="0" lang="en-US" sz="2800" b="1" kern="1200" baseline="0" dirty="0">
                          <a:solidFill>
                            <a:schemeClr val="tx1"/>
                          </a:solidFill>
                          <a:latin typeface="+mn-lt"/>
                          <a:ea typeface="+mn-ea"/>
                          <a:cs typeface="+mn-cs"/>
                        </a:rPr>
                        <a:t>   (</a:t>
                      </a:r>
                      <a:r>
                        <a:rPr kumimoji="0" lang="en-US" sz="2800" b="1" i="1" kern="1200" baseline="0" dirty="0">
                          <a:solidFill>
                            <a:schemeClr val="tx1"/>
                          </a:solidFill>
                          <a:latin typeface="+mn-lt"/>
                          <a:ea typeface="+mn-ea"/>
                          <a:cs typeface="+mn-cs"/>
                        </a:rPr>
                        <a:t>a) TEMP = HOLD → Next</a:t>
                      </a:r>
                    </a:p>
                    <a:p>
                      <a:r>
                        <a:rPr kumimoji="0" lang="en-US" sz="2800" b="1" kern="1200" baseline="0" dirty="0">
                          <a:solidFill>
                            <a:schemeClr val="tx1"/>
                          </a:solidFill>
                          <a:latin typeface="+mn-lt"/>
                          <a:ea typeface="+mn-ea"/>
                          <a:cs typeface="+mn-cs"/>
                        </a:rPr>
                        <a:t>   (</a:t>
                      </a:r>
                      <a:r>
                        <a:rPr kumimoji="0" lang="en-US" sz="2800" b="1" i="1" kern="1200" baseline="0" dirty="0">
                          <a:solidFill>
                            <a:schemeClr val="tx1"/>
                          </a:solidFill>
                          <a:latin typeface="+mn-lt"/>
                          <a:ea typeface="+mn-ea"/>
                          <a:cs typeface="+mn-cs"/>
                        </a:rPr>
                        <a:t>b) Set free the node TEMP, which </a:t>
                      </a:r>
                    </a:p>
                    <a:p>
                      <a:r>
                        <a:rPr kumimoji="0" lang="en-US" sz="2800" b="1" i="1" kern="1200" baseline="0" dirty="0">
                          <a:solidFill>
                            <a:schemeClr val="tx1"/>
                          </a:solidFill>
                          <a:latin typeface="+mn-lt"/>
                          <a:ea typeface="+mn-ea"/>
                          <a:cs typeface="+mn-cs"/>
                        </a:rPr>
                        <a:t>        is deleted</a:t>
                      </a:r>
                    </a:p>
                    <a:p>
                      <a:r>
                        <a:rPr kumimoji="0" lang="en-US" sz="2800" b="1" kern="1200" baseline="0" dirty="0">
                          <a:solidFill>
                            <a:schemeClr val="tx1"/>
                          </a:solidFill>
                          <a:latin typeface="+mn-lt"/>
                          <a:ea typeface="+mn-ea"/>
                          <a:cs typeface="+mn-cs"/>
                        </a:rPr>
                        <a:t>   (</a:t>
                      </a:r>
                      <a:r>
                        <a:rPr kumimoji="0" lang="en-US" sz="2800" b="1" i="1" kern="1200" baseline="0" dirty="0">
                          <a:solidFill>
                            <a:schemeClr val="tx1"/>
                          </a:solidFill>
                          <a:latin typeface="+mn-lt"/>
                          <a:ea typeface="+mn-ea"/>
                          <a:cs typeface="+mn-cs"/>
                        </a:rPr>
                        <a:t>c) HOLD → Next = NULL</a:t>
                      </a:r>
                    </a:p>
                    <a:p>
                      <a:r>
                        <a:rPr kumimoji="0" lang="en-US" sz="2800" b="1" kern="1200" baseline="0" dirty="0">
                          <a:solidFill>
                            <a:schemeClr val="tx1"/>
                          </a:solidFill>
                          <a:latin typeface="+mn-lt"/>
                          <a:ea typeface="+mn-ea"/>
                          <a:cs typeface="+mn-cs"/>
                        </a:rPr>
                        <a:t>   (</a:t>
                      </a:r>
                      <a:r>
                        <a:rPr kumimoji="0" lang="en-US" sz="2800" b="1" i="1" kern="1200" baseline="0" dirty="0">
                          <a:solidFill>
                            <a:schemeClr val="tx1"/>
                          </a:solidFill>
                          <a:latin typeface="+mn-lt"/>
                          <a:ea typeface="+mn-ea"/>
                          <a:cs typeface="+mn-cs"/>
                        </a:rPr>
                        <a:t>d) Exit</a:t>
                      </a:r>
                    </a:p>
                    <a:p>
                      <a:r>
                        <a:rPr kumimoji="0" lang="en-US" sz="2800" b="1" kern="1200" baseline="0" dirty="0">
                          <a:solidFill>
                            <a:schemeClr val="tx1"/>
                          </a:solidFill>
                          <a:latin typeface="+mn-lt"/>
                          <a:ea typeface="+mn-ea"/>
                          <a:cs typeface="+mn-cs"/>
                        </a:rPr>
                        <a:t>3. Display “DATA not found”</a:t>
                      </a:r>
                    </a:p>
                    <a:p>
                      <a:r>
                        <a:rPr kumimoji="0" lang="en-US" sz="2800" b="1" kern="1200" baseline="0" dirty="0">
                          <a:solidFill>
                            <a:schemeClr val="tx1"/>
                          </a:solidFill>
                          <a:latin typeface="+mn-lt"/>
                          <a:ea typeface="+mn-ea"/>
                          <a:cs typeface="+mn-cs"/>
                        </a:rPr>
                        <a:t>4. Exit</a:t>
                      </a:r>
                      <a:endParaRPr lang="en-US" sz="2800" dirty="0">
                        <a:solidFill>
                          <a:schemeClr val="tx1"/>
                        </a:solidFill>
                      </a:endParaRPr>
                    </a:p>
                    <a:p>
                      <a:pPr marL="342900" indent="-342900">
                        <a:buAutoNum type="arabicPeriod"/>
                      </a:pPr>
                      <a:endParaRPr kumimoji="0" lang="en-US" sz="1800" b="1" kern="1200" baseline="0" dirty="0">
                        <a:solidFill>
                          <a:schemeClr val="tx1"/>
                        </a:solidFill>
                        <a:latin typeface="+mn-lt"/>
                        <a:ea typeface="+mn-ea"/>
                        <a:cs typeface="+mn-cs"/>
                      </a:endParaRP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69555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624DF-6C50-F97F-D1AA-DFAE20575EE7}"/>
              </a:ext>
            </a:extLst>
          </p:cNvPr>
          <p:cNvSpPr>
            <a:spLocks noGrp="1"/>
          </p:cNvSpPr>
          <p:nvPr>
            <p:ph type="title"/>
          </p:nvPr>
        </p:nvSpPr>
        <p:spPr/>
        <p:txBody>
          <a:bodyPr>
            <a:noAutofit/>
          </a:bodyPr>
          <a:lstStyle/>
          <a:p>
            <a:r>
              <a:rPr lang="en-US" sz="2000" dirty="0"/>
              <a:t>Suppose START is the first position in linked list. Let DATA be the element to be deleted. TEMP, HOLD is a temporary pointer to hold the node address.</a:t>
            </a:r>
          </a:p>
        </p:txBody>
      </p:sp>
      <p:sp>
        <p:nvSpPr>
          <p:cNvPr id="3" name="Footer Placeholder 2">
            <a:extLst>
              <a:ext uri="{FF2B5EF4-FFF2-40B4-BE49-F238E27FC236}">
                <a16:creationId xmlns:a16="http://schemas.microsoft.com/office/drawing/2014/main" id="{03C1D10B-4925-B28F-115C-455125DFE115}"/>
              </a:ext>
            </a:extLst>
          </p:cNvPr>
          <p:cNvSpPr>
            <a:spLocks noGrp="1"/>
          </p:cNvSpPr>
          <p:nvPr>
            <p:ph type="ftr" sz="quarter" idx="11"/>
          </p:nvPr>
        </p:nvSpPr>
        <p:spPr/>
        <p:txBody>
          <a:bodyPr/>
          <a:lstStyle/>
          <a:p>
            <a:r>
              <a:rPr lang="en-US"/>
              <a:t>Algorithm and Data Structure </a:t>
            </a:r>
            <a:endParaRPr lang="en-US" dirty="0"/>
          </a:p>
        </p:txBody>
      </p:sp>
      <p:sp>
        <p:nvSpPr>
          <p:cNvPr id="5" name="Rectangle 1">
            <a:extLst>
              <a:ext uri="{FF2B5EF4-FFF2-40B4-BE49-F238E27FC236}">
                <a16:creationId xmlns:a16="http://schemas.microsoft.com/office/drawing/2014/main" id="{25B1D021-28B6-159A-1AB9-631265B9D65E}"/>
              </a:ext>
            </a:extLst>
          </p:cNvPr>
          <p:cNvSpPr>
            <a:spLocks noGrp="1" noChangeArrowheads="1"/>
          </p:cNvSpPr>
          <p:nvPr>
            <p:ph sz="quarter" idx="1"/>
          </p:nvPr>
        </p:nvSpPr>
        <p:spPr bwMode="auto">
          <a:xfrm>
            <a:off x="457200" y="1066800"/>
            <a:ext cx="82296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fontAlgn="base">
              <a:spcBef>
                <a:spcPct val="0"/>
              </a:spcBef>
              <a:spcAft>
                <a:spcPct val="0"/>
              </a:spcAft>
              <a:buClrTx/>
              <a:buSzTx/>
              <a:buNone/>
            </a:pPr>
            <a:r>
              <a:rPr kumimoji="0" lang="en-US" sz="1800" b="1" kern="1200" baseline="0" dirty="0">
                <a:solidFill>
                  <a:srgbClr val="00B050"/>
                </a:solidFill>
                <a:latin typeface="+mn-lt"/>
                <a:ea typeface="+mn-ea"/>
                <a:cs typeface="+mn-cs"/>
              </a:rPr>
              <a:t>If the data to be deleted is found at last position</a:t>
            </a:r>
            <a:endParaRPr lang="en-US" altLang="en-US" sz="1800" b="1" dirty="0"/>
          </a:p>
          <a:p>
            <a:pPr marL="0" marR="0" lvl="0" indent="0" defTabSz="914400" fontAlgn="base">
              <a:lnSpc>
                <a:spcPct val="100000"/>
              </a:lnSpc>
              <a:spcBef>
                <a:spcPct val="0"/>
              </a:spcBef>
              <a:spcAft>
                <a:spcPct val="0"/>
              </a:spcAft>
              <a:buClrTx/>
              <a:buSzTx/>
              <a:buNone/>
              <a:tabLst/>
            </a:pPr>
            <a:r>
              <a:rPr lang="en-US" altLang="en-US" sz="1800" b="1" dirty="0"/>
              <a:t>1. Input the DATA to be deleted</a:t>
            </a:r>
          </a:p>
          <a:p>
            <a:pPr marL="0" marR="0" lvl="0" indent="0" defTabSz="914400" fontAlgn="base">
              <a:lnSpc>
                <a:spcPct val="100000"/>
              </a:lnSpc>
              <a:spcBef>
                <a:spcPct val="0"/>
              </a:spcBef>
              <a:spcAft>
                <a:spcPct val="0"/>
              </a:spcAft>
              <a:buClrTx/>
              <a:buSzTx/>
              <a:buNone/>
              <a:tabLst/>
            </a:pPr>
            <a:r>
              <a:rPr lang="en-US" altLang="en-US" sz="1800" b="1" dirty="0"/>
              <a:t>2. Check if the list is empty</a:t>
            </a:r>
          </a:p>
          <a:p>
            <a:pPr marL="0" marR="0" lvl="0" indent="0" defTabSz="914400" fontAlgn="base">
              <a:lnSpc>
                <a:spcPct val="100000"/>
              </a:lnSpc>
              <a:spcBef>
                <a:spcPct val="0"/>
              </a:spcBef>
              <a:spcAft>
                <a:spcPct val="0"/>
              </a:spcAft>
              <a:buClrTx/>
              <a:buSzTx/>
              <a:buNone/>
              <a:tabLst/>
            </a:pPr>
            <a:r>
              <a:rPr lang="en-US" altLang="en-US" sz="1800" b="1" dirty="0"/>
              <a:t>        If head == NULL, display "List is empty" and exit.</a:t>
            </a:r>
          </a:p>
          <a:p>
            <a:pPr marL="0" marR="0" lvl="0" indent="0" defTabSz="914400" fontAlgn="base">
              <a:lnSpc>
                <a:spcPct val="100000"/>
              </a:lnSpc>
              <a:spcBef>
                <a:spcPct val="0"/>
              </a:spcBef>
              <a:spcAft>
                <a:spcPct val="0"/>
              </a:spcAft>
              <a:buClrTx/>
              <a:buSzTx/>
              <a:buNone/>
              <a:tabLst/>
            </a:pPr>
            <a:r>
              <a:rPr lang="en-US" altLang="en-US" sz="1800" b="1" dirty="0"/>
              <a:t>3. Check if the first node is the only node and matches the data</a:t>
            </a:r>
          </a:p>
          <a:p>
            <a:pPr marL="0" marR="0" lvl="0" indent="0" defTabSz="914400" fontAlgn="base">
              <a:lnSpc>
                <a:spcPct val="100000"/>
              </a:lnSpc>
              <a:spcBef>
                <a:spcPct val="0"/>
              </a:spcBef>
              <a:spcAft>
                <a:spcPct val="0"/>
              </a:spcAft>
              <a:buClrTx/>
              <a:buSzTx/>
              <a:buNone/>
              <a:tabLst/>
            </a:pPr>
            <a:r>
              <a:rPr lang="en-US" altLang="en-US" sz="1800" b="1" dirty="0"/>
              <a:t>        If head → DATA == DATA and head → next == NULL</a:t>
            </a:r>
          </a:p>
          <a:p>
            <a:pPr marL="457200" marR="0" lvl="1" indent="0" defTabSz="914400" fontAlgn="base">
              <a:lnSpc>
                <a:spcPct val="100000"/>
              </a:lnSpc>
              <a:spcBef>
                <a:spcPct val="0"/>
              </a:spcBef>
              <a:spcAft>
                <a:spcPct val="0"/>
              </a:spcAft>
              <a:buClrTx/>
              <a:buSzTx/>
              <a:buNone/>
              <a:tabLst/>
            </a:pPr>
            <a:r>
              <a:rPr lang="en-US" altLang="en-US" sz="1800" b="1" dirty="0">
                <a:solidFill>
                  <a:schemeClr val="tx1"/>
                </a:solidFill>
              </a:rPr>
              <a:t>        Delete head, set head = NULL, and exit.</a:t>
            </a:r>
          </a:p>
          <a:p>
            <a:pPr marL="0" marR="0" lvl="0" indent="0" defTabSz="914400" fontAlgn="base">
              <a:lnSpc>
                <a:spcPct val="100000"/>
              </a:lnSpc>
              <a:spcBef>
                <a:spcPct val="0"/>
              </a:spcBef>
              <a:spcAft>
                <a:spcPct val="0"/>
              </a:spcAft>
              <a:buClrTx/>
              <a:buSzTx/>
              <a:buNone/>
              <a:tabLst/>
            </a:pPr>
            <a:r>
              <a:rPr lang="en-US" altLang="en-US" sz="1800" b="1" dirty="0"/>
              <a:t>4. Traverse the list to find the second-last node (HOLD)</a:t>
            </a:r>
          </a:p>
          <a:p>
            <a:pPr marL="0" marR="0" lvl="0" indent="0" defTabSz="914400" fontAlgn="base">
              <a:lnSpc>
                <a:spcPct val="100000"/>
              </a:lnSpc>
              <a:spcBef>
                <a:spcPct val="0"/>
              </a:spcBef>
              <a:spcAft>
                <a:spcPct val="0"/>
              </a:spcAft>
              <a:buClrTx/>
              <a:buSzTx/>
              <a:buNone/>
              <a:tabLst/>
            </a:pPr>
            <a:r>
              <a:rPr lang="en-US" altLang="en-US" sz="1800" b="1" dirty="0"/>
              <a:t>         Initialize HOLD = head</a:t>
            </a:r>
          </a:p>
          <a:p>
            <a:pPr marL="0" marR="0" lvl="0" indent="0" defTabSz="914400" fontAlgn="base">
              <a:lnSpc>
                <a:spcPct val="100000"/>
              </a:lnSpc>
              <a:spcBef>
                <a:spcPct val="0"/>
              </a:spcBef>
              <a:spcAft>
                <a:spcPct val="0"/>
              </a:spcAft>
              <a:buClrTx/>
              <a:buSzTx/>
              <a:buNone/>
              <a:tabLst/>
            </a:pPr>
            <a:r>
              <a:rPr lang="en-US" altLang="en-US" sz="1800" b="1" dirty="0"/>
              <a:t>Use a loop to find the second-last node:</a:t>
            </a:r>
          </a:p>
          <a:p>
            <a:pPr marL="457200" marR="0" lvl="1" indent="0" defTabSz="914400" fontAlgn="base">
              <a:lnSpc>
                <a:spcPct val="100000"/>
              </a:lnSpc>
              <a:spcBef>
                <a:spcPct val="0"/>
              </a:spcBef>
              <a:spcAft>
                <a:spcPct val="0"/>
              </a:spcAft>
              <a:buClrTx/>
              <a:buSzTx/>
              <a:buNone/>
              <a:tabLst/>
            </a:pPr>
            <a:r>
              <a:rPr lang="en-US" altLang="en-US" sz="1800" b="1" dirty="0">
                <a:solidFill>
                  <a:schemeClr val="tx1"/>
                </a:solidFill>
              </a:rPr>
              <a:t>While HOLD → next → next != NULL, move HOLD = HOLD → next.</a:t>
            </a:r>
          </a:p>
          <a:p>
            <a:pPr marL="0" marR="0" lvl="0" indent="0" defTabSz="914400" fontAlgn="base">
              <a:lnSpc>
                <a:spcPct val="100000"/>
              </a:lnSpc>
              <a:spcBef>
                <a:spcPct val="0"/>
              </a:spcBef>
              <a:spcAft>
                <a:spcPct val="0"/>
              </a:spcAft>
              <a:buClrTx/>
              <a:buSzTx/>
              <a:buNone/>
              <a:tabLst/>
            </a:pPr>
            <a:r>
              <a:rPr lang="en-US" altLang="en-US" sz="1800" b="1" dirty="0"/>
              <a:t>5. Check if the last node contains the given data</a:t>
            </a:r>
          </a:p>
          <a:p>
            <a:pPr marL="0" marR="0" lvl="0" indent="0" defTabSz="914400" fontAlgn="base">
              <a:lnSpc>
                <a:spcPct val="100000"/>
              </a:lnSpc>
              <a:spcBef>
                <a:spcPct val="0"/>
              </a:spcBef>
              <a:spcAft>
                <a:spcPct val="0"/>
              </a:spcAft>
              <a:buClrTx/>
              <a:buSzTx/>
              <a:buNone/>
              <a:tabLst/>
            </a:pPr>
            <a:r>
              <a:rPr lang="en-US" altLang="en-US" sz="1800" b="1" dirty="0"/>
              <a:t>        If HOLD → next → DATA == DATA:</a:t>
            </a:r>
          </a:p>
          <a:p>
            <a:pPr marL="457200" marR="0" lvl="1" indent="0" defTabSz="914400" fontAlgn="base">
              <a:lnSpc>
                <a:spcPct val="100000"/>
              </a:lnSpc>
              <a:spcBef>
                <a:spcPct val="0"/>
              </a:spcBef>
              <a:spcAft>
                <a:spcPct val="0"/>
              </a:spcAft>
              <a:buClrTx/>
              <a:buSzTx/>
              <a:buNone/>
              <a:tabLst/>
            </a:pPr>
            <a:r>
              <a:rPr lang="en-US" altLang="en-US" sz="1800" b="1" dirty="0">
                <a:solidFill>
                  <a:schemeClr val="tx1"/>
                </a:solidFill>
              </a:rPr>
              <a:t>        TEMP = HOLD → next</a:t>
            </a:r>
          </a:p>
          <a:p>
            <a:pPr marL="457200" marR="0" lvl="1" indent="0" defTabSz="914400" fontAlgn="base">
              <a:lnSpc>
                <a:spcPct val="100000"/>
              </a:lnSpc>
              <a:spcBef>
                <a:spcPct val="0"/>
              </a:spcBef>
              <a:spcAft>
                <a:spcPct val="0"/>
              </a:spcAft>
              <a:buClrTx/>
              <a:buSzTx/>
              <a:buNone/>
              <a:tabLst/>
            </a:pPr>
            <a:r>
              <a:rPr lang="en-US" altLang="en-US" sz="1800" b="1" dirty="0">
                <a:solidFill>
                  <a:schemeClr val="tx1"/>
                </a:solidFill>
              </a:rPr>
              <a:t>        Free TEMP</a:t>
            </a:r>
          </a:p>
          <a:p>
            <a:pPr marL="457200" marR="0" lvl="1" indent="0" defTabSz="914400" fontAlgn="base">
              <a:lnSpc>
                <a:spcPct val="100000"/>
              </a:lnSpc>
              <a:spcBef>
                <a:spcPct val="0"/>
              </a:spcBef>
              <a:spcAft>
                <a:spcPct val="0"/>
              </a:spcAft>
              <a:buClrTx/>
              <a:buSzTx/>
              <a:buNone/>
              <a:tabLst/>
            </a:pPr>
            <a:r>
              <a:rPr lang="en-US" altLang="en-US" sz="1800" b="1" dirty="0">
                <a:solidFill>
                  <a:schemeClr val="tx1"/>
                </a:solidFill>
              </a:rPr>
              <a:t>        HOLD → next = NULL</a:t>
            </a:r>
          </a:p>
          <a:p>
            <a:pPr marL="457200" marR="0" lvl="1" indent="0" defTabSz="914400" fontAlgn="base">
              <a:lnSpc>
                <a:spcPct val="100000"/>
              </a:lnSpc>
              <a:spcBef>
                <a:spcPct val="0"/>
              </a:spcBef>
              <a:spcAft>
                <a:spcPct val="0"/>
              </a:spcAft>
              <a:buClrTx/>
              <a:buSzTx/>
              <a:buNone/>
              <a:tabLst/>
            </a:pPr>
            <a:r>
              <a:rPr lang="en-US" altLang="en-US" sz="1800" b="1" dirty="0">
                <a:solidFill>
                  <a:schemeClr val="tx1"/>
                </a:solidFill>
              </a:rPr>
              <a:t>        Exit.</a:t>
            </a:r>
          </a:p>
          <a:p>
            <a:pPr marL="0" marR="0" lvl="0" indent="0" defTabSz="914400" fontAlgn="base">
              <a:lnSpc>
                <a:spcPct val="100000"/>
              </a:lnSpc>
              <a:spcBef>
                <a:spcPct val="0"/>
              </a:spcBef>
              <a:spcAft>
                <a:spcPct val="0"/>
              </a:spcAft>
              <a:buClrTx/>
              <a:buSzTx/>
              <a:buNone/>
              <a:tabLst/>
            </a:pPr>
            <a:r>
              <a:rPr lang="en-US" altLang="en-US" sz="1800" b="1" dirty="0"/>
              <a:t>If the data is not found at the last node, display "DATA not found at the last position" and exit. </a:t>
            </a:r>
          </a:p>
        </p:txBody>
      </p:sp>
    </p:spTree>
    <p:extLst>
      <p:ext uri="{BB962C8B-B14F-4D97-AF65-F5344CB8AC3E}">
        <p14:creationId xmlns:p14="http://schemas.microsoft.com/office/powerpoint/2010/main" val="2904914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SEARCHING A NODE</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lnSpcReduction="10000"/>
          </a:bodyPr>
          <a:lstStyle/>
          <a:p>
            <a:pPr>
              <a:buNone/>
            </a:pPr>
            <a:r>
              <a:rPr lang="en-US" dirty="0"/>
              <a:t>1. Input the DATA to be searched</a:t>
            </a:r>
          </a:p>
          <a:p>
            <a:pPr>
              <a:buNone/>
            </a:pPr>
            <a:r>
              <a:rPr lang="en-US" dirty="0"/>
              <a:t>2. Initialize TEMP = START; POS =1;</a:t>
            </a:r>
          </a:p>
          <a:p>
            <a:pPr>
              <a:buNone/>
            </a:pPr>
            <a:r>
              <a:rPr lang="en-US" dirty="0"/>
              <a:t>3. Repeat the step 4, 5 and 6 until (TEMP is equal to NULL)</a:t>
            </a:r>
          </a:p>
          <a:p>
            <a:pPr>
              <a:buNone/>
            </a:pPr>
            <a:r>
              <a:rPr lang="en-US" dirty="0"/>
              <a:t>4. If (TEMP → DATA is equal to DATA)</a:t>
            </a:r>
          </a:p>
          <a:p>
            <a:pPr lvl="1">
              <a:buNone/>
            </a:pPr>
            <a:r>
              <a:rPr lang="en-US" dirty="0"/>
              <a:t>(</a:t>
            </a:r>
            <a:r>
              <a:rPr lang="en-US" i="1" dirty="0"/>
              <a:t>a) Display “The data is found at POS”</a:t>
            </a:r>
          </a:p>
          <a:p>
            <a:pPr lvl="1">
              <a:buNone/>
            </a:pPr>
            <a:r>
              <a:rPr lang="en-US" dirty="0"/>
              <a:t>(</a:t>
            </a:r>
            <a:r>
              <a:rPr lang="en-US" i="1" dirty="0"/>
              <a:t>b) Exit</a:t>
            </a:r>
          </a:p>
          <a:p>
            <a:pPr>
              <a:buNone/>
            </a:pPr>
            <a:r>
              <a:rPr lang="en-US" dirty="0"/>
              <a:t>5. TEMP = TEMP → Next</a:t>
            </a:r>
          </a:p>
          <a:p>
            <a:pPr>
              <a:buNone/>
            </a:pPr>
            <a:r>
              <a:rPr lang="en-US" dirty="0"/>
              <a:t>6. POS = POS+1</a:t>
            </a:r>
          </a:p>
          <a:p>
            <a:pPr>
              <a:buNone/>
            </a:pPr>
            <a:r>
              <a:rPr lang="en-US" dirty="0"/>
              <a:t>7. If (TEMP is equal to NULL)</a:t>
            </a:r>
          </a:p>
          <a:p>
            <a:pPr lvl="1">
              <a:buNone/>
            </a:pPr>
            <a:r>
              <a:rPr lang="en-US" dirty="0"/>
              <a:t>(</a:t>
            </a:r>
            <a:r>
              <a:rPr lang="en-US" i="1" dirty="0"/>
              <a:t>a) Display “The data is not found in the list”</a:t>
            </a:r>
          </a:p>
          <a:p>
            <a:pPr>
              <a:buNone/>
            </a:pPr>
            <a:r>
              <a:rPr lang="en-US" dirty="0"/>
              <a:t>8. Exit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DISPLAY ALL NODES</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pPr>
              <a:buNone/>
            </a:pPr>
            <a:r>
              <a:rPr lang="en-US" dirty="0"/>
              <a:t>1. If (START is equal to NULL)</a:t>
            </a:r>
          </a:p>
          <a:p>
            <a:pPr lvl="1">
              <a:buNone/>
            </a:pPr>
            <a:r>
              <a:rPr lang="en-US" dirty="0"/>
              <a:t>(</a:t>
            </a:r>
            <a:r>
              <a:rPr lang="en-US" i="1" dirty="0"/>
              <a:t>a) Display “The list is Empty”</a:t>
            </a:r>
          </a:p>
          <a:p>
            <a:pPr lvl="1">
              <a:buNone/>
            </a:pPr>
            <a:r>
              <a:rPr lang="en-US" dirty="0"/>
              <a:t>(</a:t>
            </a:r>
            <a:r>
              <a:rPr lang="en-US" i="1" dirty="0"/>
              <a:t>b) Exit</a:t>
            </a:r>
          </a:p>
          <a:p>
            <a:pPr>
              <a:buNone/>
            </a:pPr>
            <a:r>
              <a:rPr lang="en-US" dirty="0"/>
              <a:t>2. Initialize TEMP = START</a:t>
            </a:r>
          </a:p>
          <a:p>
            <a:pPr>
              <a:buNone/>
            </a:pPr>
            <a:r>
              <a:rPr lang="en-US" dirty="0"/>
              <a:t>3. Repeat the step 4 and 5 until (TEMP == NULL )</a:t>
            </a:r>
          </a:p>
          <a:p>
            <a:pPr>
              <a:buNone/>
            </a:pPr>
            <a:r>
              <a:rPr lang="en-US" dirty="0"/>
              <a:t>4. Display “TEMP → DATA”</a:t>
            </a:r>
          </a:p>
          <a:p>
            <a:pPr>
              <a:buNone/>
            </a:pPr>
            <a:r>
              <a:rPr lang="en-US" dirty="0"/>
              <a:t>5. TEMP = TEMP → Next</a:t>
            </a:r>
          </a:p>
          <a:p>
            <a:pPr>
              <a:buNone/>
            </a:pPr>
            <a:r>
              <a:rPr lang="en-US" dirty="0"/>
              <a:t>6. Exit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CIRCULAR LINKED LIST </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dirty="0"/>
              <a:t>A circular linked list is one, which has no beginning and no end.</a:t>
            </a:r>
          </a:p>
          <a:p>
            <a:r>
              <a:rPr lang="en-US" dirty="0"/>
              <a:t> A singly linked list can be made a circular linked list by simply storing the address of the very first node in the linked field of the last node. </a:t>
            </a:r>
          </a:p>
        </p:txBody>
      </p:sp>
      <p:pic>
        <p:nvPicPr>
          <p:cNvPr id="1026" name="Picture 2"/>
          <p:cNvPicPr>
            <a:picLocks noChangeAspect="1" noChangeArrowheads="1"/>
          </p:cNvPicPr>
          <p:nvPr/>
        </p:nvPicPr>
        <p:blipFill>
          <a:blip r:embed="rId2"/>
          <a:srcRect/>
          <a:stretch>
            <a:fillRect/>
          </a:stretch>
        </p:blipFill>
        <p:spPr bwMode="auto">
          <a:xfrm>
            <a:off x="990600" y="3629025"/>
            <a:ext cx="7191440" cy="200977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7538-D41B-CC0E-7DB9-AE3709940FCF}"/>
              </a:ext>
            </a:extLst>
          </p:cNvPr>
          <p:cNvSpPr>
            <a:spLocks noGrp="1"/>
          </p:cNvSpPr>
          <p:nvPr>
            <p:ph type="title"/>
          </p:nvPr>
        </p:nvSpPr>
        <p:spPr/>
        <p:txBody>
          <a:bodyPr/>
          <a:lstStyle/>
          <a:p>
            <a:r>
              <a:rPr lang="en-US" dirty="0"/>
              <a:t>Motivation (Why Circular Linked List?)</a:t>
            </a:r>
          </a:p>
        </p:txBody>
      </p:sp>
      <p:sp>
        <p:nvSpPr>
          <p:cNvPr id="3" name="Footer Placeholder 2">
            <a:extLst>
              <a:ext uri="{FF2B5EF4-FFF2-40B4-BE49-F238E27FC236}">
                <a16:creationId xmlns:a16="http://schemas.microsoft.com/office/drawing/2014/main" id="{63C0E17F-471B-05A5-C7ED-7DD1002BCE33}"/>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8A13145B-8BFB-5CA3-8A60-1CE477717EE4}"/>
              </a:ext>
            </a:extLst>
          </p:cNvPr>
          <p:cNvSpPr>
            <a:spLocks noGrp="1"/>
          </p:cNvSpPr>
          <p:nvPr>
            <p:ph sz="quarter" idx="1"/>
          </p:nvPr>
        </p:nvSpPr>
        <p:spPr/>
        <p:txBody>
          <a:bodyPr>
            <a:normAutofit fontScale="85000" lnSpcReduction="10000"/>
          </a:bodyPr>
          <a:lstStyle/>
          <a:p>
            <a:r>
              <a:rPr lang="en-US" dirty="0"/>
              <a:t>No NULL pointers → continuous loop</a:t>
            </a:r>
          </a:p>
          <a:p>
            <a:endParaRPr lang="en-US" dirty="0"/>
          </a:p>
          <a:p>
            <a:r>
              <a:rPr lang="en-US" dirty="0"/>
              <a:t>Can </a:t>
            </a:r>
            <a:r>
              <a:rPr lang="en-US" b="1" dirty="0"/>
              <a:t>start traversal from any node</a:t>
            </a:r>
          </a:p>
          <a:p>
            <a:endParaRPr lang="en-US" dirty="0"/>
          </a:p>
          <a:p>
            <a:r>
              <a:rPr lang="en-US" dirty="0"/>
              <a:t>Saves time in certain operations</a:t>
            </a:r>
          </a:p>
          <a:p>
            <a:pPr lvl="1"/>
            <a:r>
              <a:rPr lang="en-US" dirty="0"/>
              <a:t>No need to restart traversal → cycle continues automatically.</a:t>
            </a:r>
          </a:p>
          <a:p>
            <a:pPr lvl="1"/>
            <a:r>
              <a:rPr lang="en-US" dirty="0"/>
              <a:t>From last node to first node in O(1) (direct link).</a:t>
            </a:r>
          </a:p>
          <a:p>
            <a:pPr lvl="1"/>
            <a:r>
              <a:rPr lang="en-US" dirty="0"/>
              <a:t>Round-robin processes (CPU scheduling, playlists, games) run smoothly.</a:t>
            </a:r>
          </a:p>
          <a:p>
            <a:pPr lvl="1"/>
            <a:r>
              <a:rPr lang="en-US" dirty="0"/>
              <a:t>Eliminates overhead of handling NULL.</a:t>
            </a:r>
          </a:p>
          <a:p>
            <a:pPr lvl="1"/>
            <a:r>
              <a:rPr lang="en-US" dirty="0"/>
              <a:t>Example:4 players: A → B → C → D → back to A.</a:t>
            </a:r>
          </a:p>
          <a:p>
            <a:pPr lvl="1"/>
            <a:r>
              <a:rPr lang="en-US" dirty="0"/>
              <a:t>Turn switching is automatic without re-traversal.</a:t>
            </a:r>
          </a:p>
          <a:p>
            <a:pPr lvl="1"/>
            <a:endParaRPr lang="en-US" dirty="0"/>
          </a:p>
          <a:p>
            <a:r>
              <a:rPr lang="en-US" dirty="0"/>
              <a:t>Suitable for </a:t>
            </a:r>
            <a:r>
              <a:rPr lang="en-US" b="1" dirty="0"/>
              <a:t>round-robin, playlists, games, circular queues</a:t>
            </a:r>
            <a:endParaRPr lang="en-US" dirty="0"/>
          </a:p>
          <a:p>
            <a:endParaRPr lang="en-US" dirty="0"/>
          </a:p>
        </p:txBody>
      </p:sp>
    </p:spTree>
    <p:extLst>
      <p:ext uri="{BB962C8B-B14F-4D97-AF65-F5344CB8AC3E}">
        <p14:creationId xmlns:p14="http://schemas.microsoft.com/office/powerpoint/2010/main" val="3424048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1D612-A7CA-574C-7296-0144460EB884}"/>
              </a:ext>
            </a:extLst>
          </p:cNvPr>
          <p:cNvSpPr>
            <a:spLocks noGrp="1"/>
          </p:cNvSpPr>
          <p:nvPr>
            <p:ph type="title"/>
          </p:nvPr>
        </p:nvSpPr>
        <p:spPr/>
        <p:txBody>
          <a:bodyPr/>
          <a:lstStyle/>
          <a:p>
            <a:r>
              <a:rPr lang="en-US" dirty="0"/>
              <a:t>Types of Circular Linked List</a:t>
            </a:r>
          </a:p>
        </p:txBody>
      </p:sp>
      <p:sp>
        <p:nvSpPr>
          <p:cNvPr id="3" name="Footer Placeholder 2">
            <a:extLst>
              <a:ext uri="{FF2B5EF4-FFF2-40B4-BE49-F238E27FC236}">
                <a16:creationId xmlns:a16="http://schemas.microsoft.com/office/drawing/2014/main" id="{21931819-F563-FB84-E713-CEDA9848AC46}"/>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1FDE78D7-5656-F714-CD68-5B9C553CD5BF}"/>
              </a:ext>
            </a:extLst>
          </p:cNvPr>
          <p:cNvSpPr>
            <a:spLocks noGrp="1"/>
          </p:cNvSpPr>
          <p:nvPr>
            <p:ph sz="quarter" idx="1"/>
          </p:nvPr>
        </p:nvSpPr>
        <p:spPr/>
        <p:txBody>
          <a:bodyPr/>
          <a:lstStyle/>
          <a:p>
            <a:r>
              <a:rPr lang="en-US" dirty="0"/>
              <a:t>Singly Circular Linked List</a:t>
            </a:r>
          </a:p>
          <a:p>
            <a:pPr lvl="1"/>
            <a:r>
              <a:rPr lang="en-US" dirty="0"/>
              <a:t>Each node has 1 pointer → Next node</a:t>
            </a:r>
          </a:p>
          <a:p>
            <a:pPr lvl="1"/>
            <a:r>
              <a:rPr lang="en-US" dirty="0"/>
              <a:t>Last node → points back to START</a:t>
            </a:r>
          </a:p>
          <a:p>
            <a:r>
              <a:rPr lang="en-US" dirty="0"/>
              <a:t>Doubly Circular Linked List</a:t>
            </a:r>
          </a:p>
          <a:p>
            <a:pPr lvl="1"/>
            <a:r>
              <a:rPr lang="en-US" dirty="0"/>
              <a:t>Each node has 2 pointers → Next and Previous</a:t>
            </a:r>
          </a:p>
          <a:p>
            <a:pPr lvl="1"/>
            <a:r>
              <a:rPr lang="en-US" dirty="0"/>
              <a:t>Last node’s Next → START</a:t>
            </a:r>
          </a:p>
          <a:p>
            <a:pPr lvl="1"/>
            <a:r>
              <a:rPr lang="en-US" dirty="0"/>
              <a:t>START’s Previous → Last node</a:t>
            </a:r>
          </a:p>
        </p:txBody>
      </p:sp>
    </p:spTree>
    <p:extLst>
      <p:ext uri="{BB962C8B-B14F-4D97-AF65-F5344CB8AC3E}">
        <p14:creationId xmlns:p14="http://schemas.microsoft.com/office/powerpoint/2010/main" val="2937318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47DD3-FE7E-D477-F4C5-E0D20A0A77E1}"/>
              </a:ext>
            </a:extLst>
          </p:cNvPr>
          <p:cNvSpPr>
            <a:spLocks noGrp="1"/>
          </p:cNvSpPr>
          <p:nvPr>
            <p:ph type="title"/>
          </p:nvPr>
        </p:nvSpPr>
        <p:spPr/>
        <p:txBody>
          <a:bodyPr/>
          <a:lstStyle/>
          <a:p>
            <a:r>
              <a:rPr lang="en-US" dirty="0"/>
              <a:t>Advantages of Circular Linked List</a:t>
            </a:r>
          </a:p>
        </p:txBody>
      </p:sp>
      <p:sp>
        <p:nvSpPr>
          <p:cNvPr id="3" name="Footer Placeholder 2">
            <a:extLst>
              <a:ext uri="{FF2B5EF4-FFF2-40B4-BE49-F238E27FC236}">
                <a16:creationId xmlns:a16="http://schemas.microsoft.com/office/drawing/2014/main" id="{93B9D9AB-6F8F-494C-AF41-8EC72E9FCC68}"/>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F1E0EF93-0E19-5889-A853-0E9F9DC01E27}"/>
              </a:ext>
            </a:extLst>
          </p:cNvPr>
          <p:cNvSpPr>
            <a:spLocks noGrp="1"/>
          </p:cNvSpPr>
          <p:nvPr>
            <p:ph sz="quarter" idx="1"/>
          </p:nvPr>
        </p:nvSpPr>
        <p:spPr/>
        <p:txBody>
          <a:bodyPr/>
          <a:lstStyle/>
          <a:p>
            <a:r>
              <a:rPr lang="en-US" dirty="0"/>
              <a:t>Can </a:t>
            </a:r>
            <a:r>
              <a:rPr lang="en-US" b="1" dirty="0"/>
              <a:t>start traversal from any node</a:t>
            </a:r>
            <a:endParaRPr lang="en-US" dirty="0"/>
          </a:p>
          <a:p>
            <a:r>
              <a:rPr lang="en-US" dirty="0"/>
              <a:t>Efficient for applications requiring </a:t>
            </a:r>
            <a:r>
              <a:rPr lang="en-US" b="1" dirty="0"/>
              <a:t>round-robin scheduling</a:t>
            </a:r>
            <a:endParaRPr lang="en-US" dirty="0"/>
          </a:p>
          <a:p>
            <a:r>
              <a:rPr lang="en-US" dirty="0"/>
              <a:t>Easier to manage </a:t>
            </a:r>
            <a:r>
              <a:rPr lang="en-US" b="1" dirty="0"/>
              <a:t>continuous looping data</a:t>
            </a:r>
            <a:endParaRPr lang="en-US" dirty="0"/>
          </a:p>
          <a:p>
            <a:r>
              <a:rPr lang="en-US" dirty="0"/>
              <a:t>Memory efficient (no need for NULL markers)</a:t>
            </a:r>
          </a:p>
          <a:p>
            <a:endParaRPr lang="en-US" dirty="0"/>
          </a:p>
        </p:txBody>
      </p:sp>
    </p:spTree>
    <p:extLst>
      <p:ext uri="{BB962C8B-B14F-4D97-AF65-F5344CB8AC3E}">
        <p14:creationId xmlns:p14="http://schemas.microsoft.com/office/powerpoint/2010/main" val="20694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2D16-AF09-9B90-07BD-4AFC3F8BFA8B}"/>
              </a:ext>
            </a:extLst>
          </p:cNvPr>
          <p:cNvSpPr>
            <a:spLocks noGrp="1"/>
          </p:cNvSpPr>
          <p:nvPr>
            <p:ph type="title"/>
          </p:nvPr>
        </p:nvSpPr>
        <p:spPr/>
        <p:txBody>
          <a:bodyPr/>
          <a:lstStyle/>
          <a:p>
            <a:r>
              <a:rPr lang="en-US" dirty="0"/>
              <a:t>Disadvantages of Circular Linked List</a:t>
            </a:r>
          </a:p>
        </p:txBody>
      </p:sp>
      <p:sp>
        <p:nvSpPr>
          <p:cNvPr id="3" name="Footer Placeholder 2">
            <a:extLst>
              <a:ext uri="{FF2B5EF4-FFF2-40B4-BE49-F238E27FC236}">
                <a16:creationId xmlns:a16="http://schemas.microsoft.com/office/drawing/2014/main" id="{882C4B67-2844-DD52-ADCB-255F4095AF85}"/>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535D40FF-1A0A-36E4-E6A9-A710FB165D24}"/>
              </a:ext>
            </a:extLst>
          </p:cNvPr>
          <p:cNvSpPr>
            <a:spLocks noGrp="1"/>
          </p:cNvSpPr>
          <p:nvPr>
            <p:ph sz="quarter" idx="1"/>
          </p:nvPr>
        </p:nvSpPr>
        <p:spPr/>
        <p:txBody>
          <a:bodyPr>
            <a:normAutofit/>
          </a:bodyPr>
          <a:lstStyle/>
          <a:p>
            <a:r>
              <a:rPr lang="en-US" dirty="0"/>
              <a:t>More complex to implement than singly linked list</a:t>
            </a:r>
          </a:p>
          <a:p>
            <a:r>
              <a:rPr lang="en-US" dirty="0"/>
              <a:t>Traversal may enter </a:t>
            </a:r>
            <a:r>
              <a:rPr lang="en-US" b="1" dirty="0"/>
              <a:t>infinite loop</a:t>
            </a:r>
            <a:r>
              <a:rPr lang="en-US" dirty="0"/>
              <a:t> if not handled properly</a:t>
            </a:r>
          </a:p>
          <a:p>
            <a:pPr marL="822960" lvl="3" indent="0">
              <a:buNone/>
            </a:pPr>
            <a:r>
              <a:rPr lang="en-US" dirty="0"/>
              <a:t>TEMP = START;</a:t>
            </a:r>
          </a:p>
          <a:p>
            <a:pPr marL="822960" lvl="3" indent="0">
              <a:buNone/>
            </a:pPr>
            <a:r>
              <a:rPr lang="en-US" dirty="0"/>
              <a:t>while (TEMP != NULL) {        </a:t>
            </a:r>
            <a:r>
              <a:rPr lang="en-US" dirty="0">
                <a:solidFill>
                  <a:srgbClr val="FF0000"/>
                </a:solidFill>
              </a:rPr>
              <a:t>// Wrong condition</a:t>
            </a:r>
          </a:p>
          <a:p>
            <a:pPr marL="822960" lvl="3" indent="0">
              <a:buNone/>
            </a:pPr>
            <a:r>
              <a:rPr lang="en-US" dirty="0"/>
              <a:t>   </a:t>
            </a:r>
            <a:r>
              <a:rPr lang="en-US" dirty="0" err="1"/>
              <a:t>cout</a:t>
            </a:r>
            <a:r>
              <a:rPr lang="en-US" dirty="0"/>
              <a:t> &lt;&lt; TEMP-&gt;data &lt;&lt; " ";</a:t>
            </a:r>
          </a:p>
          <a:p>
            <a:pPr marL="822960" lvl="3" indent="0">
              <a:buNone/>
            </a:pPr>
            <a:r>
              <a:rPr lang="en-US" dirty="0"/>
              <a:t>   TEMP = TEMP-&gt;next;</a:t>
            </a:r>
          </a:p>
          <a:p>
            <a:pPr marL="822960" lvl="3" indent="0">
              <a:buNone/>
            </a:pPr>
            <a:r>
              <a:rPr lang="en-US" dirty="0"/>
              <a:t>}</a:t>
            </a:r>
          </a:p>
          <a:p>
            <a:r>
              <a:rPr lang="en-US" dirty="0"/>
              <a:t>Debugging is harder</a:t>
            </a:r>
          </a:p>
          <a:p>
            <a:pPr lvl="1"/>
            <a:r>
              <a:rPr lang="en-US" dirty="0"/>
              <a:t>Forgetting to stop when TEMP == START → infinite loop</a:t>
            </a:r>
          </a:p>
          <a:p>
            <a:pPr lvl="1"/>
            <a:r>
              <a:rPr lang="en-US" dirty="0"/>
              <a:t>Not updating last node’s next pointer → broken cycle</a:t>
            </a:r>
          </a:p>
          <a:p>
            <a:pPr lvl="1"/>
            <a:r>
              <a:rPr lang="en-US" dirty="0"/>
              <a:t>Accidentally creating multiple loops</a:t>
            </a:r>
          </a:p>
          <a:p>
            <a:r>
              <a:rPr lang="en-US" dirty="0"/>
              <a:t>Insertion/Deletion requires </a:t>
            </a:r>
            <a:r>
              <a:rPr lang="en-US" b="1" dirty="0"/>
              <a:t>careful pointer updates</a:t>
            </a:r>
            <a:endParaRPr lang="en-US" dirty="0"/>
          </a:p>
          <a:p>
            <a:endParaRPr lang="en-US" dirty="0"/>
          </a:p>
        </p:txBody>
      </p:sp>
    </p:spTree>
    <p:extLst>
      <p:ext uri="{BB962C8B-B14F-4D97-AF65-F5344CB8AC3E}">
        <p14:creationId xmlns:p14="http://schemas.microsoft.com/office/powerpoint/2010/main" val="3879709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C118-0D81-9086-BA00-38448EF6D61B}"/>
              </a:ext>
            </a:extLst>
          </p:cNvPr>
          <p:cNvSpPr>
            <a:spLocks noGrp="1"/>
          </p:cNvSpPr>
          <p:nvPr>
            <p:ph type="title"/>
          </p:nvPr>
        </p:nvSpPr>
        <p:spPr/>
        <p:txBody>
          <a:bodyPr/>
          <a:lstStyle/>
          <a:p>
            <a:r>
              <a:rPr lang="en-US" dirty="0"/>
              <a:t>Traversal in Circular Linked List</a:t>
            </a:r>
          </a:p>
        </p:txBody>
      </p:sp>
      <p:sp>
        <p:nvSpPr>
          <p:cNvPr id="3" name="Footer Placeholder 2">
            <a:extLst>
              <a:ext uri="{FF2B5EF4-FFF2-40B4-BE49-F238E27FC236}">
                <a16:creationId xmlns:a16="http://schemas.microsoft.com/office/drawing/2014/main" id="{067B8668-ABA3-FA29-E46D-5B9F77A956A5}"/>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885865EC-B5C4-62F1-758A-B5158F955409}"/>
              </a:ext>
            </a:extLst>
          </p:cNvPr>
          <p:cNvSpPr>
            <a:spLocks noGrp="1"/>
          </p:cNvSpPr>
          <p:nvPr>
            <p:ph sz="quarter" idx="1"/>
          </p:nvPr>
        </p:nvSpPr>
        <p:spPr/>
        <p:txBody>
          <a:bodyPr/>
          <a:lstStyle/>
          <a:p>
            <a:r>
              <a:rPr lang="en-US" dirty="0"/>
              <a:t>Start from START (or any node)</a:t>
            </a:r>
          </a:p>
          <a:p>
            <a:r>
              <a:rPr lang="en-US" dirty="0"/>
              <a:t>Visit each node until coming back to START</a:t>
            </a:r>
          </a:p>
          <a:p>
            <a:pPr marL="274320" lvl="1" indent="0">
              <a:buNone/>
            </a:pPr>
            <a:r>
              <a:rPr lang="en-US" dirty="0"/>
              <a:t>TEMP = START;</a:t>
            </a:r>
          </a:p>
          <a:p>
            <a:pPr marL="274320" lvl="1" indent="0">
              <a:buNone/>
            </a:pPr>
            <a:r>
              <a:rPr lang="en-US" dirty="0"/>
              <a:t>do {</a:t>
            </a:r>
          </a:p>
          <a:p>
            <a:pPr marL="274320" lvl="1" indent="0">
              <a:buNone/>
            </a:pPr>
            <a:r>
              <a:rPr lang="en-US" dirty="0"/>
              <a:t>   </a:t>
            </a:r>
            <a:r>
              <a:rPr lang="en-US" dirty="0" err="1"/>
              <a:t>cout</a:t>
            </a:r>
            <a:r>
              <a:rPr lang="en-US" dirty="0"/>
              <a:t> &lt;&lt; TEMP-&gt;data;</a:t>
            </a:r>
          </a:p>
          <a:p>
            <a:pPr marL="274320" lvl="1" indent="0">
              <a:buNone/>
            </a:pPr>
            <a:r>
              <a:rPr lang="en-US" dirty="0"/>
              <a:t>   TEMP = TEMP-&gt;next;</a:t>
            </a:r>
          </a:p>
          <a:p>
            <a:pPr marL="274320" lvl="1" indent="0">
              <a:buNone/>
            </a:pPr>
            <a:r>
              <a:rPr lang="en-US" dirty="0"/>
              <a:t>} while (TEMP != START);</a:t>
            </a:r>
          </a:p>
        </p:txBody>
      </p:sp>
    </p:spTree>
    <p:extLst>
      <p:ext uri="{BB962C8B-B14F-4D97-AF65-F5344CB8AC3E}">
        <p14:creationId xmlns:p14="http://schemas.microsoft.com/office/powerpoint/2010/main" val="1838540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BAB7A-4937-9B9E-DE53-D03F35B1462C}"/>
              </a:ext>
            </a:extLst>
          </p:cNvPr>
          <p:cNvSpPr>
            <a:spLocks noGrp="1"/>
          </p:cNvSpPr>
          <p:nvPr>
            <p:ph type="title"/>
          </p:nvPr>
        </p:nvSpPr>
        <p:spPr/>
        <p:txBody>
          <a:bodyPr/>
          <a:lstStyle/>
          <a:p>
            <a:r>
              <a:rPr lang="en-US" dirty="0"/>
              <a:t>Why do-while is Appropriate</a:t>
            </a:r>
          </a:p>
        </p:txBody>
      </p:sp>
      <p:sp>
        <p:nvSpPr>
          <p:cNvPr id="3" name="Footer Placeholder 2">
            <a:extLst>
              <a:ext uri="{FF2B5EF4-FFF2-40B4-BE49-F238E27FC236}">
                <a16:creationId xmlns:a16="http://schemas.microsoft.com/office/drawing/2014/main" id="{CB5F7FEE-A1C1-E246-2228-676E31E821EE}"/>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204D0ED2-581C-E656-4E40-58BAAB0750F7}"/>
              </a:ext>
            </a:extLst>
          </p:cNvPr>
          <p:cNvSpPr>
            <a:spLocks noGrp="1"/>
          </p:cNvSpPr>
          <p:nvPr>
            <p:ph sz="quarter" idx="1"/>
          </p:nvPr>
        </p:nvSpPr>
        <p:spPr/>
        <p:txBody>
          <a:bodyPr/>
          <a:lstStyle/>
          <a:p>
            <a:r>
              <a:rPr lang="en-US" dirty="0"/>
              <a:t>In circular lists, TEMP == START at beginning</a:t>
            </a:r>
          </a:p>
          <a:p>
            <a:r>
              <a:rPr lang="en-US" dirty="0"/>
              <a:t>while loop would terminate immediately</a:t>
            </a:r>
          </a:p>
          <a:p>
            <a:r>
              <a:rPr lang="en-US" dirty="0"/>
              <a:t>do-while ensures at least </a:t>
            </a:r>
            <a:r>
              <a:rPr lang="en-US" b="1" dirty="0"/>
              <a:t>one iteration</a:t>
            </a:r>
            <a:endParaRPr lang="en-US" dirty="0"/>
          </a:p>
          <a:p>
            <a:r>
              <a:rPr lang="en-US" dirty="0"/>
              <a:t>Guarantees that </a:t>
            </a:r>
            <a:r>
              <a:rPr lang="en-US" b="1" dirty="0"/>
              <a:t>all nodes are visited exactly once</a:t>
            </a:r>
            <a:endParaRPr lang="en-US" dirty="0"/>
          </a:p>
          <a:p>
            <a:pPr marL="0" indent="0">
              <a:buNone/>
            </a:pPr>
            <a:r>
              <a:rPr lang="en-US" b="1" dirty="0"/>
              <a:t>Example:</a:t>
            </a:r>
          </a:p>
          <a:p>
            <a:r>
              <a:rPr lang="en-US" dirty="0"/>
              <a:t>Nodes = 10 → 20 → 30</a:t>
            </a:r>
          </a:p>
          <a:p>
            <a:r>
              <a:rPr lang="en-US" dirty="0"/>
              <a:t>Output with do-while: </a:t>
            </a:r>
            <a:r>
              <a:rPr lang="en-US" b="1" dirty="0"/>
              <a:t>10 20 30</a:t>
            </a:r>
            <a:endParaRPr lang="en-US" dirty="0"/>
          </a:p>
          <a:p>
            <a:endParaRPr lang="en-US" dirty="0"/>
          </a:p>
        </p:txBody>
      </p:sp>
    </p:spTree>
    <p:extLst>
      <p:ext uri="{BB962C8B-B14F-4D97-AF65-F5344CB8AC3E}">
        <p14:creationId xmlns:p14="http://schemas.microsoft.com/office/powerpoint/2010/main" val="1552911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7491C-DD22-BD5A-485E-92A9BC56D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9E99E-BA03-3A5A-602F-A6DBDB465892}"/>
              </a:ext>
            </a:extLst>
          </p:cNvPr>
          <p:cNvSpPr>
            <a:spLocks noGrp="1"/>
          </p:cNvSpPr>
          <p:nvPr>
            <p:ph type="title"/>
          </p:nvPr>
        </p:nvSpPr>
        <p:spPr/>
        <p:txBody>
          <a:bodyPr>
            <a:noAutofit/>
          </a:bodyPr>
          <a:lstStyle/>
          <a:p>
            <a:r>
              <a:rPr lang="en-US" sz="2400" b="1" dirty="0"/>
              <a:t>ALGORITHM FOR CLOSURE OF AN ALREADY EXISTING SINGLY LINKED LIST INTO A CIRCULAR LIST</a:t>
            </a:r>
          </a:p>
        </p:txBody>
      </p:sp>
      <p:sp>
        <p:nvSpPr>
          <p:cNvPr id="3" name="Footer Placeholder 2">
            <a:extLst>
              <a:ext uri="{FF2B5EF4-FFF2-40B4-BE49-F238E27FC236}">
                <a16:creationId xmlns:a16="http://schemas.microsoft.com/office/drawing/2014/main" id="{3179E57A-DAE3-4676-0F5E-08757012D994}"/>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8F591B86-5DCA-04F1-AFD5-03B07CB36AB5}"/>
              </a:ext>
            </a:extLst>
          </p:cNvPr>
          <p:cNvSpPr>
            <a:spLocks noGrp="1"/>
          </p:cNvSpPr>
          <p:nvPr>
            <p:ph sz="quarter" idx="1"/>
          </p:nvPr>
        </p:nvSpPr>
        <p:spPr/>
        <p:txBody>
          <a:bodyPr/>
          <a:lstStyle/>
          <a:p>
            <a:pPr>
              <a:buNone/>
            </a:pPr>
            <a:r>
              <a:rPr lang="en-US" dirty="0"/>
              <a:t>1. If (START is equal to NULL)</a:t>
            </a:r>
          </a:p>
          <a:p>
            <a:pPr lvl="1">
              <a:buNone/>
            </a:pPr>
            <a:r>
              <a:rPr lang="en-US" dirty="0"/>
              <a:t>(</a:t>
            </a:r>
            <a:r>
              <a:rPr lang="en-US" i="1" dirty="0"/>
              <a:t>a) Display “The list is Empty”</a:t>
            </a:r>
          </a:p>
          <a:p>
            <a:pPr lvl="1">
              <a:buNone/>
            </a:pPr>
            <a:r>
              <a:rPr lang="en-US" dirty="0"/>
              <a:t>(</a:t>
            </a:r>
            <a:r>
              <a:rPr lang="en-US" i="1" dirty="0"/>
              <a:t>b) Exit</a:t>
            </a:r>
          </a:p>
          <a:p>
            <a:pPr>
              <a:buNone/>
            </a:pPr>
            <a:r>
              <a:rPr lang="en-US" dirty="0"/>
              <a:t>2. Initialize TEMP = START</a:t>
            </a:r>
          </a:p>
          <a:p>
            <a:pPr>
              <a:buNone/>
            </a:pPr>
            <a:r>
              <a:rPr lang="en-US" dirty="0"/>
              <a:t>3. Repeat the step 3a until (TEMP == NULL )</a:t>
            </a:r>
          </a:p>
          <a:p>
            <a:pPr>
              <a:buNone/>
            </a:pPr>
            <a:r>
              <a:rPr lang="en-US" dirty="0"/>
              <a:t>	3a. TEMP = TEMP → Next</a:t>
            </a:r>
          </a:p>
          <a:p>
            <a:pPr>
              <a:buNone/>
            </a:pPr>
            <a:r>
              <a:rPr lang="en-US" dirty="0"/>
              <a:t>4. TEMP → Next = START</a:t>
            </a:r>
          </a:p>
          <a:p>
            <a:pPr>
              <a:buNone/>
            </a:pPr>
            <a:r>
              <a:rPr lang="en-US" dirty="0"/>
              <a:t>6. Exit</a:t>
            </a:r>
          </a:p>
        </p:txBody>
      </p:sp>
    </p:spTree>
    <p:extLst>
      <p:ext uri="{BB962C8B-B14F-4D97-AF65-F5344CB8AC3E}">
        <p14:creationId xmlns:p14="http://schemas.microsoft.com/office/powerpoint/2010/main" val="1642822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CREATION OF CIRCULAR LINKED LIST</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pPr marL="514350" indent="-514350">
              <a:buFont typeface="+mj-lt"/>
              <a:buAutoNum type="arabicPeriod"/>
            </a:pPr>
            <a:r>
              <a:rPr lang="en-US" dirty="0"/>
              <a:t>If (START is equal to NULL)</a:t>
            </a:r>
          </a:p>
          <a:p>
            <a:pPr lvl="2"/>
            <a:r>
              <a:rPr lang="en-US" dirty="0"/>
              <a:t>(a) Display "The list is Empty"</a:t>
            </a:r>
          </a:p>
          <a:p>
            <a:pPr lvl="2"/>
            <a:r>
              <a:rPr lang="en-US" dirty="0"/>
              <a:t>(b) Exit</a:t>
            </a:r>
          </a:p>
          <a:p>
            <a:pPr marL="514350" indent="-514350">
              <a:buFont typeface="+mj-lt"/>
              <a:buAutoNum type="arabicPeriod"/>
            </a:pPr>
            <a:r>
              <a:rPr lang="en-US" dirty="0"/>
              <a:t>Create a new node NEW_NODE</a:t>
            </a:r>
          </a:p>
          <a:p>
            <a:pPr marL="514350" indent="-514350">
              <a:buFont typeface="+mj-lt"/>
              <a:buAutoNum type="arabicPeriod"/>
            </a:pPr>
            <a:r>
              <a:rPr lang="en-US" dirty="0"/>
              <a:t>Set NEW_NODE → Data = Value</a:t>
            </a:r>
          </a:p>
          <a:p>
            <a:pPr marL="514350" indent="-514350">
              <a:buFont typeface="+mj-lt"/>
              <a:buAutoNum type="arabicPeriod"/>
            </a:pPr>
            <a:r>
              <a:rPr lang="en-US" dirty="0"/>
              <a:t>Set NEW_NODE → Next = NEW_NODE</a:t>
            </a:r>
          </a:p>
          <a:p>
            <a:pPr marL="514350" indent="-514350">
              <a:buFont typeface="+mj-lt"/>
              <a:buAutoNum type="arabicPeriod"/>
            </a:pPr>
            <a:r>
              <a:rPr lang="en-US" dirty="0"/>
              <a:t>Set START = NEW_NODE</a:t>
            </a:r>
          </a:p>
          <a:p>
            <a:pPr marL="514350" indent="-514350">
              <a:buFont typeface="+mj-lt"/>
              <a:buAutoNum type="arabicPeriod"/>
            </a:pPr>
            <a:r>
              <a:rPr lang="en-US" dirty="0"/>
              <a:t>Exit</a:t>
            </a:r>
          </a:p>
          <a:p>
            <a:endParaRPr lang="en-US" dirty="0"/>
          </a:p>
        </p:txBody>
      </p:sp>
    </p:spTree>
    <p:extLst>
      <p:ext uri="{BB962C8B-B14F-4D97-AF65-F5344CB8AC3E}">
        <p14:creationId xmlns:p14="http://schemas.microsoft.com/office/powerpoint/2010/main" val="2642619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INSERTION IN CIRCULAR LINKED LIST (AT END)</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a:bodyPr>
          <a:lstStyle/>
          <a:p>
            <a:pPr marL="514350" indent="-514350">
              <a:buFont typeface="+mj-lt"/>
              <a:buAutoNum type="arabicPeriod"/>
            </a:pPr>
            <a:r>
              <a:rPr lang="en-US" dirty="0"/>
              <a:t>If (START is equal to NULL)</a:t>
            </a:r>
          </a:p>
          <a:p>
            <a:pPr lvl="2"/>
            <a:r>
              <a:rPr lang="en-US" dirty="0"/>
              <a:t>(a) Display "The list is Empty"</a:t>
            </a:r>
          </a:p>
          <a:p>
            <a:pPr lvl="2"/>
            <a:r>
              <a:rPr lang="en-US" dirty="0"/>
              <a:t>(b) Exit</a:t>
            </a:r>
          </a:p>
          <a:p>
            <a:pPr marL="514350" indent="-514350">
              <a:buFont typeface="+mj-lt"/>
              <a:buAutoNum type="arabicPeriod"/>
            </a:pPr>
            <a:r>
              <a:rPr lang="en-US" dirty="0"/>
              <a:t>Create a new node NEW_NODE</a:t>
            </a:r>
          </a:p>
          <a:p>
            <a:pPr lvl="2"/>
            <a:r>
              <a:rPr lang="en-US" dirty="0"/>
              <a:t>NEW_NODE → Data = Value</a:t>
            </a:r>
          </a:p>
          <a:p>
            <a:pPr marL="514350" indent="-514350">
              <a:buFont typeface="+mj-lt"/>
              <a:buAutoNum type="arabicPeriod"/>
            </a:pPr>
            <a:r>
              <a:rPr lang="en-US" dirty="0"/>
              <a:t>Initialize TEMP = START</a:t>
            </a:r>
          </a:p>
          <a:p>
            <a:pPr marL="514350" indent="-514350">
              <a:buFont typeface="+mj-lt"/>
              <a:buAutoNum type="arabicPeriod"/>
            </a:pPr>
            <a:r>
              <a:rPr lang="en-US" dirty="0"/>
              <a:t>Repeat step 4a until (TEMP → Next == START)</a:t>
            </a:r>
          </a:p>
          <a:p>
            <a:pPr lvl="2"/>
            <a:r>
              <a:rPr lang="en-US" dirty="0"/>
              <a:t>4a. TEMP = TEMP → Next</a:t>
            </a:r>
          </a:p>
          <a:p>
            <a:pPr marL="514350" indent="-514350">
              <a:buFont typeface="+mj-lt"/>
              <a:buAutoNum type="arabicPeriod"/>
            </a:pPr>
            <a:r>
              <a:rPr lang="en-US" dirty="0"/>
              <a:t>TEMP → Next = NEW_NODE</a:t>
            </a:r>
          </a:p>
          <a:p>
            <a:pPr marL="514350" indent="-514350">
              <a:buFont typeface="+mj-lt"/>
              <a:buAutoNum type="arabicPeriod"/>
            </a:pPr>
            <a:r>
              <a:rPr lang="en-US" dirty="0"/>
              <a:t>NEW_NODE → Next = START</a:t>
            </a:r>
          </a:p>
          <a:p>
            <a:pPr marL="514350" indent="-514350">
              <a:buFont typeface="+mj-lt"/>
              <a:buAutoNum type="arabicPeriod"/>
            </a:pPr>
            <a:r>
              <a:rPr lang="en-US" dirty="0"/>
              <a:t>Exit</a:t>
            </a:r>
          </a:p>
          <a:p>
            <a:endParaRPr lang="en-US" dirty="0"/>
          </a:p>
        </p:txBody>
      </p:sp>
    </p:spTree>
    <p:extLst>
      <p:ext uri="{BB962C8B-B14F-4D97-AF65-F5344CB8AC3E}">
        <p14:creationId xmlns:p14="http://schemas.microsoft.com/office/powerpoint/2010/main" val="2400185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DELETION FROM CIRCULAR LINKED LIST (AT END)</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a:bodyPr>
          <a:lstStyle/>
          <a:p>
            <a:pPr marL="514350" indent="-514350">
              <a:buFont typeface="+mj-lt"/>
              <a:buAutoNum type="arabicPeriod"/>
            </a:pPr>
            <a:r>
              <a:rPr lang="en-US" dirty="0"/>
              <a:t>If (START is equal to NULL)</a:t>
            </a:r>
          </a:p>
          <a:p>
            <a:pPr lvl="2"/>
            <a:r>
              <a:rPr lang="en-US" dirty="0"/>
              <a:t>(a) Display "The list is Empty"</a:t>
            </a:r>
          </a:p>
          <a:p>
            <a:pPr lvl="2"/>
            <a:r>
              <a:rPr lang="en-US" dirty="0"/>
              <a:t>(b) Exit</a:t>
            </a:r>
          </a:p>
          <a:p>
            <a:pPr marL="514350" indent="-514350">
              <a:buFont typeface="+mj-lt"/>
              <a:buAutoNum type="arabicPeriod"/>
            </a:pPr>
            <a:r>
              <a:rPr lang="en-US" dirty="0"/>
              <a:t>Initialize TEMP = START</a:t>
            </a:r>
          </a:p>
          <a:p>
            <a:pPr marL="514350" indent="-514350">
              <a:buFont typeface="+mj-lt"/>
              <a:buAutoNum type="arabicPeriod"/>
            </a:pPr>
            <a:r>
              <a:rPr lang="en-US" dirty="0"/>
              <a:t>Initialize PREV = NULL</a:t>
            </a:r>
          </a:p>
          <a:p>
            <a:pPr marL="514350" indent="-514350">
              <a:buFont typeface="+mj-lt"/>
              <a:buAutoNum type="arabicPeriod"/>
            </a:pPr>
            <a:r>
              <a:rPr lang="en-US" dirty="0"/>
              <a:t>Repeat step 4a until (TEMP → Next == START)</a:t>
            </a:r>
          </a:p>
          <a:p>
            <a:pPr lvl="2"/>
            <a:r>
              <a:rPr lang="en-US" dirty="0"/>
              <a:t>4a. PREV = TEMP</a:t>
            </a:r>
          </a:p>
          <a:p>
            <a:pPr lvl="2"/>
            <a:r>
              <a:rPr lang="en-US" dirty="0"/>
              <a:t>4b. TEMP = TEMP → Next</a:t>
            </a:r>
          </a:p>
          <a:p>
            <a:pPr marL="514350" indent="-514350">
              <a:buFont typeface="+mj-lt"/>
              <a:buAutoNum type="arabicPeriod"/>
            </a:pPr>
            <a:r>
              <a:rPr lang="en-US" dirty="0"/>
              <a:t>PREV → Next = START</a:t>
            </a:r>
          </a:p>
          <a:p>
            <a:pPr marL="514350" indent="-514350">
              <a:buFont typeface="+mj-lt"/>
              <a:buAutoNum type="arabicPeriod"/>
            </a:pPr>
            <a:r>
              <a:rPr lang="en-US" dirty="0"/>
              <a:t>Delete TEMP</a:t>
            </a:r>
          </a:p>
          <a:p>
            <a:pPr marL="514350" indent="-514350">
              <a:buFont typeface="+mj-lt"/>
              <a:buAutoNum type="arabicPeriod"/>
            </a:pPr>
            <a:r>
              <a:rPr lang="en-US" dirty="0"/>
              <a:t>Exit</a:t>
            </a:r>
          </a:p>
          <a:p>
            <a:endParaRPr lang="en-US" dirty="0"/>
          </a:p>
        </p:txBody>
      </p:sp>
    </p:spTree>
    <p:extLst>
      <p:ext uri="{BB962C8B-B14F-4D97-AF65-F5344CB8AC3E}">
        <p14:creationId xmlns:p14="http://schemas.microsoft.com/office/powerpoint/2010/main" val="3204988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TRAVERSAL OF ALL NODES</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pPr marL="514350" indent="-514350">
              <a:buFont typeface="+mj-lt"/>
              <a:buAutoNum type="arabicPeriod"/>
            </a:pPr>
            <a:r>
              <a:rPr lang="en-US" dirty="0"/>
              <a:t>If (START is equal to NULL)</a:t>
            </a:r>
          </a:p>
          <a:p>
            <a:pPr lvl="2"/>
            <a:r>
              <a:rPr lang="en-US" dirty="0"/>
              <a:t>(a) Display "The list is Empty"</a:t>
            </a:r>
          </a:p>
          <a:p>
            <a:pPr lvl="2"/>
            <a:r>
              <a:rPr lang="en-US" dirty="0"/>
              <a:t>(b) Exit</a:t>
            </a:r>
          </a:p>
          <a:p>
            <a:pPr marL="514350" indent="-514350">
              <a:buFont typeface="+mj-lt"/>
              <a:buAutoNum type="arabicPeriod"/>
            </a:pPr>
            <a:r>
              <a:rPr lang="en-US" dirty="0"/>
              <a:t>Initialize TEMP = START</a:t>
            </a:r>
          </a:p>
          <a:p>
            <a:pPr marL="514350" indent="-514350">
              <a:buFont typeface="+mj-lt"/>
              <a:buAutoNum type="arabicPeriod"/>
            </a:pPr>
            <a:r>
              <a:rPr lang="en-US" dirty="0"/>
              <a:t>Display TEMP → Data</a:t>
            </a:r>
          </a:p>
          <a:p>
            <a:pPr marL="514350" indent="-514350">
              <a:buFont typeface="+mj-lt"/>
              <a:buAutoNum type="arabicPeriod"/>
            </a:pPr>
            <a:r>
              <a:rPr lang="en-US" dirty="0"/>
              <a:t>Repeat step 4a until (TEMP → Next == START)</a:t>
            </a:r>
          </a:p>
          <a:p>
            <a:pPr lvl="2"/>
            <a:r>
              <a:rPr lang="en-US" dirty="0"/>
              <a:t>4a. Set TEMP = TEMP → Next</a:t>
            </a:r>
          </a:p>
          <a:p>
            <a:pPr lvl="2"/>
            <a:r>
              <a:rPr lang="en-US" dirty="0"/>
              <a:t>4b. Display TEMP → Data</a:t>
            </a:r>
          </a:p>
          <a:p>
            <a:pPr marL="514350" indent="-514350">
              <a:buFont typeface="+mj-lt"/>
              <a:buAutoNum type="arabicPeriod"/>
            </a:pPr>
            <a:r>
              <a:rPr lang="en-US" dirty="0"/>
              <a:t>Exit</a:t>
            </a:r>
          </a:p>
          <a:p>
            <a:endParaRPr lang="en-US" dirty="0"/>
          </a:p>
        </p:txBody>
      </p:sp>
    </p:spTree>
    <p:extLst>
      <p:ext uri="{BB962C8B-B14F-4D97-AF65-F5344CB8AC3E}">
        <p14:creationId xmlns:p14="http://schemas.microsoft.com/office/powerpoint/2010/main" val="29935692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8F054C24C56045B24747200A570474" ma:contentTypeVersion="3" ma:contentTypeDescription="Create a new document." ma:contentTypeScope="" ma:versionID="a9d6b0c5e03429742bb9d7b052012d2a">
  <xsd:schema xmlns:xsd="http://www.w3.org/2001/XMLSchema" xmlns:xs="http://www.w3.org/2001/XMLSchema" xmlns:p="http://schemas.microsoft.com/office/2006/metadata/properties" xmlns:ns2="fbb113d8-a423-4c9e-8257-bae59865eaa2" targetNamespace="http://schemas.microsoft.com/office/2006/metadata/properties" ma:root="true" ma:fieldsID="a285371dd10d5c24912be7db6adeb8e8" ns2:_="">
    <xsd:import namespace="fbb113d8-a423-4c9e-8257-bae59865eaa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b113d8-a423-4c9e-8257-bae59865e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A97CE8-D07F-4CF9-B16A-6CB8E6A53D93}"/>
</file>

<file path=customXml/itemProps2.xml><?xml version="1.0" encoding="utf-8"?>
<ds:datastoreItem xmlns:ds="http://schemas.openxmlformats.org/officeDocument/2006/customXml" ds:itemID="{8CF04644-1ABD-4544-A7BB-A82DC0F7440E}"/>
</file>

<file path=customXml/itemProps3.xml><?xml version="1.0" encoding="utf-8"?>
<ds:datastoreItem xmlns:ds="http://schemas.openxmlformats.org/officeDocument/2006/customXml" ds:itemID="{8A2DE1A7-65E5-4DF1-91C2-9BAC38BC5D1E}"/>
</file>

<file path=docProps/app.xml><?xml version="1.0" encoding="utf-8"?>
<Properties xmlns="http://schemas.openxmlformats.org/officeDocument/2006/extended-properties" xmlns:vt="http://schemas.openxmlformats.org/officeDocument/2006/docPropsVTypes">
  <Template>Origin</Template>
  <TotalTime>2363</TotalTime>
  <Words>5608</Words>
  <Application>Microsoft Office PowerPoint</Application>
  <PresentationFormat>On-screen Show (4:3)</PresentationFormat>
  <Paragraphs>518</Paragraphs>
  <Slides>29</Slides>
  <Notes>9</Notes>
  <HiddenSlides>1</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29</vt:i4>
      </vt:variant>
    </vt:vector>
  </HeadingPairs>
  <TitlesOfParts>
    <vt:vector size="38" baseType="lpstr">
      <vt:lpstr>Bookman Old Style</vt:lpstr>
      <vt:lpstr>Calibri</vt:lpstr>
      <vt:lpstr>Gill Sans MT</vt:lpstr>
      <vt:lpstr>Söhne</vt:lpstr>
      <vt:lpstr>Wingdings</vt:lpstr>
      <vt:lpstr>Wingdings 3</vt:lpstr>
      <vt:lpstr>Origin</vt:lpstr>
      <vt:lpstr>2_Origin</vt:lpstr>
      <vt:lpstr>1_Origin</vt:lpstr>
      <vt:lpstr>Singly Linked List</vt:lpstr>
      <vt:lpstr>Introduction </vt:lpstr>
      <vt:lpstr>PowerPoint Presentation</vt:lpstr>
      <vt:lpstr>ALGORITHM FOR INSERTING A NODE</vt:lpstr>
      <vt:lpstr>Insert a Node at the beginning</vt:lpstr>
      <vt:lpstr>Implementation in C++</vt:lpstr>
      <vt:lpstr>Insert a Node at the end</vt:lpstr>
      <vt:lpstr>Implementation in C++</vt:lpstr>
      <vt:lpstr>Insert a Node at any specified position</vt:lpstr>
      <vt:lpstr>Implementation in C++</vt:lpstr>
      <vt:lpstr>ALGORITHM FOR DELETING A NODE</vt:lpstr>
      <vt:lpstr>Suppose START is the first position in linked list. Let DATA be the element to be deleted. TEMP is a temporary pointer to hold the node address.</vt:lpstr>
      <vt:lpstr>Suppose START is the first position in linked list. Let DATA be the element to be deleted. TEMP, HOLD is a temporary pointer to hold the node address.</vt:lpstr>
      <vt:lpstr>Suppose START is the first position in linked list. Let DATA be the element to be deleted. TEMP, HOLD is a temporary pointer to hold the node address.</vt:lpstr>
      <vt:lpstr>Suppose START is the first position in linked list. Let DATA be the element to be deleted. TEMP, HOLD is a temporary pointer to hold the node address.</vt:lpstr>
      <vt:lpstr>ALGORITHM FOR SEARCHING A NODE</vt:lpstr>
      <vt:lpstr>ALGORITHM FOR DISPLAY ALL NODES</vt:lpstr>
      <vt:lpstr>CIRCULAR LINKED LIST </vt:lpstr>
      <vt:lpstr>Motivation (Why Circular Linked List?)</vt:lpstr>
      <vt:lpstr>Types of Circular Linked List</vt:lpstr>
      <vt:lpstr>Advantages of Circular Linked List</vt:lpstr>
      <vt:lpstr>Disadvantages of Circular Linked List</vt:lpstr>
      <vt:lpstr>Traversal in Circular Linked List</vt:lpstr>
      <vt:lpstr>Why do-while is Appropriate</vt:lpstr>
      <vt:lpstr>ALGORITHM FOR CLOSURE OF AN ALREADY EXISTING SINGLY LINKED LIST INTO A CIRCULAR LIST</vt:lpstr>
      <vt:lpstr>CREATION OF CIRCULAR LINKED LIST</vt:lpstr>
      <vt:lpstr>INSERTION IN CIRCULAR LINKED LIST (AT END)</vt:lpstr>
      <vt:lpstr>DELETION FROM CIRCULAR LINKED LIST (AT END)</vt:lpstr>
      <vt:lpstr>TRAVERSAL OF ALL NODES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Atique</dc:creator>
  <cp:lastModifiedBy>Atique Ahmad Zafar</cp:lastModifiedBy>
  <cp:revision>75</cp:revision>
  <dcterms:created xsi:type="dcterms:W3CDTF">2012-09-05T05:27:50Z</dcterms:created>
  <dcterms:modified xsi:type="dcterms:W3CDTF">2025-09-19T07:57:53Z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0x010100408F054C24C56045B24747200A570474</vt:lpwstr>
  </property>
</Properties>
</file>