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entation.xml" ContentType="application/vnd.openxmlformats-officedocument.presentationml.presentation.main+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24.xml" ContentType="application/vnd.openxmlformats-officedocument.presentationml.slideLayou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72" r:id="rId3"/>
  </p:sldMasterIdLst>
  <p:notesMasterIdLst>
    <p:notesMasterId r:id="rId31"/>
  </p:notesMasterIdLst>
  <p:sldIdLst>
    <p:sldId id="256" r:id="rId4"/>
    <p:sldId id="263" r:id="rId5"/>
    <p:sldId id="257" r:id="rId6"/>
    <p:sldId id="258" r:id="rId7"/>
    <p:sldId id="259" r:id="rId8"/>
    <p:sldId id="266" r:id="rId9"/>
    <p:sldId id="260" r:id="rId10"/>
    <p:sldId id="271" r:id="rId11"/>
    <p:sldId id="272" r:id="rId12"/>
    <p:sldId id="264" r:id="rId13"/>
    <p:sldId id="270" r:id="rId14"/>
    <p:sldId id="267" r:id="rId15"/>
    <p:sldId id="268" r:id="rId16"/>
    <p:sldId id="269" r:id="rId17"/>
    <p:sldId id="288" r:id="rId18"/>
    <p:sldId id="289" r:id="rId19"/>
    <p:sldId id="290" r:id="rId20"/>
    <p:sldId id="265" r:id="rId21"/>
    <p:sldId id="291" r:id="rId22"/>
    <p:sldId id="292" r:id="rId23"/>
    <p:sldId id="293" r:id="rId24"/>
    <p:sldId id="294" r:id="rId25"/>
    <p:sldId id="295" r:id="rId26"/>
    <p:sldId id="298" r:id="rId27"/>
    <p:sldId id="299" r:id="rId28"/>
    <p:sldId id="300" r:id="rId29"/>
    <p:sldId id="296"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B0DBFC-92EF-47E6-9FEC-157041BE48CD}" v="6" dt="2025-03-05T06:34:37.0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391" autoAdjust="0"/>
  </p:normalViewPr>
  <p:slideViewPr>
    <p:cSldViewPr>
      <p:cViewPr varScale="1">
        <p:scale>
          <a:sx n="100" d="100"/>
          <a:sy n="100" d="100"/>
        </p:scale>
        <p:origin x="191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customXml" Target="../customXml/item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38" Type="http://schemas.openxmlformats.org/officeDocument/2006/relationships/customXml" Target="../customXml/item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37" Type="http://schemas.openxmlformats.org/officeDocument/2006/relationships/customXml" Target="../customXml/item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4DCCB-EE02-4BA4-96F8-214A24D2B51B}" type="datetimeFigureOut">
              <a:rPr lang="en-US" smtClean="0"/>
              <a:pPr/>
              <a:t>9/26/2025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ED50B0-D53F-4459-8D78-0CE7DA098017}" type="slidenum">
              <a:rPr lang="en-US" smtClean="0"/>
              <a:pPr/>
              <a:t>‹#›</a:t>
            </a:fld>
            <a:endParaRPr lang="en-US" dirty="0"/>
          </a:p>
        </p:txBody>
      </p:sp>
    </p:spTree>
    <p:extLst>
      <p:ext uri="{BB962C8B-B14F-4D97-AF65-F5344CB8AC3E}">
        <p14:creationId xmlns:p14="http://schemas.microsoft.com/office/powerpoint/2010/main" val="178798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1</a:t>
            </a:fld>
            <a:endParaRPr lang="en-US" dirty="0"/>
          </a:p>
        </p:txBody>
      </p:sp>
    </p:spTree>
    <p:extLst>
      <p:ext uri="{BB962C8B-B14F-4D97-AF65-F5344CB8AC3E}">
        <p14:creationId xmlns:p14="http://schemas.microsoft.com/office/powerpoint/2010/main" val="3254477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a doubly linked list, the left (or backward) link of the very first node, often referred to as the head or the front of the list, is typically assigned the value null or equivalent (such as None in Python). This is done to signify the beginning or end of the list in the respective direction.</a:t>
            </a:r>
          </a:p>
          <a:p>
            <a:r>
              <a:rPr lang="en-US" sz="1200" b="0" i="0" kern="1200" dirty="0">
                <a:solidFill>
                  <a:schemeClr val="tx1"/>
                </a:solidFill>
                <a:effectLst/>
                <a:latin typeface="+mn-lt"/>
                <a:ea typeface="+mn-ea"/>
                <a:cs typeface="+mn-cs"/>
              </a:rPr>
              <a:t>Here's why it is done:</a:t>
            </a:r>
          </a:p>
          <a:p>
            <a:r>
              <a:rPr lang="en-US" sz="1200" b="1" i="0" kern="1200" dirty="0">
                <a:solidFill>
                  <a:schemeClr val="tx1"/>
                </a:solidFill>
                <a:effectLst/>
                <a:latin typeface="+mn-lt"/>
                <a:ea typeface="+mn-ea"/>
                <a:cs typeface="+mn-cs"/>
              </a:rPr>
              <a:t>Beginning of the List:</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The left link of the very first node (head) is set to null because there is no preceding node before the first node. In a doubly linked list, each node has a link to the node before it (left link) and the node after it (right link). Since the first node has no node before it, the left link is set to null to indicate the boundary.</a:t>
            </a:r>
          </a:p>
          <a:p>
            <a:r>
              <a:rPr lang="en-US" sz="1200" b="1" i="0" kern="1200" dirty="0">
                <a:solidFill>
                  <a:schemeClr val="tx1"/>
                </a:solidFill>
                <a:effectLst/>
                <a:latin typeface="+mn-lt"/>
                <a:ea typeface="+mn-ea"/>
                <a:cs typeface="+mn-cs"/>
              </a:rPr>
              <a:t>Consistency:</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Assigning null to the left link of the first node makes the list consistent. Every node in the list, except the first one, has both a left link pointing to the node before it and a right link pointing to the node after it. This consistency simplifies operations and conditions during list traversal or manipulation.</a:t>
            </a:r>
          </a:p>
          <a:p>
            <a:r>
              <a:rPr lang="en-US" sz="1200" b="1" i="0" kern="1200" dirty="0">
                <a:solidFill>
                  <a:schemeClr val="tx1"/>
                </a:solidFill>
                <a:effectLst/>
                <a:latin typeface="+mn-lt"/>
                <a:ea typeface="+mn-ea"/>
                <a:cs typeface="+mn-cs"/>
              </a:rPr>
              <a:t>Ease of Implementation:</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Assigning null to the left link of the first node makes it easy to check for the beginning of the list during operations. When moving backward through the list, encountering a null left link signals the end or the beginning of the list, depending on the traversal direction.</a:t>
            </a:r>
          </a:p>
          <a:p>
            <a:endParaRPr lang="en-US" dirty="0"/>
          </a:p>
        </p:txBody>
      </p:sp>
      <p:sp>
        <p:nvSpPr>
          <p:cNvPr id="4" name="Slide Number Placeholder 3"/>
          <p:cNvSpPr>
            <a:spLocks noGrp="1"/>
          </p:cNvSpPr>
          <p:nvPr>
            <p:ph type="sldNum" sz="quarter" idx="10"/>
          </p:nvPr>
        </p:nvSpPr>
        <p:spPr/>
        <p:txBody>
          <a:bodyPr/>
          <a:lstStyle/>
          <a:p>
            <a:fld id="{29ED50B0-D53F-4459-8D78-0CE7DA098017}" type="slidenum">
              <a:rPr lang="en-US" smtClean="0"/>
              <a:pPr/>
              <a:t>6</a:t>
            </a:fld>
            <a:endParaRPr lang="en-US" dirty="0"/>
          </a:p>
        </p:txBody>
      </p:sp>
    </p:spTree>
    <p:extLst>
      <p:ext uri="{BB962C8B-B14F-4D97-AF65-F5344CB8AC3E}">
        <p14:creationId xmlns:p14="http://schemas.microsoft.com/office/powerpoint/2010/main" val="294875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ED50B0-D53F-4459-8D78-0CE7DA098017}" type="slidenum">
              <a:rPr lang="en-US" smtClean="0"/>
              <a:pPr/>
              <a:t>10</a:t>
            </a:fld>
            <a:endParaRPr lang="en-US" dirty="0"/>
          </a:p>
        </p:txBody>
      </p:sp>
    </p:spTree>
    <p:extLst>
      <p:ext uri="{BB962C8B-B14F-4D97-AF65-F5344CB8AC3E}">
        <p14:creationId xmlns:p14="http://schemas.microsoft.com/office/powerpoint/2010/main" val="75397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ED50B0-D53F-4459-8D78-0CE7DA098017}" type="slidenum">
              <a:rPr lang="en-US" smtClean="0"/>
              <a:pPr/>
              <a:t>11</a:t>
            </a:fld>
            <a:endParaRPr lang="en-US" dirty="0"/>
          </a:p>
        </p:txBody>
      </p:sp>
    </p:spTree>
    <p:extLst>
      <p:ext uri="{BB962C8B-B14F-4D97-AF65-F5344CB8AC3E}">
        <p14:creationId xmlns:p14="http://schemas.microsoft.com/office/powerpoint/2010/main" val="75397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Line 1:</a:t>
            </a:r>
            <a:r>
              <a:rPr lang="en-US" sz="1200" b="0" i="0" kern="1200" dirty="0">
                <a:solidFill>
                  <a:schemeClr val="tx1"/>
                </a:solidFill>
                <a:effectLst/>
                <a:latin typeface="+mn-lt"/>
                <a:ea typeface="+mn-ea"/>
                <a:cs typeface="+mn-cs"/>
              </a:rPr>
              <a:t> Input the data value (DATA) and the position (POS) where the new node needs to be inserted.</a:t>
            </a:r>
          </a:p>
          <a:p>
            <a:pPr lvl="0"/>
            <a:r>
              <a:rPr lang="en-US" sz="1200" b="1" i="0" kern="1200" dirty="0">
                <a:solidFill>
                  <a:schemeClr val="tx1"/>
                </a:solidFill>
                <a:effectLst/>
                <a:latin typeface="+mn-lt"/>
                <a:ea typeface="+mn-ea"/>
                <a:cs typeface="+mn-cs"/>
              </a:rPr>
              <a:t>Line 2:</a:t>
            </a:r>
            <a:r>
              <a:rPr lang="en-US" sz="1200" b="0" i="0" kern="1200" dirty="0">
                <a:solidFill>
                  <a:schemeClr val="tx1"/>
                </a:solidFill>
                <a:effectLst/>
                <a:latin typeface="+mn-lt"/>
                <a:ea typeface="+mn-ea"/>
                <a:cs typeface="+mn-cs"/>
              </a:rPr>
              <a:t> Initialize a temporary pointer TEMP to the beginning of the list (START) and a counter i to 0.</a:t>
            </a:r>
          </a:p>
          <a:p>
            <a:pPr lvl="0"/>
            <a:r>
              <a:rPr lang="en-US" sz="1200" b="1" i="0" kern="1200" dirty="0">
                <a:solidFill>
                  <a:schemeClr val="tx1"/>
                </a:solidFill>
                <a:effectLst/>
                <a:latin typeface="+mn-lt"/>
                <a:ea typeface="+mn-ea"/>
                <a:cs typeface="+mn-cs"/>
              </a:rPr>
              <a:t>Line 3:</a:t>
            </a:r>
            <a:r>
              <a:rPr lang="en-US" sz="1200" b="0" i="0" kern="1200" dirty="0">
                <a:solidFill>
                  <a:schemeClr val="tx1"/>
                </a:solidFill>
                <a:effectLst/>
                <a:latin typeface="+mn-lt"/>
                <a:ea typeface="+mn-ea"/>
                <a:cs typeface="+mn-cs"/>
              </a:rPr>
              <a:t> Repeat the following steps if the counter i is less than POS and the temporary pointer TEMP is not NULL.</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The purpose of this loop is to traverse the linked list until either the desired position is reached or the end of the list (NULL is encountered). It ensures that the algorithm moves through the list until it either finds the specified position or determines that the position is beyond the end of the list.</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Line 4:</a:t>
            </a:r>
            <a:r>
              <a:rPr lang="en-US" sz="1200" b="0" i="0" kern="1200" dirty="0">
                <a:solidFill>
                  <a:schemeClr val="tx1"/>
                </a:solidFill>
                <a:effectLst/>
                <a:latin typeface="+mn-lt"/>
                <a:ea typeface="+mn-ea"/>
                <a:cs typeface="+mn-cs"/>
              </a:rPr>
              <a:t> Move the temporary pointer TEMP to the next node (TEMP → </a:t>
            </a:r>
            <a:r>
              <a:rPr lang="en-US" sz="1200" b="0" i="0" kern="1200" dirty="0" err="1">
                <a:solidFill>
                  <a:schemeClr val="tx1"/>
                </a:solidFill>
                <a:effectLst/>
                <a:latin typeface="+mn-lt"/>
                <a:ea typeface="+mn-ea"/>
                <a:cs typeface="+mn-cs"/>
              </a:rPr>
              <a:t>RPoint</a:t>
            </a:r>
            <a:r>
              <a:rPr lang="en-US" sz="1200" b="0" i="0" kern="1200" dirty="0">
                <a:solidFill>
                  <a:schemeClr val="tx1"/>
                </a:solidFill>
                <a:effectLst/>
                <a:latin typeface="+mn-lt"/>
                <a:ea typeface="+mn-ea"/>
                <a:cs typeface="+mn-cs"/>
              </a:rPr>
              <a:t>) and increment the counter i by 1.</a:t>
            </a:r>
          </a:p>
          <a:p>
            <a:pPr lvl="0"/>
            <a:r>
              <a:rPr lang="en-US" sz="1200" b="1" i="0" kern="1200" dirty="0">
                <a:solidFill>
                  <a:schemeClr val="tx1"/>
                </a:solidFill>
                <a:effectLst/>
                <a:latin typeface="+mn-lt"/>
                <a:ea typeface="+mn-ea"/>
                <a:cs typeface="+mn-cs"/>
              </a:rPr>
              <a:t>Line 5:</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(a):</a:t>
            </a:r>
            <a:r>
              <a:rPr lang="en-US" sz="1200" b="0" i="0" kern="1200" dirty="0">
                <a:solidFill>
                  <a:schemeClr val="tx1"/>
                </a:solidFill>
                <a:effectLst/>
                <a:latin typeface="+mn-lt"/>
                <a:ea typeface="+mn-ea"/>
                <a:cs typeface="+mn-cs"/>
              </a:rPr>
              <a:t> Create a new node (</a:t>
            </a:r>
            <a:r>
              <a:rPr lang="en-US" sz="1200" b="0" i="0" kern="1200" dirty="0" err="1">
                <a:solidFill>
                  <a:schemeClr val="tx1"/>
                </a:solidFill>
                <a:effectLst/>
                <a:latin typeface="+mn-lt"/>
                <a:ea typeface="+mn-ea"/>
                <a:cs typeface="+mn-cs"/>
              </a:rPr>
              <a:t>NewNode</a:t>
            </a:r>
            <a:r>
              <a:rPr lang="en-US" sz="1200" b="0" i="0" kern="1200" dirty="0">
                <a:solidFill>
                  <a:schemeClr val="tx1"/>
                </a:solidFill>
                <a:effectLst/>
                <a:latin typeface="+mn-lt"/>
                <a:ea typeface="+mn-ea"/>
                <a:cs typeface="+mn-cs"/>
              </a:rPr>
              <a:t>).</a:t>
            </a:r>
          </a:p>
          <a:p>
            <a:pPr lvl="1"/>
            <a:r>
              <a:rPr lang="en-US" sz="1200" b="1" i="0" kern="1200" dirty="0">
                <a:solidFill>
                  <a:schemeClr val="tx1"/>
                </a:solidFill>
                <a:effectLst/>
                <a:latin typeface="+mn-lt"/>
                <a:ea typeface="+mn-ea"/>
                <a:cs typeface="+mn-cs"/>
              </a:rPr>
              <a:t>(b):</a:t>
            </a:r>
            <a:r>
              <a:rPr lang="en-US" sz="1200" b="0" i="0" kern="1200" dirty="0">
                <a:solidFill>
                  <a:schemeClr val="tx1"/>
                </a:solidFill>
                <a:effectLst/>
                <a:latin typeface="+mn-lt"/>
                <a:ea typeface="+mn-ea"/>
                <a:cs typeface="+mn-cs"/>
              </a:rPr>
              <a:t> Set the data of the new node to the input data value.</a:t>
            </a:r>
          </a:p>
          <a:p>
            <a:pPr lvl="1"/>
            <a:r>
              <a:rPr lang="en-US" sz="1200" b="1" i="0" kern="1200" dirty="0">
                <a:solidFill>
                  <a:schemeClr val="tx1"/>
                </a:solidFill>
                <a:effectLst/>
                <a:latin typeface="+mn-lt"/>
                <a:ea typeface="+mn-ea"/>
                <a:cs typeface="+mn-cs"/>
              </a:rPr>
              <a:t>(c):</a:t>
            </a:r>
            <a:r>
              <a:rPr lang="en-US" sz="1200" b="0" i="0" kern="1200" dirty="0">
                <a:solidFill>
                  <a:schemeClr val="tx1"/>
                </a:solidFill>
                <a:effectLst/>
                <a:latin typeface="+mn-lt"/>
                <a:ea typeface="+mn-ea"/>
                <a:cs typeface="+mn-cs"/>
              </a:rPr>
              <a:t> Set the right pointer of the new node (</a:t>
            </a:r>
            <a:r>
              <a:rPr lang="en-US" sz="1200" b="0" i="0" kern="1200" dirty="0" err="1">
                <a:solidFill>
                  <a:schemeClr val="tx1"/>
                </a:solidFill>
                <a:effectLst/>
                <a:latin typeface="+mn-lt"/>
                <a:ea typeface="+mn-ea"/>
                <a:cs typeface="+mn-cs"/>
              </a:rPr>
              <a:t>RPoint</a:t>
            </a:r>
            <a:r>
              <a:rPr lang="en-US" sz="1200" b="0" i="0" kern="1200" dirty="0">
                <a:solidFill>
                  <a:schemeClr val="tx1"/>
                </a:solidFill>
                <a:effectLst/>
                <a:latin typeface="+mn-lt"/>
                <a:ea typeface="+mn-ea"/>
                <a:cs typeface="+mn-cs"/>
              </a:rPr>
              <a:t>) to the right pointer of the current node (TEMP → </a:t>
            </a:r>
            <a:r>
              <a:rPr lang="en-US" sz="1200" b="0" i="0" kern="1200" dirty="0" err="1">
                <a:solidFill>
                  <a:schemeClr val="tx1"/>
                </a:solidFill>
                <a:effectLst/>
                <a:latin typeface="+mn-lt"/>
                <a:ea typeface="+mn-ea"/>
                <a:cs typeface="+mn-cs"/>
              </a:rPr>
              <a:t>RPoint</a:t>
            </a:r>
            <a:r>
              <a:rPr lang="en-US" sz="1200" b="0" i="0" kern="1200" dirty="0">
                <a:solidFill>
                  <a:schemeClr val="tx1"/>
                </a:solidFill>
                <a:effectLst/>
                <a:latin typeface="+mn-lt"/>
                <a:ea typeface="+mn-ea"/>
                <a:cs typeface="+mn-cs"/>
              </a:rPr>
              <a:t>).</a:t>
            </a:r>
          </a:p>
          <a:p>
            <a:pPr lvl="1"/>
            <a:r>
              <a:rPr lang="en-US" sz="1200" b="1" i="0" kern="1200" dirty="0">
                <a:solidFill>
                  <a:schemeClr val="tx1"/>
                </a:solidFill>
                <a:effectLst/>
                <a:latin typeface="+mn-lt"/>
                <a:ea typeface="+mn-ea"/>
                <a:cs typeface="+mn-cs"/>
              </a:rPr>
              <a:t>(d):</a:t>
            </a:r>
            <a:r>
              <a:rPr lang="en-US" sz="1200" b="0" i="0" kern="1200" dirty="0">
                <a:solidFill>
                  <a:schemeClr val="tx1"/>
                </a:solidFill>
                <a:effectLst/>
                <a:latin typeface="+mn-lt"/>
                <a:ea typeface="+mn-ea"/>
                <a:cs typeface="+mn-cs"/>
              </a:rPr>
              <a:t> Set the left pointer of the new node (</a:t>
            </a:r>
            <a:r>
              <a:rPr lang="en-US" sz="1200" b="0" i="0" kern="1200" dirty="0" err="1">
                <a:solidFill>
                  <a:schemeClr val="tx1"/>
                </a:solidFill>
                <a:effectLst/>
                <a:latin typeface="+mn-lt"/>
                <a:ea typeface="+mn-ea"/>
                <a:cs typeface="+mn-cs"/>
              </a:rPr>
              <a:t>LPoint</a:t>
            </a:r>
            <a:r>
              <a:rPr lang="en-US" sz="1200" b="0" i="0" kern="1200" dirty="0">
                <a:solidFill>
                  <a:schemeClr val="tx1"/>
                </a:solidFill>
                <a:effectLst/>
                <a:latin typeface="+mn-lt"/>
                <a:ea typeface="+mn-ea"/>
                <a:cs typeface="+mn-cs"/>
              </a:rPr>
              <a:t>) to the current node (TEMP).</a:t>
            </a:r>
          </a:p>
          <a:p>
            <a:pPr lvl="1"/>
            <a:r>
              <a:rPr lang="en-US" sz="1200" b="1" i="0" kern="1200" dirty="0">
                <a:solidFill>
                  <a:schemeClr val="tx1"/>
                </a:solidFill>
                <a:effectLst/>
                <a:latin typeface="+mn-lt"/>
                <a:ea typeface="+mn-ea"/>
                <a:cs typeface="+mn-cs"/>
              </a:rPr>
              <a:t>(e):</a:t>
            </a:r>
            <a:r>
              <a:rPr lang="en-US" sz="1200" b="0" i="0" kern="1200" dirty="0">
                <a:solidFill>
                  <a:schemeClr val="tx1"/>
                </a:solidFill>
                <a:effectLst/>
                <a:latin typeface="+mn-lt"/>
                <a:ea typeface="+mn-ea"/>
                <a:cs typeface="+mn-cs"/>
              </a:rPr>
              <a:t> If the right pointer of the current node is not NULL, update the left pointer of the next node to the new node ((TEMP → </a:t>
            </a:r>
            <a:r>
              <a:rPr lang="en-US" sz="1200" b="0" i="0" kern="1200" dirty="0" err="1">
                <a:solidFill>
                  <a:schemeClr val="tx1"/>
                </a:solidFill>
                <a:effectLst/>
                <a:latin typeface="+mn-lt"/>
                <a:ea typeface="+mn-ea"/>
                <a:cs typeface="+mn-cs"/>
              </a:rPr>
              <a:t>RPoint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LPoint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NewNode</a:t>
            </a:r>
            <a:r>
              <a:rPr lang="en-US" sz="1200" b="0" i="0" kern="1200" dirty="0">
                <a:solidFill>
                  <a:schemeClr val="tx1"/>
                </a:solidFill>
                <a:effectLst/>
                <a:latin typeface="+mn-lt"/>
                <a:ea typeface="+mn-ea"/>
                <a:cs typeface="+mn-cs"/>
              </a:rPr>
              <a:t>).</a:t>
            </a:r>
          </a:p>
          <a:p>
            <a:pPr lvl="1"/>
            <a:r>
              <a:rPr lang="en-US" sz="1200" b="1" i="0" kern="1200" dirty="0">
                <a:solidFill>
                  <a:schemeClr val="tx1"/>
                </a:solidFill>
                <a:effectLst/>
                <a:latin typeface="+mn-lt"/>
                <a:ea typeface="+mn-ea"/>
                <a:cs typeface="+mn-cs"/>
              </a:rPr>
              <a:t>(f):</a:t>
            </a:r>
            <a:r>
              <a:rPr lang="en-US" sz="1200" b="0" i="0" kern="1200" dirty="0">
                <a:solidFill>
                  <a:schemeClr val="tx1"/>
                </a:solidFill>
                <a:effectLst/>
                <a:latin typeface="+mn-lt"/>
                <a:ea typeface="+mn-ea"/>
                <a:cs typeface="+mn-cs"/>
              </a:rPr>
              <a:t> Set the right pointer of the current node to the new node (TEMP → </a:t>
            </a:r>
            <a:r>
              <a:rPr lang="en-US" sz="1200" b="0" i="0" kern="1200" dirty="0" err="1">
                <a:solidFill>
                  <a:schemeClr val="tx1"/>
                </a:solidFill>
                <a:effectLst/>
                <a:latin typeface="+mn-lt"/>
                <a:ea typeface="+mn-ea"/>
                <a:cs typeface="+mn-cs"/>
              </a:rPr>
              <a:t>RPoint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NewNode</a:t>
            </a:r>
            <a:r>
              <a:rPr lang="en-US" sz="1200" b="0" i="0" kern="1200" dirty="0">
                <a:solidFill>
                  <a:schemeClr val="tx1"/>
                </a:solidFill>
                <a:effectLst/>
                <a:latin typeface="+mn-lt"/>
                <a:ea typeface="+mn-ea"/>
                <a:cs typeface="+mn-cs"/>
              </a:rPr>
              <a:t>).</a:t>
            </a:r>
          </a:p>
          <a:p>
            <a:pPr lvl="0"/>
            <a:r>
              <a:rPr lang="en-US" sz="1200" b="1" i="0" kern="1200" dirty="0">
                <a:solidFill>
                  <a:schemeClr val="tx1"/>
                </a:solidFill>
                <a:effectLst/>
                <a:latin typeface="+mn-lt"/>
                <a:ea typeface="+mn-ea"/>
                <a:cs typeface="+mn-cs"/>
              </a:rPr>
              <a:t>Line 6:</a:t>
            </a:r>
            <a:r>
              <a:rPr lang="en-US" sz="1200" b="0" i="0" kern="1200" dirty="0">
                <a:solidFill>
                  <a:schemeClr val="tx1"/>
                </a:solidFill>
                <a:effectLst/>
                <a:latin typeface="+mn-lt"/>
                <a:ea typeface="+mn-ea"/>
                <a:cs typeface="+mn-cs"/>
              </a:rPr>
              <a:t> If the position was not found (i.e., TEMP is NULL before reaching the desired position), display "Position NOT found."</a:t>
            </a:r>
          </a:p>
          <a:p>
            <a:pPr lvl="0"/>
            <a:r>
              <a:rPr lang="en-US" sz="1200" b="1" i="0" kern="1200" dirty="0">
                <a:solidFill>
                  <a:schemeClr val="tx1"/>
                </a:solidFill>
                <a:effectLst/>
                <a:latin typeface="+mn-lt"/>
                <a:ea typeface="+mn-ea"/>
                <a:cs typeface="+mn-cs"/>
              </a:rPr>
              <a:t>Line 7:</a:t>
            </a:r>
            <a:r>
              <a:rPr lang="en-US" sz="1200" b="0" i="0" kern="1200" dirty="0">
                <a:solidFill>
                  <a:schemeClr val="tx1"/>
                </a:solidFill>
                <a:effectLst/>
                <a:latin typeface="+mn-lt"/>
                <a:ea typeface="+mn-ea"/>
                <a:cs typeface="+mn-cs"/>
              </a:rPr>
              <a:t> Exit the algorithm.</a:t>
            </a:r>
          </a:p>
          <a:p>
            <a:r>
              <a:rPr lang="en-US" sz="1200" b="0" i="0" kern="1200" dirty="0">
                <a:solidFill>
                  <a:schemeClr val="tx1"/>
                </a:solidFill>
                <a:effectLst/>
                <a:latin typeface="+mn-lt"/>
                <a:ea typeface="+mn-ea"/>
                <a:cs typeface="+mn-cs"/>
              </a:rPr>
              <a:t>This algorithm is designed to insert a new node with a given data value at a specified position in a doubly linked list. It traverses the list to the desired position and inserts the new node, updating the pointers accordingly.</a:t>
            </a:r>
          </a:p>
          <a:p>
            <a:endParaRPr lang="en-US" dirty="0"/>
          </a:p>
          <a:p>
            <a:endParaRPr lang="en-US" dirty="0"/>
          </a:p>
        </p:txBody>
      </p:sp>
      <p:sp>
        <p:nvSpPr>
          <p:cNvPr id="4" name="Slide Number Placeholder 3"/>
          <p:cNvSpPr>
            <a:spLocks noGrp="1"/>
          </p:cNvSpPr>
          <p:nvPr>
            <p:ph type="sldNum" sz="quarter" idx="10"/>
          </p:nvPr>
        </p:nvSpPr>
        <p:spPr/>
        <p:txBody>
          <a:bodyPr/>
          <a:lstStyle/>
          <a:p>
            <a:fld id="{29ED50B0-D53F-4459-8D78-0CE7DA098017}" type="slidenum">
              <a:rPr lang="en-US" smtClean="0"/>
              <a:pPr/>
              <a:t>12</a:t>
            </a:fld>
            <a:endParaRPr lang="en-US" dirty="0"/>
          </a:p>
        </p:txBody>
      </p:sp>
    </p:spTree>
    <p:extLst>
      <p:ext uri="{BB962C8B-B14F-4D97-AF65-F5344CB8AC3E}">
        <p14:creationId xmlns:p14="http://schemas.microsoft.com/office/powerpoint/2010/main" val="75397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9ED50B0-D53F-4459-8D78-0CE7DA098017}" type="slidenum">
              <a:rPr lang="en-US" smtClean="0"/>
              <a:pPr/>
              <a:t>13</a:t>
            </a:fld>
            <a:endParaRPr lang="en-US" dirty="0"/>
          </a:p>
        </p:txBody>
      </p:sp>
    </p:spTree>
    <p:extLst>
      <p:ext uri="{BB962C8B-B14F-4D97-AF65-F5344CB8AC3E}">
        <p14:creationId xmlns:p14="http://schemas.microsoft.com/office/powerpoint/2010/main" val="75397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9ED50B0-D53F-4459-8D78-0CE7DA098017}" type="slidenum">
              <a:rPr lang="en-US" smtClean="0"/>
              <a:pPr/>
              <a:t>14</a:t>
            </a:fld>
            <a:endParaRPr lang="en-US" dirty="0"/>
          </a:p>
        </p:txBody>
      </p:sp>
    </p:spTree>
    <p:extLst>
      <p:ext uri="{BB962C8B-B14F-4D97-AF65-F5344CB8AC3E}">
        <p14:creationId xmlns:p14="http://schemas.microsoft.com/office/powerpoint/2010/main" val="75397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ED50B0-D53F-4459-8D78-0CE7DA098017}" type="slidenum">
              <a:rPr lang="en-US" smtClean="0"/>
              <a:pPr/>
              <a:t>18</a:t>
            </a:fld>
            <a:endParaRPr lang="en-US" dirty="0"/>
          </a:p>
        </p:txBody>
      </p:sp>
    </p:spTree>
    <p:extLst>
      <p:ext uri="{BB962C8B-B14F-4D97-AF65-F5344CB8AC3E}">
        <p14:creationId xmlns:p14="http://schemas.microsoft.com/office/powerpoint/2010/main" val="28259577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http://www.comsats.org.pk/images/images_r01_c01.jpg"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hasCustomPrompt="1"/>
          </p:nvPr>
        </p:nvSpPr>
        <p:spPr>
          <a:xfrm>
            <a:off x="1219200" y="3886200"/>
            <a:ext cx="6858000" cy="990600"/>
          </a:xfrm>
        </p:spPr>
        <p:txBody>
          <a:bodyPr anchor="t" anchorCtr="0"/>
          <a:lstStyle>
            <a:lvl1pPr algn="r">
              <a:defRPr sz="3200" baseline="0">
                <a:solidFill>
                  <a:schemeClr val="tx1"/>
                </a:solidFill>
              </a:defRPr>
            </a:lvl1pPr>
          </a:lstStyle>
          <a:p>
            <a:r>
              <a:rPr kumimoji="0" lang="en-US" dirty="0"/>
              <a:t>Atique Ahmad </a:t>
            </a:r>
            <a:r>
              <a:rPr kumimoji="0" lang="en-US" dirty="0" err="1"/>
              <a:t>Zafar</a:t>
            </a:r>
            <a:endParaRPr kumimoji="0" lang="en-US" dirty="0"/>
          </a:p>
        </p:txBody>
      </p:sp>
      <p:sp>
        <p:nvSpPr>
          <p:cNvPr id="9" name="Subtitle 8"/>
          <p:cNvSpPr>
            <a:spLocks noGrp="1"/>
          </p:cNvSpPr>
          <p:nvPr>
            <p:ph type="subTitle" idx="1" hasCustomPrompt="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Lecture-1</a:t>
            </a:r>
            <a:endParaRPr kumimoji="0" lang="en-US" dirty="0"/>
          </a:p>
        </p:txBody>
      </p:sp>
      <p:sp>
        <p:nvSpPr>
          <p:cNvPr id="17" name="Footer Placeholder 16"/>
          <p:cNvSpPr>
            <a:spLocks noGrp="1"/>
          </p:cNvSpPr>
          <p:nvPr>
            <p:ph type="ftr" sz="quarter" idx="11"/>
          </p:nvPr>
        </p:nvSpPr>
        <p:spPr>
          <a:xfrm>
            <a:off x="2898648" y="6355080"/>
            <a:ext cx="3474720" cy="365760"/>
          </a:xfrm>
        </p:spPr>
        <p:txBody>
          <a:bodyPr/>
          <a:lstStyle>
            <a:lvl1pPr>
              <a:defRPr/>
            </a:lvl1pPr>
          </a:lstStyle>
          <a:p>
            <a:r>
              <a:rPr lang="en-US" dirty="0"/>
              <a:t>Algorithm and Data Structure </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pic>
        <p:nvPicPr>
          <p:cNvPr id="11265" name="Picture 1" descr="http://www.comsats.org.pk/images/images_r01_c01.jpg"/>
          <p:cNvPicPr>
            <a:picLocks noChangeAspect="1" noChangeArrowheads="1"/>
          </p:cNvPicPr>
          <p:nvPr userDrawn="1"/>
        </p:nvPicPr>
        <p:blipFill>
          <a:blip r:embed="rId2" r:link="rId3"/>
          <a:srcRect/>
          <a:stretch>
            <a:fillRect/>
          </a:stretch>
        </p:blipFill>
        <p:spPr bwMode="auto">
          <a:xfrm>
            <a:off x="0" y="0"/>
            <a:ext cx="914400" cy="952500"/>
          </a:xfrm>
          <a:prstGeom prst="rect">
            <a:avLst/>
          </a:prstGeom>
          <a:noFill/>
        </p:spPr>
      </p:pic>
      <p:sp>
        <p:nvSpPr>
          <p:cNvPr id="14" name="Rectangle 13"/>
          <p:cNvSpPr/>
          <p:nvPr userDrawn="1"/>
        </p:nvSpPr>
        <p:spPr>
          <a:xfrm>
            <a:off x="990600" y="228600"/>
            <a:ext cx="7689926" cy="461665"/>
          </a:xfrm>
          <a:prstGeom prst="rect">
            <a:avLst/>
          </a:prstGeom>
          <a:noFill/>
        </p:spPr>
        <p:txBody>
          <a:bodyPr wrap="none" lIns="91440" tIns="45720" rIns="91440" bIns="45720">
            <a:spAutoFit/>
          </a:bodyPr>
          <a:lstStyle/>
          <a:p>
            <a:pPr algn="ctr"/>
            <a:r>
              <a:rPr kumimoji="0" lang="en-US" sz="2400" b="1" u="sng" kern="1200" cap="none" spc="0" dirty="0">
                <a:ln w="18000">
                  <a:solidFill>
                    <a:schemeClr val="accent2">
                      <a:satMod val="140000"/>
                    </a:schemeClr>
                  </a:solidFill>
                  <a:prstDash val="solid"/>
                  <a:miter lim="800000"/>
                </a:ln>
                <a:solidFill>
                  <a:schemeClr val="accent2">
                    <a:lumMod val="50000"/>
                  </a:schemeClr>
                </a:solidFill>
                <a:effectLst/>
                <a:latin typeface="+mj-lt"/>
                <a:ea typeface="+mj-ea"/>
                <a:cs typeface="+mj-cs"/>
              </a:rPr>
              <a:t>COMSATS Institute of Information Technology</a:t>
            </a:r>
            <a:endParaRPr lang="en-US" sz="2400" b="1" u="sng" cap="none" spc="0" dirty="0">
              <a:ln w="18000">
                <a:solidFill>
                  <a:schemeClr val="accent2">
                    <a:satMod val="140000"/>
                  </a:schemeClr>
                </a:solidFill>
                <a:prstDash val="solid"/>
                <a:miter lim="800000"/>
              </a:ln>
              <a:solidFill>
                <a:schemeClr val="accent2">
                  <a:lumMod val="50000"/>
                </a:schemeClr>
              </a:solidFill>
              <a:effectLst/>
            </a:endParaRPr>
          </a:p>
        </p:txBody>
      </p:sp>
      <p:sp>
        <p:nvSpPr>
          <p:cNvPr id="15" name="Rectangle 14"/>
          <p:cNvSpPr/>
          <p:nvPr userDrawn="1"/>
        </p:nvSpPr>
        <p:spPr>
          <a:xfrm>
            <a:off x="914400" y="1752600"/>
            <a:ext cx="7315200" cy="17373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userDrawn="1"/>
        </p:nvSpPr>
        <p:spPr>
          <a:xfrm>
            <a:off x="914400" y="1752600"/>
            <a:ext cx="228600" cy="1752600"/>
          </a:xfrm>
          <a:prstGeom prst="rect">
            <a:avLst/>
          </a:prstGeom>
          <a:solidFill>
            <a:schemeClr val="accent1">
              <a:lumMod val="50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solidFill>
                <a:schemeClr val="bg2">
                  <a:lumMod val="25000"/>
                </a:schemeClr>
              </a:solidFill>
            </a:endParaRPr>
          </a:p>
        </p:txBody>
      </p:sp>
      <p:sp>
        <p:nvSpPr>
          <p:cNvPr id="18" name="Title 7"/>
          <p:cNvSpPr txBox="1">
            <a:spLocks/>
          </p:cNvSpPr>
          <p:nvPr userDrawn="1"/>
        </p:nvSpPr>
        <p:spPr>
          <a:xfrm>
            <a:off x="1219200" y="2133600"/>
            <a:ext cx="6858000" cy="1371600"/>
          </a:xfrm>
          <a:prstGeom prst="rect">
            <a:avLst/>
          </a:prstGeom>
        </p:spPr>
        <p:txBody>
          <a:bodyPr vert="horz" anchor="t" anchorCtr="0">
            <a:normAutofit/>
          </a:bodyPr>
          <a:lstStyle>
            <a:lvl1pPr algn="r">
              <a:defRPr sz="3200">
                <a:solidFill>
                  <a:schemeClr val="tx1"/>
                </a:solidFill>
              </a:defRPr>
            </a:lvl1pPr>
          </a:lstStyle>
          <a:p>
            <a:r>
              <a:rPr kumimoji="0" lang="en-US" sz="3200" b="0" i="0" u="none" strike="noStrike" kern="1200" cap="none" spc="0" normalizeH="0" baseline="0" noProof="0" dirty="0">
                <a:ln>
                  <a:noFill/>
                </a:ln>
                <a:solidFill>
                  <a:schemeClr val="tx1"/>
                </a:solidFill>
                <a:effectLst/>
                <a:uLnTx/>
                <a:uFillTx/>
                <a:latin typeface="+mj-lt"/>
                <a:ea typeface="+mj-ea"/>
                <a:cs typeface="+mj-cs"/>
              </a:rPr>
              <a:t>Algorithm and Data Structure</a:t>
            </a:r>
          </a:p>
          <a:p>
            <a:r>
              <a:rPr kumimoji="0" lang="en-US" sz="3200" b="0" i="0" u="none" strike="noStrike" kern="1200" cap="none" spc="0" normalizeH="0" baseline="0" noProof="0" dirty="0">
                <a:ln>
                  <a:noFill/>
                </a:ln>
                <a:solidFill>
                  <a:schemeClr val="tx1"/>
                </a:solidFill>
                <a:effectLst/>
                <a:uLnTx/>
                <a:uFillTx/>
                <a:latin typeface="+mj-lt"/>
                <a:ea typeface="+mj-ea"/>
                <a:cs typeface="+mj-cs"/>
              </a:rPr>
              <a:t>(CSC-211)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E664E9-BB0A-4932-9D77-E0DDE5779A37}"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E664E9-BB0A-4932-9D77-E0DDE5779A37}"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E664E9-BB0A-4932-9D77-E0DDE5779A37}"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E664E9-BB0A-4932-9D77-E0DDE5779A37}"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DOUBLY LINKED LIST</a:t>
            </a:r>
          </a:p>
        </p:txBody>
      </p:sp>
      <p:sp>
        <p:nvSpPr>
          <p:cNvPr id="3" name="Subtitle 2"/>
          <p:cNvSpPr>
            <a:spLocks noGrp="1"/>
          </p:cNvSpPr>
          <p:nvPr>
            <p:ph type="subTitle" idx="1"/>
          </p:nvPr>
        </p:nvSpPr>
        <p:spPr/>
        <p:txBody>
          <a:bodyPr/>
          <a:lstStyle/>
          <a:p>
            <a:r>
              <a:rPr lang="en-US" dirty="0"/>
              <a:t>Atique </a:t>
            </a:r>
            <a:r>
              <a:rPr lang="en-US" dirty="0" err="1"/>
              <a:t>Zafar</a:t>
            </a:r>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DOUBLY LINKED LIST</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pPr algn="just"/>
            <a:r>
              <a:rPr lang="en-US" dirty="0"/>
              <a:t>The only way to find the specific node that precedes p is to start at the beginning of the list.</a:t>
            </a:r>
          </a:p>
          <a:p>
            <a:pPr algn="just"/>
            <a:r>
              <a:rPr lang="en-US" dirty="0"/>
              <a:t>The same problem arias when one wishes to delete an arbitrary node from a singly linked list.</a:t>
            </a:r>
          </a:p>
          <a:p>
            <a:pPr algn="just"/>
            <a:r>
              <a:rPr lang="en-US" dirty="0"/>
              <a:t>If we have a problem in which moving in either direction is often necessary, then it is useful to have doubly linked lists.</a:t>
            </a:r>
          </a:p>
          <a:p>
            <a:pPr algn="just"/>
            <a:r>
              <a:rPr lang="en-US" dirty="0"/>
              <a:t>Each node now has two link data members,</a:t>
            </a:r>
          </a:p>
          <a:p>
            <a:pPr lvl="1" algn="just"/>
            <a:r>
              <a:rPr lang="en-US" dirty="0"/>
              <a:t>One linking in the forward direction </a:t>
            </a:r>
          </a:p>
          <a:p>
            <a:pPr lvl="1" algn="just"/>
            <a:r>
              <a:rPr lang="en-US" dirty="0"/>
              <a:t>One in the backward direction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r>
              <a:rPr lang="en-US" dirty="0"/>
              <a:t>A doubly linked list is one in which all nodes are linked together by multiple links</a:t>
            </a:r>
          </a:p>
          <a:p>
            <a:r>
              <a:rPr lang="en-US" dirty="0"/>
              <a:t>which help in accessing both the successor (next) and predecessor (previous) node for any arbitrary node within the list. </a:t>
            </a:r>
          </a:p>
          <a:p>
            <a:r>
              <a:rPr lang="en-US" dirty="0"/>
              <a:t>Every nodes in the doubly linked list has three fields:</a:t>
            </a:r>
          </a:p>
          <a:p>
            <a:pPr marL="788670" lvl="1" indent="-514350">
              <a:buFont typeface="+mj-lt"/>
              <a:buAutoNum type="arabicPeriod"/>
            </a:pPr>
            <a:r>
              <a:rPr lang="en-US" dirty="0" err="1"/>
              <a:t>LeftPointer</a:t>
            </a:r>
            <a:endParaRPr lang="en-US" dirty="0"/>
          </a:p>
          <a:p>
            <a:pPr marL="788670" lvl="1" indent="-514350">
              <a:buFont typeface="+mj-lt"/>
              <a:buAutoNum type="arabicPeriod"/>
            </a:pPr>
            <a:r>
              <a:rPr lang="en-US" dirty="0" err="1"/>
              <a:t>RightPointer</a:t>
            </a:r>
            <a:r>
              <a:rPr lang="en-US" dirty="0"/>
              <a:t> </a:t>
            </a:r>
          </a:p>
          <a:p>
            <a:pPr marL="788670" lvl="1" indent="-514350">
              <a:buFont typeface="+mj-lt"/>
              <a:buAutoNum type="arabicPeriod"/>
            </a:pPr>
            <a:r>
              <a:rPr lang="en-US" dirty="0"/>
              <a:t>DATA. </a:t>
            </a:r>
          </a:p>
        </p:txBody>
      </p:sp>
      <p:pic>
        <p:nvPicPr>
          <p:cNvPr id="1026" name="Picture 2"/>
          <p:cNvPicPr>
            <a:picLocks noChangeAspect="1" noChangeArrowheads="1"/>
          </p:cNvPicPr>
          <p:nvPr/>
        </p:nvPicPr>
        <p:blipFill>
          <a:blip r:embed="rId2"/>
          <a:srcRect/>
          <a:stretch>
            <a:fillRect/>
          </a:stretch>
        </p:blipFill>
        <p:spPr bwMode="auto">
          <a:xfrm>
            <a:off x="2667000" y="4953000"/>
            <a:ext cx="3581400" cy="1360932"/>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Cont…..</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a:bodyPr>
          <a:lstStyle/>
          <a:p>
            <a:pPr algn="just"/>
            <a:r>
              <a:rPr lang="en-US" sz="2200" dirty="0" err="1"/>
              <a:t>LPoint</a:t>
            </a:r>
            <a:r>
              <a:rPr lang="en-US" sz="2200" dirty="0"/>
              <a:t> will point to the node in the left side (or previous node) that is </a:t>
            </a:r>
            <a:r>
              <a:rPr lang="en-US" sz="2200" dirty="0" err="1"/>
              <a:t>LPoint</a:t>
            </a:r>
            <a:r>
              <a:rPr lang="en-US" sz="2200" dirty="0"/>
              <a:t> will hold the address of the previous node.</a:t>
            </a:r>
          </a:p>
          <a:p>
            <a:pPr algn="just"/>
            <a:r>
              <a:rPr lang="en-US" sz="2200" dirty="0" err="1"/>
              <a:t>RPoint</a:t>
            </a:r>
            <a:r>
              <a:rPr lang="en-US" sz="2200" dirty="0"/>
              <a:t> will point to the node in the right side (or next node) that is </a:t>
            </a:r>
            <a:r>
              <a:rPr lang="en-US" sz="2200" dirty="0" err="1"/>
              <a:t>RPoint</a:t>
            </a:r>
            <a:r>
              <a:rPr lang="en-US" sz="2200" dirty="0"/>
              <a:t> will hold the address of the next node. </a:t>
            </a:r>
          </a:p>
          <a:p>
            <a:pPr algn="just"/>
            <a:r>
              <a:rPr lang="en-US" sz="2200" dirty="0"/>
              <a:t>Data will hold the information of the node.</a:t>
            </a:r>
          </a:p>
        </p:txBody>
      </p:sp>
      <p:pic>
        <p:nvPicPr>
          <p:cNvPr id="2050" name="Picture 2"/>
          <p:cNvPicPr>
            <a:picLocks noChangeAspect="1" noChangeArrowheads="1"/>
          </p:cNvPicPr>
          <p:nvPr/>
        </p:nvPicPr>
        <p:blipFill>
          <a:blip r:embed="rId2"/>
          <a:srcRect/>
          <a:stretch>
            <a:fillRect/>
          </a:stretch>
        </p:blipFill>
        <p:spPr bwMode="auto">
          <a:xfrm>
            <a:off x="914400" y="3352800"/>
            <a:ext cx="7134173" cy="28194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Representation Of Doubly Linked List</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r>
              <a:rPr lang="en-US" dirty="0"/>
              <a:t>A node in the doubly linked list can be represented in memory with the following declaration.</a:t>
            </a:r>
          </a:p>
          <a:p>
            <a:pPr>
              <a:buNone/>
            </a:pPr>
            <a:r>
              <a:rPr lang="en-US" dirty="0" err="1"/>
              <a:t>Struct</a:t>
            </a:r>
            <a:r>
              <a:rPr lang="en-US" dirty="0"/>
              <a:t> Node</a:t>
            </a:r>
          </a:p>
          <a:p>
            <a:pPr>
              <a:buNone/>
            </a:pPr>
            <a:r>
              <a:rPr lang="en-US" dirty="0"/>
              <a:t>             {</a:t>
            </a:r>
          </a:p>
          <a:p>
            <a:pPr>
              <a:buNone/>
            </a:pPr>
            <a:r>
              <a:rPr lang="en-US" dirty="0"/>
              <a:t>		     </a:t>
            </a:r>
            <a:r>
              <a:rPr lang="en-US" dirty="0" err="1"/>
              <a:t>int</a:t>
            </a:r>
            <a:r>
              <a:rPr lang="en-US" dirty="0"/>
              <a:t> Data;</a:t>
            </a:r>
          </a:p>
          <a:p>
            <a:pPr>
              <a:buNone/>
            </a:pPr>
            <a:r>
              <a:rPr lang="en-US" dirty="0"/>
              <a:t>		     </a:t>
            </a:r>
            <a:r>
              <a:rPr lang="en-US" dirty="0" err="1"/>
              <a:t>struct</a:t>
            </a:r>
            <a:r>
              <a:rPr lang="en-US" dirty="0"/>
              <a:t> Node *next;	</a:t>
            </a:r>
          </a:p>
          <a:p>
            <a:pPr>
              <a:buNone/>
            </a:pPr>
            <a:r>
              <a:rPr lang="en-US" dirty="0"/>
              <a:t>               </a:t>
            </a:r>
            <a:r>
              <a:rPr lang="en-US" dirty="0" err="1"/>
              <a:t>struct</a:t>
            </a:r>
            <a:r>
              <a:rPr lang="en-US" dirty="0"/>
              <a:t> Node *</a:t>
            </a:r>
            <a:r>
              <a:rPr lang="en-US" dirty="0" err="1"/>
              <a:t>prev</a:t>
            </a:r>
            <a:r>
              <a:rPr lang="en-US" dirty="0"/>
              <a:t>; </a:t>
            </a:r>
          </a:p>
          <a:p>
            <a:pPr>
              <a:buNone/>
            </a:pPr>
            <a:r>
              <a:rPr lang="en-US" dirty="0"/>
              <a:t>             };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Doubly Linked List Head Initialization</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r>
              <a:rPr lang="en-US" b="1" dirty="0"/>
              <a:t>Purpose:</a:t>
            </a:r>
            <a:r>
              <a:rPr lang="en-US" dirty="0"/>
              <a:t> Signify the beginning or end of the list in the left (backward) direction.</a:t>
            </a:r>
          </a:p>
          <a:p>
            <a:r>
              <a:rPr lang="en-US" b="1" dirty="0"/>
              <a:t>Assigning:</a:t>
            </a:r>
            <a:r>
              <a:rPr lang="en-US" dirty="0"/>
              <a:t> Set the left link of the first node (head) to null to indicate no preceding node.</a:t>
            </a:r>
          </a:p>
          <a:p>
            <a:r>
              <a:rPr lang="en-US" b="1" dirty="0"/>
              <a:t>Consistency:</a:t>
            </a:r>
            <a:r>
              <a:rPr lang="en-US" dirty="0"/>
              <a:t> Maintains uniformity, as every node, except the first, has both left and right links.</a:t>
            </a:r>
          </a:p>
          <a:p>
            <a:r>
              <a:rPr lang="en-US" b="1" dirty="0"/>
              <a:t>Ease of Implementation:</a:t>
            </a:r>
            <a:r>
              <a:rPr lang="en-US" dirty="0"/>
              <a:t> Simplifies operations, allowing easy checks for the start of the list during traversals.</a:t>
            </a:r>
          </a:p>
          <a:p>
            <a:endParaRPr lang="en-US" dirty="0"/>
          </a:p>
        </p:txBody>
      </p:sp>
    </p:spTree>
    <p:extLst>
      <p:ext uri="{BB962C8B-B14F-4D97-AF65-F5344CB8AC3E}">
        <p14:creationId xmlns:p14="http://schemas.microsoft.com/office/powerpoint/2010/main" val="2395074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AND DELETION OF NODES</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pic>
        <p:nvPicPr>
          <p:cNvPr id="3074" name="Picture 2"/>
          <p:cNvPicPr>
            <a:picLocks noChangeAspect="1" noChangeArrowheads="1"/>
          </p:cNvPicPr>
          <p:nvPr/>
        </p:nvPicPr>
        <p:blipFill>
          <a:blip r:embed="rId2"/>
          <a:srcRect/>
          <a:stretch>
            <a:fillRect/>
          </a:stretch>
        </p:blipFill>
        <p:spPr bwMode="auto">
          <a:xfrm>
            <a:off x="1371600" y="1295400"/>
            <a:ext cx="6440699" cy="32766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2362200" y="4724400"/>
            <a:ext cx="4800600" cy="1168475"/>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INSERTING A NODE</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pPr marL="0" indent="0">
              <a:buNone/>
            </a:pPr>
            <a:r>
              <a:rPr lang="en-US" dirty="0"/>
              <a:t>1.Input the DATA</a:t>
            </a:r>
          </a:p>
          <a:p>
            <a:pPr marL="0" indent="0">
              <a:buNone/>
            </a:pPr>
            <a:r>
              <a:rPr lang="en-US" dirty="0"/>
              <a:t>2. If START is NULL </a:t>
            </a:r>
          </a:p>
          <a:p>
            <a:pPr marL="274320" lvl="1" indent="0">
              <a:buNone/>
            </a:pPr>
            <a:r>
              <a:rPr lang="en-US" dirty="0"/>
              <a:t>(a) Create a New Node</a:t>
            </a:r>
          </a:p>
          <a:p>
            <a:pPr marL="274320" lvl="1" indent="0">
              <a:buNone/>
            </a:pPr>
            <a:r>
              <a:rPr lang="en-US" dirty="0"/>
              <a:t>(b) </a:t>
            </a:r>
            <a:r>
              <a:rPr lang="en-US" dirty="0" err="1"/>
              <a:t>NewNode</a:t>
            </a:r>
            <a:r>
              <a:rPr lang="en-US" dirty="0"/>
              <a:t> → DATA = DATA </a:t>
            </a:r>
          </a:p>
          <a:p>
            <a:pPr marL="274320" lvl="1" indent="0">
              <a:buNone/>
            </a:pPr>
            <a:r>
              <a:rPr lang="en-US" dirty="0"/>
              <a:t>(c) </a:t>
            </a:r>
            <a:r>
              <a:rPr lang="en-US" dirty="0" err="1"/>
              <a:t>NewNode</a:t>
            </a:r>
            <a:r>
              <a:rPr lang="en-US" dirty="0"/>
              <a:t> → </a:t>
            </a:r>
            <a:r>
              <a:rPr lang="en-US" dirty="0" err="1"/>
              <a:t>RPoint</a:t>
            </a:r>
            <a:r>
              <a:rPr lang="en-US" dirty="0"/>
              <a:t> = NULL</a:t>
            </a:r>
          </a:p>
          <a:p>
            <a:pPr marL="274320" lvl="1" indent="0">
              <a:buNone/>
            </a:pPr>
            <a:r>
              <a:rPr lang="en-US" dirty="0"/>
              <a:t>(d) </a:t>
            </a:r>
            <a:r>
              <a:rPr lang="en-US" dirty="0" err="1"/>
              <a:t>NewNode</a:t>
            </a:r>
            <a:r>
              <a:rPr lang="en-US" dirty="0"/>
              <a:t> → </a:t>
            </a:r>
            <a:r>
              <a:rPr lang="en-US" dirty="0" err="1"/>
              <a:t>LPoint</a:t>
            </a:r>
            <a:r>
              <a:rPr lang="en-US" dirty="0"/>
              <a:t> = NULL </a:t>
            </a:r>
          </a:p>
          <a:p>
            <a:pPr marL="274320" lvl="1" indent="0">
              <a:buNone/>
            </a:pPr>
            <a:r>
              <a:rPr lang="en-US" dirty="0"/>
              <a:t>(e) Set START to </a:t>
            </a:r>
            <a:r>
              <a:rPr lang="en-US" dirty="0" err="1"/>
              <a:t>NewNode</a:t>
            </a:r>
            <a:r>
              <a:rPr lang="en-US" dirty="0"/>
              <a:t> </a:t>
            </a:r>
          </a:p>
          <a:p>
            <a:pPr marL="274320" lvl="1" indent="0">
              <a:buNone/>
            </a:pPr>
            <a:r>
              <a:rPr lang="en-US" dirty="0"/>
              <a:t>(f) Exit</a:t>
            </a:r>
          </a:p>
        </p:txBody>
      </p:sp>
    </p:spTree>
    <p:extLst>
      <p:ext uri="{BB962C8B-B14F-4D97-AF65-F5344CB8AC3E}">
        <p14:creationId xmlns:p14="http://schemas.microsoft.com/office/powerpoint/2010/main" val="3092950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INSERTING A NODE</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Autofit/>
          </a:bodyPr>
          <a:lstStyle/>
          <a:p>
            <a:pPr marL="0" indent="0">
              <a:buNone/>
            </a:pPr>
            <a:r>
              <a:rPr lang="en-US" sz="1320" dirty="0"/>
              <a:t>1.Input the DATA and POS</a:t>
            </a:r>
          </a:p>
          <a:p>
            <a:pPr lvl="1"/>
            <a:r>
              <a:rPr lang="en-US" sz="1320" dirty="0">
                <a:solidFill>
                  <a:srgbClr val="00B050"/>
                </a:solidFill>
              </a:rPr>
              <a:t>This is a placeholder indicating that you need to take input for the data and position (POS) where you want to insert the new node. </a:t>
            </a:r>
          </a:p>
          <a:p>
            <a:pPr lvl="1"/>
            <a:r>
              <a:rPr lang="en-US" sz="1320" dirty="0">
                <a:solidFill>
                  <a:srgbClr val="00B050"/>
                </a:solidFill>
              </a:rPr>
              <a:t>The actual input mechanism depends on the programming language you are using</a:t>
            </a:r>
            <a:r>
              <a:rPr lang="en-US" sz="1320" dirty="0"/>
              <a:t>.</a:t>
            </a:r>
          </a:p>
          <a:p>
            <a:pPr marL="0" indent="0">
              <a:buNone/>
            </a:pPr>
            <a:r>
              <a:rPr lang="en-US" sz="1320" dirty="0"/>
              <a:t>2. If START is NULL</a:t>
            </a:r>
          </a:p>
          <a:p>
            <a:pPr lvl="1"/>
            <a:r>
              <a:rPr lang="en-US" sz="1320" dirty="0">
                <a:solidFill>
                  <a:srgbClr val="00B050"/>
                </a:solidFill>
              </a:rPr>
              <a:t>This condition checks if the doubly linked list is initially empty by examining the START pointer. </a:t>
            </a:r>
          </a:p>
          <a:p>
            <a:pPr marL="274320" lvl="1" indent="0">
              <a:buNone/>
            </a:pPr>
            <a:r>
              <a:rPr lang="en-US" sz="1320" dirty="0">
                <a:solidFill>
                  <a:schemeClr val="tx1"/>
                </a:solidFill>
              </a:rPr>
              <a:t>(a) Create a New Node</a:t>
            </a:r>
          </a:p>
          <a:p>
            <a:pPr lvl="2"/>
            <a:r>
              <a:rPr lang="en-US" sz="1320" dirty="0">
                <a:solidFill>
                  <a:srgbClr val="00B050"/>
                </a:solidFill>
              </a:rPr>
              <a:t>This involves allocating memory for a new node.</a:t>
            </a:r>
          </a:p>
          <a:p>
            <a:pPr marL="274320" lvl="1" indent="0">
              <a:buNone/>
            </a:pPr>
            <a:r>
              <a:rPr lang="en-US" sz="1320" dirty="0">
                <a:solidFill>
                  <a:schemeClr val="tx1"/>
                </a:solidFill>
              </a:rPr>
              <a:t>(b) </a:t>
            </a:r>
            <a:r>
              <a:rPr lang="en-US" sz="1320" dirty="0" err="1">
                <a:solidFill>
                  <a:schemeClr val="tx1"/>
                </a:solidFill>
              </a:rPr>
              <a:t>NewNode</a:t>
            </a:r>
            <a:r>
              <a:rPr lang="en-US" sz="1320" dirty="0">
                <a:solidFill>
                  <a:schemeClr val="tx1"/>
                </a:solidFill>
              </a:rPr>
              <a:t> → DATA = DATA </a:t>
            </a:r>
          </a:p>
          <a:p>
            <a:pPr lvl="2"/>
            <a:r>
              <a:rPr lang="en-US" sz="1320" dirty="0">
                <a:solidFill>
                  <a:srgbClr val="00B050"/>
                </a:solidFill>
              </a:rPr>
              <a:t>Assign the input data value to the DATA field of the new node.</a:t>
            </a:r>
          </a:p>
          <a:p>
            <a:pPr marL="274320" lvl="1" indent="0">
              <a:buNone/>
            </a:pPr>
            <a:r>
              <a:rPr lang="en-US" sz="1320" dirty="0">
                <a:solidFill>
                  <a:schemeClr val="tx1"/>
                </a:solidFill>
              </a:rPr>
              <a:t>(c) </a:t>
            </a:r>
            <a:r>
              <a:rPr lang="en-US" sz="1320" dirty="0" err="1">
                <a:solidFill>
                  <a:schemeClr val="tx1"/>
                </a:solidFill>
              </a:rPr>
              <a:t>NewNode</a:t>
            </a:r>
            <a:r>
              <a:rPr lang="en-US" sz="1320" dirty="0">
                <a:solidFill>
                  <a:schemeClr val="tx1"/>
                </a:solidFill>
              </a:rPr>
              <a:t> → </a:t>
            </a:r>
            <a:r>
              <a:rPr lang="en-US" sz="1320" dirty="0" err="1">
                <a:solidFill>
                  <a:schemeClr val="tx1"/>
                </a:solidFill>
              </a:rPr>
              <a:t>RPoint</a:t>
            </a:r>
            <a:r>
              <a:rPr lang="en-US" sz="1320" dirty="0">
                <a:solidFill>
                  <a:schemeClr val="tx1"/>
                </a:solidFill>
              </a:rPr>
              <a:t> = NULL</a:t>
            </a:r>
          </a:p>
          <a:p>
            <a:pPr lvl="2"/>
            <a:r>
              <a:rPr lang="en-US" sz="1320" dirty="0">
                <a:solidFill>
                  <a:srgbClr val="00B050"/>
                </a:solidFill>
              </a:rPr>
              <a:t>Set the right pointer (</a:t>
            </a:r>
            <a:r>
              <a:rPr lang="en-US" sz="1320" dirty="0" err="1">
                <a:solidFill>
                  <a:srgbClr val="00B050"/>
                </a:solidFill>
              </a:rPr>
              <a:t>RPoint</a:t>
            </a:r>
            <a:r>
              <a:rPr lang="en-US" sz="1320" dirty="0">
                <a:solidFill>
                  <a:srgbClr val="00B050"/>
                </a:solidFill>
              </a:rPr>
              <a:t>) of the new node to NULL, indicating the end of the list in the right direction.</a:t>
            </a:r>
          </a:p>
          <a:p>
            <a:pPr marL="274320" lvl="1" indent="0">
              <a:buNone/>
            </a:pPr>
            <a:r>
              <a:rPr lang="en-US" sz="1320" dirty="0">
                <a:solidFill>
                  <a:schemeClr val="tx1"/>
                </a:solidFill>
              </a:rPr>
              <a:t>(d) </a:t>
            </a:r>
            <a:r>
              <a:rPr lang="en-US" sz="1320" dirty="0" err="1">
                <a:solidFill>
                  <a:schemeClr val="tx1"/>
                </a:solidFill>
              </a:rPr>
              <a:t>NewNode</a:t>
            </a:r>
            <a:r>
              <a:rPr lang="en-US" sz="1320" dirty="0">
                <a:solidFill>
                  <a:schemeClr val="tx1"/>
                </a:solidFill>
              </a:rPr>
              <a:t> → </a:t>
            </a:r>
            <a:r>
              <a:rPr lang="en-US" sz="1320" dirty="0" err="1">
                <a:solidFill>
                  <a:schemeClr val="tx1"/>
                </a:solidFill>
              </a:rPr>
              <a:t>LPoint</a:t>
            </a:r>
            <a:r>
              <a:rPr lang="en-US" sz="1320" dirty="0">
                <a:solidFill>
                  <a:schemeClr val="tx1"/>
                </a:solidFill>
              </a:rPr>
              <a:t> = NULL </a:t>
            </a:r>
          </a:p>
          <a:p>
            <a:pPr lvl="2"/>
            <a:r>
              <a:rPr lang="en-US" sz="1320" dirty="0">
                <a:solidFill>
                  <a:srgbClr val="00B050"/>
                </a:solidFill>
              </a:rPr>
              <a:t>Set the left pointer (</a:t>
            </a:r>
            <a:r>
              <a:rPr lang="en-US" sz="1320" dirty="0" err="1">
                <a:solidFill>
                  <a:srgbClr val="00B050"/>
                </a:solidFill>
              </a:rPr>
              <a:t>LPoint</a:t>
            </a:r>
            <a:r>
              <a:rPr lang="en-US" sz="1320" dirty="0">
                <a:solidFill>
                  <a:srgbClr val="00B050"/>
                </a:solidFill>
              </a:rPr>
              <a:t>) of the new node to NULL, indicating the beginning of the list in the left direction.(e) Set START to </a:t>
            </a:r>
            <a:r>
              <a:rPr lang="en-US" sz="1320" dirty="0" err="1">
                <a:solidFill>
                  <a:srgbClr val="00B050"/>
                </a:solidFill>
              </a:rPr>
              <a:t>NewNode</a:t>
            </a:r>
            <a:r>
              <a:rPr lang="en-US" sz="1320" dirty="0">
                <a:solidFill>
                  <a:srgbClr val="00B050"/>
                </a:solidFill>
              </a:rPr>
              <a:t> </a:t>
            </a:r>
          </a:p>
          <a:p>
            <a:pPr marL="274320" lvl="1" indent="0">
              <a:buNone/>
            </a:pPr>
            <a:r>
              <a:rPr lang="en-US" sz="1320" dirty="0">
                <a:solidFill>
                  <a:schemeClr val="tx1"/>
                </a:solidFill>
              </a:rPr>
              <a:t>(e) Set START to </a:t>
            </a:r>
            <a:r>
              <a:rPr lang="en-US" sz="1320" dirty="0" err="1">
                <a:solidFill>
                  <a:schemeClr val="tx1"/>
                </a:solidFill>
              </a:rPr>
              <a:t>NewNode</a:t>
            </a:r>
            <a:r>
              <a:rPr lang="en-US" sz="1320" dirty="0">
                <a:solidFill>
                  <a:schemeClr val="tx1"/>
                </a:solidFill>
              </a:rPr>
              <a:t> </a:t>
            </a:r>
          </a:p>
          <a:p>
            <a:pPr lvl="2"/>
            <a:r>
              <a:rPr lang="en-US" sz="1320" dirty="0">
                <a:solidFill>
                  <a:srgbClr val="00B050"/>
                </a:solidFill>
              </a:rPr>
              <a:t>Update the START pointer to point to the newly created node, making it the start of the doubly linked list</a:t>
            </a:r>
          </a:p>
          <a:p>
            <a:pPr marL="274320" lvl="1" indent="0">
              <a:buNone/>
            </a:pPr>
            <a:r>
              <a:rPr lang="en-US" sz="1320" dirty="0">
                <a:solidFill>
                  <a:schemeClr val="tx1"/>
                </a:solidFill>
              </a:rPr>
              <a:t>(f) Exit</a:t>
            </a:r>
          </a:p>
          <a:p>
            <a:pPr lvl="2"/>
            <a:r>
              <a:rPr lang="en-US" sz="1320" dirty="0">
                <a:solidFill>
                  <a:srgbClr val="00B050"/>
                </a:solidFill>
              </a:rPr>
              <a:t>Exit the algorithm as the operation to create the doubly linked list has been completed.</a:t>
            </a:r>
          </a:p>
        </p:txBody>
      </p:sp>
    </p:spTree>
    <p:extLst>
      <p:ext uri="{BB962C8B-B14F-4D97-AF65-F5344CB8AC3E}">
        <p14:creationId xmlns:p14="http://schemas.microsoft.com/office/powerpoint/2010/main" val="2379779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INSERTING A NODE AT SPECIFIED POSITION</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85000" lnSpcReduction="20000"/>
          </a:bodyPr>
          <a:lstStyle/>
          <a:p>
            <a:pPr marL="0" indent="0">
              <a:buNone/>
            </a:pPr>
            <a:r>
              <a:rPr lang="en-US" dirty="0"/>
              <a:t>1.Input the DATA and POS </a:t>
            </a:r>
          </a:p>
          <a:p>
            <a:pPr marL="0" indent="0">
              <a:buNone/>
            </a:pPr>
            <a:r>
              <a:rPr lang="en-US" dirty="0"/>
              <a:t>2. Initialize TEMP = START; i = 0 </a:t>
            </a:r>
          </a:p>
          <a:p>
            <a:pPr marL="0" indent="0">
              <a:buNone/>
            </a:pPr>
            <a:r>
              <a:rPr lang="en-US" dirty="0"/>
              <a:t>3. Repeat the step 4 if (i less than POS) and (TEMP is not equal to NULL) </a:t>
            </a:r>
          </a:p>
          <a:p>
            <a:pPr marL="0" indent="0">
              <a:buNone/>
            </a:pPr>
            <a:r>
              <a:rPr lang="en-US" dirty="0"/>
              <a:t>4. TEMP = TEMP → </a:t>
            </a:r>
            <a:r>
              <a:rPr lang="en-US" dirty="0" err="1"/>
              <a:t>RPoint</a:t>
            </a:r>
            <a:r>
              <a:rPr lang="en-US" dirty="0"/>
              <a:t>; i = i +1 </a:t>
            </a:r>
          </a:p>
          <a:p>
            <a:pPr marL="0" indent="0">
              <a:buNone/>
            </a:pPr>
            <a:r>
              <a:rPr lang="en-US" dirty="0"/>
              <a:t>5. If (TEMP not equal to NULL) and (i equal to POS) </a:t>
            </a:r>
          </a:p>
          <a:p>
            <a:pPr marL="274320" lvl="1" indent="0">
              <a:buNone/>
            </a:pPr>
            <a:r>
              <a:rPr lang="en-US" dirty="0"/>
              <a:t>(a) Create a New Node </a:t>
            </a:r>
          </a:p>
          <a:p>
            <a:pPr marL="274320" lvl="1" indent="0">
              <a:buNone/>
            </a:pPr>
            <a:r>
              <a:rPr lang="en-US" dirty="0"/>
              <a:t>(b) </a:t>
            </a:r>
            <a:r>
              <a:rPr lang="en-US" dirty="0" err="1"/>
              <a:t>NewNode</a:t>
            </a:r>
            <a:r>
              <a:rPr lang="en-US" dirty="0"/>
              <a:t> → DATA = DATA </a:t>
            </a:r>
          </a:p>
          <a:p>
            <a:pPr marL="274320" lvl="1" indent="0">
              <a:buNone/>
            </a:pPr>
            <a:r>
              <a:rPr lang="en-US" dirty="0"/>
              <a:t>(c) </a:t>
            </a:r>
            <a:r>
              <a:rPr lang="en-US" dirty="0" err="1"/>
              <a:t>NewNode</a:t>
            </a:r>
            <a:r>
              <a:rPr lang="en-US" dirty="0"/>
              <a:t> → </a:t>
            </a:r>
            <a:r>
              <a:rPr lang="en-US" dirty="0" err="1"/>
              <a:t>RPoint</a:t>
            </a:r>
            <a:r>
              <a:rPr lang="en-US" dirty="0"/>
              <a:t> = TEMP → </a:t>
            </a:r>
            <a:r>
              <a:rPr lang="en-US" dirty="0" err="1"/>
              <a:t>RPoint</a:t>
            </a:r>
            <a:r>
              <a:rPr lang="en-US" dirty="0"/>
              <a:t> </a:t>
            </a:r>
          </a:p>
          <a:p>
            <a:pPr marL="274320" lvl="1" indent="0">
              <a:buNone/>
            </a:pPr>
            <a:r>
              <a:rPr lang="en-US" dirty="0"/>
              <a:t>(d) </a:t>
            </a:r>
            <a:r>
              <a:rPr lang="en-US" dirty="0" err="1"/>
              <a:t>NewNode</a:t>
            </a:r>
            <a:r>
              <a:rPr lang="en-US" dirty="0"/>
              <a:t> → </a:t>
            </a:r>
            <a:r>
              <a:rPr lang="en-US" dirty="0" err="1"/>
              <a:t>LPoint</a:t>
            </a:r>
            <a:r>
              <a:rPr lang="en-US" dirty="0"/>
              <a:t> = TEMP </a:t>
            </a:r>
          </a:p>
          <a:p>
            <a:pPr marL="274320" lvl="1" indent="0">
              <a:buNone/>
            </a:pPr>
            <a:r>
              <a:rPr lang="en-US" dirty="0"/>
              <a:t>(e) (TEMP → </a:t>
            </a:r>
            <a:r>
              <a:rPr lang="en-US" dirty="0" err="1"/>
              <a:t>RPoint</a:t>
            </a:r>
            <a:r>
              <a:rPr lang="en-US" dirty="0"/>
              <a:t>) → </a:t>
            </a:r>
            <a:r>
              <a:rPr lang="en-US" dirty="0" err="1"/>
              <a:t>LPoint</a:t>
            </a:r>
            <a:r>
              <a:rPr lang="en-US" dirty="0"/>
              <a:t> = </a:t>
            </a:r>
            <a:r>
              <a:rPr lang="en-US" dirty="0" err="1"/>
              <a:t>NewNode</a:t>
            </a:r>
            <a:r>
              <a:rPr lang="en-US" dirty="0"/>
              <a:t> </a:t>
            </a:r>
          </a:p>
          <a:p>
            <a:pPr marL="274320" lvl="1" indent="0">
              <a:buNone/>
            </a:pPr>
            <a:r>
              <a:rPr lang="en-US" dirty="0"/>
              <a:t>(f ) TEMP → </a:t>
            </a:r>
            <a:r>
              <a:rPr lang="en-US" dirty="0" err="1"/>
              <a:t>RPoint</a:t>
            </a:r>
            <a:r>
              <a:rPr lang="en-US" dirty="0"/>
              <a:t> = New Node </a:t>
            </a:r>
          </a:p>
          <a:p>
            <a:pPr marL="0" indent="0">
              <a:buNone/>
            </a:pPr>
            <a:r>
              <a:rPr lang="en-US" dirty="0"/>
              <a:t>6. Else </a:t>
            </a:r>
          </a:p>
          <a:p>
            <a:pPr marL="274320" lvl="1" indent="0">
              <a:buNone/>
            </a:pPr>
            <a:r>
              <a:rPr lang="en-US" dirty="0"/>
              <a:t>(a) Display “Position NOT found” </a:t>
            </a:r>
          </a:p>
          <a:p>
            <a:pPr marL="0" indent="0">
              <a:buNone/>
            </a:pPr>
            <a:r>
              <a:rPr lang="en-US" dirty="0"/>
              <a:t>7. Exit</a:t>
            </a:r>
            <a:endParaRPr lang="da-DK"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INSERTING A NODE AT SPECIFIED POSITION(Line by Line Detail)</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77500" lnSpcReduction="20000"/>
          </a:bodyPr>
          <a:lstStyle/>
          <a:p>
            <a:pPr marL="514350" indent="-514350">
              <a:buAutoNum type="arabicPeriod"/>
            </a:pPr>
            <a:r>
              <a:rPr lang="en-US" dirty="0"/>
              <a:t>Input the DATA and POS</a:t>
            </a:r>
          </a:p>
          <a:p>
            <a:pPr marL="617220" lvl="2" indent="-342900">
              <a:spcBef>
                <a:spcPts val="600"/>
              </a:spcBef>
              <a:buClr>
                <a:schemeClr val="accent1"/>
              </a:buClr>
            </a:pPr>
            <a:r>
              <a:rPr lang="en-US" sz="2400" i="1" dirty="0">
                <a:solidFill>
                  <a:srgbClr val="00B050"/>
                </a:solidFill>
              </a:rPr>
              <a:t>Input the data value (DATA) and the position (POS) where the new node needs to be inserted.</a:t>
            </a:r>
          </a:p>
          <a:p>
            <a:pPr>
              <a:buNone/>
            </a:pPr>
            <a:r>
              <a:rPr lang="en-US" dirty="0"/>
              <a:t>2. Initialize TEMP = START; i = 0</a:t>
            </a:r>
          </a:p>
          <a:p>
            <a:pPr marL="617220" lvl="2" indent="-342900">
              <a:spcBef>
                <a:spcPts val="600"/>
              </a:spcBef>
              <a:buClr>
                <a:schemeClr val="accent1"/>
              </a:buClr>
            </a:pPr>
            <a:r>
              <a:rPr lang="en-US" sz="2400" i="1" dirty="0">
                <a:solidFill>
                  <a:srgbClr val="00B050"/>
                </a:solidFill>
              </a:rPr>
              <a:t>Initialize a temporary pointer TEMP to the beginning of the list (START) and a counter i to 0.</a:t>
            </a:r>
          </a:p>
          <a:p>
            <a:pPr>
              <a:buNone/>
            </a:pPr>
            <a:r>
              <a:rPr lang="en-US" dirty="0"/>
              <a:t>3. Repeat the step 4 if (i less than POS) and (TEMP is not equal to NULL)</a:t>
            </a:r>
          </a:p>
          <a:p>
            <a:pPr marL="617220" lvl="2" indent="-342900">
              <a:spcBef>
                <a:spcPts val="600"/>
              </a:spcBef>
              <a:buClr>
                <a:schemeClr val="accent1"/>
              </a:buClr>
            </a:pPr>
            <a:r>
              <a:rPr lang="en-US" sz="2400" i="1" dirty="0">
                <a:solidFill>
                  <a:srgbClr val="00B050"/>
                </a:solidFill>
              </a:rPr>
              <a:t>Repeat the following steps if the counter i is less than POS and the temporary pointer TEMP is not NULL.</a:t>
            </a:r>
          </a:p>
          <a:p>
            <a:pPr marL="617220" lvl="2" indent="-342900">
              <a:spcBef>
                <a:spcPts val="600"/>
              </a:spcBef>
              <a:buClr>
                <a:schemeClr val="accent1"/>
              </a:buClr>
            </a:pPr>
            <a:r>
              <a:rPr lang="en-US" sz="2400" i="1" dirty="0">
                <a:solidFill>
                  <a:srgbClr val="0070C0"/>
                </a:solidFill>
              </a:rPr>
              <a:t>The purpose of this loop is to traverse the linked list until either the desired position is reached or the end of the list (NULL is encountered). </a:t>
            </a:r>
          </a:p>
          <a:p>
            <a:pPr marL="617220" lvl="2" indent="-342900">
              <a:spcBef>
                <a:spcPts val="600"/>
              </a:spcBef>
              <a:buClr>
                <a:schemeClr val="accent1"/>
              </a:buClr>
            </a:pPr>
            <a:r>
              <a:rPr lang="en-US" sz="2400" i="1" dirty="0">
                <a:solidFill>
                  <a:srgbClr val="0070C0"/>
                </a:solidFill>
              </a:rPr>
              <a:t>It ensures that the algorithm moves through the list until it either finds the specified position or determines that the position is beyond the end of the list</a:t>
            </a:r>
            <a:r>
              <a:rPr lang="en-US" sz="2400" dirty="0"/>
              <a:t>.</a:t>
            </a:r>
          </a:p>
          <a:p>
            <a:pPr>
              <a:buNone/>
            </a:pPr>
            <a:r>
              <a:rPr lang="da-DK" dirty="0"/>
              <a:t>4. TEMP = TEMP → RPoint; i = i +1</a:t>
            </a:r>
          </a:p>
          <a:p>
            <a:pPr marL="617220" lvl="2" indent="-342900">
              <a:spcBef>
                <a:spcPts val="600"/>
              </a:spcBef>
              <a:buClr>
                <a:schemeClr val="accent1"/>
              </a:buClr>
            </a:pPr>
            <a:r>
              <a:rPr lang="en-US" sz="2500" i="1" dirty="0">
                <a:solidFill>
                  <a:srgbClr val="00B050"/>
                </a:solidFill>
              </a:rPr>
              <a:t>Move the temporary pointer TEMP to the next node (TEMP → </a:t>
            </a:r>
            <a:r>
              <a:rPr lang="en-US" sz="2500" i="1" dirty="0" err="1">
                <a:solidFill>
                  <a:srgbClr val="00B050"/>
                </a:solidFill>
              </a:rPr>
              <a:t>RPoint</a:t>
            </a:r>
            <a:r>
              <a:rPr lang="en-US" sz="2500" i="1" dirty="0">
                <a:solidFill>
                  <a:srgbClr val="00B050"/>
                </a:solidFill>
              </a:rPr>
              <a:t>) and increment the counter i by 1.</a:t>
            </a:r>
          </a:p>
          <a:p>
            <a:pPr>
              <a:buNone/>
            </a:pPr>
            <a:endParaRPr lang="da-DK" dirty="0"/>
          </a:p>
        </p:txBody>
      </p:sp>
    </p:spTree>
    <p:extLst>
      <p:ext uri="{BB962C8B-B14F-4D97-AF65-F5344CB8AC3E}">
        <p14:creationId xmlns:p14="http://schemas.microsoft.com/office/powerpoint/2010/main" val="113668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INSERTING A NODE AT SPECIFIED POSITION(Line by Line Detail)</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92500"/>
          </a:bodyPr>
          <a:lstStyle/>
          <a:p>
            <a:pPr>
              <a:buNone/>
            </a:pPr>
            <a:r>
              <a:rPr lang="en-US" dirty="0"/>
              <a:t>5. If (TEMP not equal to NULL) and (i equal to POS)</a:t>
            </a:r>
          </a:p>
          <a:p>
            <a:pPr marL="617220" lvl="2" indent="-342900">
              <a:spcBef>
                <a:spcPts val="600"/>
              </a:spcBef>
              <a:buClr>
                <a:schemeClr val="accent1"/>
              </a:buClr>
            </a:pPr>
            <a:r>
              <a:rPr lang="en-US" sz="3000" i="1" dirty="0">
                <a:solidFill>
                  <a:srgbClr val="00B050"/>
                </a:solidFill>
              </a:rPr>
              <a:t>(TEMP not equal to NULL):</a:t>
            </a:r>
          </a:p>
          <a:p>
            <a:pPr marL="891540" lvl="3" indent="-342900">
              <a:spcBef>
                <a:spcPts val="600"/>
              </a:spcBef>
              <a:buClr>
                <a:schemeClr val="accent1"/>
              </a:buClr>
            </a:pPr>
            <a:r>
              <a:rPr lang="en-US" sz="2800" i="1" dirty="0">
                <a:solidFill>
                  <a:srgbClr val="0070C0"/>
                </a:solidFill>
              </a:rPr>
              <a:t>This part ensures that the temporary pointer TEMP is not pointing to the end of the list (i.e., not equal to NULL).</a:t>
            </a:r>
          </a:p>
          <a:p>
            <a:pPr marL="891540" lvl="3" indent="-342900">
              <a:spcBef>
                <a:spcPts val="600"/>
              </a:spcBef>
              <a:buClr>
                <a:schemeClr val="accent1"/>
              </a:buClr>
            </a:pPr>
            <a:r>
              <a:rPr lang="en-US" sz="2800" i="1" dirty="0">
                <a:solidFill>
                  <a:srgbClr val="0070C0"/>
                </a:solidFill>
              </a:rPr>
              <a:t>It verifies that there is a valid node at the current position (TEMP) in the list.</a:t>
            </a:r>
          </a:p>
          <a:p>
            <a:pPr marL="617220" lvl="2" indent="-342900">
              <a:spcBef>
                <a:spcPts val="600"/>
              </a:spcBef>
              <a:buClr>
                <a:schemeClr val="accent1"/>
              </a:buClr>
            </a:pPr>
            <a:r>
              <a:rPr lang="en-US" sz="3000" i="1" dirty="0">
                <a:solidFill>
                  <a:srgbClr val="00B050"/>
                </a:solidFill>
              </a:rPr>
              <a:t> (i equal to POS):</a:t>
            </a:r>
          </a:p>
          <a:p>
            <a:pPr marL="891540" lvl="3" indent="-342900">
              <a:spcBef>
                <a:spcPts val="600"/>
              </a:spcBef>
              <a:buClr>
                <a:schemeClr val="accent1"/>
              </a:buClr>
            </a:pPr>
            <a:r>
              <a:rPr lang="en-US" sz="2800" i="1" dirty="0">
                <a:solidFill>
                  <a:srgbClr val="0070C0"/>
                </a:solidFill>
              </a:rPr>
              <a:t>This part checks if the counter i is equal to the specified position POS.</a:t>
            </a:r>
          </a:p>
          <a:p>
            <a:pPr marL="891540" lvl="3" indent="-342900">
              <a:spcBef>
                <a:spcPts val="600"/>
              </a:spcBef>
              <a:buClr>
                <a:schemeClr val="accent1"/>
              </a:buClr>
            </a:pPr>
            <a:r>
              <a:rPr lang="en-US" sz="2800" i="1" dirty="0">
                <a:solidFill>
                  <a:srgbClr val="0070C0"/>
                </a:solidFill>
              </a:rPr>
              <a:t>It ensures that the algorithm has reached the desired position in the list.</a:t>
            </a:r>
          </a:p>
        </p:txBody>
      </p:sp>
    </p:spTree>
    <p:extLst>
      <p:ext uri="{BB962C8B-B14F-4D97-AF65-F5344CB8AC3E}">
        <p14:creationId xmlns:p14="http://schemas.microsoft.com/office/powerpoint/2010/main" val="280908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INSERTING A NODE AT SPECIFIED POSITION(Line by Line Detail)</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a:xfrm>
            <a:off x="457200" y="1219200"/>
            <a:ext cx="8229600" cy="5105400"/>
          </a:xfrm>
        </p:spPr>
        <p:txBody>
          <a:bodyPr>
            <a:normAutofit/>
          </a:bodyPr>
          <a:lstStyle/>
          <a:p>
            <a:r>
              <a:rPr lang="en-US" sz="2700" i="1" dirty="0">
                <a:solidFill>
                  <a:srgbClr val="00B050"/>
                </a:solidFill>
              </a:rPr>
              <a:t>If  TEMP is not NULL and the counter i is equal to POS, execute the following steps: </a:t>
            </a:r>
          </a:p>
          <a:p>
            <a:pPr marL="274320" lvl="1" indent="0">
              <a:buNone/>
            </a:pPr>
            <a:r>
              <a:rPr lang="en-US" i="1" dirty="0">
                <a:solidFill>
                  <a:schemeClr val="tx1"/>
                </a:solidFill>
              </a:rPr>
              <a:t>(a) Create a New Node      </a:t>
            </a:r>
          </a:p>
          <a:p>
            <a:pPr marL="822960" lvl="3">
              <a:spcBef>
                <a:spcPts val="600"/>
              </a:spcBef>
              <a:buClr>
                <a:schemeClr val="accent1"/>
              </a:buClr>
            </a:pPr>
            <a:r>
              <a:rPr lang="en-US" sz="2200" i="1" dirty="0">
                <a:solidFill>
                  <a:srgbClr val="0070C0"/>
                </a:solidFill>
              </a:rPr>
              <a:t>Create a new node (</a:t>
            </a:r>
            <a:r>
              <a:rPr lang="en-US" sz="2200" i="1" dirty="0" err="1">
                <a:solidFill>
                  <a:srgbClr val="0070C0"/>
                </a:solidFill>
              </a:rPr>
              <a:t>NewNode</a:t>
            </a:r>
            <a:r>
              <a:rPr lang="en-US" sz="2200" i="1" dirty="0">
                <a:solidFill>
                  <a:srgbClr val="0070C0"/>
                </a:solidFill>
              </a:rPr>
              <a:t>).</a:t>
            </a:r>
          </a:p>
          <a:p>
            <a:pPr lvl="1">
              <a:buNone/>
            </a:pPr>
            <a:r>
              <a:rPr lang="en-US" dirty="0">
                <a:solidFill>
                  <a:schemeClr val="tx1"/>
                </a:solidFill>
              </a:rPr>
              <a:t>(</a:t>
            </a:r>
            <a:r>
              <a:rPr lang="en-US" i="1" dirty="0">
                <a:solidFill>
                  <a:schemeClr val="tx1"/>
                </a:solidFill>
              </a:rPr>
              <a:t>b) </a:t>
            </a:r>
            <a:r>
              <a:rPr lang="en-US" i="1" dirty="0" err="1">
                <a:solidFill>
                  <a:schemeClr val="tx1"/>
                </a:solidFill>
              </a:rPr>
              <a:t>NewNode</a:t>
            </a:r>
            <a:r>
              <a:rPr lang="en-US" i="1" dirty="0">
                <a:solidFill>
                  <a:schemeClr val="tx1"/>
                </a:solidFill>
              </a:rPr>
              <a:t> → DATA = DATA</a:t>
            </a:r>
          </a:p>
          <a:p>
            <a:pPr marL="822960" lvl="3">
              <a:spcBef>
                <a:spcPts val="600"/>
              </a:spcBef>
              <a:buClr>
                <a:schemeClr val="accent1"/>
              </a:buClr>
            </a:pPr>
            <a:r>
              <a:rPr lang="en-US" sz="2200" i="1" dirty="0">
                <a:solidFill>
                  <a:srgbClr val="0070C0"/>
                </a:solidFill>
              </a:rPr>
              <a:t>Set the data of the new node to the input data value.</a:t>
            </a:r>
          </a:p>
          <a:p>
            <a:pPr lvl="1">
              <a:buNone/>
            </a:pPr>
            <a:r>
              <a:rPr lang="en-US" i="1" dirty="0">
                <a:solidFill>
                  <a:schemeClr val="tx1"/>
                </a:solidFill>
              </a:rPr>
              <a:t>(c) </a:t>
            </a:r>
            <a:r>
              <a:rPr lang="en-US" i="1" dirty="0" err="1">
                <a:solidFill>
                  <a:schemeClr val="tx1"/>
                </a:solidFill>
              </a:rPr>
              <a:t>NewNode</a:t>
            </a:r>
            <a:r>
              <a:rPr lang="en-US" i="1" dirty="0">
                <a:solidFill>
                  <a:schemeClr val="tx1"/>
                </a:solidFill>
              </a:rPr>
              <a:t> → </a:t>
            </a:r>
            <a:r>
              <a:rPr lang="en-US" i="1" dirty="0" err="1">
                <a:solidFill>
                  <a:schemeClr val="tx1"/>
                </a:solidFill>
              </a:rPr>
              <a:t>RPoint</a:t>
            </a:r>
            <a:r>
              <a:rPr lang="en-US" i="1" dirty="0">
                <a:solidFill>
                  <a:schemeClr val="tx1"/>
                </a:solidFill>
              </a:rPr>
              <a:t> = TEMP → </a:t>
            </a:r>
            <a:r>
              <a:rPr lang="en-US" i="1" dirty="0" err="1">
                <a:solidFill>
                  <a:schemeClr val="tx1"/>
                </a:solidFill>
              </a:rPr>
              <a:t>Rpoint</a:t>
            </a:r>
            <a:endParaRPr lang="en-US" i="1" dirty="0">
              <a:solidFill>
                <a:schemeClr val="tx1"/>
              </a:solidFill>
            </a:endParaRPr>
          </a:p>
          <a:p>
            <a:pPr marL="822960" lvl="3">
              <a:spcBef>
                <a:spcPts val="600"/>
              </a:spcBef>
              <a:buClr>
                <a:schemeClr val="accent1"/>
              </a:buClr>
            </a:pPr>
            <a:r>
              <a:rPr lang="en-US" sz="2200" i="1" dirty="0">
                <a:solidFill>
                  <a:srgbClr val="0070C0"/>
                </a:solidFill>
              </a:rPr>
              <a:t>Set the right pointer of the new node (</a:t>
            </a:r>
            <a:r>
              <a:rPr lang="en-US" sz="2200" i="1" dirty="0" err="1">
                <a:solidFill>
                  <a:srgbClr val="0070C0"/>
                </a:solidFill>
              </a:rPr>
              <a:t>RPoint</a:t>
            </a:r>
            <a:r>
              <a:rPr lang="en-US" sz="2200" i="1" dirty="0">
                <a:solidFill>
                  <a:srgbClr val="0070C0"/>
                </a:solidFill>
              </a:rPr>
              <a:t>) to the right pointer of the current node (TEMP → </a:t>
            </a:r>
            <a:r>
              <a:rPr lang="en-US" sz="2200" i="1" dirty="0" err="1">
                <a:solidFill>
                  <a:srgbClr val="0070C0"/>
                </a:solidFill>
              </a:rPr>
              <a:t>RPoint</a:t>
            </a:r>
            <a:r>
              <a:rPr lang="en-US" sz="2200" i="1" dirty="0">
                <a:solidFill>
                  <a:srgbClr val="0070C0"/>
                </a:solidFill>
              </a:rPr>
              <a:t>).</a:t>
            </a:r>
          </a:p>
          <a:p>
            <a:pPr lvl="1">
              <a:buNone/>
            </a:pPr>
            <a:r>
              <a:rPr lang="en-US" i="1" dirty="0">
                <a:solidFill>
                  <a:schemeClr val="tx1"/>
                </a:solidFill>
              </a:rPr>
              <a:t>(d) </a:t>
            </a:r>
            <a:r>
              <a:rPr lang="en-US" i="1" dirty="0" err="1">
                <a:solidFill>
                  <a:schemeClr val="tx1"/>
                </a:solidFill>
              </a:rPr>
              <a:t>NewNode</a:t>
            </a:r>
            <a:r>
              <a:rPr lang="en-US" i="1" dirty="0">
                <a:solidFill>
                  <a:schemeClr val="tx1"/>
                </a:solidFill>
              </a:rPr>
              <a:t> → </a:t>
            </a:r>
            <a:r>
              <a:rPr lang="en-US" i="1" dirty="0" err="1">
                <a:solidFill>
                  <a:schemeClr val="tx1"/>
                </a:solidFill>
              </a:rPr>
              <a:t>LPoint</a:t>
            </a:r>
            <a:r>
              <a:rPr lang="en-US" i="1" dirty="0">
                <a:solidFill>
                  <a:schemeClr val="tx1"/>
                </a:solidFill>
              </a:rPr>
              <a:t> = TEMP</a:t>
            </a:r>
          </a:p>
          <a:p>
            <a:pPr marL="822960" lvl="3">
              <a:spcBef>
                <a:spcPts val="600"/>
              </a:spcBef>
              <a:buClr>
                <a:schemeClr val="accent1"/>
              </a:buClr>
            </a:pPr>
            <a:r>
              <a:rPr lang="en-US" sz="2200" i="1" dirty="0">
                <a:solidFill>
                  <a:srgbClr val="0070C0"/>
                </a:solidFill>
              </a:rPr>
              <a:t>Set the left pointer of the new node (</a:t>
            </a:r>
            <a:r>
              <a:rPr lang="en-US" sz="2200" i="1" dirty="0" err="1">
                <a:solidFill>
                  <a:srgbClr val="0070C0"/>
                </a:solidFill>
              </a:rPr>
              <a:t>LPoint</a:t>
            </a:r>
            <a:r>
              <a:rPr lang="en-US" sz="2200" i="1" dirty="0">
                <a:solidFill>
                  <a:srgbClr val="0070C0"/>
                </a:solidFill>
              </a:rPr>
              <a:t>) to the current node (TEMP).</a:t>
            </a:r>
          </a:p>
        </p:txBody>
      </p:sp>
    </p:spTree>
    <p:extLst>
      <p:ext uri="{BB962C8B-B14F-4D97-AF65-F5344CB8AC3E}">
        <p14:creationId xmlns:p14="http://schemas.microsoft.com/office/powerpoint/2010/main" val="3927067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INSERTING A NODE AT SPECIFIED POSITION(Line by Line Detail)</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a:xfrm>
            <a:off x="457200" y="1219200"/>
            <a:ext cx="8229600" cy="5105400"/>
          </a:xfrm>
        </p:spPr>
        <p:txBody>
          <a:bodyPr>
            <a:noAutofit/>
          </a:bodyPr>
          <a:lstStyle/>
          <a:p>
            <a:r>
              <a:rPr lang="en-US" sz="1600" i="1" dirty="0">
                <a:solidFill>
                  <a:srgbClr val="00B050"/>
                </a:solidFill>
              </a:rPr>
              <a:t>If  TEMP is not NULL and the counter i is equal to POS, execute the following steps: </a:t>
            </a:r>
          </a:p>
          <a:p>
            <a:pPr lvl="1">
              <a:buNone/>
            </a:pPr>
            <a:r>
              <a:rPr lang="en-US" sz="1600" dirty="0">
                <a:solidFill>
                  <a:schemeClr val="tx1"/>
                </a:solidFill>
              </a:rPr>
              <a:t>(e) (TEMP → </a:t>
            </a:r>
            <a:r>
              <a:rPr lang="en-US" sz="1600" dirty="0" err="1">
                <a:solidFill>
                  <a:schemeClr val="tx1"/>
                </a:solidFill>
              </a:rPr>
              <a:t>RPoint</a:t>
            </a:r>
            <a:r>
              <a:rPr lang="en-US" sz="1600" dirty="0">
                <a:solidFill>
                  <a:schemeClr val="tx1"/>
                </a:solidFill>
              </a:rPr>
              <a:t>) → </a:t>
            </a:r>
            <a:r>
              <a:rPr lang="en-US" sz="1600" dirty="0" err="1">
                <a:solidFill>
                  <a:schemeClr val="tx1"/>
                </a:solidFill>
              </a:rPr>
              <a:t>LPoint</a:t>
            </a:r>
            <a:r>
              <a:rPr lang="en-US" sz="1600" dirty="0">
                <a:solidFill>
                  <a:schemeClr val="tx1"/>
                </a:solidFill>
              </a:rPr>
              <a:t> = </a:t>
            </a:r>
            <a:r>
              <a:rPr lang="en-US" sz="1600" dirty="0" err="1">
                <a:solidFill>
                  <a:schemeClr val="tx1"/>
                </a:solidFill>
              </a:rPr>
              <a:t>NewNode</a:t>
            </a:r>
            <a:r>
              <a:rPr lang="en-US" sz="1600" dirty="0">
                <a:solidFill>
                  <a:schemeClr val="tx1"/>
                </a:solidFill>
              </a:rPr>
              <a:t> </a:t>
            </a:r>
          </a:p>
          <a:p>
            <a:pPr marL="822960" lvl="3">
              <a:spcBef>
                <a:spcPts val="600"/>
              </a:spcBef>
              <a:buClr>
                <a:schemeClr val="accent1"/>
              </a:buClr>
            </a:pPr>
            <a:r>
              <a:rPr lang="en-US" sz="1600" i="1" dirty="0">
                <a:solidFill>
                  <a:srgbClr val="0070C0"/>
                </a:solidFill>
              </a:rPr>
              <a:t>Set the left pointer of the node to the right of TEMP to </a:t>
            </a:r>
            <a:r>
              <a:rPr lang="en-US" sz="1600" i="1" dirty="0" err="1">
                <a:solidFill>
                  <a:srgbClr val="0070C0"/>
                </a:solidFill>
              </a:rPr>
              <a:t>NewNode</a:t>
            </a:r>
            <a:r>
              <a:rPr lang="en-US" sz="1600" i="1" dirty="0">
                <a:solidFill>
                  <a:srgbClr val="0070C0"/>
                </a:solidFill>
              </a:rPr>
              <a:t>.</a:t>
            </a:r>
          </a:p>
          <a:p>
            <a:pPr marL="822960" lvl="3">
              <a:spcBef>
                <a:spcPts val="600"/>
              </a:spcBef>
              <a:buClr>
                <a:schemeClr val="accent1"/>
              </a:buClr>
            </a:pPr>
            <a:r>
              <a:rPr lang="en-US" sz="1600" i="1" dirty="0">
                <a:solidFill>
                  <a:srgbClr val="0070C0"/>
                </a:solidFill>
              </a:rPr>
              <a:t>It ensures that the left link of the current node is updated to point to the newly created node</a:t>
            </a:r>
          </a:p>
          <a:p>
            <a:pPr lvl="1">
              <a:buNone/>
            </a:pPr>
            <a:r>
              <a:rPr lang="en-US" sz="1600" dirty="0">
                <a:solidFill>
                  <a:schemeClr val="tx1"/>
                </a:solidFill>
              </a:rPr>
              <a:t> (f) TEMP → </a:t>
            </a:r>
            <a:r>
              <a:rPr lang="en-US" sz="1600" dirty="0" err="1">
                <a:solidFill>
                  <a:schemeClr val="tx1"/>
                </a:solidFill>
              </a:rPr>
              <a:t>RPoint</a:t>
            </a:r>
            <a:r>
              <a:rPr lang="en-US" sz="1600" dirty="0">
                <a:solidFill>
                  <a:schemeClr val="tx1"/>
                </a:solidFill>
              </a:rPr>
              <a:t> = New Node</a:t>
            </a:r>
          </a:p>
          <a:p>
            <a:pPr marL="822960" lvl="3">
              <a:spcBef>
                <a:spcPts val="600"/>
              </a:spcBef>
              <a:buClr>
                <a:schemeClr val="accent1"/>
              </a:buClr>
            </a:pPr>
            <a:r>
              <a:rPr lang="en-US" sz="1600" i="1" dirty="0">
                <a:solidFill>
                  <a:srgbClr val="0070C0"/>
                </a:solidFill>
              </a:rPr>
              <a:t>Set the right pointer of the current node to the new node (TEMP → </a:t>
            </a:r>
            <a:r>
              <a:rPr lang="en-US" sz="1600" i="1" dirty="0" err="1">
                <a:solidFill>
                  <a:srgbClr val="0070C0"/>
                </a:solidFill>
              </a:rPr>
              <a:t>RPoint</a:t>
            </a:r>
            <a:r>
              <a:rPr lang="en-US" sz="1600" i="1" dirty="0">
                <a:solidFill>
                  <a:srgbClr val="0070C0"/>
                </a:solidFill>
              </a:rPr>
              <a:t> = </a:t>
            </a:r>
            <a:r>
              <a:rPr lang="en-US" sz="1600" i="1" dirty="0" err="1">
                <a:solidFill>
                  <a:srgbClr val="0070C0"/>
                </a:solidFill>
              </a:rPr>
              <a:t>NewNode</a:t>
            </a:r>
            <a:r>
              <a:rPr lang="en-US" sz="1600" i="1" dirty="0">
                <a:solidFill>
                  <a:srgbClr val="0070C0"/>
                </a:solidFill>
              </a:rPr>
              <a:t>).</a:t>
            </a:r>
          </a:p>
          <a:p>
            <a:pPr marL="822960" lvl="3">
              <a:spcBef>
                <a:spcPts val="600"/>
              </a:spcBef>
              <a:buClr>
                <a:schemeClr val="accent1"/>
              </a:buClr>
            </a:pPr>
            <a:r>
              <a:rPr lang="en-US" sz="1600" i="1" dirty="0">
                <a:solidFill>
                  <a:srgbClr val="0070C0"/>
                </a:solidFill>
              </a:rPr>
              <a:t>This line unconditionally sets the right pointer of the current node (TEMP) to </a:t>
            </a:r>
            <a:r>
              <a:rPr lang="en-US" sz="1600" i="1" dirty="0" err="1">
                <a:solidFill>
                  <a:srgbClr val="0070C0"/>
                </a:solidFill>
              </a:rPr>
              <a:t>NewNode</a:t>
            </a:r>
            <a:r>
              <a:rPr lang="en-US" sz="1600" i="1" dirty="0">
                <a:solidFill>
                  <a:srgbClr val="0070C0"/>
                </a:solidFill>
              </a:rPr>
              <a:t>..</a:t>
            </a:r>
          </a:p>
          <a:p>
            <a:pPr>
              <a:buNone/>
            </a:pPr>
            <a:r>
              <a:rPr lang="en-US" sz="1600" dirty="0"/>
              <a:t>6. Else</a:t>
            </a:r>
          </a:p>
          <a:p>
            <a:pPr marL="731520" lvl="1" indent="-457200">
              <a:buAutoNum type="alphaLcParenBoth"/>
            </a:pPr>
            <a:r>
              <a:rPr lang="en-US" sz="1600" i="1" dirty="0">
                <a:solidFill>
                  <a:schemeClr val="tx1"/>
                </a:solidFill>
              </a:rPr>
              <a:t>Display “Position NOT found”</a:t>
            </a:r>
          </a:p>
          <a:p>
            <a:pPr marL="822960" lvl="3">
              <a:spcBef>
                <a:spcPts val="600"/>
              </a:spcBef>
              <a:buClr>
                <a:schemeClr val="accent1"/>
              </a:buClr>
            </a:pPr>
            <a:r>
              <a:rPr lang="en-US" sz="1600" i="1" dirty="0">
                <a:solidFill>
                  <a:srgbClr val="0070C0"/>
                </a:solidFill>
              </a:rPr>
              <a:t>If the position was not found (i.e., TEMP is NULL before reaching the desired position), display "Position NOT found."</a:t>
            </a:r>
          </a:p>
          <a:p>
            <a:pPr>
              <a:buNone/>
            </a:pPr>
            <a:r>
              <a:rPr lang="en-US" sz="1600" dirty="0"/>
              <a:t>7. Exit</a:t>
            </a:r>
          </a:p>
        </p:txBody>
      </p:sp>
    </p:spTree>
    <p:extLst>
      <p:ext uri="{BB962C8B-B14F-4D97-AF65-F5344CB8AC3E}">
        <p14:creationId xmlns:p14="http://schemas.microsoft.com/office/powerpoint/2010/main" val="351827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69832-3757-4C6B-FD86-1961A6952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39BB4-DAF8-8BD2-A7DE-525BB7F62977}"/>
              </a:ext>
            </a:extLst>
          </p:cNvPr>
          <p:cNvSpPr>
            <a:spLocks noGrp="1"/>
          </p:cNvSpPr>
          <p:nvPr>
            <p:ph type="title"/>
          </p:nvPr>
        </p:nvSpPr>
        <p:spPr/>
        <p:txBody>
          <a:bodyPr/>
          <a:lstStyle/>
          <a:p>
            <a:r>
              <a:rPr lang="en-US" dirty="0"/>
              <a:t>Implementation in C++</a:t>
            </a:r>
          </a:p>
        </p:txBody>
      </p:sp>
      <p:sp>
        <p:nvSpPr>
          <p:cNvPr id="3" name="Footer Placeholder 2">
            <a:extLst>
              <a:ext uri="{FF2B5EF4-FFF2-40B4-BE49-F238E27FC236}">
                <a16:creationId xmlns:a16="http://schemas.microsoft.com/office/drawing/2014/main" id="{706F91AD-A6B5-9A14-B292-12FCAF454CA1}"/>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188ED35C-5AF0-1044-29BF-A9A58C6C895E}"/>
              </a:ext>
            </a:extLst>
          </p:cNvPr>
          <p:cNvSpPr>
            <a:spLocks noGrp="1"/>
          </p:cNvSpPr>
          <p:nvPr>
            <p:ph sz="quarter" idx="1"/>
          </p:nvPr>
        </p:nvSpPr>
        <p:spPr>
          <a:xfrm>
            <a:off x="457200" y="1143001"/>
            <a:ext cx="4041648" cy="1600200"/>
          </a:xfrm>
          <a:solidFill>
            <a:srgbClr val="FFFF00"/>
          </a:solidFill>
        </p:spPr>
        <p:txBody>
          <a:bodyPr>
            <a:noAutofit/>
          </a:bodyPr>
          <a:lstStyle/>
          <a:p>
            <a:pPr marL="0" indent="0">
              <a:buNone/>
            </a:pPr>
            <a:r>
              <a:rPr lang="en-US" sz="1400" dirty="0"/>
              <a:t>struct Node {</a:t>
            </a:r>
          </a:p>
          <a:p>
            <a:pPr marL="0" indent="0">
              <a:buNone/>
            </a:pPr>
            <a:r>
              <a:rPr lang="en-US" sz="1400" dirty="0"/>
              <a:t>	int data;</a:t>
            </a:r>
          </a:p>
          <a:p>
            <a:pPr marL="0" indent="0">
              <a:buNone/>
            </a:pPr>
            <a:r>
              <a:rPr lang="en-US" sz="1400" dirty="0"/>
              <a:t>	Node* </a:t>
            </a:r>
            <a:r>
              <a:rPr lang="en-US" sz="1400" dirty="0" err="1"/>
              <a:t>prev</a:t>
            </a:r>
            <a:r>
              <a:rPr lang="en-US" sz="1400" dirty="0"/>
              <a:t>;</a:t>
            </a:r>
          </a:p>
          <a:p>
            <a:pPr marL="0" indent="0">
              <a:buNone/>
            </a:pPr>
            <a:r>
              <a:rPr lang="en-US" sz="1400" dirty="0"/>
              <a:t>	Node* next;</a:t>
            </a:r>
          </a:p>
          <a:p>
            <a:pPr marL="0" indent="0">
              <a:buNone/>
            </a:pPr>
            <a:r>
              <a:rPr lang="en-US" sz="1400" dirty="0"/>
              <a:t>	};</a:t>
            </a:r>
          </a:p>
        </p:txBody>
      </p:sp>
      <p:sp>
        <p:nvSpPr>
          <p:cNvPr id="7" name="TextBox 6">
            <a:extLst>
              <a:ext uri="{FF2B5EF4-FFF2-40B4-BE49-F238E27FC236}">
                <a16:creationId xmlns:a16="http://schemas.microsoft.com/office/drawing/2014/main" id="{2D61387B-345C-E0C6-3CA1-A210DDEE04B2}"/>
              </a:ext>
            </a:extLst>
          </p:cNvPr>
          <p:cNvSpPr txBox="1"/>
          <p:nvPr/>
        </p:nvSpPr>
        <p:spPr>
          <a:xfrm>
            <a:off x="457200" y="2743200"/>
            <a:ext cx="4041648" cy="1384995"/>
          </a:xfrm>
          <a:prstGeom prst="rect">
            <a:avLst/>
          </a:prstGeom>
          <a:solidFill>
            <a:srgbClr val="92D050"/>
          </a:solidFill>
        </p:spPr>
        <p:txBody>
          <a:bodyPr wrap="square">
            <a:spAutoFit/>
          </a:bodyPr>
          <a:lstStyle/>
          <a:p>
            <a:r>
              <a:rPr lang="en-US" sz="1400" b="1" dirty="0"/>
              <a:t>// Function to insert a new node at a given position in the doubly linked list</a:t>
            </a:r>
          </a:p>
          <a:p>
            <a:r>
              <a:rPr lang="en-US" sz="1400" dirty="0"/>
              <a:t>void </a:t>
            </a:r>
            <a:r>
              <a:rPr lang="en-US" sz="1400" dirty="0" err="1"/>
              <a:t>insertAtPos</a:t>
            </a:r>
            <a:r>
              <a:rPr lang="en-US" sz="1400" dirty="0"/>
              <a:t>(</a:t>
            </a:r>
            <a:r>
              <a:rPr lang="en-US" sz="1400"/>
              <a:t>Node* </a:t>
            </a:r>
            <a:r>
              <a:rPr lang="en-US" sz="1400" dirty="0"/>
              <a:t>head, int data, int pos) {</a:t>
            </a:r>
          </a:p>
          <a:p>
            <a:r>
              <a:rPr lang="en-US" sz="1400" dirty="0"/>
              <a:t>  // Create a new node to be inserted</a:t>
            </a:r>
          </a:p>
          <a:p>
            <a:r>
              <a:rPr lang="en-US" sz="1400" dirty="0"/>
              <a:t>  Node* </a:t>
            </a:r>
            <a:r>
              <a:rPr lang="en-US" sz="1400" dirty="0" err="1"/>
              <a:t>newNode</a:t>
            </a:r>
            <a:r>
              <a:rPr lang="en-US" sz="1400" dirty="0"/>
              <a:t> = new Node;</a:t>
            </a:r>
          </a:p>
          <a:p>
            <a:r>
              <a:rPr lang="en-US" sz="1400" dirty="0"/>
              <a:t>  </a:t>
            </a:r>
            <a:r>
              <a:rPr lang="en-US" sz="1400" dirty="0" err="1"/>
              <a:t>newNode</a:t>
            </a:r>
            <a:r>
              <a:rPr lang="en-US" sz="1400" dirty="0"/>
              <a:t>-&gt;data = data;</a:t>
            </a:r>
          </a:p>
        </p:txBody>
      </p:sp>
      <p:sp>
        <p:nvSpPr>
          <p:cNvPr id="10" name="TextBox 9">
            <a:extLst>
              <a:ext uri="{FF2B5EF4-FFF2-40B4-BE49-F238E27FC236}">
                <a16:creationId xmlns:a16="http://schemas.microsoft.com/office/drawing/2014/main" id="{2DDB409B-D170-2F99-5FF1-F6B68E0FBE5F}"/>
              </a:ext>
            </a:extLst>
          </p:cNvPr>
          <p:cNvSpPr txBox="1"/>
          <p:nvPr/>
        </p:nvSpPr>
        <p:spPr>
          <a:xfrm>
            <a:off x="457200" y="4114800"/>
            <a:ext cx="4041648" cy="2246769"/>
          </a:xfrm>
          <a:prstGeom prst="rect">
            <a:avLst/>
          </a:prstGeom>
          <a:solidFill>
            <a:srgbClr val="00B0F0"/>
          </a:solidFill>
        </p:spPr>
        <p:txBody>
          <a:bodyPr wrap="square">
            <a:spAutoFit/>
          </a:bodyPr>
          <a:lstStyle/>
          <a:p>
            <a:r>
              <a:rPr lang="en-US" sz="1400" b="1" dirty="0"/>
              <a:t> // Handle the case of an empty list</a:t>
            </a:r>
          </a:p>
          <a:p>
            <a:r>
              <a:rPr lang="en-US" sz="1400" dirty="0"/>
              <a:t>  if (*head == </a:t>
            </a:r>
            <a:r>
              <a:rPr lang="en-US" sz="1400" dirty="0" err="1"/>
              <a:t>nullptr</a:t>
            </a:r>
            <a:r>
              <a:rPr lang="en-US" sz="1400" dirty="0"/>
              <a:t>) {</a:t>
            </a:r>
          </a:p>
          <a:p>
            <a:r>
              <a:rPr lang="en-US" sz="1400" b="1" dirty="0"/>
              <a:t>    // Set the new node's pointers to null since it's the first and last node</a:t>
            </a:r>
          </a:p>
          <a:p>
            <a:r>
              <a:rPr lang="en-US" sz="1400" dirty="0"/>
              <a:t>    </a:t>
            </a:r>
            <a:r>
              <a:rPr lang="en-US" sz="1400" dirty="0" err="1"/>
              <a:t>newNode</a:t>
            </a:r>
            <a:r>
              <a:rPr lang="en-US" sz="1400" dirty="0"/>
              <a:t>-&gt;</a:t>
            </a:r>
            <a:r>
              <a:rPr lang="en-US" sz="1400" dirty="0" err="1"/>
              <a:t>prev</a:t>
            </a:r>
            <a:r>
              <a:rPr lang="en-US" sz="1400" dirty="0"/>
              <a:t> = </a:t>
            </a:r>
            <a:r>
              <a:rPr lang="en-US" sz="1400" dirty="0" err="1"/>
              <a:t>nullptr</a:t>
            </a:r>
            <a:r>
              <a:rPr lang="en-US" sz="1400" dirty="0"/>
              <a:t>;</a:t>
            </a:r>
          </a:p>
          <a:p>
            <a:r>
              <a:rPr lang="en-US" sz="1400" dirty="0"/>
              <a:t>    </a:t>
            </a:r>
            <a:r>
              <a:rPr lang="en-US" sz="1400" dirty="0" err="1"/>
              <a:t>newNode</a:t>
            </a:r>
            <a:r>
              <a:rPr lang="en-US" sz="1400" dirty="0"/>
              <a:t>-&gt;next = </a:t>
            </a:r>
            <a:r>
              <a:rPr lang="en-US" sz="1400" dirty="0" err="1"/>
              <a:t>nullptr</a:t>
            </a:r>
            <a:r>
              <a:rPr lang="en-US" sz="1400" dirty="0"/>
              <a:t>;</a:t>
            </a:r>
          </a:p>
          <a:p>
            <a:r>
              <a:rPr lang="en-US" sz="1400" dirty="0"/>
              <a:t>    // Make the new node the head of the list</a:t>
            </a:r>
          </a:p>
          <a:p>
            <a:r>
              <a:rPr lang="en-US" sz="1400" dirty="0"/>
              <a:t>    *head = </a:t>
            </a:r>
            <a:r>
              <a:rPr lang="en-US" sz="1400" dirty="0" err="1"/>
              <a:t>newNode</a:t>
            </a:r>
            <a:r>
              <a:rPr lang="en-US" sz="1400" dirty="0"/>
              <a:t>;</a:t>
            </a:r>
          </a:p>
          <a:p>
            <a:r>
              <a:rPr lang="en-US" sz="1400" dirty="0"/>
              <a:t>    return;</a:t>
            </a:r>
          </a:p>
          <a:p>
            <a:r>
              <a:rPr lang="en-US" sz="1400" dirty="0"/>
              <a:t>  }</a:t>
            </a:r>
          </a:p>
        </p:txBody>
      </p:sp>
      <p:sp>
        <p:nvSpPr>
          <p:cNvPr id="11" name="Content Placeholder 4">
            <a:extLst>
              <a:ext uri="{FF2B5EF4-FFF2-40B4-BE49-F238E27FC236}">
                <a16:creationId xmlns:a16="http://schemas.microsoft.com/office/drawing/2014/main" id="{A9D549F1-BDEC-7C4A-34CF-44C4944BC1B5}"/>
              </a:ext>
            </a:extLst>
          </p:cNvPr>
          <p:cNvSpPr txBox="1">
            <a:spLocks/>
          </p:cNvSpPr>
          <p:nvPr/>
        </p:nvSpPr>
        <p:spPr>
          <a:xfrm>
            <a:off x="4498848" y="1143000"/>
            <a:ext cx="4174998" cy="5213350"/>
          </a:xfrm>
          <a:prstGeom prst="rect">
            <a:avLst/>
          </a:prstGeom>
          <a:solidFill>
            <a:schemeClr val="accent4">
              <a:lumMod val="75000"/>
            </a:schemeClr>
          </a:solidFill>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400" dirty="0"/>
              <a:t> </a:t>
            </a:r>
            <a:r>
              <a:rPr lang="en-US" sz="1400" b="1" dirty="0"/>
              <a:t>// Handle insertion at the beginning (position 0)</a:t>
            </a:r>
          </a:p>
          <a:p>
            <a:pPr marL="0" indent="0">
              <a:buNone/>
            </a:pPr>
            <a:r>
              <a:rPr lang="en-US" sz="1400" dirty="0"/>
              <a:t>  if (pos == 0) {</a:t>
            </a:r>
          </a:p>
          <a:p>
            <a:pPr marL="0" indent="0">
              <a:buNone/>
            </a:pPr>
            <a:r>
              <a:rPr lang="en-US" sz="1400" b="1" dirty="0"/>
              <a:t> // Set the new node's next pointer to point to the current head</a:t>
            </a:r>
          </a:p>
          <a:p>
            <a:pPr marL="0" indent="0">
              <a:buNone/>
            </a:pPr>
            <a:r>
              <a:rPr lang="en-US" sz="1400" dirty="0"/>
              <a:t>    </a:t>
            </a:r>
            <a:r>
              <a:rPr lang="en-US" sz="1400" dirty="0" err="1"/>
              <a:t>newNode</a:t>
            </a:r>
            <a:r>
              <a:rPr lang="en-US" sz="1400" dirty="0"/>
              <a:t>-&gt;next = *head;</a:t>
            </a:r>
          </a:p>
          <a:p>
            <a:pPr marL="0" indent="0">
              <a:buNone/>
            </a:pPr>
            <a:r>
              <a:rPr lang="en-US" sz="1400" b="1" dirty="0"/>
              <a:t>// Set the current head's previous pointer to point to the new node</a:t>
            </a:r>
          </a:p>
          <a:p>
            <a:pPr marL="0" indent="0">
              <a:buNone/>
            </a:pPr>
            <a:r>
              <a:rPr lang="en-US" sz="1400" dirty="0"/>
              <a:t>    (*head)-&gt;</a:t>
            </a:r>
            <a:r>
              <a:rPr lang="en-US" sz="1400" dirty="0" err="1"/>
              <a:t>prev</a:t>
            </a:r>
            <a:r>
              <a:rPr lang="en-US" sz="1400" dirty="0"/>
              <a:t> = </a:t>
            </a:r>
            <a:r>
              <a:rPr lang="en-US" sz="1400" dirty="0" err="1"/>
              <a:t>newNode</a:t>
            </a:r>
            <a:r>
              <a:rPr lang="en-US" sz="1400" dirty="0"/>
              <a:t>;</a:t>
            </a:r>
          </a:p>
          <a:p>
            <a:pPr marL="0" indent="0">
              <a:buNone/>
            </a:pPr>
            <a:r>
              <a:rPr lang="en-US" sz="1400" b="1" dirty="0"/>
              <a:t>    // Make the new node the head of the list</a:t>
            </a:r>
          </a:p>
          <a:p>
            <a:pPr marL="0" indent="0">
              <a:buNone/>
            </a:pPr>
            <a:r>
              <a:rPr lang="en-US" sz="1400" dirty="0"/>
              <a:t>    *head = </a:t>
            </a:r>
            <a:r>
              <a:rPr lang="en-US" sz="1400" dirty="0" err="1"/>
              <a:t>newNode</a:t>
            </a:r>
            <a:r>
              <a:rPr lang="en-US" sz="1400" dirty="0"/>
              <a:t>;</a:t>
            </a:r>
          </a:p>
          <a:p>
            <a:pPr marL="0" indent="0">
              <a:buNone/>
            </a:pPr>
            <a:r>
              <a:rPr lang="en-US" sz="1400" b="1" dirty="0"/>
              <a:t>it's now the first node // Set the new node's previous pointer to null since </a:t>
            </a:r>
          </a:p>
          <a:p>
            <a:pPr marL="0" indent="0">
              <a:buNone/>
            </a:pPr>
            <a:r>
              <a:rPr lang="en-US" sz="1400" dirty="0"/>
              <a:t>    </a:t>
            </a:r>
            <a:r>
              <a:rPr lang="en-US" sz="1400" dirty="0" err="1"/>
              <a:t>newNode</a:t>
            </a:r>
            <a:r>
              <a:rPr lang="en-US" sz="1400" dirty="0"/>
              <a:t>-&gt;</a:t>
            </a:r>
            <a:r>
              <a:rPr lang="en-US" sz="1400" dirty="0" err="1"/>
              <a:t>prev</a:t>
            </a:r>
            <a:r>
              <a:rPr lang="en-US" sz="1400" dirty="0"/>
              <a:t> = </a:t>
            </a:r>
            <a:r>
              <a:rPr lang="en-US" sz="1400" dirty="0" err="1"/>
              <a:t>nullptr</a:t>
            </a:r>
            <a:r>
              <a:rPr lang="en-US" sz="1400" dirty="0"/>
              <a:t>;</a:t>
            </a:r>
          </a:p>
          <a:p>
            <a:pPr marL="0" indent="0">
              <a:buNone/>
            </a:pPr>
            <a:r>
              <a:rPr lang="en-US" sz="1400" dirty="0"/>
              <a:t>    return;</a:t>
            </a:r>
          </a:p>
          <a:p>
            <a:pPr marL="0" indent="0">
              <a:buNone/>
            </a:pPr>
            <a:r>
              <a:rPr lang="en-US" sz="1400" dirty="0"/>
              <a:t>  }</a:t>
            </a:r>
          </a:p>
          <a:p>
            <a:pPr marL="0" indent="0">
              <a:buNone/>
            </a:pPr>
            <a:r>
              <a:rPr lang="en-US" sz="1400" dirty="0"/>
              <a:t>    }</a:t>
            </a:r>
          </a:p>
        </p:txBody>
      </p:sp>
    </p:spTree>
    <p:extLst>
      <p:ext uri="{BB962C8B-B14F-4D97-AF65-F5344CB8AC3E}">
        <p14:creationId xmlns:p14="http://schemas.microsoft.com/office/powerpoint/2010/main" val="390354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87DFF-7D50-74AD-3076-A31F9D904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39974-87DF-D603-30E5-C1DAFD65D0CC}"/>
              </a:ext>
            </a:extLst>
          </p:cNvPr>
          <p:cNvSpPr>
            <a:spLocks noGrp="1"/>
          </p:cNvSpPr>
          <p:nvPr>
            <p:ph type="title"/>
          </p:nvPr>
        </p:nvSpPr>
        <p:spPr/>
        <p:txBody>
          <a:bodyPr/>
          <a:lstStyle/>
          <a:p>
            <a:r>
              <a:rPr lang="en-US" dirty="0"/>
              <a:t>Implementation in C++</a:t>
            </a:r>
          </a:p>
        </p:txBody>
      </p:sp>
      <p:sp>
        <p:nvSpPr>
          <p:cNvPr id="3" name="Footer Placeholder 2">
            <a:extLst>
              <a:ext uri="{FF2B5EF4-FFF2-40B4-BE49-F238E27FC236}">
                <a16:creationId xmlns:a16="http://schemas.microsoft.com/office/drawing/2014/main" id="{54294DAA-7FD8-8EB0-7B0B-51E45CAA0C6C}"/>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A649FEA3-2E68-465B-6588-D9FF11C2048B}"/>
              </a:ext>
            </a:extLst>
          </p:cNvPr>
          <p:cNvSpPr>
            <a:spLocks noGrp="1"/>
          </p:cNvSpPr>
          <p:nvPr>
            <p:ph sz="quarter" idx="1"/>
          </p:nvPr>
        </p:nvSpPr>
        <p:spPr>
          <a:xfrm>
            <a:off x="4645152" y="1143000"/>
            <a:ext cx="4041648" cy="5257800"/>
          </a:xfrm>
          <a:solidFill>
            <a:srgbClr val="FFFF00"/>
          </a:solidFill>
        </p:spPr>
        <p:txBody>
          <a:bodyPr>
            <a:normAutofit/>
          </a:bodyPr>
          <a:lstStyle/>
          <a:p>
            <a:pPr marL="0" indent="0">
              <a:buNone/>
            </a:pPr>
            <a:r>
              <a:rPr lang="en-US" sz="1600" b="1" dirty="0"/>
              <a:t> // Insert the new node after the found node</a:t>
            </a:r>
          </a:p>
          <a:p>
            <a:pPr marL="0" indent="0">
              <a:buNone/>
            </a:pPr>
            <a:r>
              <a:rPr lang="en-US" sz="1600" dirty="0"/>
              <a:t>  </a:t>
            </a:r>
            <a:r>
              <a:rPr lang="en-US" sz="1600" dirty="0" err="1"/>
              <a:t>newNode</a:t>
            </a:r>
            <a:r>
              <a:rPr lang="en-US" sz="1600" dirty="0"/>
              <a:t>-&gt;</a:t>
            </a:r>
            <a:r>
              <a:rPr lang="en-US" sz="1600" dirty="0" err="1"/>
              <a:t>prev</a:t>
            </a:r>
            <a:r>
              <a:rPr lang="en-US" sz="1600" dirty="0"/>
              <a:t> = temp;</a:t>
            </a:r>
          </a:p>
          <a:p>
            <a:pPr marL="0" indent="0">
              <a:buNone/>
            </a:pPr>
            <a:r>
              <a:rPr lang="en-US" sz="1600" dirty="0"/>
              <a:t>  </a:t>
            </a:r>
            <a:r>
              <a:rPr lang="en-US" sz="1600" dirty="0" err="1"/>
              <a:t>newNode</a:t>
            </a:r>
            <a:r>
              <a:rPr lang="en-US" sz="1600" dirty="0"/>
              <a:t>-&gt;next = temp-&gt;next;</a:t>
            </a:r>
          </a:p>
          <a:p>
            <a:pPr marL="0" indent="0">
              <a:buNone/>
            </a:pPr>
            <a:r>
              <a:rPr lang="en-US" sz="1600" dirty="0"/>
              <a:t>  // If there's a node after the insertion position, update its previous pointer</a:t>
            </a:r>
          </a:p>
          <a:p>
            <a:pPr marL="0" indent="0">
              <a:buNone/>
            </a:pPr>
            <a:r>
              <a:rPr lang="en-US" sz="1600" dirty="0"/>
              <a:t>  if (temp-&gt;next != </a:t>
            </a:r>
            <a:r>
              <a:rPr lang="en-US" sz="1600" dirty="0" err="1"/>
              <a:t>nullptr</a:t>
            </a:r>
            <a:r>
              <a:rPr lang="en-US" sz="1600" dirty="0"/>
              <a:t>) {</a:t>
            </a:r>
          </a:p>
          <a:p>
            <a:pPr marL="0" indent="0">
              <a:buNone/>
            </a:pPr>
            <a:r>
              <a:rPr lang="en-US" sz="1600" dirty="0"/>
              <a:t>    temp-&gt;next-&gt;</a:t>
            </a:r>
            <a:r>
              <a:rPr lang="en-US" sz="1600" dirty="0" err="1"/>
              <a:t>prev</a:t>
            </a:r>
            <a:r>
              <a:rPr lang="en-US" sz="1600" dirty="0"/>
              <a:t> = </a:t>
            </a:r>
            <a:r>
              <a:rPr lang="en-US" sz="1600" dirty="0" err="1"/>
              <a:t>newNode</a:t>
            </a:r>
            <a:r>
              <a:rPr lang="en-US" sz="1600" dirty="0"/>
              <a:t>;</a:t>
            </a:r>
          </a:p>
          <a:p>
            <a:pPr marL="0" indent="0">
              <a:buNone/>
            </a:pPr>
            <a:r>
              <a:rPr lang="en-US" sz="1600" dirty="0"/>
              <a:t>  }</a:t>
            </a:r>
          </a:p>
          <a:p>
            <a:pPr marL="0" indent="0">
              <a:buNone/>
            </a:pPr>
            <a:r>
              <a:rPr lang="en-US" sz="1600" b="1" dirty="0"/>
              <a:t>// Update the found node's next pointer to point to the new node</a:t>
            </a:r>
          </a:p>
          <a:p>
            <a:pPr marL="0" indent="0">
              <a:buNone/>
            </a:pPr>
            <a:r>
              <a:rPr lang="en-US" sz="1600" dirty="0"/>
              <a:t>  temp-&gt;next = </a:t>
            </a:r>
            <a:r>
              <a:rPr lang="en-US" sz="1600" dirty="0" err="1"/>
              <a:t>newNode</a:t>
            </a:r>
            <a:r>
              <a:rPr lang="en-US" sz="1600" dirty="0"/>
              <a:t>;</a:t>
            </a:r>
          </a:p>
          <a:p>
            <a:pPr marL="0" indent="0">
              <a:buNone/>
            </a:pPr>
            <a:r>
              <a:rPr lang="en-US" sz="1600" dirty="0"/>
              <a:t>}</a:t>
            </a:r>
          </a:p>
          <a:p>
            <a:pPr marL="0" indent="0">
              <a:buNone/>
            </a:pPr>
            <a:endParaRPr lang="en-US" sz="1600" dirty="0"/>
          </a:p>
        </p:txBody>
      </p:sp>
      <p:sp>
        <p:nvSpPr>
          <p:cNvPr id="6" name="Content Placeholder 4">
            <a:extLst>
              <a:ext uri="{FF2B5EF4-FFF2-40B4-BE49-F238E27FC236}">
                <a16:creationId xmlns:a16="http://schemas.microsoft.com/office/drawing/2014/main" id="{2CC237AA-4A53-E345-1A15-F28F7EC3DAE3}"/>
              </a:ext>
            </a:extLst>
          </p:cNvPr>
          <p:cNvSpPr txBox="1">
            <a:spLocks/>
          </p:cNvSpPr>
          <p:nvPr/>
        </p:nvSpPr>
        <p:spPr>
          <a:xfrm>
            <a:off x="457200" y="1143000"/>
            <a:ext cx="4187952" cy="5213350"/>
          </a:xfrm>
          <a:prstGeom prst="rect">
            <a:avLst/>
          </a:prstGeom>
          <a:solidFill>
            <a:schemeClr val="accent5"/>
          </a:solidFill>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600" b="1" dirty="0"/>
              <a:t>// Traverse the list to find the node at the  given position (pos - 1)</a:t>
            </a:r>
          </a:p>
          <a:p>
            <a:pPr marL="0" indent="0">
              <a:buNone/>
            </a:pPr>
            <a:r>
              <a:rPr lang="en-US" sz="1600" dirty="0"/>
              <a:t>  Node* temp = *head;</a:t>
            </a:r>
          </a:p>
          <a:p>
            <a:pPr marL="0" indent="0">
              <a:buNone/>
            </a:pPr>
            <a:r>
              <a:rPr lang="en-US" sz="1600" dirty="0"/>
              <a:t>  for (int </a:t>
            </a:r>
            <a:r>
              <a:rPr lang="en-US" sz="1600" dirty="0" err="1"/>
              <a:t>i</a:t>
            </a:r>
            <a:r>
              <a:rPr lang="en-US" sz="1600" dirty="0"/>
              <a:t> = 0; </a:t>
            </a:r>
            <a:r>
              <a:rPr lang="en-US" sz="1600" dirty="0" err="1"/>
              <a:t>i</a:t>
            </a:r>
            <a:r>
              <a:rPr lang="en-US" sz="1600" dirty="0"/>
              <a:t> &lt; pos - 1 &amp;&amp; temp != </a:t>
            </a:r>
            <a:r>
              <a:rPr lang="en-US" sz="1600" dirty="0" err="1"/>
              <a:t>nullptr</a:t>
            </a:r>
            <a:r>
              <a:rPr lang="en-US" sz="1600" dirty="0"/>
              <a:t>; </a:t>
            </a:r>
            <a:r>
              <a:rPr lang="en-US" sz="1600" dirty="0" err="1"/>
              <a:t>i</a:t>
            </a:r>
            <a:r>
              <a:rPr lang="en-US" sz="1600" dirty="0"/>
              <a:t>++) </a:t>
            </a:r>
          </a:p>
          <a:p>
            <a:pPr marL="0" indent="0">
              <a:buNone/>
            </a:pPr>
            <a:r>
              <a:rPr lang="en-US" sz="1600" dirty="0"/>
              <a:t>{</a:t>
            </a:r>
          </a:p>
          <a:p>
            <a:pPr marL="0" indent="0">
              <a:buNone/>
            </a:pPr>
            <a:r>
              <a:rPr lang="en-US" sz="1600" dirty="0"/>
              <a:t>    // Move to the next node in the list</a:t>
            </a:r>
          </a:p>
          <a:p>
            <a:pPr marL="0" indent="0">
              <a:buNone/>
            </a:pPr>
            <a:r>
              <a:rPr lang="en-US" sz="1600" dirty="0"/>
              <a:t>    temp = temp-&gt;next;</a:t>
            </a:r>
          </a:p>
          <a:p>
            <a:pPr marL="0" indent="0">
              <a:buNone/>
            </a:pPr>
            <a:r>
              <a:rPr lang="en-US" sz="1600" dirty="0"/>
              <a:t>  }</a:t>
            </a:r>
          </a:p>
          <a:p>
            <a:pPr marL="0" indent="0">
              <a:buNone/>
            </a:pPr>
            <a:r>
              <a:rPr lang="en-US" sz="1600" dirty="0"/>
              <a:t> </a:t>
            </a:r>
          </a:p>
          <a:p>
            <a:pPr marL="0" indent="0">
              <a:buNone/>
            </a:pPr>
            <a:r>
              <a:rPr lang="en-US" sz="1600" b="1" dirty="0"/>
              <a:t>// Check if the given position is valid (within the list's length)</a:t>
            </a:r>
          </a:p>
          <a:p>
            <a:pPr marL="0" indent="0">
              <a:buNone/>
            </a:pPr>
            <a:r>
              <a:rPr lang="en-US" sz="1600" dirty="0"/>
              <a:t>  if (temp == </a:t>
            </a:r>
            <a:r>
              <a:rPr lang="en-US" sz="1600" dirty="0" err="1"/>
              <a:t>nullptr</a:t>
            </a:r>
            <a:r>
              <a:rPr lang="en-US" sz="1600" dirty="0"/>
              <a:t>) {</a:t>
            </a:r>
          </a:p>
          <a:p>
            <a:pPr marL="0" indent="0">
              <a:buNone/>
            </a:pPr>
            <a:r>
              <a:rPr lang="en-US" sz="1600" dirty="0"/>
              <a:t>    </a:t>
            </a:r>
            <a:r>
              <a:rPr lang="en-US" sz="1600" dirty="0" err="1"/>
              <a:t>cout</a:t>
            </a:r>
            <a:r>
              <a:rPr lang="en-US" sz="1600" dirty="0"/>
              <a:t> &lt;&lt; "Invalid position: " &lt;&lt; pos &lt;&lt; </a:t>
            </a:r>
            <a:r>
              <a:rPr lang="en-US" sz="1600" dirty="0" err="1"/>
              <a:t>endl</a:t>
            </a:r>
            <a:r>
              <a:rPr lang="en-US" sz="1600" dirty="0"/>
              <a:t>;</a:t>
            </a:r>
          </a:p>
          <a:p>
            <a:pPr marL="0" indent="0">
              <a:buNone/>
            </a:pPr>
            <a:r>
              <a:rPr lang="en-US" sz="1600" dirty="0"/>
              <a:t>    return;</a:t>
            </a:r>
          </a:p>
          <a:p>
            <a:pPr marL="0" indent="0">
              <a:buNone/>
            </a:pPr>
            <a:r>
              <a:rPr lang="en-US" sz="1600" dirty="0"/>
              <a:t>  }</a:t>
            </a:r>
          </a:p>
        </p:txBody>
      </p:sp>
    </p:spTree>
    <p:extLst>
      <p:ext uri="{BB962C8B-B14F-4D97-AF65-F5344CB8AC3E}">
        <p14:creationId xmlns:p14="http://schemas.microsoft.com/office/powerpoint/2010/main" val="372262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C9CEF-D122-E88B-68D3-E57E8B479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C9661-081A-0EC5-A130-6CB4F15B4524}"/>
              </a:ext>
            </a:extLst>
          </p:cNvPr>
          <p:cNvSpPr>
            <a:spLocks noGrp="1"/>
          </p:cNvSpPr>
          <p:nvPr>
            <p:ph type="title"/>
          </p:nvPr>
        </p:nvSpPr>
        <p:spPr/>
        <p:txBody>
          <a:bodyPr/>
          <a:lstStyle/>
          <a:p>
            <a:r>
              <a:rPr lang="en-US" dirty="0"/>
              <a:t>Implementation in C++</a:t>
            </a:r>
          </a:p>
        </p:txBody>
      </p:sp>
      <p:sp>
        <p:nvSpPr>
          <p:cNvPr id="3" name="Footer Placeholder 2">
            <a:extLst>
              <a:ext uri="{FF2B5EF4-FFF2-40B4-BE49-F238E27FC236}">
                <a16:creationId xmlns:a16="http://schemas.microsoft.com/office/drawing/2014/main" id="{068E45C6-29E8-30B4-B50B-F01099C1FFBA}"/>
              </a:ext>
            </a:extLst>
          </p:cNvPr>
          <p:cNvSpPr>
            <a:spLocks noGrp="1"/>
          </p:cNvSpPr>
          <p:nvPr>
            <p:ph type="ftr" sz="quarter" idx="11"/>
          </p:nvPr>
        </p:nvSpPr>
        <p:spPr/>
        <p:txBody>
          <a:bodyPr/>
          <a:lstStyle/>
          <a:p>
            <a:r>
              <a:rPr lang="en-US"/>
              <a:t>Algorithm and Data Structure </a:t>
            </a:r>
            <a:endParaRPr lang="en-US" dirty="0"/>
          </a:p>
        </p:txBody>
      </p:sp>
      <p:sp>
        <p:nvSpPr>
          <p:cNvPr id="7" name="TextBox 6">
            <a:extLst>
              <a:ext uri="{FF2B5EF4-FFF2-40B4-BE49-F238E27FC236}">
                <a16:creationId xmlns:a16="http://schemas.microsoft.com/office/drawing/2014/main" id="{E8EF95CC-021E-6667-EE1D-B58DA511D9E5}"/>
              </a:ext>
            </a:extLst>
          </p:cNvPr>
          <p:cNvSpPr txBox="1"/>
          <p:nvPr/>
        </p:nvSpPr>
        <p:spPr>
          <a:xfrm>
            <a:off x="457200" y="1143000"/>
            <a:ext cx="4041648" cy="3447098"/>
          </a:xfrm>
          <a:prstGeom prst="rect">
            <a:avLst/>
          </a:prstGeom>
          <a:solidFill>
            <a:srgbClr val="92D050"/>
          </a:solidFill>
        </p:spPr>
        <p:txBody>
          <a:bodyPr wrap="square">
            <a:spAutoFit/>
          </a:bodyPr>
          <a:lstStyle/>
          <a:p>
            <a:r>
              <a:rPr lang="en-US" sz="1600" b="1" dirty="0"/>
              <a:t>// Function to print the contents of the doubly linked list</a:t>
            </a:r>
          </a:p>
          <a:p>
            <a:endParaRPr lang="en-US" sz="1600" b="1" dirty="0"/>
          </a:p>
          <a:p>
            <a:r>
              <a:rPr lang="en-US" sz="1600" dirty="0"/>
              <a:t>void </a:t>
            </a:r>
            <a:r>
              <a:rPr lang="en-US" sz="1600" dirty="0" err="1"/>
              <a:t>printList</a:t>
            </a:r>
            <a:r>
              <a:rPr lang="en-US" sz="1600" dirty="0"/>
              <a:t>(Node* head)</a:t>
            </a:r>
          </a:p>
          <a:p>
            <a:r>
              <a:rPr lang="en-US" sz="1600" dirty="0"/>
              <a:t> {</a:t>
            </a:r>
          </a:p>
          <a:p>
            <a:r>
              <a:rPr lang="en-US" sz="1600" b="1" dirty="0"/>
              <a:t>// Traverse the list and print the data of each node</a:t>
            </a:r>
          </a:p>
          <a:p>
            <a:r>
              <a:rPr lang="en-US" sz="1600" dirty="0"/>
              <a:t>  while (head != </a:t>
            </a:r>
            <a:r>
              <a:rPr lang="en-US" sz="1600" dirty="0" err="1"/>
              <a:t>nullptr</a:t>
            </a:r>
            <a:r>
              <a:rPr lang="en-US" sz="1600" dirty="0"/>
              <a:t>) {</a:t>
            </a:r>
          </a:p>
          <a:p>
            <a:r>
              <a:rPr lang="en-US" sz="1600" dirty="0"/>
              <a:t>    </a:t>
            </a:r>
            <a:r>
              <a:rPr lang="en-US" sz="1600" dirty="0" err="1"/>
              <a:t>cout</a:t>
            </a:r>
            <a:r>
              <a:rPr lang="en-US" sz="1600" dirty="0"/>
              <a:t> &lt;&lt; head-&gt;data &lt;&lt; " ";</a:t>
            </a:r>
          </a:p>
          <a:p>
            <a:r>
              <a:rPr lang="en-US" sz="1600" dirty="0"/>
              <a:t>    head = head-&gt;next;</a:t>
            </a:r>
          </a:p>
          <a:p>
            <a:r>
              <a:rPr lang="en-US" sz="1600" dirty="0"/>
              <a:t>  }</a:t>
            </a:r>
          </a:p>
          <a:p>
            <a:r>
              <a:rPr lang="en-US" sz="1600" dirty="0"/>
              <a:t>  </a:t>
            </a:r>
            <a:r>
              <a:rPr lang="en-US" sz="1600" dirty="0" err="1"/>
              <a:t>cout</a:t>
            </a:r>
            <a:r>
              <a:rPr lang="en-US" sz="1600" dirty="0"/>
              <a:t> &lt;&lt; </a:t>
            </a:r>
            <a:r>
              <a:rPr lang="en-US" sz="1600" dirty="0" err="1"/>
              <a:t>endl</a:t>
            </a:r>
            <a:r>
              <a:rPr lang="en-US" sz="1600" dirty="0"/>
              <a:t>;</a:t>
            </a:r>
          </a:p>
          <a:p>
            <a:r>
              <a:rPr lang="en-US" sz="1600" dirty="0"/>
              <a:t>}</a:t>
            </a:r>
          </a:p>
          <a:p>
            <a:endParaRPr lang="en-US" sz="1000" dirty="0"/>
          </a:p>
        </p:txBody>
      </p:sp>
      <p:sp>
        <p:nvSpPr>
          <p:cNvPr id="11" name="Content Placeholder 4">
            <a:extLst>
              <a:ext uri="{FF2B5EF4-FFF2-40B4-BE49-F238E27FC236}">
                <a16:creationId xmlns:a16="http://schemas.microsoft.com/office/drawing/2014/main" id="{04E0A693-36B8-ABF2-D729-2338CB7CA898}"/>
              </a:ext>
            </a:extLst>
          </p:cNvPr>
          <p:cNvSpPr txBox="1">
            <a:spLocks/>
          </p:cNvSpPr>
          <p:nvPr/>
        </p:nvSpPr>
        <p:spPr>
          <a:xfrm>
            <a:off x="4498848" y="1143000"/>
            <a:ext cx="4174998" cy="5213350"/>
          </a:xfrm>
          <a:prstGeom prst="rect">
            <a:avLst/>
          </a:prstGeom>
          <a:solidFill>
            <a:schemeClr val="accent4">
              <a:lumMod val="75000"/>
            </a:schemeClr>
          </a:solidFill>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400" dirty="0"/>
              <a:t>int main() {</a:t>
            </a:r>
          </a:p>
          <a:p>
            <a:pPr marL="0" indent="0">
              <a:buNone/>
            </a:pPr>
            <a:r>
              <a:rPr lang="en-US" sz="1400" b="1" dirty="0"/>
              <a:t>  // Initialize an empty head pointer</a:t>
            </a:r>
          </a:p>
          <a:p>
            <a:pPr marL="0" indent="0">
              <a:buNone/>
            </a:pPr>
            <a:r>
              <a:rPr lang="en-US" sz="1400" dirty="0"/>
              <a:t>  Node* head = </a:t>
            </a:r>
            <a:r>
              <a:rPr lang="en-US" sz="1400" dirty="0" err="1"/>
              <a:t>nullptr</a:t>
            </a:r>
            <a:r>
              <a:rPr lang="en-US" sz="1400" dirty="0"/>
              <a:t>;</a:t>
            </a:r>
          </a:p>
          <a:p>
            <a:pPr marL="0" indent="0">
              <a:buNone/>
            </a:pPr>
            <a:r>
              <a:rPr lang="en-US" sz="1400" dirty="0"/>
              <a:t>  </a:t>
            </a:r>
            <a:r>
              <a:rPr lang="en-US" sz="1400" b="1" dirty="0"/>
              <a:t>// Insert nodes at different positions</a:t>
            </a:r>
          </a:p>
          <a:p>
            <a:pPr marL="0" indent="0">
              <a:buNone/>
            </a:pPr>
            <a:r>
              <a:rPr lang="en-US" sz="1400" dirty="0"/>
              <a:t>  </a:t>
            </a:r>
            <a:r>
              <a:rPr lang="en-US" sz="1400" dirty="0" err="1"/>
              <a:t>insertAtPos</a:t>
            </a:r>
            <a:r>
              <a:rPr lang="en-US" sz="1400" dirty="0"/>
              <a:t>(&amp;head, 5, 0);  </a:t>
            </a:r>
            <a:r>
              <a:rPr lang="en-US" sz="1400" b="1" dirty="0"/>
              <a:t>// Insert 5 at the </a:t>
            </a:r>
            <a:r>
              <a:rPr lang="en-US" sz="1400" dirty="0"/>
              <a:t>beginning</a:t>
            </a:r>
          </a:p>
          <a:p>
            <a:pPr marL="0" indent="0">
              <a:buNone/>
            </a:pPr>
            <a:r>
              <a:rPr lang="en-US" sz="1400" dirty="0"/>
              <a:t>  </a:t>
            </a:r>
            <a:r>
              <a:rPr lang="en-US" sz="1400" dirty="0" err="1"/>
              <a:t>insertAtPos</a:t>
            </a:r>
            <a:r>
              <a:rPr lang="en-US" sz="1400" dirty="0"/>
              <a:t>(&amp;head, 2, 1);  </a:t>
            </a:r>
            <a:r>
              <a:rPr lang="en-US" sz="1400" b="1" dirty="0"/>
              <a:t>// Insert 2 at position 1</a:t>
            </a:r>
          </a:p>
          <a:p>
            <a:pPr marL="0" indent="0">
              <a:buNone/>
            </a:pPr>
            <a:r>
              <a:rPr lang="en-US" sz="1400" dirty="0"/>
              <a:t>  </a:t>
            </a:r>
            <a:r>
              <a:rPr lang="en-US" sz="1400" dirty="0" err="1"/>
              <a:t>insertAtPos</a:t>
            </a:r>
            <a:r>
              <a:rPr lang="en-US" sz="1400" dirty="0"/>
              <a:t>(&amp;head, 7, 2);  </a:t>
            </a:r>
            <a:r>
              <a:rPr lang="en-US" sz="1400" b="1" dirty="0"/>
              <a:t>// Insert 7 at position 2</a:t>
            </a:r>
          </a:p>
          <a:p>
            <a:pPr marL="0" indent="0">
              <a:buNone/>
            </a:pPr>
            <a:r>
              <a:rPr lang="en-US" sz="1400" dirty="0"/>
              <a:t>  </a:t>
            </a:r>
            <a:r>
              <a:rPr lang="en-US" sz="1400" dirty="0" err="1"/>
              <a:t>insertAtPos</a:t>
            </a:r>
            <a:r>
              <a:rPr lang="en-US" sz="1400" dirty="0"/>
              <a:t>(&amp;head, 1, -1); </a:t>
            </a:r>
            <a:r>
              <a:rPr lang="en-US" sz="1400" b="1" dirty="0"/>
              <a:t>// Try to insert at an </a:t>
            </a:r>
            <a:r>
              <a:rPr lang="en-US" sz="1400" dirty="0"/>
              <a:t>invalid position</a:t>
            </a:r>
          </a:p>
          <a:p>
            <a:pPr marL="0" indent="0">
              <a:buNone/>
            </a:pPr>
            <a:r>
              <a:rPr lang="en-US" sz="1400" dirty="0"/>
              <a:t> </a:t>
            </a:r>
          </a:p>
          <a:p>
            <a:pPr marL="0" indent="0">
              <a:buNone/>
            </a:pPr>
            <a:r>
              <a:rPr lang="en-US" sz="1400" b="1" dirty="0"/>
              <a:t>  // Print the contents of the linked list</a:t>
            </a:r>
          </a:p>
          <a:p>
            <a:pPr marL="0" indent="0">
              <a:buNone/>
            </a:pPr>
            <a:r>
              <a:rPr lang="en-US" sz="1400" dirty="0"/>
              <a:t>  </a:t>
            </a:r>
            <a:r>
              <a:rPr lang="en-US" sz="1400" dirty="0" err="1"/>
              <a:t>printList</a:t>
            </a:r>
            <a:r>
              <a:rPr lang="en-US" sz="1400" dirty="0"/>
              <a:t>(head); </a:t>
            </a:r>
            <a:r>
              <a:rPr lang="en-US" sz="1400" b="1" dirty="0"/>
              <a:t>// Output: 5 2 7</a:t>
            </a:r>
          </a:p>
          <a:p>
            <a:pPr marL="0" indent="0">
              <a:buNone/>
            </a:pPr>
            <a:r>
              <a:rPr lang="en-US" sz="1400" dirty="0"/>
              <a:t> </a:t>
            </a:r>
          </a:p>
          <a:p>
            <a:pPr marL="0" indent="0">
              <a:buNone/>
            </a:pPr>
            <a:r>
              <a:rPr lang="en-US" sz="1400" dirty="0"/>
              <a:t>  return 0;</a:t>
            </a:r>
          </a:p>
          <a:p>
            <a:pPr marL="0" indent="0">
              <a:buNone/>
            </a:pPr>
            <a:r>
              <a:rPr lang="en-US" sz="1400" dirty="0"/>
              <a:t>}</a:t>
            </a:r>
          </a:p>
          <a:p>
            <a:pPr marL="0" indent="0">
              <a:buNone/>
            </a:pPr>
            <a:r>
              <a:rPr lang="en-US" sz="1400" dirty="0"/>
              <a:t>    }</a:t>
            </a:r>
          </a:p>
        </p:txBody>
      </p:sp>
    </p:spTree>
    <p:extLst>
      <p:ext uri="{BB962C8B-B14F-4D97-AF65-F5344CB8AC3E}">
        <p14:creationId xmlns:p14="http://schemas.microsoft.com/office/powerpoint/2010/main" val="2452206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ALGORITHM FOR DELETING A NODE</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62500" lnSpcReduction="20000"/>
          </a:bodyPr>
          <a:lstStyle/>
          <a:p>
            <a:pPr>
              <a:buNone/>
            </a:pPr>
            <a:r>
              <a:rPr lang="en-US" dirty="0"/>
              <a:t>1. Input the POS (position) of the node to delete</a:t>
            </a:r>
          </a:p>
          <a:p>
            <a:pPr>
              <a:buNone/>
            </a:pPr>
            <a:r>
              <a:rPr lang="en-US" dirty="0"/>
              <a:t>2. If START is NULL</a:t>
            </a:r>
          </a:p>
          <a:p>
            <a:pPr>
              <a:buNone/>
            </a:pPr>
            <a:r>
              <a:rPr lang="en-US" dirty="0"/>
              <a:t>    (a) Display "List is empty"</a:t>
            </a:r>
          </a:p>
          <a:p>
            <a:pPr>
              <a:buNone/>
            </a:pPr>
            <a:r>
              <a:rPr lang="en-US" dirty="0"/>
              <a:t>    (b) Exit</a:t>
            </a:r>
          </a:p>
          <a:p>
            <a:pPr>
              <a:buNone/>
            </a:pPr>
            <a:r>
              <a:rPr lang="en-US" dirty="0"/>
              <a:t>3. Initialize TEMP = START; i = 0</a:t>
            </a:r>
          </a:p>
          <a:p>
            <a:pPr>
              <a:buNone/>
            </a:pPr>
            <a:r>
              <a:rPr lang="en-US" dirty="0"/>
              <a:t>4. Repeat the step 5 if (i less than POS) and (TEMP is not equal to NULL)</a:t>
            </a:r>
          </a:p>
          <a:p>
            <a:pPr>
              <a:buNone/>
            </a:pPr>
            <a:r>
              <a:rPr lang="en-US" dirty="0"/>
              <a:t>5. TEMP = TEMP → </a:t>
            </a:r>
            <a:r>
              <a:rPr lang="en-US" dirty="0" err="1"/>
              <a:t>RPoint</a:t>
            </a:r>
            <a:r>
              <a:rPr lang="en-US" dirty="0"/>
              <a:t>; i = i + 1</a:t>
            </a:r>
          </a:p>
          <a:p>
            <a:pPr>
              <a:buNone/>
            </a:pPr>
            <a:r>
              <a:rPr lang="en-US" dirty="0"/>
              <a:t>6. If TEMP not equal to NULL</a:t>
            </a:r>
          </a:p>
          <a:p>
            <a:pPr>
              <a:buNone/>
            </a:pPr>
            <a:r>
              <a:rPr lang="en-US" dirty="0"/>
              <a:t>    (a) If TEMP → </a:t>
            </a:r>
            <a:r>
              <a:rPr lang="en-US" dirty="0" err="1"/>
              <a:t>LPoint</a:t>
            </a:r>
            <a:r>
              <a:rPr lang="en-US" dirty="0"/>
              <a:t> is not NULL</a:t>
            </a:r>
          </a:p>
          <a:p>
            <a:pPr>
              <a:buNone/>
            </a:pPr>
            <a:r>
              <a:rPr lang="en-US" dirty="0"/>
              <a:t>	    (TEMP → </a:t>
            </a:r>
            <a:r>
              <a:rPr lang="en-US" dirty="0" err="1"/>
              <a:t>Lpoint</a:t>
            </a:r>
            <a:r>
              <a:rPr lang="en-US" dirty="0"/>
              <a:t>) → </a:t>
            </a:r>
            <a:r>
              <a:rPr lang="en-US" dirty="0" err="1"/>
              <a:t>RPoint</a:t>
            </a:r>
            <a:r>
              <a:rPr lang="en-US" dirty="0"/>
              <a:t> = TEMP → </a:t>
            </a:r>
            <a:r>
              <a:rPr lang="en-US" dirty="0" err="1"/>
              <a:t>RPoint</a:t>
            </a:r>
            <a:endParaRPr lang="en-US" dirty="0"/>
          </a:p>
          <a:p>
            <a:pPr>
              <a:buNone/>
            </a:pPr>
            <a:r>
              <a:rPr lang="en-US" dirty="0"/>
              <a:t>    (b) If TEMP → </a:t>
            </a:r>
            <a:r>
              <a:rPr lang="en-US" dirty="0" err="1"/>
              <a:t>RPoint</a:t>
            </a:r>
            <a:r>
              <a:rPr lang="en-US" dirty="0"/>
              <a:t> is not NULL, </a:t>
            </a:r>
          </a:p>
          <a:p>
            <a:pPr>
              <a:buNone/>
            </a:pPr>
            <a:r>
              <a:rPr lang="en-US" dirty="0"/>
              <a:t>         (TEMP → </a:t>
            </a:r>
            <a:r>
              <a:rPr lang="en-US" dirty="0" err="1"/>
              <a:t>RPoint</a:t>
            </a:r>
            <a:r>
              <a:rPr lang="en-US" dirty="0"/>
              <a:t> )→ </a:t>
            </a:r>
            <a:r>
              <a:rPr lang="en-US" dirty="0" err="1"/>
              <a:t>LPoint</a:t>
            </a:r>
            <a:r>
              <a:rPr lang="en-US" dirty="0"/>
              <a:t> = TEMP → </a:t>
            </a:r>
            <a:r>
              <a:rPr lang="en-US" dirty="0" err="1"/>
              <a:t>LPoint</a:t>
            </a:r>
            <a:endParaRPr lang="en-US" dirty="0"/>
          </a:p>
          <a:p>
            <a:pPr>
              <a:buNone/>
            </a:pPr>
            <a:r>
              <a:rPr lang="en-US" dirty="0"/>
              <a:t>    (c) If i is 1, </a:t>
            </a:r>
          </a:p>
          <a:p>
            <a:pPr>
              <a:buNone/>
            </a:pPr>
            <a:r>
              <a:rPr lang="en-US" dirty="0"/>
              <a:t>	    update START = TEMP → </a:t>
            </a:r>
            <a:r>
              <a:rPr lang="en-US" dirty="0" err="1"/>
              <a:t>RPoint</a:t>
            </a:r>
            <a:endParaRPr lang="en-US" dirty="0"/>
          </a:p>
          <a:p>
            <a:pPr>
              <a:buNone/>
            </a:pPr>
            <a:r>
              <a:rPr lang="en-US" dirty="0"/>
              <a:t>    (d) Delete TEMP (free memory)</a:t>
            </a:r>
          </a:p>
          <a:p>
            <a:pPr>
              <a:buNone/>
            </a:pPr>
            <a:r>
              <a:rPr lang="en-US" dirty="0"/>
              <a:t>7. Else</a:t>
            </a:r>
          </a:p>
          <a:p>
            <a:pPr>
              <a:buNone/>
            </a:pPr>
            <a:r>
              <a:rPr lang="en-US" dirty="0"/>
              <a:t>    (a) Display "Position NOT found"</a:t>
            </a:r>
          </a:p>
          <a:p>
            <a:pPr>
              <a:buNone/>
            </a:pPr>
            <a:r>
              <a:rPr lang="en-US" dirty="0"/>
              <a:t>8. Exit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BDD0-A017-B05E-4F13-98021D734CD3}"/>
              </a:ext>
            </a:extLst>
          </p:cNvPr>
          <p:cNvSpPr>
            <a:spLocks noGrp="1"/>
          </p:cNvSpPr>
          <p:nvPr>
            <p:ph type="title"/>
          </p:nvPr>
        </p:nvSpPr>
        <p:spPr/>
        <p:txBody>
          <a:bodyPr>
            <a:normAutofit fontScale="90000"/>
          </a:bodyPr>
          <a:lstStyle/>
          <a:p>
            <a:r>
              <a:rPr lang="en-US" b="1" dirty="0"/>
              <a:t>ALGORITHM FOR DELETING A NODE (Line by Line Detail)</a:t>
            </a:r>
            <a:endParaRPr lang="en-US" dirty="0"/>
          </a:p>
        </p:txBody>
      </p:sp>
      <p:sp>
        <p:nvSpPr>
          <p:cNvPr id="3" name="Footer Placeholder 2">
            <a:extLst>
              <a:ext uri="{FF2B5EF4-FFF2-40B4-BE49-F238E27FC236}">
                <a16:creationId xmlns:a16="http://schemas.microsoft.com/office/drawing/2014/main" id="{30938A32-ABA9-DCA8-B7FB-5CA482B4605E}"/>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F760AAF5-5BCB-0B85-5F11-87FF4382ADC3}"/>
              </a:ext>
            </a:extLst>
          </p:cNvPr>
          <p:cNvSpPr>
            <a:spLocks noGrp="1"/>
          </p:cNvSpPr>
          <p:nvPr>
            <p:ph sz="quarter" idx="1"/>
          </p:nvPr>
        </p:nvSpPr>
        <p:spPr/>
        <p:txBody>
          <a:bodyPr>
            <a:normAutofit fontScale="92500" lnSpcReduction="10000"/>
          </a:bodyPr>
          <a:lstStyle/>
          <a:p>
            <a:pPr marL="0" indent="0" algn="just">
              <a:buNone/>
            </a:pPr>
            <a:r>
              <a:rPr lang="en-US" dirty="0"/>
              <a:t>1. Input the POS (position) of the node to delete</a:t>
            </a:r>
          </a:p>
          <a:p>
            <a:pPr lvl="1" algn="just"/>
            <a:r>
              <a:rPr lang="en-US" dirty="0">
                <a:solidFill>
                  <a:srgbClr val="00B050"/>
                </a:solidFill>
              </a:rPr>
              <a:t>This line prompts the user to enter the position of the node they want to delete in the linked list.</a:t>
            </a:r>
          </a:p>
          <a:p>
            <a:pPr lvl="1" algn="just"/>
            <a:r>
              <a:rPr lang="en-US" dirty="0">
                <a:solidFill>
                  <a:srgbClr val="00B050"/>
                </a:solidFill>
              </a:rPr>
              <a:t>The position (POS) is typically a zero-based index, meaning the first node in the list has a position of 0</a:t>
            </a:r>
          </a:p>
          <a:p>
            <a:pPr marL="0" indent="0" algn="just">
              <a:buNone/>
            </a:pPr>
            <a:r>
              <a:rPr lang="en-US" dirty="0"/>
              <a:t>2. If HEAD is NULL</a:t>
            </a:r>
          </a:p>
          <a:p>
            <a:pPr marL="274320" lvl="1" indent="0" algn="just">
              <a:buNone/>
            </a:pPr>
            <a:r>
              <a:rPr lang="en-US" dirty="0"/>
              <a:t>(a) Display "List is empty"</a:t>
            </a:r>
          </a:p>
          <a:p>
            <a:pPr marL="274320" lvl="1" indent="0" algn="just">
              <a:buNone/>
            </a:pPr>
            <a:r>
              <a:rPr lang="en-US" dirty="0"/>
              <a:t>(b) Exit</a:t>
            </a:r>
          </a:p>
          <a:p>
            <a:pPr algn="just"/>
            <a:r>
              <a:rPr lang="en-US" dirty="0">
                <a:solidFill>
                  <a:srgbClr val="00B050"/>
                </a:solidFill>
              </a:rPr>
              <a:t>This conditional statement checks if the HEAD pointer, likely pointing to the head of the doubly linked list, is NULL.</a:t>
            </a:r>
          </a:p>
          <a:p>
            <a:pPr lvl="1" algn="just"/>
            <a:r>
              <a:rPr lang="en-US" dirty="0">
                <a:solidFill>
                  <a:srgbClr val="0070C0"/>
                </a:solidFill>
              </a:rPr>
              <a:t>If HEAD is NULL, it means the list is empty.</a:t>
            </a:r>
          </a:p>
          <a:p>
            <a:pPr lvl="1" algn="just"/>
            <a:r>
              <a:rPr lang="en-US" dirty="0">
                <a:solidFill>
                  <a:srgbClr val="0070C0"/>
                </a:solidFill>
              </a:rPr>
              <a:t>In this case, the code displays a message indicating an empty list and exits the function (or program).</a:t>
            </a:r>
          </a:p>
        </p:txBody>
      </p:sp>
    </p:spTree>
    <p:extLst>
      <p:ext uri="{BB962C8B-B14F-4D97-AF65-F5344CB8AC3E}">
        <p14:creationId xmlns:p14="http://schemas.microsoft.com/office/powerpoint/2010/main" val="2149156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87420-38A2-90E5-16E0-0FF9F68C71AD}"/>
              </a:ext>
            </a:extLst>
          </p:cNvPr>
          <p:cNvSpPr>
            <a:spLocks noGrp="1"/>
          </p:cNvSpPr>
          <p:nvPr>
            <p:ph type="title"/>
          </p:nvPr>
        </p:nvSpPr>
        <p:spPr/>
        <p:txBody>
          <a:bodyPr>
            <a:normAutofit fontScale="90000"/>
          </a:bodyPr>
          <a:lstStyle/>
          <a:p>
            <a:r>
              <a:rPr lang="en-US" b="1" dirty="0"/>
              <a:t>ALGORITHM FOR DELETING A NODE (Line by Line Detail)</a:t>
            </a:r>
            <a:endParaRPr lang="en-US" dirty="0"/>
          </a:p>
        </p:txBody>
      </p:sp>
      <p:sp>
        <p:nvSpPr>
          <p:cNvPr id="3" name="Footer Placeholder 2">
            <a:extLst>
              <a:ext uri="{FF2B5EF4-FFF2-40B4-BE49-F238E27FC236}">
                <a16:creationId xmlns:a16="http://schemas.microsoft.com/office/drawing/2014/main" id="{B15876AB-F213-C917-908F-6163A3E2E76A}"/>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F343B722-CDC4-CCF1-1D11-142456315C8B}"/>
              </a:ext>
            </a:extLst>
          </p:cNvPr>
          <p:cNvSpPr>
            <a:spLocks noGrp="1"/>
          </p:cNvSpPr>
          <p:nvPr>
            <p:ph sz="quarter" idx="1"/>
          </p:nvPr>
        </p:nvSpPr>
        <p:spPr/>
        <p:txBody>
          <a:bodyPr>
            <a:normAutofit fontScale="85000" lnSpcReduction="20000"/>
          </a:bodyPr>
          <a:lstStyle/>
          <a:p>
            <a:pPr marL="0" indent="0">
              <a:buNone/>
            </a:pPr>
            <a:r>
              <a:rPr lang="en-US" dirty="0"/>
              <a:t>3. Initialize TEMP = HEAD; </a:t>
            </a:r>
            <a:r>
              <a:rPr lang="en-US" dirty="0" err="1"/>
              <a:t>i</a:t>
            </a:r>
            <a:r>
              <a:rPr lang="en-US" dirty="0"/>
              <a:t> = 0</a:t>
            </a:r>
          </a:p>
          <a:p>
            <a:r>
              <a:rPr lang="en-US" dirty="0">
                <a:solidFill>
                  <a:srgbClr val="00B050"/>
                </a:solidFill>
              </a:rPr>
              <a:t>This line initializes two variables:</a:t>
            </a:r>
          </a:p>
          <a:p>
            <a:pPr lvl="1"/>
            <a:r>
              <a:rPr lang="en-US" dirty="0">
                <a:solidFill>
                  <a:srgbClr val="0070C0"/>
                </a:solidFill>
              </a:rPr>
              <a:t>TEMP: This is a temporary pointer used to traverse the linked list. It's initially assigned the value of HEAD, which points to the head node.</a:t>
            </a:r>
          </a:p>
          <a:p>
            <a:pPr lvl="1"/>
            <a:r>
              <a:rPr lang="en-US" dirty="0">
                <a:solidFill>
                  <a:srgbClr val="0070C0"/>
                </a:solidFill>
              </a:rPr>
              <a:t>i: This is a counter variable initialized to 0. It will be used to keep track of the current position during the traversal</a:t>
            </a:r>
          </a:p>
          <a:p>
            <a:pPr marL="0" indent="0">
              <a:buNone/>
            </a:pPr>
            <a:r>
              <a:rPr lang="en-US" dirty="0"/>
              <a:t>4. Repeat the step 5 if (</a:t>
            </a:r>
            <a:r>
              <a:rPr lang="en-US" dirty="0" err="1"/>
              <a:t>i</a:t>
            </a:r>
            <a:r>
              <a:rPr lang="en-US" dirty="0"/>
              <a:t> less than POS) and (TEMP is not equal to NULL)</a:t>
            </a:r>
          </a:p>
          <a:p>
            <a:r>
              <a:rPr lang="en-US" dirty="0">
                <a:solidFill>
                  <a:srgbClr val="00B050"/>
                </a:solidFill>
              </a:rPr>
              <a:t>This line sets up a loop that continues as long as two conditions are met:</a:t>
            </a:r>
          </a:p>
          <a:p>
            <a:pPr lvl="1"/>
            <a:r>
              <a:rPr lang="en-US" dirty="0" err="1">
                <a:solidFill>
                  <a:srgbClr val="0070C0"/>
                </a:solidFill>
              </a:rPr>
              <a:t>i</a:t>
            </a:r>
            <a:r>
              <a:rPr lang="en-US" dirty="0">
                <a:solidFill>
                  <a:srgbClr val="0070C0"/>
                </a:solidFill>
              </a:rPr>
              <a:t> &lt; POS: This condition checks if the current position (</a:t>
            </a:r>
            <a:r>
              <a:rPr lang="en-US" dirty="0" err="1">
                <a:solidFill>
                  <a:srgbClr val="0070C0"/>
                </a:solidFill>
              </a:rPr>
              <a:t>i</a:t>
            </a:r>
            <a:r>
              <a:rPr lang="en-US" dirty="0">
                <a:solidFill>
                  <a:srgbClr val="0070C0"/>
                </a:solidFill>
              </a:rPr>
              <a:t>) is less than the target position (POS) entered by the user. </a:t>
            </a:r>
          </a:p>
          <a:p>
            <a:pPr lvl="1"/>
            <a:r>
              <a:rPr lang="en-US" dirty="0">
                <a:solidFill>
                  <a:srgbClr val="0070C0"/>
                </a:solidFill>
              </a:rPr>
              <a:t>This ensures the loop iterates until it reaches the node before the one to be deleted.</a:t>
            </a:r>
          </a:p>
          <a:p>
            <a:pPr lvl="1"/>
            <a:r>
              <a:rPr lang="en-US" dirty="0">
                <a:solidFill>
                  <a:srgbClr val="0070C0"/>
                </a:solidFill>
              </a:rPr>
              <a:t>TEMP is not equal to NULL: This condition checks if the TEMP pointer hasn't reached the end of the list (i.e., it's not pointing to NULL)</a:t>
            </a:r>
          </a:p>
        </p:txBody>
      </p:sp>
    </p:spTree>
    <p:extLst>
      <p:ext uri="{BB962C8B-B14F-4D97-AF65-F5344CB8AC3E}">
        <p14:creationId xmlns:p14="http://schemas.microsoft.com/office/powerpoint/2010/main" val="3452847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49199-E21C-D11A-3317-E5B14A35CD65}"/>
              </a:ext>
            </a:extLst>
          </p:cNvPr>
          <p:cNvSpPr>
            <a:spLocks noGrp="1"/>
          </p:cNvSpPr>
          <p:nvPr>
            <p:ph type="title"/>
          </p:nvPr>
        </p:nvSpPr>
        <p:spPr/>
        <p:txBody>
          <a:bodyPr>
            <a:normAutofit fontScale="90000"/>
          </a:bodyPr>
          <a:lstStyle/>
          <a:p>
            <a:r>
              <a:rPr lang="en-US" b="1" dirty="0"/>
              <a:t>ALGORITHM FOR DELETING A NODE (Line by Line Detail)</a:t>
            </a:r>
            <a:endParaRPr lang="en-US" dirty="0"/>
          </a:p>
        </p:txBody>
      </p:sp>
      <p:sp>
        <p:nvSpPr>
          <p:cNvPr id="3" name="Footer Placeholder 2">
            <a:extLst>
              <a:ext uri="{FF2B5EF4-FFF2-40B4-BE49-F238E27FC236}">
                <a16:creationId xmlns:a16="http://schemas.microsoft.com/office/drawing/2014/main" id="{22382E53-19BA-90D5-6C05-D3F962D8AE6D}"/>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9CF039E1-6ABD-3645-8620-911E4601373B}"/>
              </a:ext>
            </a:extLst>
          </p:cNvPr>
          <p:cNvSpPr>
            <a:spLocks noGrp="1"/>
          </p:cNvSpPr>
          <p:nvPr>
            <p:ph sz="quarter" idx="1"/>
          </p:nvPr>
        </p:nvSpPr>
        <p:spPr/>
        <p:txBody>
          <a:bodyPr/>
          <a:lstStyle/>
          <a:p>
            <a:pPr marL="0" indent="0">
              <a:buNone/>
            </a:pPr>
            <a:r>
              <a:rPr lang="en-US" dirty="0"/>
              <a:t>5. TEMP = TEMP → NEXT; </a:t>
            </a:r>
            <a:r>
              <a:rPr lang="en-US" dirty="0" err="1"/>
              <a:t>i</a:t>
            </a:r>
            <a:r>
              <a:rPr lang="en-US" dirty="0"/>
              <a:t> = </a:t>
            </a:r>
            <a:r>
              <a:rPr lang="en-US" dirty="0" err="1"/>
              <a:t>i</a:t>
            </a:r>
            <a:r>
              <a:rPr lang="en-US" dirty="0"/>
              <a:t> + 1</a:t>
            </a:r>
          </a:p>
          <a:p>
            <a:r>
              <a:rPr lang="en-US" dirty="0">
                <a:solidFill>
                  <a:srgbClr val="00B050"/>
                </a:solidFill>
              </a:rPr>
              <a:t>This line traverses the linked list one node forward:</a:t>
            </a:r>
          </a:p>
          <a:p>
            <a:pPr lvl="1"/>
            <a:r>
              <a:rPr lang="en-US" dirty="0">
                <a:solidFill>
                  <a:srgbClr val="0070C0"/>
                </a:solidFill>
              </a:rPr>
              <a:t>TEMP = TEMP-&gt;NEXT;</a:t>
            </a:r>
          </a:p>
          <a:p>
            <a:pPr lvl="2"/>
            <a:r>
              <a:rPr lang="en-US" dirty="0">
                <a:solidFill>
                  <a:srgbClr val="0070C0"/>
                </a:solidFill>
              </a:rPr>
              <a:t>This assigns the value of the NEXT pointer of the current node (TEMP) to TEMP itself. In essence, TEMP is moved to point to the next node in the list.</a:t>
            </a:r>
          </a:p>
          <a:p>
            <a:pPr lvl="1"/>
            <a:r>
              <a:rPr lang="en-US" dirty="0" err="1">
                <a:solidFill>
                  <a:srgbClr val="0070C0"/>
                </a:solidFill>
              </a:rPr>
              <a:t>i</a:t>
            </a:r>
            <a:r>
              <a:rPr lang="en-US" dirty="0">
                <a:solidFill>
                  <a:srgbClr val="0070C0"/>
                </a:solidFill>
              </a:rPr>
              <a:t> = </a:t>
            </a:r>
            <a:r>
              <a:rPr lang="en-US" dirty="0" err="1">
                <a:solidFill>
                  <a:srgbClr val="0070C0"/>
                </a:solidFill>
              </a:rPr>
              <a:t>i</a:t>
            </a:r>
            <a:r>
              <a:rPr lang="en-US" dirty="0">
                <a:solidFill>
                  <a:srgbClr val="0070C0"/>
                </a:solidFill>
              </a:rPr>
              <a:t> + 1;</a:t>
            </a:r>
          </a:p>
          <a:p>
            <a:pPr lvl="2"/>
            <a:r>
              <a:rPr lang="en-US" dirty="0">
                <a:solidFill>
                  <a:srgbClr val="0070C0"/>
                </a:solidFill>
              </a:rPr>
              <a:t>The counter variable </a:t>
            </a:r>
            <a:r>
              <a:rPr lang="en-US" dirty="0" err="1">
                <a:solidFill>
                  <a:srgbClr val="0070C0"/>
                </a:solidFill>
              </a:rPr>
              <a:t>i</a:t>
            </a:r>
            <a:r>
              <a:rPr lang="en-US" dirty="0">
                <a:solidFill>
                  <a:srgbClr val="0070C0"/>
                </a:solidFill>
              </a:rPr>
              <a:t> is incremented by 1 to keep track of the current position.</a:t>
            </a:r>
          </a:p>
        </p:txBody>
      </p:sp>
    </p:spTree>
    <p:extLst>
      <p:ext uri="{BB962C8B-B14F-4D97-AF65-F5344CB8AC3E}">
        <p14:creationId xmlns:p14="http://schemas.microsoft.com/office/powerpoint/2010/main" val="4103410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A16B9-2999-4685-170B-70CC3D7678E6}"/>
              </a:ext>
            </a:extLst>
          </p:cNvPr>
          <p:cNvSpPr>
            <a:spLocks noGrp="1"/>
          </p:cNvSpPr>
          <p:nvPr>
            <p:ph type="title"/>
          </p:nvPr>
        </p:nvSpPr>
        <p:spPr/>
        <p:txBody>
          <a:bodyPr>
            <a:normAutofit fontScale="90000"/>
          </a:bodyPr>
          <a:lstStyle/>
          <a:p>
            <a:r>
              <a:rPr lang="en-US" b="1" dirty="0"/>
              <a:t>ALGORITHM FOR DELETING A NODE (Line by Line Detail)</a:t>
            </a:r>
            <a:endParaRPr lang="en-US" dirty="0"/>
          </a:p>
        </p:txBody>
      </p:sp>
      <p:sp>
        <p:nvSpPr>
          <p:cNvPr id="3" name="Footer Placeholder 2">
            <a:extLst>
              <a:ext uri="{FF2B5EF4-FFF2-40B4-BE49-F238E27FC236}">
                <a16:creationId xmlns:a16="http://schemas.microsoft.com/office/drawing/2014/main" id="{FB5E6EA3-6D13-493C-9041-EB91DA36EF94}"/>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68F986CC-A914-1E89-0623-9FE3D9C967EC}"/>
              </a:ext>
            </a:extLst>
          </p:cNvPr>
          <p:cNvSpPr>
            <a:spLocks noGrp="1"/>
          </p:cNvSpPr>
          <p:nvPr>
            <p:ph sz="quarter" idx="1"/>
          </p:nvPr>
        </p:nvSpPr>
        <p:spPr/>
        <p:txBody>
          <a:bodyPr>
            <a:normAutofit fontScale="47500" lnSpcReduction="20000"/>
          </a:bodyPr>
          <a:lstStyle/>
          <a:p>
            <a:pPr algn="l"/>
            <a:r>
              <a:rPr lang="en-US" sz="3800" b="1" i="0" dirty="0">
                <a:solidFill>
                  <a:srgbClr val="1F1F1F"/>
                </a:solidFill>
                <a:effectLst/>
                <a:highlight>
                  <a:srgbClr val="FFFF00"/>
                </a:highlight>
                <a:latin typeface="Google Sans"/>
              </a:rPr>
              <a:t>6. If TEMP is not equal to NULL</a:t>
            </a:r>
          </a:p>
          <a:p>
            <a:pPr marL="0" indent="0" algn="l">
              <a:buNone/>
            </a:pPr>
            <a:endParaRPr lang="en-US" sz="3800" b="0" i="0" dirty="0">
              <a:solidFill>
                <a:srgbClr val="1F1F1F"/>
              </a:solidFill>
              <a:effectLst/>
              <a:latin typeface="Google Sans"/>
            </a:endParaRPr>
          </a:p>
          <a:p>
            <a:pPr marL="0" indent="0" algn="l">
              <a:buNone/>
            </a:pPr>
            <a:endParaRPr lang="en-US" sz="3800" b="0" i="0" dirty="0">
              <a:solidFill>
                <a:srgbClr val="1F1F1F"/>
              </a:solidFill>
              <a:effectLst/>
              <a:latin typeface="Google Sans"/>
            </a:endParaRPr>
          </a:p>
          <a:p>
            <a:pPr marL="0" indent="0" algn="l">
              <a:buNone/>
            </a:pPr>
            <a:endParaRPr lang="en-US" sz="3800" b="0" i="0" dirty="0">
              <a:solidFill>
                <a:srgbClr val="1F1F1F"/>
              </a:solidFill>
              <a:effectLst/>
              <a:latin typeface="Google Sans"/>
            </a:endParaRPr>
          </a:p>
          <a:p>
            <a:pPr algn="l">
              <a:buFont typeface="Arial" panose="020B0604020202020204" pitchFamily="34" charset="0"/>
              <a:buChar char="•"/>
            </a:pPr>
            <a:r>
              <a:rPr lang="en-US" sz="3800" b="1" i="0" dirty="0">
                <a:solidFill>
                  <a:srgbClr val="1F1F1F"/>
                </a:solidFill>
                <a:effectLst/>
                <a:highlight>
                  <a:srgbClr val="00FF00"/>
                </a:highlight>
                <a:latin typeface="Google Sans"/>
              </a:rPr>
              <a:t>(a) If </a:t>
            </a:r>
            <a:r>
              <a:rPr lang="en-US" sz="3800" b="1" i="0" dirty="0" err="1">
                <a:solidFill>
                  <a:srgbClr val="1F1F1F"/>
                </a:solidFill>
                <a:effectLst/>
                <a:highlight>
                  <a:srgbClr val="00FF00"/>
                </a:highlight>
                <a:latin typeface="Google Sans"/>
              </a:rPr>
              <a:t>i</a:t>
            </a:r>
            <a:r>
              <a:rPr lang="en-US" sz="3800" b="1" i="0" dirty="0">
                <a:solidFill>
                  <a:srgbClr val="1F1F1F"/>
                </a:solidFill>
                <a:effectLst/>
                <a:highlight>
                  <a:srgbClr val="00FF00"/>
                </a:highlight>
                <a:latin typeface="Google Sans"/>
              </a:rPr>
              <a:t> is equal to POS - 1</a:t>
            </a:r>
            <a:endParaRPr lang="en-US" sz="3800" b="0" i="0" dirty="0">
              <a:solidFill>
                <a:srgbClr val="1F1F1F"/>
              </a:solidFill>
              <a:effectLst/>
              <a:highlight>
                <a:srgbClr val="00FF00"/>
              </a:highlight>
              <a:latin typeface="Google Sans"/>
            </a:endParaRPr>
          </a:p>
          <a:p>
            <a:pPr marL="742950" lvl="1" indent="-285750" algn="l">
              <a:buFont typeface="Arial" panose="020B0604020202020204" pitchFamily="34" charset="0"/>
              <a:buChar char="•"/>
            </a:pPr>
            <a:r>
              <a:rPr lang="en-US" sz="3800" b="1" i="0" dirty="0">
                <a:solidFill>
                  <a:srgbClr val="1F1F1F"/>
                </a:solidFill>
                <a:effectLst/>
                <a:highlight>
                  <a:srgbClr val="00FF00"/>
                </a:highlight>
                <a:latin typeface="Google Sans"/>
              </a:rPr>
              <a:t>(</a:t>
            </a:r>
            <a:r>
              <a:rPr lang="en-US" sz="3800" b="1" i="0" dirty="0" err="1">
                <a:solidFill>
                  <a:srgbClr val="1F1F1F"/>
                </a:solidFill>
                <a:effectLst/>
                <a:highlight>
                  <a:srgbClr val="00FF00"/>
                </a:highlight>
                <a:latin typeface="Google Sans"/>
              </a:rPr>
              <a:t>i</a:t>
            </a:r>
            <a:r>
              <a:rPr lang="en-US" sz="3800" b="1" i="0" dirty="0">
                <a:solidFill>
                  <a:srgbClr val="1F1F1F"/>
                </a:solidFill>
                <a:effectLst/>
                <a:highlight>
                  <a:srgbClr val="00FF00"/>
                </a:highlight>
                <a:latin typeface="Google Sans"/>
              </a:rPr>
              <a:t>) If TEMP → NEXT is not NULL</a:t>
            </a:r>
            <a:endParaRPr lang="en-US" sz="3800" b="0" i="0" dirty="0">
              <a:solidFill>
                <a:srgbClr val="1F1F1F"/>
              </a:solidFill>
              <a:effectLst/>
              <a:highlight>
                <a:srgbClr val="00FF00"/>
              </a:highlight>
              <a:latin typeface="Google Sans"/>
            </a:endParaRPr>
          </a:p>
          <a:p>
            <a:pPr marL="1143000" lvl="2" indent="-228600" algn="l">
              <a:buFont typeface="Arial" panose="020B0604020202020204" pitchFamily="34" charset="0"/>
              <a:buChar char="•"/>
            </a:pPr>
            <a:r>
              <a:rPr lang="en-US" sz="3800" b="1" i="0" dirty="0">
                <a:solidFill>
                  <a:srgbClr val="1F1F1F"/>
                </a:solidFill>
                <a:effectLst/>
                <a:highlight>
                  <a:srgbClr val="00FF00"/>
                </a:highlight>
                <a:latin typeface="Google Sans"/>
              </a:rPr>
              <a:t>TEMP → NEXT → PREV = TEMP → PREV</a:t>
            </a:r>
          </a:p>
          <a:p>
            <a:pPr marL="1143000" lvl="2" indent="-228600" algn="l">
              <a:buFont typeface="Arial" panose="020B0604020202020204" pitchFamily="34" charset="0"/>
              <a:buChar char="•"/>
            </a:pPr>
            <a:endParaRPr lang="en-US" sz="3800" b="1" dirty="0">
              <a:solidFill>
                <a:srgbClr val="1F1F1F"/>
              </a:solidFill>
              <a:highlight>
                <a:srgbClr val="00FF00"/>
              </a:highlight>
              <a:latin typeface="Google Sans"/>
            </a:endParaRPr>
          </a:p>
          <a:p>
            <a:pPr marL="1143000" lvl="2" indent="-228600" algn="l">
              <a:buFont typeface="Arial" panose="020B0604020202020204" pitchFamily="34" charset="0"/>
              <a:buChar char="•"/>
            </a:pPr>
            <a:endParaRPr lang="en-US" sz="3800" b="1" dirty="0">
              <a:solidFill>
                <a:srgbClr val="1F1F1F"/>
              </a:solidFill>
              <a:highlight>
                <a:srgbClr val="00FF00"/>
              </a:highlight>
              <a:latin typeface="Google Sans"/>
            </a:endParaRPr>
          </a:p>
          <a:p>
            <a:pPr marL="1143000" lvl="2" indent="-228600" algn="l">
              <a:buFont typeface="Arial" panose="020B0604020202020204" pitchFamily="34" charset="0"/>
              <a:buChar char="•"/>
            </a:pPr>
            <a:endParaRPr lang="en-US" sz="3800" b="1" dirty="0">
              <a:solidFill>
                <a:srgbClr val="1F1F1F"/>
              </a:solidFill>
              <a:highlight>
                <a:srgbClr val="00FF00"/>
              </a:highlight>
              <a:latin typeface="Google Sans"/>
            </a:endParaRPr>
          </a:p>
          <a:p>
            <a:pPr marL="742950" lvl="1" indent="-285750" algn="l">
              <a:buFont typeface="Arial" panose="020B0604020202020204" pitchFamily="34" charset="0"/>
              <a:buChar char="•"/>
            </a:pPr>
            <a:r>
              <a:rPr lang="en-US" sz="3800" b="1" i="0" dirty="0">
                <a:solidFill>
                  <a:srgbClr val="1F1F1F"/>
                </a:solidFill>
                <a:effectLst/>
                <a:highlight>
                  <a:srgbClr val="00FFFF"/>
                </a:highlight>
                <a:latin typeface="Google Sans"/>
              </a:rPr>
              <a:t>(ii) If TEMP → PREV is not NULL</a:t>
            </a:r>
            <a:endParaRPr lang="en-US" sz="3800" b="0" i="0" dirty="0">
              <a:solidFill>
                <a:srgbClr val="1F1F1F"/>
              </a:solidFill>
              <a:effectLst/>
              <a:highlight>
                <a:srgbClr val="00FFFF"/>
              </a:highlight>
              <a:latin typeface="Google Sans"/>
            </a:endParaRPr>
          </a:p>
          <a:p>
            <a:pPr marL="1143000" lvl="2" indent="-228600" algn="l">
              <a:buFont typeface="Arial" panose="020B0604020202020204" pitchFamily="34" charset="0"/>
              <a:buChar char="•"/>
            </a:pPr>
            <a:r>
              <a:rPr lang="en-US" sz="3800" b="1" i="0" dirty="0">
                <a:solidFill>
                  <a:srgbClr val="1F1F1F"/>
                </a:solidFill>
                <a:effectLst/>
                <a:highlight>
                  <a:srgbClr val="00FFFF"/>
                </a:highlight>
                <a:latin typeface="Google Sans"/>
              </a:rPr>
              <a:t>TEMP → PREV → NEXT = TEMP → NEXT</a:t>
            </a:r>
          </a:p>
          <a:p>
            <a:pPr marL="1143000" lvl="2" indent="-228600" algn="l">
              <a:buFont typeface="Arial" panose="020B0604020202020204" pitchFamily="34" charset="0"/>
              <a:buChar char="•"/>
            </a:pPr>
            <a:endParaRPr lang="en-US" sz="3800" b="1" dirty="0">
              <a:solidFill>
                <a:srgbClr val="1F1F1F"/>
              </a:solidFill>
              <a:highlight>
                <a:srgbClr val="00FFFF"/>
              </a:highlight>
              <a:latin typeface="Google Sans"/>
            </a:endParaRPr>
          </a:p>
          <a:p>
            <a:pPr marL="1143000" lvl="2" indent="-228600" algn="l">
              <a:buFont typeface="Arial" panose="020B0604020202020204" pitchFamily="34" charset="0"/>
              <a:buChar char="•"/>
            </a:pPr>
            <a:endParaRPr lang="en-US" sz="3800" b="0" i="0" dirty="0">
              <a:solidFill>
                <a:srgbClr val="1F1F1F"/>
              </a:solidFill>
              <a:effectLst/>
              <a:highlight>
                <a:srgbClr val="00FFFF"/>
              </a:highlight>
              <a:latin typeface="Google Sans"/>
            </a:endParaRPr>
          </a:p>
          <a:p>
            <a:pPr marL="742950" lvl="1" indent="-285750" algn="l">
              <a:buFont typeface="Arial" panose="020B0604020202020204" pitchFamily="34" charset="0"/>
              <a:buChar char="•"/>
            </a:pPr>
            <a:r>
              <a:rPr lang="en-US" sz="3800" b="1" i="0" dirty="0">
                <a:solidFill>
                  <a:srgbClr val="1F1F1F"/>
                </a:solidFill>
                <a:effectLst/>
                <a:highlight>
                  <a:srgbClr val="C0C0C0"/>
                </a:highlight>
                <a:latin typeface="Google Sans"/>
              </a:rPr>
              <a:t>(iii) Free TEMP (delete the node)</a:t>
            </a:r>
            <a:endParaRPr lang="en-US" sz="3800" b="0" i="0" dirty="0">
              <a:solidFill>
                <a:srgbClr val="1F1F1F"/>
              </a:solidFill>
              <a:effectLst/>
              <a:highlight>
                <a:srgbClr val="C0C0C0"/>
              </a:highlight>
              <a:latin typeface="Google Sans"/>
            </a:endParaRPr>
          </a:p>
          <a:p>
            <a:endParaRPr lang="en-US" dirty="0"/>
          </a:p>
        </p:txBody>
      </p:sp>
      <p:sp>
        <p:nvSpPr>
          <p:cNvPr id="5" name="Content Placeholder 4">
            <a:extLst>
              <a:ext uri="{FF2B5EF4-FFF2-40B4-BE49-F238E27FC236}">
                <a16:creationId xmlns:a16="http://schemas.microsoft.com/office/drawing/2014/main" id="{99D9C028-A56A-B092-515F-246C2C9922DD}"/>
              </a:ext>
            </a:extLst>
          </p:cNvPr>
          <p:cNvSpPr>
            <a:spLocks noGrp="1"/>
          </p:cNvSpPr>
          <p:nvPr>
            <p:ph sz="quarter" idx="2"/>
          </p:nvPr>
        </p:nvSpPr>
        <p:spPr/>
        <p:txBody>
          <a:bodyPr>
            <a:noAutofit/>
          </a:bodyPr>
          <a:lstStyle/>
          <a:p>
            <a:r>
              <a:rPr lang="en-US" sz="1200" dirty="0">
                <a:highlight>
                  <a:srgbClr val="FFFF00"/>
                </a:highlight>
              </a:rPr>
              <a:t>This conditional block handles the actual deletion logic:</a:t>
            </a:r>
          </a:p>
          <a:p>
            <a:r>
              <a:rPr lang="en-US" sz="1200" dirty="0">
                <a:highlight>
                  <a:srgbClr val="FFFF00"/>
                </a:highlight>
              </a:rPr>
              <a:t>The first if condition (TEMP != NULL) ensures we haven't reached the end of the list before attempting deletion.</a:t>
            </a:r>
          </a:p>
          <a:p>
            <a:r>
              <a:rPr lang="en-US" sz="1200" dirty="0">
                <a:highlight>
                  <a:srgbClr val="FFFF00"/>
                </a:highlight>
              </a:rPr>
              <a:t>Inside this if:</a:t>
            </a:r>
          </a:p>
          <a:p>
            <a:r>
              <a:rPr lang="en-US" sz="1200" dirty="0">
                <a:highlight>
                  <a:srgbClr val="00FF00"/>
                </a:highlight>
              </a:rPr>
              <a:t>(a)The second if condition (</a:t>
            </a:r>
            <a:r>
              <a:rPr lang="en-US" sz="1200" dirty="0" err="1">
                <a:highlight>
                  <a:srgbClr val="00FF00"/>
                </a:highlight>
              </a:rPr>
              <a:t>i</a:t>
            </a:r>
            <a:r>
              <a:rPr lang="en-US" sz="1200" dirty="0">
                <a:highlight>
                  <a:srgbClr val="00FF00"/>
                </a:highlight>
              </a:rPr>
              <a:t> == POS - 1) checks if we've reached the node before the one to be deleted.</a:t>
            </a:r>
          </a:p>
          <a:p>
            <a:pPr lvl="1"/>
            <a:r>
              <a:rPr lang="en-US" sz="1200" dirty="0">
                <a:highlight>
                  <a:srgbClr val="00FF00"/>
                </a:highlight>
              </a:rPr>
              <a:t>(</a:t>
            </a:r>
            <a:r>
              <a:rPr lang="en-US" sz="1200" dirty="0" err="1">
                <a:highlight>
                  <a:srgbClr val="00FF00"/>
                </a:highlight>
              </a:rPr>
              <a:t>i</a:t>
            </a:r>
            <a:r>
              <a:rPr lang="en-US" sz="1200" dirty="0">
                <a:highlight>
                  <a:srgbClr val="00FF00"/>
                </a:highlight>
              </a:rPr>
              <a:t>) Handling non-null NEXT (next pointer):</a:t>
            </a:r>
          </a:p>
          <a:p>
            <a:pPr lvl="1"/>
            <a:r>
              <a:rPr lang="en-US" sz="1200" dirty="0">
                <a:highlight>
                  <a:srgbClr val="00FF00"/>
                </a:highlight>
              </a:rPr>
              <a:t>If the NEXT pointer of the node pointed to by TEMP is not NULL (meaning it's not the tail node), this line updates the PREV pointer of the next node to point to the node before TEMP (which becomes the new previous node).</a:t>
            </a:r>
          </a:p>
          <a:p>
            <a:pPr lvl="1"/>
            <a:endParaRPr lang="en-US" sz="1200" dirty="0">
              <a:highlight>
                <a:srgbClr val="00FF00"/>
              </a:highlight>
            </a:endParaRPr>
          </a:p>
          <a:p>
            <a:r>
              <a:rPr lang="en-US" sz="1200" dirty="0">
                <a:highlight>
                  <a:srgbClr val="00FFFF"/>
                </a:highlight>
              </a:rPr>
              <a:t>(ii) Handling non-null PREV (previous pointer):</a:t>
            </a:r>
          </a:p>
          <a:p>
            <a:r>
              <a:rPr lang="en-US" sz="1200" dirty="0">
                <a:highlight>
                  <a:srgbClr val="00FFFF"/>
                </a:highlight>
              </a:rPr>
              <a:t>If the PREV pointer of the node pointed to by TEMP is not NULL (meaning it's not the head node), this line updates the NEXT pointer of the previous node to point to the node after TEMP (which becomes the new next node).</a:t>
            </a:r>
          </a:p>
          <a:p>
            <a:pPr marL="0" indent="0">
              <a:buNone/>
            </a:pPr>
            <a:endParaRPr lang="en-US" sz="1200" dirty="0">
              <a:highlight>
                <a:srgbClr val="00FFFF"/>
              </a:highlight>
            </a:endParaRPr>
          </a:p>
          <a:p>
            <a:r>
              <a:rPr lang="en-US" sz="1200" dirty="0">
                <a:highlight>
                  <a:srgbClr val="C0C0C0"/>
                </a:highlight>
              </a:rPr>
              <a:t>(iii) Free TEMP:</a:t>
            </a:r>
          </a:p>
          <a:p>
            <a:r>
              <a:rPr lang="en-US" sz="1200" dirty="0">
                <a:highlight>
                  <a:srgbClr val="C0C0C0"/>
                </a:highlight>
              </a:rPr>
              <a:t>Finally, the memory allocated for the node pointed to by TEMP is freed, removing the node from the linked list.</a:t>
            </a:r>
          </a:p>
        </p:txBody>
      </p:sp>
    </p:spTree>
    <p:extLst>
      <p:ext uri="{BB962C8B-B14F-4D97-AF65-F5344CB8AC3E}">
        <p14:creationId xmlns:p14="http://schemas.microsoft.com/office/powerpoint/2010/main" val="2468018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4BD0D-59E6-6CF0-16ED-D9E77365FA21}"/>
              </a:ext>
            </a:extLst>
          </p:cNvPr>
          <p:cNvSpPr>
            <a:spLocks noGrp="1"/>
          </p:cNvSpPr>
          <p:nvPr>
            <p:ph type="title"/>
          </p:nvPr>
        </p:nvSpPr>
        <p:spPr/>
        <p:txBody>
          <a:bodyPr>
            <a:normAutofit fontScale="90000"/>
          </a:bodyPr>
          <a:lstStyle/>
          <a:p>
            <a:r>
              <a:rPr lang="en-US" b="1" dirty="0"/>
              <a:t>ALGORITHM FOR DELETING A NODE (Line by Line Detail)</a:t>
            </a:r>
            <a:endParaRPr lang="en-US" dirty="0"/>
          </a:p>
        </p:txBody>
      </p:sp>
      <p:sp>
        <p:nvSpPr>
          <p:cNvPr id="3" name="Footer Placeholder 2">
            <a:extLst>
              <a:ext uri="{FF2B5EF4-FFF2-40B4-BE49-F238E27FC236}">
                <a16:creationId xmlns:a16="http://schemas.microsoft.com/office/drawing/2014/main" id="{1A9485F1-FC74-1CC8-3AD9-791DE5DA51F9}"/>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723606A8-91BE-4062-661D-B5F4E2AE7E4F}"/>
              </a:ext>
            </a:extLst>
          </p:cNvPr>
          <p:cNvSpPr>
            <a:spLocks noGrp="1"/>
          </p:cNvSpPr>
          <p:nvPr>
            <p:ph sz="quarter" idx="1"/>
          </p:nvPr>
        </p:nvSpPr>
        <p:spPr/>
        <p:txBody>
          <a:bodyPr/>
          <a:lstStyle/>
          <a:p>
            <a:pPr algn="l"/>
            <a:r>
              <a:rPr lang="en-US" b="1" i="0" dirty="0">
                <a:solidFill>
                  <a:srgbClr val="1F1F1F"/>
                </a:solidFill>
                <a:effectLst/>
                <a:latin typeface="Google Sans"/>
              </a:rPr>
              <a:t>7. Else</a:t>
            </a:r>
            <a:endParaRPr lang="en-US" b="0" i="0" dirty="0">
              <a:solidFill>
                <a:srgbClr val="1F1F1F"/>
              </a:solidFill>
              <a:effectLst/>
              <a:latin typeface="Google Sans"/>
            </a:endParaRPr>
          </a:p>
          <a:p>
            <a:pPr algn="l">
              <a:buFont typeface="Arial" panose="020B0604020202020204" pitchFamily="34" charset="0"/>
              <a:buChar char="•"/>
            </a:pPr>
            <a:r>
              <a:rPr lang="en-US" b="1" i="0" dirty="0">
                <a:solidFill>
                  <a:srgbClr val="1F1F1F"/>
                </a:solidFill>
                <a:effectLst/>
                <a:latin typeface="Google Sans"/>
              </a:rPr>
              <a:t>(a) Display "Position NOT found"</a:t>
            </a:r>
            <a:endParaRPr lang="en-US" b="0" i="0" dirty="0">
              <a:solidFill>
                <a:srgbClr val="1F1F1F"/>
              </a:solidFill>
              <a:effectLst/>
              <a:latin typeface="Google Sans"/>
            </a:endParaRPr>
          </a:p>
          <a:p>
            <a:pPr algn="l">
              <a:buFont typeface="Arial" panose="020B0604020202020204" pitchFamily="34" charset="0"/>
              <a:buChar char="•"/>
            </a:pPr>
            <a:r>
              <a:rPr lang="en-US" b="0" i="0" dirty="0">
                <a:solidFill>
                  <a:srgbClr val="00B050"/>
                </a:solidFill>
                <a:effectLst/>
                <a:latin typeface="Google Sans"/>
              </a:rPr>
              <a:t>This block executes if the loop completes (i.e., the target position wasn't found within the list) and displays an appropriate message.</a:t>
            </a:r>
          </a:p>
          <a:p>
            <a:endParaRPr lang="en-US" dirty="0"/>
          </a:p>
        </p:txBody>
      </p:sp>
    </p:spTree>
    <p:extLst>
      <p:ext uri="{BB962C8B-B14F-4D97-AF65-F5344CB8AC3E}">
        <p14:creationId xmlns:p14="http://schemas.microsoft.com/office/powerpoint/2010/main" val="3043281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8FB65-CD2F-0954-E160-BE5650CE4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BF8C3-B35E-A230-903F-A84CB6A32E81}"/>
              </a:ext>
            </a:extLst>
          </p:cNvPr>
          <p:cNvSpPr>
            <a:spLocks noGrp="1"/>
          </p:cNvSpPr>
          <p:nvPr>
            <p:ph type="title"/>
          </p:nvPr>
        </p:nvSpPr>
        <p:spPr/>
        <p:txBody>
          <a:bodyPr/>
          <a:lstStyle/>
          <a:p>
            <a:r>
              <a:rPr lang="en-US" dirty="0"/>
              <a:t>Implementation in C++</a:t>
            </a:r>
          </a:p>
        </p:txBody>
      </p:sp>
      <p:sp>
        <p:nvSpPr>
          <p:cNvPr id="3" name="Footer Placeholder 2">
            <a:extLst>
              <a:ext uri="{FF2B5EF4-FFF2-40B4-BE49-F238E27FC236}">
                <a16:creationId xmlns:a16="http://schemas.microsoft.com/office/drawing/2014/main" id="{7608917F-136A-D23A-A1F6-26F50FB65CA9}"/>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C2DAF8C2-B7C7-3126-AAC7-8908ABEE7230}"/>
              </a:ext>
            </a:extLst>
          </p:cNvPr>
          <p:cNvSpPr>
            <a:spLocks noGrp="1"/>
          </p:cNvSpPr>
          <p:nvPr>
            <p:ph sz="quarter" idx="1"/>
          </p:nvPr>
        </p:nvSpPr>
        <p:spPr>
          <a:xfrm>
            <a:off x="457200" y="1143001"/>
            <a:ext cx="4041648" cy="1600200"/>
          </a:xfrm>
          <a:solidFill>
            <a:srgbClr val="FFFF00"/>
          </a:solidFill>
        </p:spPr>
        <p:txBody>
          <a:bodyPr>
            <a:noAutofit/>
          </a:bodyPr>
          <a:lstStyle/>
          <a:p>
            <a:pPr marL="0" indent="0">
              <a:buNone/>
            </a:pPr>
            <a:r>
              <a:rPr lang="en-US" sz="1600" dirty="0"/>
              <a:t>struct Node {</a:t>
            </a:r>
          </a:p>
          <a:p>
            <a:pPr marL="0" indent="0">
              <a:buNone/>
            </a:pPr>
            <a:r>
              <a:rPr lang="en-US" sz="1600" dirty="0"/>
              <a:t>	int data;</a:t>
            </a:r>
          </a:p>
          <a:p>
            <a:pPr marL="0" indent="0">
              <a:buNone/>
            </a:pPr>
            <a:r>
              <a:rPr lang="en-US" sz="1600" dirty="0"/>
              <a:t>	Node* </a:t>
            </a:r>
            <a:r>
              <a:rPr lang="en-US" sz="1600" dirty="0" err="1"/>
              <a:t>prev</a:t>
            </a:r>
            <a:r>
              <a:rPr lang="en-US" sz="1600" dirty="0"/>
              <a:t>;</a:t>
            </a:r>
          </a:p>
          <a:p>
            <a:pPr marL="0" indent="0">
              <a:buNone/>
            </a:pPr>
            <a:r>
              <a:rPr lang="en-US" sz="1600" dirty="0"/>
              <a:t>	Node* next;</a:t>
            </a:r>
          </a:p>
          <a:p>
            <a:pPr marL="0" indent="0">
              <a:buNone/>
            </a:pPr>
            <a:r>
              <a:rPr lang="en-US" sz="1600" dirty="0"/>
              <a:t>	};</a:t>
            </a:r>
          </a:p>
        </p:txBody>
      </p:sp>
      <p:sp>
        <p:nvSpPr>
          <p:cNvPr id="7" name="TextBox 6">
            <a:extLst>
              <a:ext uri="{FF2B5EF4-FFF2-40B4-BE49-F238E27FC236}">
                <a16:creationId xmlns:a16="http://schemas.microsoft.com/office/drawing/2014/main" id="{649690E4-79AF-89CA-D83A-EADC1D3541A8}"/>
              </a:ext>
            </a:extLst>
          </p:cNvPr>
          <p:cNvSpPr txBox="1"/>
          <p:nvPr/>
        </p:nvSpPr>
        <p:spPr>
          <a:xfrm>
            <a:off x="457200" y="2743200"/>
            <a:ext cx="4041648" cy="2523768"/>
          </a:xfrm>
          <a:prstGeom prst="rect">
            <a:avLst/>
          </a:prstGeom>
          <a:solidFill>
            <a:srgbClr val="92D050"/>
          </a:solidFill>
        </p:spPr>
        <p:txBody>
          <a:bodyPr wrap="square">
            <a:spAutoFit/>
          </a:bodyPr>
          <a:lstStyle/>
          <a:p>
            <a:r>
              <a:rPr lang="en-US" sz="1600" b="1" dirty="0"/>
              <a:t>// Function to delete a node at a given position in the doubly linked list</a:t>
            </a:r>
          </a:p>
          <a:p>
            <a:r>
              <a:rPr lang="en-US" sz="1600" dirty="0"/>
              <a:t>void </a:t>
            </a:r>
            <a:r>
              <a:rPr lang="en-US" sz="1600" dirty="0" err="1"/>
              <a:t>deleteAtPos</a:t>
            </a:r>
            <a:r>
              <a:rPr lang="en-US" sz="1600" dirty="0"/>
              <a:t>(Node** head, int pos) {</a:t>
            </a:r>
          </a:p>
          <a:p>
            <a:r>
              <a:rPr lang="en-US" sz="1600" dirty="0"/>
              <a:t>  // Check if the list is empty</a:t>
            </a:r>
          </a:p>
          <a:p>
            <a:r>
              <a:rPr lang="en-US" sz="1600" dirty="0"/>
              <a:t>  if (*head == </a:t>
            </a:r>
            <a:r>
              <a:rPr lang="en-US" sz="1600" dirty="0" err="1"/>
              <a:t>nullptr</a:t>
            </a:r>
            <a:r>
              <a:rPr lang="en-US" sz="1600" dirty="0"/>
              <a:t>) {</a:t>
            </a:r>
          </a:p>
          <a:p>
            <a:r>
              <a:rPr lang="en-US" sz="1600" dirty="0"/>
              <a:t>    </a:t>
            </a:r>
            <a:r>
              <a:rPr lang="en-US" sz="1600" dirty="0" err="1"/>
              <a:t>cout</a:t>
            </a:r>
            <a:r>
              <a:rPr lang="en-US" sz="1600" dirty="0"/>
              <a:t> &lt;&lt; "List is empty, cannot delete." &lt;&lt; </a:t>
            </a:r>
            <a:r>
              <a:rPr lang="en-US" sz="1600" dirty="0" err="1"/>
              <a:t>endl</a:t>
            </a:r>
            <a:r>
              <a:rPr lang="en-US" sz="1600" dirty="0"/>
              <a:t>;</a:t>
            </a:r>
          </a:p>
          <a:p>
            <a:r>
              <a:rPr lang="en-US" sz="1600" dirty="0"/>
              <a:t>    return;</a:t>
            </a:r>
          </a:p>
          <a:p>
            <a:r>
              <a:rPr lang="en-US" sz="1600" dirty="0"/>
              <a:t>  }</a:t>
            </a:r>
          </a:p>
          <a:p>
            <a:endParaRPr lang="en-US" sz="1400" dirty="0"/>
          </a:p>
        </p:txBody>
      </p:sp>
      <p:sp>
        <p:nvSpPr>
          <p:cNvPr id="10" name="TextBox 9">
            <a:extLst>
              <a:ext uri="{FF2B5EF4-FFF2-40B4-BE49-F238E27FC236}">
                <a16:creationId xmlns:a16="http://schemas.microsoft.com/office/drawing/2014/main" id="{A3FFFCD3-B32B-0F7C-DA67-2A27E90AA250}"/>
              </a:ext>
            </a:extLst>
          </p:cNvPr>
          <p:cNvSpPr txBox="1"/>
          <p:nvPr/>
        </p:nvSpPr>
        <p:spPr>
          <a:xfrm>
            <a:off x="457200" y="5257800"/>
            <a:ext cx="4041648" cy="1077218"/>
          </a:xfrm>
          <a:prstGeom prst="rect">
            <a:avLst/>
          </a:prstGeom>
          <a:solidFill>
            <a:srgbClr val="00B0F0"/>
          </a:solidFill>
        </p:spPr>
        <p:txBody>
          <a:bodyPr wrap="square">
            <a:spAutoFit/>
          </a:bodyPr>
          <a:lstStyle/>
          <a:p>
            <a:r>
              <a:rPr lang="en-US" sz="1600" b="1" dirty="0"/>
              <a:t> // Initialize a temporary pointer to traverse the list</a:t>
            </a:r>
          </a:p>
          <a:p>
            <a:r>
              <a:rPr lang="en-US" sz="1600" dirty="0"/>
              <a:t>  Node* temp = *head;</a:t>
            </a:r>
          </a:p>
          <a:p>
            <a:r>
              <a:rPr lang="en-US" sz="1600" dirty="0"/>
              <a:t>  int </a:t>
            </a:r>
            <a:r>
              <a:rPr lang="en-US" sz="1600" dirty="0" err="1"/>
              <a:t>i</a:t>
            </a:r>
            <a:r>
              <a:rPr lang="en-US" sz="1600" dirty="0"/>
              <a:t> = 0; // Counter variable for position</a:t>
            </a:r>
          </a:p>
        </p:txBody>
      </p:sp>
      <p:sp>
        <p:nvSpPr>
          <p:cNvPr id="11" name="Content Placeholder 4">
            <a:extLst>
              <a:ext uri="{FF2B5EF4-FFF2-40B4-BE49-F238E27FC236}">
                <a16:creationId xmlns:a16="http://schemas.microsoft.com/office/drawing/2014/main" id="{92E52CB1-97A3-8E3C-0FC4-EA1100FB1C66}"/>
              </a:ext>
            </a:extLst>
          </p:cNvPr>
          <p:cNvSpPr txBox="1">
            <a:spLocks/>
          </p:cNvSpPr>
          <p:nvPr/>
        </p:nvSpPr>
        <p:spPr>
          <a:xfrm>
            <a:off x="4498848" y="1143000"/>
            <a:ext cx="4174998" cy="5213350"/>
          </a:xfrm>
          <a:prstGeom prst="rect">
            <a:avLst/>
          </a:prstGeom>
          <a:solidFill>
            <a:schemeClr val="accent4">
              <a:lumMod val="75000"/>
            </a:schemeClr>
          </a:solidFill>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600" b="1" dirty="0"/>
              <a:t> // Traverse the list until reaching the node before the one to delete</a:t>
            </a:r>
          </a:p>
          <a:p>
            <a:pPr marL="0" indent="0">
              <a:buNone/>
            </a:pPr>
            <a:r>
              <a:rPr lang="en-US" sz="1600" dirty="0"/>
              <a:t>  while (temp != </a:t>
            </a:r>
            <a:r>
              <a:rPr lang="en-US" sz="1600" dirty="0" err="1"/>
              <a:t>nullptr</a:t>
            </a:r>
            <a:r>
              <a:rPr lang="en-US" sz="1600" dirty="0"/>
              <a:t> &amp;&amp; </a:t>
            </a:r>
            <a:r>
              <a:rPr lang="en-US" sz="1600" dirty="0" err="1"/>
              <a:t>i</a:t>
            </a:r>
            <a:r>
              <a:rPr lang="en-US" sz="1600" dirty="0"/>
              <a:t> &lt; pos) {</a:t>
            </a:r>
          </a:p>
          <a:p>
            <a:pPr marL="0" indent="0">
              <a:buNone/>
            </a:pPr>
            <a:r>
              <a:rPr lang="en-US" sz="1600" dirty="0"/>
              <a:t>    temp = temp-&gt;next;</a:t>
            </a:r>
          </a:p>
          <a:p>
            <a:pPr marL="0" indent="0">
              <a:buNone/>
            </a:pPr>
            <a:r>
              <a:rPr lang="en-US" sz="1600" dirty="0"/>
              <a:t>    </a:t>
            </a:r>
            <a:r>
              <a:rPr lang="en-US" sz="1600" dirty="0" err="1"/>
              <a:t>i</a:t>
            </a:r>
            <a:r>
              <a:rPr lang="en-US" sz="1600" dirty="0"/>
              <a:t>++;</a:t>
            </a:r>
          </a:p>
          <a:p>
            <a:pPr marL="0" indent="0">
              <a:buNone/>
            </a:pPr>
            <a:r>
              <a:rPr lang="en-US" sz="1600" dirty="0"/>
              <a:t>  }</a:t>
            </a:r>
          </a:p>
          <a:p>
            <a:pPr marL="0" indent="0">
              <a:buNone/>
            </a:pPr>
            <a:endParaRPr lang="en-US" sz="1600" dirty="0"/>
          </a:p>
          <a:p>
            <a:pPr marL="0" indent="0">
              <a:buNone/>
            </a:pPr>
            <a:r>
              <a:rPr lang="en-US" sz="1600" b="1" dirty="0"/>
              <a:t>  // Check if the position is valid (within the list's length)</a:t>
            </a:r>
          </a:p>
          <a:p>
            <a:pPr marL="0" indent="0">
              <a:buNone/>
            </a:pPr>
            <a:r>
              <a:rPr lang="en-US" sz="1600" dirty="0"/>
              <a:t>  if (temp == </a:t>
            </a:r>
            <a:r>
              <a:rPr lang="en-US" sz="1600" dirty="0" err="1"/>
              <a:t>nullptr</a:t>
            </a:r>
            <a:r>
              <a:rPr lang="en-US" sz="1600" dirty="0"/>
              <a:t> || </a:t>
            </a:r>
            <a:r>
              <a:rPr lang="en-US" sz="1600" dirty="0" err="1"/>
              <a:t>i</a:t>
            </a:r>
            <a:r>
              <a:rPr lang="en-US" sz="1600" dirty="0"/>
              <a:t> != pos) {</a:t>
            </a:r>
          </a:p>
          <a:p>
            <a:pPr marL="0" indent="0">
              <a:buNone/>
            </a:pPr>
            <a:r>
              <a:rPr lang="en-US" sz="1600" dirty="0"/>
              <a:t>    </a:t>
            </a:r>
            <a:r>
              <a:rPr lang="en-US" sz="1600" dirty="0" err="1"/>
              <a:t>cout</a:t>
            </a:r>
            <a:r>
              <a:rPr lang="en-US" sz="1600" dirty="0"/>
              <a:t> &lt;&lt; "Invalid position: " &lt;&lt; pos &lt;&lt; </a:t>
            </a:r>
            <a:r>
              <a:rPr lang="en-US" sz="1600" dirty="0" err="1"/>
              <a:t>endl</a:t>
            </a:r>
            <a:r>
              <a:rPr lang="en-US" sz="1600" dirty="0"/>
              <a:t>;</a:t>
            </a:r>
          </a:p>
          <a:p>
            <a:pPr marL="0" indent="0">
              <a:buNone/>
            </a:pPr>
            <a:r>
              <a:rPr lang="en-US" sz="1600" dirty="0"/>
              <a:t>    return;</a:t>
            </a:r>
          </a:p>
          <a:p>
            <a:pPr marL="0" indent="0">
              <a:buNone/>
            </a:pPr>
            <a:r>
              <a:rPr lang="en-US" sz="1600" dirty="0"/>
              <a:t>  }</a:t>
            </a:r>
          </a:p>
        </p:txBody>
      </p:sp>
    </p:spTree>
    <p:extLst>
      <p:ext uri="{BB962C8B-B14F-4D97-AF65-F5344CB8AC3E}">
        <p14:creationId xmlns:p14="http://schemas.microsoft.com/office/powerpoint/2010/main" val="901504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P spid="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CDE94-7B0F-0C5C-C2B4-1914FD8FD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18B6D-195F-620D-1C3E-25A61B247AD4}"/>
              </a:ext>
            </a:extLst>
          </p:cNvPr>
          <p:cNvSpPr>
            <a:spLocks noGrp="1"/>
          </p:cNvSpPr>
          <p:nvPr>
            <p:ph type="title"/>
          </p:nvPr>
        </p:nvSpPr>
        <p:spPr/>
        <p:txBody>
          <a:bodyPr/>
          <a:lstStyle/>
          <a:p>
            <a:r>
              <a:rPr lang="en-US" dirty="0"/>
              <a:t>Implementation in C++</a:t>
            </a:r>
          </a:p>
        </p:txBody>
      </p:sp>
      <p:sp>
        <p:nvSpPr>
          <p:cNvPr id="3" name="Footer Placeholder 2">
            <a:extLst>
              <a:ext uri="{FF2B5EF4-FFF2-40B4-BE49-F238E27FC236}">
                <a16:creationId xmlns:a16="http://schemas.microsoft.com/office/drawing/2014/main" id="{7265DDF5-C06B-7555-3A1B-6D0828B88118}"/>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42B3FA94-B67A-1C0E-D881-88E4055C8D76}"/>
              </a:ext>
            </a:extLst>
          </p:cNvPr>
          <p:cNvSpPr>
            <a:spLocks noGrp="1"/>
          </p:cNvSpPr>
          <p:nvPr>
            <p:ph sz="quarter" idx="1"/>
          </p:nvPr>
        </p:nvSpPr>
        <p:spPr>
          <a:xfrm>
            <a:off x="4645152" y="1143000"/>
            <a:ext cx="4041648" cy="5257800"/>
          </a:xfrm>
          <a:solidFill>
            <a:srgbClr val="FFFF00"/>
          </a:solidFill>
        </p:spPr>
        <p:txBody>
          <a:bodyPr>
            <a:normAutofit/>
          </a:bodyPr>
          <a:lstStyle/>
          <a:p>
            <a:pPr marL="0" indent="0">
              <a:buNone/>
            </a:pPr>
            <a:r>
              <a:rPr lang="en-US" sz="1600" dirty="0"/>
              <a:t>else {</a:t>
            </a:r>
          </a:p>
          <a:p>
            <a:pPr marL="0" indent="0">
              <a:buNone/>
            </a:pPr>
            <a:r>
              <a:rPr lang="en-US" sz="1600" dirty="0"/>
              <a:t>    </a:t>
            </a:r>
            <a:r>
              <a:rPr lang="en-US" sz="1600" b="1" dirty="0"/>
              <a:t>// Update previous node's next pointer and next node's previous pointer</a:t>
            </a:r>
          </a:p>
          <a:p>
            <a:pPr marL="0" indent="0">
              <a:buNone/>
            </a:pPr>
            <a:r>
              <a:rPr lang="en-US" sz="1600" dirty="0"/>
              <a:t>    temp-&gt;</a:t>
            </a:r>
            <a:r>
              <a:rPr lang="en-US" sz="1600" dirty="0" err="1"/>
              <a:t>prev</a:t>
            </a:r>
            <a:r>
              <a:rPr lang="en-US" sz="1600" dirty="0"/>
              <a:t>-&gt;next = temp-&gt;next;</a:t>
            </a:r>
          </a:p>
          <a:p>
            <a:pPr marL="0" indent="0">
              <a:buNone/>
            </a:pPr>
            <a:r>
              <a:rPr lang="en-US" sz="1600" dirty="0"/>
              <a:t>    if (temp-&gt;next != </a:t>
            </a:r>
            <a:r>
              <a:rPr lang="en-US" sz="1600" dirty="0" err="1"/>
              <a:t>nullptr</a:t>
            </a:r>
            <a:r>
              <a:rPr lang="en-US" sz="1600" dirty="0"/>
              <a:t>) {</a:t>
            </a:r>
          </a:p>
          <a:p>
            <a:pPr marL="0" indent="0">
              <a:buNone/>
            </a:pPr>
            <a:r>
              <a:rPr lang="en-US" sz="1600" dirty="0"/>
              <a:t>      temp-&gt;next-&gt;</a:t>
            </a:r>
            <a:r>
              <a:rPr lang="en-US" sz="1600" dirty="0" err="1"/>
              <a:t>prev</a:t>
            </a:r>
            <a:r>
              <a:rPr lang="en-US" sz="1600" dirty="0"/>
              <a:t> = temp-&gt;</a:t>
            </a:r>
            <a:r>
              <a:rPr lang="en-US" sz="1600" dirty="0" err="1"/>
              <a:t>prev</a:t>
            </a:r>
            <a:r>
              <a:rPr lang="en-US" sz="1600" dirty="0"/>
              <a:t>;</a:t>
            </a:r>
          </a:p>
          <a:p>
            <a:pPr marL="0" indent="0">
              <a:buNone/>
            </a:pPr>
            <a:r>
              <a:rPr lang="en-US" sz="1600" dirty="0"/>
              <a:t>    }</a:t>
            </a:r>
          </a:p>
          <a:p>
            <a:pPr marL="0" indent="0">
              <a:buNone/>
            </a:pPr>
            <a:r>
              <a:rPr lang="en-US" sz="1600" dirty="0"/>
              <a:t>  }</a:t>
            </a:r>
          </a:p>
          <a:p>
            <a:pPr marL="0" indent="0">
              <a:buNone/>
            </a:pPr>
            <a:endParaRPr lang="en-US" sz="1600" dirty="0"/>
          </a:p>
          <a:p>
            <a:pPr marL="0" indent="0">
              <a:buNone/>
            </a:pPr>
            <a:r>
              <a:rPr lang="en-US" sz="1600" dirty="0"/>
              <a:t>  </a:t>
            </a:r>
            <a:r>
              <a:rPr lang="en-US" sz="1600" b="1" dirty="0"/>
              <a:t>// Free the memory allocated for the deleted node</a:t>
            </a:r>
          </a:p>
          <a:p>
            <a:pPr marL="0" indent="0">
              <a:buNone/>
            </a:pPr>
            <a:r>
              <a:rPr lang="en-US" sz="1600" dirty="0"/>
              <a:t>  delete temp;</a:t>
            </a:r>
          </a:p>
          <a:p>
            <a:pPr marL="0" indent="0">
              <a:buNone/>
            </a:pPr>
            <a:r>
              <a:rPr lang="en-US" sz="1600" dirty="0"/>
              <a:t>}</a:t>
            </a:r>
          </a:p>
          <a:p>
            <a:pPr marL="0" indent="0">
              <a:buNone/>
            </a:pPr>
            <a:endParaRPr lang="en-US" sz="1600" dirty="0"/>
          </a:p>
        </p:txBody>
      </p:sp>
      <p:sp>
        <p:nvSpPr>
          <p:cNvPr id="6" name="Content Placeholder 4">
            <a:extLst>
              <a:ext uri="{FF2B5EF4-FFF2-40B4-BE49-F238E27FC236}">
                <a16:creationId xmlns:a16="http://schemas.microsoft.com/office/drawing/2014/main" id="{E83B719E-ACDF-3C31-825B-63512C54356F}"/>
              </a:ext>
            </a:extLst>
          </p:cNvPr>
          <p:cNvSpPr txBox="1">
            <a:spLocks/>
          </p:cNvSpPr>
          <p:nvPr/>
        </p:nvSpPr>
        <p:spPr>
          <a:xfrm>
            <a:off x="457200" y="1143000"/>
            <a:ext cx="4041646" cy="5213350"/>
          </a:xfrm>
          <a:prstGeom prst="rect">
            <a:avLst/>
          </a:prstGeom>
          <a:solidFill>
            <a:schemeClr val="accent5"/>
          </a:solidFill>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600" dirty="0"/>
              <a:t> </a:t>
            </a:r>
            <a:r>
              <a:rPr lang="en-US" sz="1600" b="1" dirty="0"/>
              <a:t>// Handle deletion at the head (position 0)</a:t>
            </a:r>
          </a:p>
          <a:p>
            <a:pPr marL="0" indent="0">
              <a:buNone/>
            </a:pPr>
            <a:r>
              <a:rPr lang="en-US" sz="1600" dirty="0"/>
              <a:t>  if (temp == *head) {</a:t>
            </a:r>
          </a:p>
          <a:p>
            <a:pPr marL="0" indent="0">
              <a:buNone/>
            </a:pPr>
            <a:r>
              <a:rPr lang="en-US" sz="1600" dirty="0"/>
              <a:t>    // Update head pointer to point to the next node</a:t>
            </a:r>
          </a:p>
          <a:p>
            <a:pPr marL="0" indent="0">
              <a:buNone/>
            </a:pPr>
            <a:r>
              <a:rPr lang="en-US" sz="1600" dirty="0"/>
              <a:t>    *head = temp-&gt;next;</a:t>
            </a:r>
          </a:p>
          <a:p>
            <a:pPr marL="0" indent="0">
              <a:buNone/>
            </a:pPr>
            <a:r>
              <a:rPr lang="en-US" sz="1600" b="1" dirty="0"/>
              <a:t>    // If there's a next node, update its previous pointer</a:t>
            </a:r>
          </a:p>
          <a:p>
            <a:pPr marL="0" indent="0">
              <a:buNone/>
            </a:pPr>
            <a:r>
              <a:rPr lang="en-US" sz="1600" dirty="0"/>
              <a:t>    if (*head != </a:t>
            </a:r>
            <a:r>
              <a:rPr lang="en-US" sz="1600" dirty="0" err="1"/>
              <a:t>nullptr</a:t>
            </a:r>
            <a:r>
              <a:rPr lang="en-US" sz="1600" dirty="0"/>
              <a:t>) {</a:t>
            </a:r>
          </a:p>
          <a:p>
            <a:pPr marL="0" indent="0">
              <a:buNone/>
            </a:pPr>
            <a:r>
              <a:rPr lang="en-US" sz="1600" dirty="0"/>
              <a:t>      (*head)-&gt;</a:t>
            </a:r>
            <a:r>
              <a:rPr lang="en-US" sz="1600" dirty="0" err="1"/>
              <a:t>prev</a:t>
            </a:r>
            <a:r>
              <a:rPr lang="en-US" sz="1600" dirty="0"/>
              <a:t> = </a:t>
            </a:r>
            <a:r>
              <a:rPr lang="en-US" sz="1600" dirty="0" err="1"/>
              <a:t>nullptr</a:t>
            </a:r>
            <a:r>
              <a:rPr lang="en-US" sz="1600" dirty="0"/>
              <a:t>;</a:t>
            </a:r>
          </a:p>
          <a:p>
            <a:pPr marL="0" indent="0">
              <a:buNone/>
            </a:pPr>
            <a:r>
              <a:rPr lang="en-US" sz="1600" dirty="0"/>
              <a:t>    }</a:t>
            </a:r>
          </a:p>
          <a:p>
            <a:pPr marL="0" indent="0">
              <a:buNone/>
            </a:pPr>
            <a:r>
              <a:rPr lang="en-US" sz="1600" dirty="0"/>
              <a:t>  } </a:t>
            </a:r>
          </a:p>
        </p:txBody>
      </p:sp>
    </p:spTree>
    <p:extLst>
      <p:ext uri="{BB962C8B-B14F-4D97-AF65-F5344CB8AC3E}">
        <p14:creationId xmlns:p14="http://schemas.microsoft.com/office/powerpoint/2010/main" val="3066590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89C87-09FB-7222-FD57-1CDE6C994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D31C3A-9732-2186-6D0D-7E3B116D1EC6}"/>
              </a:ext>
            </a:extLst>
          </p:cNvPr>
          <p:cNvSpPr>
            <a:spLocks noGrp="1"/>
          </p:cNvSpPr>
          <p:nvPr>
            <p:ph type="title"/>
          </p:nvPr>
        </p:nvSpPr>
        <p:spPr/>
        <p:txBody>
          <a:bodyPr/>
          <a:lstStyle/>
          <a:p>
            <a:r>
              <a:rPr lang="en-US" dirty="0"/>
              <a:t>Implementation in C++</a:t>
            </a:r>
          </a:p>
        </p:txBody>
      </p:sp>
      <p:sp>
        <p:nvSpPr>
          <p:cNvPr id="3" name="Footer Placeholder 2">
            <a:extLst>
              <a:ext uri="{FF2B5EF4-FFF2-40B4-BE49-F238E27FC236}">
                <a16:creationId xmlns:a16="http://schemas.microsoft.com/office/drawing/2014/main" id="{24D460BF-6AC6-93ED-6B85-A18C284EB89E}"/>
              </a:ext>
            </a:extLst>
          </p:cNvPr>
          <p:cNvSpPr>
            <a:spLocks noGrp="1"/>
          </p:cNvSpPr>
          <p:nvPr>
            <p:ph type="ftr" sz="quarter" idx="11"/>
          </p:nvPr>
        </p:nvSpPr>
        <p:spPr/>
        <p:txBody>
          <a:bodyPr/>
          <a:lstStyle/>
          <a:p>
            <a:r>
              <a:rPr lang="en-US"/>
              <a:t>Algorithm and Data Structure </a:t>
            </a:r>
            <a:endParaRPr lang="en-US" dirty="0"/>
          </a:p>
        </p:txBody>
      </p:sp>
      <p:sp>
        <p:nvSpPr>
          <p:cNvPr id="7" name="TextBox 6">
            <a:extLst>
              <a:ext uri="{FF2B5EF4-FFF2-40B4-BE49-F238E27FC236}">
                <a16:creationId xmlns:a16="http://schemas.microsoft.com/office/drawing/2014/main" id="{8B6EFA27-3B88-348B-7E95-65C3416F68D0}"/>
              </a:ext>
            </a:extLst>
          </p:cNvPr>
          <p:cNvSpPr txBox="1"/>
          <p:nvPr/>
        </p:nvSpPr>
        <p:spPr>
          <a:xfrm>
            <a:off x="457200" y="1143000"/>
            <a:ext cx="4041648" cy="2185214"/>
          </a:xfrm>
          <a:prstGeom prst="rect">
            <a:avLst/>
          </a:prstGeom>
          <a:solidFill>
            <a:srgbClr val="92D050"/>
          </a:solidFill>
        </p:spPr>
        <p:txBody>
          <a:bodyPr wrap="square">
            <a:spAutoFit/>
          </a:bodyPr>
          <a:lstStyle/>
          <a:p>
            <a:r>
              <a:rPr lang="en-US" sz="1400" b="1" dirty="0"/>
              <a:t>// Function to print the contents of the doubly linked list</a:t>
            </a:r>
          </a:p>
          <a:p>
            <a:r>
              <a:rPr lang="en-US" sz="1400" dirty="0"/>
              <a:t>void </a:t>
            </a:r>
            <a:r>
              <a:rPr lang="en-US" sz="1400" dirty="0" err="1"/>
              <a:t>printList</a:t>
            </a:r>
            <a:r>
              <a:rPr lang="en-US" sz="1400" dirty="0"/>
              <a:t>(Node* head) {</a:t>
            </a:r>
          </a:p>
          <a:p>
            <a:r>
              <a:rPr lang="en-US" sz="1400" dirty="0"/>
              <a:t>  while (head != </a:t>
            </a:r>
            <a:r>
              <a:rPr lang="en-US" sz="1400" dirty="0" err="1"/>
              <a:t>nullptr</a:t>
            </a:r>
            <a:r>
              <a:rPr lang="en-US" sz="1400" dirty="0"/>
              <a:t>) {</a:t>
            </a:r>
          </a:p>
          <a:p>
            <a:r>
              <a:rPr lang="en-US" sz="1400" dirty="0"/>
              <a:t>    </a:t>
            </a:r>
            <a:r>
              <a:rPr lang="en-US" sz="1400" dirty="0" err="1"/>
              <a:t>cout</a:t>
            </a:r>
            <a:r>
              <a:rPr lang="en-US" sz="1400" dirty="0"/>
              <a:t> &lt;&lt; head-&gt;data &lt;&lt; " ";</a:t>
            </a:r>
          </a:p>
          <a:p>
            <a:r>
              <a:rPr lang="en-US" sz="1400" dirty="0"/>
              <a:t>    head = head-&gt;next;</a:t>
            </a:r>
          </a:p>
          <a:p>
            <a:r>
              <a:rPr lang="en-US" sz="1400" dirty="0"/>
              <a:t>  }</a:t>
            </a:r>
          </a:p>
          <a:p>
            <a:r>
              <a:rPr lang="en-US" sz="1400" dirty="0"/>
              <a:t>  </a:t>
            </a:r>
            <a:r>
              <a:rPr lang="en-US" sz="1400" dirty="0" err="1"/>
              <a:t>cout</a:t>
            </a:r>
            <a:r>
              <a:rPr lang="en-US" sz="1400" dirty="0"/>
              <a:t> &lt;&lt; </a:t>
            </a:r>
            <a:r>
              <a:rPr lang="en-US" sz="1400" dirty="0" err="1"/>
              <a:t>endl</a:t>
            </a:r>
            <a:r>
              <a:rPr lang="en-US" sz="1400" dirty="0"/>
              <a:t>;</a:t>
            </a:r>
          </a:p>
          <a:p>
            <a:r>
              <a:rPr lang="en-US" sz="1400" dirty="0"/>
              <a:t>}</a:t>
            </a:r>
          </a:p>
          <a:p>
            <a:endParaRPr lang="en-US" sz="1000" dirty="0"/>
          </a:p>
        </p:txBody>
      </p:sp>
      <p:sp>
        <p:nvSpPr>
          <p:cNvPr id="11" name="Content Placeholder 4">
            <a:extLst>
              <a:ext uri="{FF2B5EF4-FFF2-40B4-BE49-F238E27FC236}">
                <a16:creationId xmlns:a16="http://schemas.microsoft.com/office/drawing/2014/main" id="{6C43F1D4-B9D3-3D61-3776-52B95EC030F0}"/>
              </a:ext>
            </a:extLst>
          </p:cNvPr>
          <p:cNvSpPr txBox="1">
            <a:spLocks/>
          </p:cNvSpPr>
          <p:nvPr/>
        </p:nvSpPr>
        <p:spPr>
          <a:xfrm>
            <a:off x="4645154" y="1219200"/>
            <a:ext cx="4028692" cy="5137150"/>
          </a:xfrm>
          <a:prstGeom prst="rect">
            <a:avLst/>
          </a:prstGeom>
          <a:solidFill>
            <a:schemeClr val="accent4">
              <a:lumMod val="75000"/>
            </a:schemeClr>
          </a:solidFill>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400" dirty="0"/>
              <a:t>int main() {</a:t>
            </a:r>
          </a:p>
          <a:p>
            <a:pPr marL="0" indent="0">
              <a:buNone/>
            </a:pPr>
            <a:r>
              <a:rPr lang="en-US" sz="1400" dirty="0"/>
              <a:t>  Node* head = </a:t>
            </a:r>
            <a:r>
              <a:rPr lang="en-US" sz="1400" dirty="0" err="1"/>
              <a:t>nullptr</a:t>
            </a:r>
            <a:r>
              <a:rPr lang="en-US" sz="1400" dirty="0"/>
              <a:t>;</a:t>
            </a:r>
          </a:p>
          <a:p>
            <a:pPr marL="0" indent="0">
              <a:buNone/>
            </a:pPr>
            <a:endParaRPr lang="en-US" sz="1400" dirty="0"/>
          </a:p>
          <a:p>
            <a:pPr marL="0" indent="0">
              <a:buNone/>
            </a:pPr>
            <a:r>
              <a:rPr lang="en-US" sz="1400" dirty="0"/>
              <a:t>  </a:t>
            </a:r>
            <a:r>
              <a:rPr lang="en-US" sz="1400" dirty="0" err="1"/>
              <a:t>insertAtPos</a:t>
            </a:r>
            <a:r>
              <a:rPr lang="en-US" sz="1400" dirty="0"/>
              <a:t>(&amp;head, 5, 0); // Insert 5 at the beginning</a:t>
            </a:r>
          </a:p>
          <a:p>
            <a:pPr marL="0" indent="0">
              <a:buNone/>
            </a:pPr>
            <a:r>
              <a:rPr lang="en-US" sz="1400" dirty="0"/>
              <a:t>  </a:t>
            </a:r>
            <a:r>
              <a:rPr lang="en-US" sz="1400" dirty="0" err="1"/>
              <a:t>insertAtPos</a:t>
            </a:r>
            <a:r>
              <a:rPr lang="en-US" sz="1400" dirty="0"/>
              <a:t>(&amp;head, 2, 1); // Insert 2 at position 1</a:t>
            </a:r>
          </a:p>
          <a:p>
            <a:pPr marL="0" indent="0">
              <a:buNone/>
            </a:pPr>
            <a:r>
              <a:rPr lang="en-US" sz="1400" dirty="0"/>
              <a:t>  </a:t>
            </a:r>
            <a:r>
              <a:rPr lang="en-US" sz="1400" dirty="0" err="1"/>
              <a:t>insertAtPos</a:t>
            </a:r>
            <a:r>
              <a:rPr lang="en-US" sz="1400" dirty="0"/>
              <a:t>(&amp;head, 7, 2); // Insert 7 at position 2</a:t>
            </a:r>
          </a:p>
          <a:p>
            <a:pPr marL="0" indent="0">
              <a:buNone/>
            </a:pPr>
            <a:endParaRPr lang="en-US" sz="1400" dirty="0"/>
          </a:p>
          <a:p>
            <a:pPr marL="0" indent="0">
              <a:buNone/>
            </a:pPr>
            <a:r>
              <a:rPr lang="en-US" sz="1400" dirty="0"/>
              <a:t>  </a:t>
            </a:r>
            <a:r>
              <a:rPr lang="en-US" sz="1400" dirty="0" err="1"/>
              <a:t>cout</a:t>
            </a:r>
            <a:r>
              <a:rPr lang="en-US" sz="1400" dirty="0"/>
              <a:t> &lt;&lt; "Original list: ";</a:t>
            </a:r>
          </a:p>
          <a:p>
            <a:pPr marL="0" indent="0">
              <a:buNone/>
            </a:pPr>
            <a:r>
              <a:rPr lang="en-US" sz="1400" dirty="0"/>
              <a:t>  </a:t>
            </a:r>
            <a:r>
              <a:rPr lang="en-US" sz="1400" dirty="0" err="1"/>
              <a:t>printList</a:t>
            </a:r>
            <a:r>
              <a:rPr lang="en-US" sz="1400" dirty="0"/>
              <a:t>(head); // Output: 5 2 7</a:t>
            </a:r>
          </a:p>
          <a:p>
            <a:pPr marL="0" indent="0">
              <a:buNone/>
            </a:pPr>
            <a:endParaRPr lang="en-US" sz="1400" dirty="0"/>
          </a:p>
          <a:p>
            <a:pPr marL="0" indent="0">
              <a:buNone/>
            </a:pPr>
            <a:r>
              <a:rPr lang="en-US" sz="1400" dirty="0"/>
              <a:t>  </a:t>
            </a:r>
            <a:r>
              <a:rPr lang="en-US" sz="1400" dirty="0" err="1"/>
              <a:t>deleteAtPos</a:t>
            </a:r>
            <a:r>
              <a:rPr lang="en-US" sz="1400" dirty="0"/>
              <a:t>(&amp;head, 1); // Delete node at position 1</a:t>
            </a:r>
          </a:p>
          <a:p>
            <a:pPr marL="0" indent="0">
              <a:buNone/>
            </a:pPr>
            <a:r>
              <a:rPr lang="en-US" sz="1400" dirty="0"/>
              <a:t>  </a:t>
            </a:r>
            <a:r>
              <a:rPr lang="en-US" sz="1400" dirty="0" err="1"/>
              <a:t>cout</a:t>
            </a:r>
            <a:r>
              <a:rPr lang="en-US" sz="1400" dirty="0"/>
              <a:t> &lt;&lt; "List after deletion: ";</a:t>
            </a:r>
          </a:p>
          <a:p>
            <a:pPr marL="0" indent="0">
              <a:buNone/>
            </a:pPr>
            <a:r>
              <a:rPr lang="en-US" sz="1400" dirty="0"/>
              <a:t>  </a:t>
            </a:r>
            <a:r>
              <a:rPr lang="en-US" sz="1400" dirty="0" err="1"/>
              <a:t>printList</a:t>
            </a:r>
            <a:r>
              <a:rPr lang="en-US" sz="1400" dirty="0"/>
              <a:t>(head); // Output: 5 7</a:t>
            </a:r>
          </a:p>
          <a:p>
            <a:pPr marL="0" indent="0">
              <a:buNone/>
            </a:pPr>
            <a:endParaRPr lang="en-US" sz="1400" dirty="0"/>
          </a:p>
          <a:p>
            <a:pPr marL="0" indent="0">
              <a:buNone/>
            </a:pPr>
            <a:r>
              <a:rPr lang="en-US" sz="1400" dirty="0"/>
              <a:t>  return 0;</a:t>
            </a:r>
          </a:p>
          <a:p>
            <a:pPr marL="0" indent="0">
              <a:buNone/>
            </a:pPr>
            <a:r>
              <a:rPr lang="en-US" sz="1400" dirty="0"/>
              <a:t>}</a:t>
            </a:r>
          </a:p>
          <a:p>
            <a:pPr marL="0" indent="0">
              <a:buNone/>
            </a:pPr>
            <a:endParaRPr lang="en-US" sz="1400" dirty="0"/>
          </a:p>
        </p:txBody>
      </p:sp>
    </p:spTree>
    <p:extLst>
      <p:ext uri="{BB962C8B-B14F-4D97-AF65-F5344CB8AC3E}">
        <p14:creationId xmlns:p14="http://schemas.microsoft.com/office/powerpoint/2010/main" val="7224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8502-8F4F-A4CD-4E50-BF62F096E52B}"/>
              </a:ext>
            </a:extLst>
          </p:cNvPr>
          <p:cNvSpPr>
            <a:spLocks noGrp="1"/>
          </p:cNvSpPr>
          <p:nvPr>
            <p:ph type="title"/>
          </p:nvPr>
        </p:nvSpPr>
        <p:spPr/>
        <p:txBody>
          <a:bodyPr/>
          <a:lstStyle/>
          <a:p>
            <a:r>
              <a:rPr lang="en-US" b="1" i="0" dirty="0">
                <a:solidFill>
                  <a:srgbClr val="1F1F1F"/>
                </a:solidFill>
                <a:effectLst/>
                <a:latin typeface="Google Sans"/>
              </a:rPr>
              <a:t>Key Points:</a:t>
            </a:r>
            <a:endParaRPr lang="en-US" dirty="0"/>
          </a:p>
        </p:txBody>
      </p:sp>
      <p:sp>
        <p:nvSpPr>
          <p:cNvPr id="3" name="Footer Placeholder 2">
            <a:extLst>
              <a:ext uri="{FF2B5EF4-FFF2-40B4-BE49-F238E27FC236}">
                <a16:creationId xmlns:a16="http://schemas.microsoft.com/office/drawing/2014/main" id="{E1865D63-BA9E-54E8-1CEB-7F532005B19A}"/>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626A26AB-8B47-A0B3-3D03-30A63DCEE677}"/>
              </a:ext>
            </a:extLst>
          </p:cNvPr>
          <p:cNvSpPr>
            <a:spLocks noGrp="1"/>
          </p:cNvSpPr>
          <p:nvPr>
            <p:ph sz="quarter" idx="1"/>
          </p:nvPr>
        </p:nvSpPr>
        <p:spPr/>
        <p:txBody>
          <a:bodyPr/>
          <a:lstStyle/>
          <a:p>
            <a:r>
              <a:rPr lang="en-US" dirty="0"/>
              <a:t>This algorithm utilizes the PREV and NEXT pointers in the doubly linked list structure to efficiently manage connections between nodes during deletion.</a:t>
            </a:r>
          </a:p>
          <a:p>
            <a:r>
              <a:rPr lang="en-US" dirty="0"/>
              <a:t>It checks for edge cases like deleting the head or tail node and adjusts pointer updates accordingly.</a:t>
            </a:r>
          </a:p>
        </p:txBody>
      </p:sp>
    </p:spTree>
    <p:extLst>
      <p:ext uri="{BB962C8B-B14F-4D97-AF65-F5344CB8AC3E}">
        <p14:creationId xmlns:p14="http://schemas.microsoft.com/office/powerpoint/2010/main" val="15396009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8F054C24C56045B24747200A570474" ma:contentTypeVersion="3" ma:contentTypeDescription="Create a new document." ma:contentTypeScope="" ma:versionID="a9d6b0c5e03429742bb9d7b052012d2a">
  <xsd:schema xmlns:xsd="http://www.w3.org/2001/XMLSchema" xmlns:xs="http://www.w3.org/2001/XMLSchema" xmlns:p="http://schemas.microsoft.com/office/2006/metadata/properties" xmlns:ns2="fbb113d8-a423-4c9e-8257-bae59865eaa2" targetNamespace="http://schemas.microsoft.com/office/2006/metadata/properties" ma:root="true" ma:fieldsID="a285371dd10d5c24912be7db6adeb8e8" ns2:_="">
    <xsd:import namespace="fbb113d8-a423-4c9e-8257-bae59865eaa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b113d8-a423-4c9e-8257-bae59865ea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1FDE2EB-14F9-460F-B577-4050E2B6022F}"/>
</file>

<file path=customXml/itemProps2.xml><?xml version="1.0" encoding="utf-8"?>
<ds:datastoreItem xmlns:ds="http://schemas.openxmlformats.org/officeDocument/2006/customXml" ds:itemID="{2E3C691A-A99A-4DA3-8DBA-1AAAD1A3BA24}"/>
</file>

<file path=customXml/itemProps3.xml><?xml version="1.0" encoding="utf-8"?>
<ds:datastoreItem xmlns:ds="http://schemas.openxmlformats.org/officeDocument/2006/customXml" ds:itemID="{D9FC2B19-B834-459C-834F-1F6A5F96B9AB}"/>
</file>

<file path=docProps/app.xml><?xml version="1.0" encoding="utf-8"?>
<Properties xmlns="http://schemas.openxmlformats.org/officeDocument/2006/extended-properties" xmlns:vt="http://schemas.openxmlformats.org/officeDocument/2006/docPropsVTypes">
  <Template>Origin</Template>
  <TotalTime>2278</TotalTime>
  <Words>4296</Words>
  <Application>Microsoft Office PowerPoint</Application>
  <PresentationFormat>On-screen Show (4:3)</PresentationFormat>
  <Paragraphs>415</Paragraphs>
  <Slides>27</Slides>
  <Notes>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27</vt:i4>
      </vt:variant>
    </vt:vector>
  </HeadingPairs>
  <TitlesOfParts>
    <vt:vector size="37" baseType="lpstr">
      <vt:lpstr>Arial</vt:lpstr>
      <vt:lpstr>Bookman Old Style</vt:lpstr>
      <vt:lpstr>Calibri</vt:lpstr>
      <vt:lpstr>Gill Sans MT</vt:lpstr>
      <vt:lpstr>Google Sans</vt:lpstr>
      <vt:lpstr>Wingdings</vt:lpstr>
      <vt:lpstr>Wingdings 3</vt:lpstr>
      <vt:lpstr>Origin</vt:lpstr>
      <vt:lpstr>2_Origin</vt:lpstr>
      <vt:lpstr>1_Origin</vt:lpstr>
      <vt:lpstr>DOUBLY LINKED LIST</vt:lpstr>
      <vt:lpstr>WHY DOUBLY LINKED LIST</vt:lpstr>
      <vt:lpstr>Introduction </vt:lpstr>
      <vt:lpstr>Cont…..</vt:lpstr>
      <vt:lpstr>Representation Of Doubly Linked List</vt:lpstr>
      <vt:lpstr>Doubly Linked List Head Initialization</vt:lpstr>
      <vt:lpstr>INSERTION AND DELETION OF NODES</vt:lpstr>
      <vt:lpstr>ALGORITHM FOR INSERTING A NODE</vt:lpstr>
      <vt:lpstr>ALGORITHM FOR INSERTING A NODE</vt:lpstr>
      <vt:lpstr>ALGORITHM FOR INSERTING A NODE AT SPECIFIED POSITION</vt:lpstr>
      <vt:lpstr>ALGORITHM FOR INSERTING A NODE AT SPECIFIED POSITION(Line by Line Detail)</vt:lpstr>
      <vt:lpstr>ALGORITHM FOR INSERTING A NODE AT SPECIFIED POSITION(Line by Line Detail)</vt:lpstr>
      <vt:lpstr>ALGORITHM FOR INSERTING A NODE AT SPECIFIED POSITION(Line by Line Detail)</vt:lpstr>
      <vt:lpstr>ALGORITHM FOR INSERTING A NODE AT SPECIFIED POSITION(Line by Line Detail)</vt:lpstr>
      <vt:lpstr>Implementation in C++</vt:lpstr>
      <vt:lpstr>Implementation in C++</vt:lpstr>
      <vt:lpstr>Implementation in C++</vt:lpstr>
      <vt:lpstr>ALGORITHM FOR DELETING A NODE</vt:lpstr>
      <vt:lpstr>ALGORITHM FOR DELETING A NODE (Line by Line Detail)</vt:lpstr>
      <vt:lpstr>ALGORITHM FOR DELETING A NODE (Line by Line Detail)</vt:lpstr>
      <vt:lpstr>ALGORITHM FOR DELETING A NODE (Line by Line Detail)</vt:lpstr>
      <vt:lpstr>ALGORITHM FOR DELETING A NODE (Line by Line Detail)</vt:lpstr>
      <vt:lpstr>ALGORITHM FOR DELETING A NODE (Line by Line Detail)</vt:lpstr>
      <vt:lpstr>Implementation in C++</vt:lpstr>
      <vt:lpstr>Implementation in C++</vt:lpstr>
      <vt:lpstr>Implementation in C++</vt:lpstr>
      <vt:lpstr>Key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Atique</dc:creator>
  <cp:lastModifiedBy>Atique Ahmad Zafar</cp:lastModifiedBy>
  <cp:revision>86</cp:revision>
  <dcterms:created xsi:type="dcterms:W3CDTF">2012-09-05T05:27:50Z</dcterms:created>
  <dcterms:modified xsi:type="dcterms:W3CDTF">2025-09-26T11:05:45Z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0x010100408F054C24C56045B24747200A570474</vt:lpwstr>
  </property>
</Properties>
</file>