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672" r:id="rId6"/>
  </p:sldMasterIdLst>
  <p:notesMasterIdLst>
    <p:notesMasterId r:id="rId75"/>
  </p:notesMasterIdLst>
  <p:sldIdLst>
    <p:sldId id="256" r:id="rId7"/>
    <p:sldId id="270" r:id="rId8"/>
    <p:sldId id="271" r:id="rId9"/>
    <p:sldId id="272" r:id="rId10"/>
    <p:sldId id="273" r:id="rId11"/>
    <p:sldId id="258" r:id="rId12"/>
    <p:sldId id="259" r:id="rId13"/>
    <p:sldId id="260" r:id="rId14"/>
    <p:sldId id="274" r:id="rId15"/>
    <p:sldId id="261" r:id="rId16"/>
    <p:sldId id="262" r:id="rId17"/>
    <p:sldId id="266" r:id="rId18"/>
    <p:sldId id="267" r:id="rId19"/>
    <p:sldId id="268" r:id="rId20"/>
    <p:sldId id="269" r:id="rId21"/>
    <p:sldId id="280" r:id="rId22"/>
    <p:sldId id="257" r:id="rId23"/>
    <p:sldId id="275" r:id="rId24"/>
    <p:sldId id="276" r:id="rId25"/>
    <p:sldId id="277" r:id="rId26"/>
    <p:sldId id="278" r:id="rId27"/>
    <p:sldId id="279" r:id="rId28"/>
    <p:sldId id="263" r:id="rId29"/>
    <p:sldId id="282" r:id="rId30"/>
    <p:sldId id="283" r:id="rId31"/>
    <p:sldId id="319" r:id="rId32"/>
    <p:sldId id="320" r:id="rId33"/>
    <p:sldId id="321" r:id="rId34"/>
    <p:sldId id="322" r:id="rId35"/>
    <p:sldId id="323" r:id="rId36"/>
    <p:sldId id="324" r:id="rId37"/>
    <p:sldId id="325" r:id="rId38"/>
    <p:sldId id="326" r:id="rId39"/>
    <p:sldId id="284" r:id="rId40"/>
    <p:sldId id="285" r:id="rId41"/>
    <p:sldId id="286" r:id="rId42"/>
    <p:sldId id="287" r:id="rId43"/>
    <p:sldId id="288" r:id="rId44"/>
    <p:sldId id="289" r:id="rId45"/>
    <p:sldId id="290" r:id="rId46"/>
    <p:sldId id="291" r:id="rId47"/>
    <p:sldId id="292" r:id="rId48"/>
    <p:sldId id="293" r:id="rId49"/>
    <p:sldId id="297" r:id="rId50"/>
    <p:sldId id="327" r:id="rId51"/>
    <p:sldId id="328"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34" r:id="rId71"/>
    <p:sldId id="336" r:id="rId72"/>
    <p:sldId id="337" r:id="rId73"/>
    <p:sldId id="338"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BFF980-72DB-44A9-A2B7-CBB1DBBCF97F}" v="69" dt="2025-03-12T05:43:06.002"/>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75BFF980-72DB-44A9-A2B7-CBB1DBBCF97F}"/>
    <pc:docChg chg="undo custSel addSld delSld modSld">
      <pc:chgData name="Atique Ahmad Zafar" userId="3c3190ae-5c8d-4775-903c-57da784da929" providerId="ADAL" clId="{75BFF980-72DB-44A9-A2B7-CBB1DBBCF97F}" dt="2025-03-12T08:45:49.379" v="402" actId="47"/>
      <pc:docMkLst>
        <pc:docMk/>
      </pc:docMkLst>
      <pc:sldChg chg="del mod modShow">
        <pc:chgData name="Atique Ahmad Zafar" userId="3c3190ae-5c8d-4775-903c-57da784da929" providerId="ADAL" clId="{75BFF980-72DB-44A9-A2B7-CBB1DBBCF97F}" dt="2025-03-12T08:45:47.511" v="401" actId="47"/>
        <pc:sldMkLst>
          <pc:docMk/>
          <pc:sldMk cId="0" sldId="332"/>
        </pc:sldMkLst>
      </pc:sldChg>
      <pc:sldChg chg="del mod modShow">
        <pc:chgData name="Atique Ahmad Zafar" userId="3c3190ae-5c8d-4775-903c-57da784da929" providerId="ADAL" clId="{75BFF980-72DB-44A9-A2B7-CBB1DBBCF97F}" dt="2025-03-12T08:45:49.379" v="402" actId="47"/>
        <pc:sldMkLst>
          <pc:docMk/>
          <pc:sldMk cId="0" sldId="333"/>
        </pc:sldMkLst>
      </pc:sldChg>
      <pc:sldChg chg="addSp delSp modSp new mod">
        <pc:chgData name="Atique Ahmad Zafar" userId="3c3190ae-5c8d-4775-903c-57da784da929" providerId="ADAL" clId="{75BFF980-72DB-44A9-A2B7-CBB1DBBCF97F}" dt="2025-03-12T04:05:35.525" v="70" actId="1036"/>
        <pc:sldMkLst>
          <pc:docMk/>
          <pc:sldMk cId="3383884771" sldId="334"/>
        </pc:sldMkLst>
        <pc:spChg chg="mod">
          <ac:chgData name="Atique Ahmad Zafar" userId="3c3190ae-5c8d-4775-903c-57da784da929" providerId="ADAL" clId="{75BFF980-72DB-44A9-A2B7-CBB1DBBCF97F}" dt="2025-03-12T03:59:34.548" v="48" actId="27636"/>
          <ac:spMkLst>
            <pc:docMk/>
            <pc:sldMk cId="3383884771" sldId="334"/>
            <ac:spMk id="2" creationId="{85DC3E89-5E32-05F3-2571-ECDF4A2F2464}"/>
          </ac:spMkLst>
        </pc:spChg>
        <pc:spChg chg="add del mod">
          <ac:chgData name="Atique Ahmad Zafar" userId="3c3190ae-5c8d-4775-903c-57da784da929" providerId="ADAL" clId="{75BFF980-72DB-44A9-A2B7-CBB1DBBCF97F}" dt="2025-03-12T04:04:31.779" v="61"/>
          <ac:spMkLst>
            <pc:docMk/>
            <pc:sldMk cId="3383884771" sldId="334"/>
            <ac:spMk id="4" creationId="{5F2363AE-D3AC-838B-0518-9B52BB845084}"/>
          </ac:spMkLst>
        </pc:spChg>
        <pc:spChg chg="add mod">
          <ac:chgData name="Atique Ahmad Zafar" userId="3c3190ae-5c8d-4775-903c-57da784da929" providerId="ADAL" clId="{75BFF980-72DB-44A9-A2B7-CBB1DBBCF97F}" dt="2025-03-12T04:04:21.005" v="60"/>
          <ac:spMkLst>
            <pc:docMk/>
            <pc:sldMk cId="3383884771" sldId="334"/>
            <ac:spMk id="5" creationId="{E8D1C331-B07C-E07C-24B5-B567E820636E}"/>
          </ac:spMkLst>
        </pc:spChg>
        <pc:spChg chg="add mod">
          <ac:chgData name="Atique Ahmad Zafar" userId="3c3190ae-5c8d-4775-903c-57da784da929" providerId="ADAL" clId="{75BFF980-72DB-44A9-A2B7-CBB1DBBCF97F}" dt="2025-03-12T04:05:35.525" v="70" actId="1036"/>
          <ac:spMkLst>
            <pc:docMk/>
            <pc:sldMk cId="3383884771" sldId="334"/>
            <ac:spMk id="6" creationId="{D53FA221-EAD6-D01D-291C-D9127367D360}"/>
          </ac:spMkLst>
        </pc:spChg>
      </pc:sldChg>
      <pc:sldChg chg="modSp new del mod">
        <pc:chgData name="Atique Ahmad Zafar" userId="3c3190ae-5c8d-4775-903c-57da784da929" providerId="ADAL" clId="{75BFF980-72DB-44A9-A2B7-CBB1DBBCF97F}" dt="2025-03-12T04:05:59.304" v="71" actId="47"/>
        <pc:sldMkLst>
          <pc:docMk/>
          <pc:sldMk cId="1122110387" sldId="335"/>
        </pc:sldMkLst>
        <pc:spChg chg="mod">
          <ac:chgData name="Atique Ahmad Zafar" userId="3c3190ae-5c8d-4775-903c-57da784da929" providerId="ADAL" clId="{75BFF980-72DB-44A9-A2B7-CBB1DBBCF97F}" dt="2025-03-12T04:03:11.548" v="58" actId="255"/>
          <ac:spMkLst>
            <pc:docMk/>
            <pc:sldMk cId="1122110387" sldId="335"/>
            <ac:spMk id="4" creationId="{64DE08E0-59C5-FEBF-B326-87F2CDB47F59}"/>
          </ac:spMkLst>
        </pc:spChg>
        <pc:spChg chg="mod">
          <ac:chgData name="Atique Ahmad Zafar" userId="3c3190ae-5c8d-4775-903c-57da784da929" providerId="ADAL" clId="{75BFF980-72DB-44A9-A2B7-CBB1DBBCF97F}" dt="2025-03-12T04:00:55.285" v="53" actId="27636"/>
          <ac:spMkLst>
            <pc:docMk/>
            <pc:sldMk cId="1122110387" sldId="335"/>
            <ac:spMk id="5" creationId="{20B74B17-B5B9-5D22-11A5-DB6689B436F8}"/>
          </ac:spMkLst>
        </pc:spChg>
      </pc:sldChg>
      <pc:sldChg chg="modSp new del mod">
        <pc:chgData name="Atique Ahmad Zafar" userId="3c3190ae-5c8d-4775-903c-57da784da929" providerId="ADAL" clId="{75BFF980-72DB-44A9-A2B7-CBB1DBBCF97F}" dt="2025-03-12T05:31:30.747" v="108" actId="47"/>
        <pc:sldMkLst>
          <pc:docMk/>
          <pc:sldMk cId="4285114793" sldId="335"/>
        </pc:sldMkLst>
        <pc:spChg chg="mod">
          <ac:chgData name="Atique Ahmad Zafar" userId="3c3190ae-5c8d-4775-903c-57da784da929" providerId="ADAL" clId="{75BFF980-72DB-44A9-A2B7-CBB1DBBCF97F}" dt="2025-03-12T05:26:10.310" v="85" actId="27636"/>
          <ac:spMkLst>
            <pc:docMk/>
            <pc:sldMk cId="4285114793" sldId="335"/>
            <ac:spMk id="4" creationId="{80900238-C9A0-988A-1201-C9D8B837ED8A}"/>
          </ac:spMkLst>
        </pc:spChg>
      </pc:sldChg>
      <pc:sldChg chg="modSp new mod">
        <pc:chgData name="Atique Ahmad Zafar" userId="3c3190ae-5c8d-4775-903c-57da784da929" providerId="ADAL" clId="{75BFF980-72DB-44A9-A2B7-CBB1DBBCF97F}" dt="2025-03-12T05:29:42.716" v="107" actId="20577"/>
        <pc:sldMkLst>
          <pc:docMk/>
          <pc:sldMk cId="522600963" sldId="336"/>
        </pc:sldMkLst>
        <pc:spChg chg="mod">
          <ac:chgData name="Atique Ahmad Zafar" userId="3c3190ae-5c8d-4775-903c-57da784da929" providerId="ADAL" clId="{75BFF980-72DB-44A9-A2B7-CBB1DBBCF97F}" dt="2025-03-12T05:29:42.716" v="107" actId="20577"/>
          <ac:spMkLst>
            <pc:docMk/>
            <pc:sldMk cId="522600963" sldId="336"/>
            <ac:spMk id="2" creationId="{4A724D0B-9EBE-FF66-ECC8-8CD8A46D9C3D}"/>
          </ac:spMkLst>
        </pc:spChg>
        <pc:spChg chg="mod">
          <ac:chgData name="Atique Ahmad Zafar" userId="3c3190ae-5c8d-4775-903c-57da784da929" providerId="ADAL" clId="{75BFF980-72DB-44A9-A2B7-CBB1DBBCF97F}" dt="2025-03-12T05:25:57.264" v="83" actId="27636"/>
          <ac:spMkLst>
            <pc:docMk/>
            <pc:sldMk cId="522600963" sldId="336"/>
            <ac:spMk id="4" creationId="{FDA307B4-578D-5699-7188-D8C2B892AD8E}"/>
          </ac:spMkLst>
        </pc:spChg>
        <pc:spChg chg="mod">
          <ac:chgData name="Atique Ahmad Zafar" userId="3c3190ae-5c8d-4775-903c-57da784da929" providerId="ADAL" clId="{75BFF980-72DB-44A9-A2B7-CBB1DBBCF97F}" dt="2025-03-12T05:26:16.623" v="86"/>
          <ac:spMkLst>
            <pc:docMk/>
            <pc:sldMk cId="522600963" sldId="336"/>
            <ac:spMk id="5" creationId="{C21FCD03-DAE3-334E-BABE-2DA518165C15}"/>
          </ac:spMkLst>
        </pc:spChg>
      </pc:sldChg>
      <pc:sldChg chg="addSp delSp modSp new mod">
        <pc:chgData name="Atique Ahmad Zafar" userId="3c3190ae-5c8d-4775-903c-57da784da929" providerId="ADAL" clId="{75BFF980-72DB-44A9-A2B7-CBB1DBBCF97F}" dt="2025-03-12T05:32:54.287" v="128" actId="27636"/>
        <pc:sldMkLst>
          <pc:docMk/>
          <pc:sldMk cId="1573979524" sldId="337"/>
        </pc:sldMkLst>
        <pc:spChg chg="mod">
          <ac:chgData name="Atique Ahmad Zafar" userId="3c3190ae-5c8d-4775-903c-57da784da929" providerId="ADAL" clId="{75BFF980-72DB-44A9-A2B7-CBB1DBBCF97F}" dt="2025-03-12T05:32:00.054" v="117"/>
          <ac:spMkLst>
            <pc:docMk/>
            <pc:sldMk cId="1573979524" sldId="337"/>
            <ac:spMk id="2" creationId="{64218B1B-D1EA-5579-E4B1-77B447247380}"/>
          </ac:spMkLst>
        </pc:spChg>
        <pc:spChg chg="add del mod">
          <ac:chgData name="Atique Ahmad Zafar" userId="3c3190ae-5c8d-4775-903c-57da784da929" providerId="ADAL" clId="{75BFF980-72DB-44A9-A2B7-CBB1DBBCF97F}" dt="2025-03-12T05:32:54.287" v="128" actId="27636"/>
          <ac:spMkLst>
            <pc:docMk/>
            <pc:sldMk cId="1573979524" sldId="337"/>
            <ac:spMk id="4" creationId="{722270FF-E6F5-3228-AAEC-0A74DD409E44}"/>
          </ac:spMkLst>
        </pc:spChg>
        <pc:spChg chg="add mod">
          <ac:chgData name="Atique Ahmad Zafar" userId="3c3190ae-5c8d-4775-903c-57da784da929" providerId="ADAL" clId="{75BFF980-72DB-44A9-A2B7-CBB1DBBCF97F}" dt="2025-03-12T05:31:45.836" v="113"/>
          <ac:spMkLst>
            <pc:docMk/>
            <pc:sldMk cId="1573979524" sldId="337"/>
            <ac:spMk id="5" creationId="{5DA95BB0-4029-1D7F-D54C-E7A2ED128996}"/>
          </ac:spMkLst>
        </pc:spChg>
      </pc:sldChg>
      <pc:sldChg chg="new del">
        <pc:chgData name="Atique Ahmad Zafar" userId="3c3190ae-5c8d-4775-903c-57da784da929" providerId="ADAL" clId="{75BFF980-72DB-44A9-A2B7-CBB1DBBCF97F}" dt="2025-03-12T05:31:37.310" v="110" actId="680"/>
        <pc:sldMkLst>
          <pc:docMk/>
          <pc:sldMk cId="2292664085" sldId="337"/>
        </pc:sldMkLst>
      </pc:sldChg>
      <pc:sldChg chg="addSp delSp modSp new mod">
        <pc:chgData name="Atique Ahmad Zafar" userId="3c3190ae-5c8d-4775-903c-57da784da929" providerId="ADAL" clId="{75BFF980-72DB-44A9-A2B7-CBB1DBBCF97F}" dt="2025-03-12T05:43:30.572" v="400" actId="1035"/>
        <pc:sldMkLst>
          <pc:docMk/>
          <pc:sldMk cId="2356519797" sldId="338"/>
        </pc:sldMkLst>
        <pc:spChg chg="mod">
          <ac:chgData name="Atique Ahmad Zafar" userId="3c3190ae-5c8d-4775-903c-57da784da929" providerId="ADAL" clId="{75BFF980-72DB-44A9-A2B7-CBB1DBBCF97F}" dt="2025-03-12T05:36:33.836" v="206" actId="27636"/>
          <ac:spMkLst>
            <pc:docMk/>
            <pc:sldMk cId="2356519797" sldId="338"/>
            <ac:spMk id="2" creationId="{1C249200-9FE2-6B1C-BF00-F958ECE91C16}"/>
          </ac:spMkLst>
        </pc:spChg>
        <pc:spChg chg="del">
          <ac:chgData name="Atique Ahmad Zafar" userId="3c3190ae-5c8d-4775-903c-57da784da929" providerId="ADAL" clId="{75BFF980-72DB-44A9-A2B7-CBB1DBBCF97F}" dt="2025-03-12T05:34:57.821" v="130"/>
          <ac:spMkLst>
            <pc:docMk/>
            <pc:sldMk cId="2356519797" sldId="338"/>
            <ac:spMk id="4" creationId="{B8093485-DF1C-542D-0C3D-3FF6A4CA0AF2}"/>
          </ac:spMkLst>
        </pc:spChg>
        <pc:spChg chg="add mod">
          <ac:chgData name="Atique Ahmad Zafar" userId="3c3190ae-5c8d-4775-903c-57da784da929" providerId="ADAL" clId="{75BFF980-72DB-44A9-A2B7-CBB1DBBCF97F}" dt="2025-03-12T05:38:15.469" v="262" actId="1035"/>
          <ac:spMkLst>
            <pc:docMk/>
            <pc:sldMk cId="2356519797" sldId="338"/>
            <ac:spMk id="6" creationId="{75943DFA-4224-CD03-18CC-345D0DCE6CDA}"/>
          </ac:spMkLst>
        </pc:spChg>
        <pc:spChg chg="add mod">
          <ac:chgData name="Atique Ahmad Zafar" userId="3c3190ae-5c8d-4775-903c-57da784da929" providerId="ADAL" clId="{75BFF980-72DB-44A9-A2B7-CBB1DBBCF97F}" dt="2025-03-12T05:43:30.572" v="400" actId="1035"/>
          <ac:spMkLst>
            <pc:docMk/>
            <pc:sldMk cId="2356519797" sldId="338"/>
            <ac:spMk id="8" creationId="{E1E621F1-E5B4-F96C-1B2F-412F48B66BDF}"/>
          </ac:spMkLst>
        </pc:spChg>
        <pc:graphicFrameChg chg="add mod modGraphic">
          <ac:chgData name="Atique Ahmad Zafar" userId="3c3190ae-5c8d-4775-903c-57da784da929" providerId="ADAL" clId="{75BFF980-72DB-44A9-A2B7-CBB1DBBCF97F}" dt="2025-03-12T05:43:23.244" v="389" actId="20577"/>
          <ac:graphicFrameMkLst>
            <pc:docMk/>
            <pc:sldMk cId="2356519797" sldId="338"/>
            <ac:graphicFrameMk id="5" creationId="{665C114F-C0E5-B22A-6256-8468D3B79B9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3/12/2025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Stack using array</a:t>
            </a:r>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39058-CE56-1E7F-52C4-F990FEB361A2}"/>
              </a:ext>
            </a:extLst>
          </p:cNvPr>
          <p:cNvSpPr>
            <a:spLocks noGrp="1"/>
          </p:cNvSpPr>
          <p:nvPr>
            <p:ph type="title"/>
          </p:nvPr>
        </p:nvSpPr>
        <p:spPr/>
        <p:txBody>
          <a:bodyPr>
            <a:normAutofit/>
          </a:bodyPr>
          <a:lstStyle/>
          <a:p>
            <a:r>
              <a:rPr lang="en-US" b="1" dirty="0"/>
              <a:t>Definition of a Stack:</a:t>
            </a:r>
          </a:p>
        </p:txBody>
      </p:sp>
      <p:sp>
        <p:nvSpPr>
          <p:cNvPr id="3" name="Footer Placeholder 2">
            <a:extLst>
              <a:ext uri="{FF2B5EF4-FFF2-40B4-BE49-F238E27FC236}">
                <a16:creationId xmlns:a16="http://schemas.microsoft.com/office/drawing/2014/main" id="{BBEE61E6-619F-D3C1-99B5-D2CE0EF9F64E}"/>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D70C1D2E-BBE5-EFB4-3D54-4BDF247FD048}"/>
              </a:ext>
            </a:extLst>
          </p:cNvPr>
          <p:cNvSpPr>
            <a:spLocks noGrp="1"/>
          </p:cNvSpPr>
          <p:nvPr>
            <p:ph sz="quarter" idx="1"/>
          </p:nvPr>
        </p:nvSpPr>
        <p:spPr/>
        <p:txBody>
          <a:bodyPr/>
          <a:lstStyle/>
          <a:p>
            <a:r>
              <a:rPr lang="en-US" dirty="0"/>
              <a:t>A stack is a linear data structure that organizes elements in a particular order.</a:t>
            </a:r>
          </a:p>
          <a:p>
            <a:r>
              <a:rPr lang="en-US" dirty="0"/>
              <a:t>It allows the addition of new elements and the removal of existing elements from only one end, known as the top of the stack.</a:t>
            </a:r>
          </a:p>
        </p:txBody>
      </p:sp>
    </p:spTree>
    <p:extLst>
      <p:ext uri="{BB962C8B-B14F-4D97-AF65-F5344CB8AC3E}">
        <p14:creationId xmlns:p14="http://schemas.microsoft.com/office/powerpoint/2010/main" val="2605909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417F-A9EE-C411-42E2-67D34519046B}"/>
              </a:ext>
            </a:extLst>
          </p:cNvPr>
          <p:cNvSpPr>
            <a:spLocks noGrp="1"/>
          </p:cNvSpPr>
          <p:nvPr>
            <p:ph type="title"/>
          </p:nvPr>
        </p:nvSpPr>
        <p:spPr/>
        <p:txBody>
          <a:bodyPr/>
          <a:lstStyle/>
          <a:p>
            <a:r>
              <a:rPr lang="en-US" b="1" dirty="0"/>
              <a:t>Insertion and Deletion in a Stack</a:t>
            </a:r>
          </a:p>
        </p:txBody>
      </p:sp>
      <p:sp>
        <p:nvSpPr>
          <p:cNvPr id="3" name="Footer Placeholder 2">
            <a:extLst>
              <a:ext uri="{FF2B5EF4-FFF2-40B4-BE49-F238E27FC236}">
                <a16:creationId xmlns:a16="http://schemas.microsoft.com/office/drawing/2014/main" id="{76A72B02-529D-B428-6FA6-B5BF95CB5CC7}"/>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2FBA20BD-9F8D-413B-6316-B8C7DD61D1BF}"/>
              </a:ext>
            </a:extLst>
          </p:cNvPr>
          <p:cNvSpPr>
            <a:spLocks noGrp="1"/>
          </p:cNvSpPr>
          <p:nvPr>
            <p:ph sz="quarter" idx="1"/>
          </p:nvPr>
        </p:nvSpPr>
        <p:spPr/>
        <p:txBody>
          <a:bodyPr/>
          <a:lstStyle/>
          <a:p>
            <a:pPr algn="just"/>
            <a:r>
              <a:rPr lang="en-US" dirty="0"/>
              <a:t>In a stack, new elements are added or inserted at the top of the stack.</a:t>
            </a:r>
          </a:p>
          <a:p>
            <a:pPr algn="just"/>
            <a:r>
              <a:rPr lang="en-US" dirty="0"/>
              <a:t>Likewise, elements are removed or deleted from the top of the stack.</a:t>
            </a:r>
          </a:p>
          <a:p>
            <a:pPr algn="just"/>
            <a:r>
              <a:rPr lang="en-US" dirty="0"/>
              <a:t>This characteristic makes a stack a Last-In-First-Out (LIFO) data structure.</a:t>
            </a:r>
          </a:p>
        </p:txBody>
      </p:sp>
    </p:spTree>
    <p:extLst>
      <p:ext uri="{BB962C8B-B14F-4D97-AF65-F5344CB8AC3E}">
        <p14:creationId xmlns:p14="http://schemas.microsoft.com/office/powerpoint/2010/main" val="16305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873D-C89D-C7C9-1B6B-248DB00E0D67}"/>
              </a:ext>
            </a:extLst>
          </p:cNvPr>
          <p:cNvSpPr>
            <a:spLocks noGrp="1"/>
          </p:cNvSpPr>
          <p:nvPr>
            <p:ph type="title"/>
          </p:nvPr>
        </p:nvSpPr>
        <p:spPr/>
        <p:txBody>
          <a:bodyPr>
            <a:normAutofit/>
          </a:bodyPr>
          <a:lstStyle/>
          <a:p>
            <a:r>
              <a:rPr lang="en-US" b="1" dirty="0"/>
              <a:t>Last-In-First-Out (LIFO) Principle</a:t>
            </a:r>
          </a:p>
        </p:txBody>
      </p:sp>
      <p:sp>
        <p:nvSpPr>
          <p:cNvPr id="3" name="Footer Placeholder 2">
            <a:extLst>
              <a:ext uri="{FF2B5EF4-FFF2-40B4-BE49-F238E27FC236}">
                <a16:creationId xmlns:a16="http://schemas.microsoft.com/office/drawing/2014/main" id="{C664EF66-8E2D-EEC3-5964-971341F249C4}"/>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F561EC1D-927D-9465-5FA2-187DEF3F77EF}"/>
              </a:ext>
            </a:extLst>
          </p:cNvPr>
          <p:cNvSpPr>
            <a:spLocks noGrp="1"/>
          </p:cNvSpPr>
          <p:nvPr>
            <p:ph sz="quarter" idx="1"/>
          </p:nvPr>
        </p:nvSpPr>
        <p:spPr/>
        <p:txBody>
          <a:bodyPr/>
          <a:lstStyle/>
          <a:p>
            <a:r>
              <a:rPr lang="en-US" dirty="0"/>
              <a:t>LIFO is a fundamental property of stacks, meaning that the last element added to the stack is the first one to be removed.</a:t>
            </a:r>
          </a:p>
          <a:p>
            <a:r>
              <a:rPr lang="en-US" dirty="0"/>
              <a:t>Think of it like a stack of plates where you add a new plate to the top and remove the topmost plate when needed</a:t>
            </a:r>
          </a:p>
        </p:txBody>
      </p:sp>
    </p:spTree>
    <p:extLst>
      <p:ext uri="{BB962C8B-B14F-4D97-AF65-F5344CB8AC3E}">
        <p14:creationId xmlns:p14="http://schemas.microsoft.com/office/powerpoint/2010/main" val="398171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6FBC4-B886-2F72-866C-222DC935C476}"/>
              </a:ext>
            </a:extLst>
          </p:cNvPr>
          <p:cNvSpPr>
            <a:spLocks noGrp="1"/>
          </p:cNvSpPr>
          <p:nvPr>
            <p:ph type="title"/>
          </p:nvPr>
        </p:nvSpPr>
        <p:spPr/>
        <p:txBody>
          <a:bodyPr>
            <a:normAutofit/>
          </a:bodyPr>
          <a:lstStyle/>
          <a:p>
            <a:r>
              <a:rPr lang="en-US" b="1" dirty="0"/>
              <a:t>Accessibility of Elements</a:t>
            </a:r>
          </a:p>
        </p:txBody>
      </p:sp>
      <p:sp>
        <p:nvSpPr>
          <p:cNvPr id="3" name="Footer Placeholder 2">
            <a:extLst>
              <a:ext uri="{FF2B5EF4-FFF2-40B4-BE49-F238E27FC236}">
                <a16:creationId xmlns:a16="http://schemas.microsoft.com/office/drawing/2014/main" id="{8AF6F106-57D3-274B-3031-0FBAAFDFD4EB}"/>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76AF8EB3-6AD0-C18E-FC4F-557E670B53C0}"/>
              </a:ext>
            </a:extLst>
          </p:cNvPr>
          <p:cNvSpPr>
            <a:spLocks noGrp="1"/>
          </p:cNvSpPr>
          <p:nvPr>
            <p:ph sz="quarter" idx="1"/>
          </p:nvPr>
        </p:nvSpPr>
        <p:spPr/>
        <p:txBody>
          <a:bodyPr/>
          <a:lstStyle/>
          <a:p>
            <a:pPr algn="just"/>
            <a:r>
              <a:rPr lang="en-US" dirty="0"/>
              <a:t>The most frequently accessible element in a stack is the one at the top.</a:t>
            </a:r>
          </a:p>
          <a:p>
            <a:pPr algn="just"/>
            <a:r>
              <a:rPr lang="en-US" dirty="0"/>
              <a:t>Elements beneath the top are less accessible.</a:t>
            </a:r>
          </a:p>
          <a:p>
            <a:pPr algn="just"/>
            <a:r>
              <a:rPr lang="en-US" dirty="0"/>
              <a:t>The bottom element of the stack is the least accessible, as you need to remove all the elements above it to reach it</a:t>
            </a:r>
          </a:p>
        </p:txBody>
      </p:sp>
    </p:spTree>
    <p:extLst>
      <p:ext uri="{BB962C8B-B14F-4D97-AF65-F5344CB8AC3E}">
        <p14:creationId xmlns:p14="http://schemas.microsoft.com/office/powerpoint/2010/main" val="3241911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The operation of the stack</a:t>
            </a:r>
          </a:p>
        </p:txBody>
      </p:sp>
      <p:sp>
        <p:nvSpPr>
          <p:cNvPr id="4" name="Slide Number Placeholder 3"/>
          <p:cNvSpPr>
            <a:spLocks noGrp="1"/>
          </p:cNvSpPr>
          <p:nvPr>
            <p:ph type="sldNum" sz="quarter" idx="12"/>
          </p:nvPr>
        </p:nvSpPr>
        <p:spPr/>
        <p:txBody>
          <a:bodyPr/>
          <a:lstStyle/>
          <a:p>
            <a:fld id="{4B084175-AE3F-4F83-9362-C827856E231F}" type="slidenum">
              <a:rPr lang="en-US" smtClean="0"/>
              <a:pPr/>
              <a:t>6</a:t>
            </a:fld>
            <a:endParaRPr lang="en-US" dirty="0"/>
          </a:p>
        </p:txBody>
      </p:sp>
      <p:pic>
        <p:nvPicPr>
          <p:cNvPr id="1026" name="Picture 2"/>
          <p:cNvPicPr>
            <a:picLocks noChangeAspect="1" noChangeArrowheads="1"/>
          </p:cNvPicPr>
          <p:nvPr/>
        </p:nvPicPr>
        <p:blipFill>
          <a:blip r:embed="rId2"/>
          <a:srcRect/>
          <a:stretch>
            <a:fillRect/>
          </a:stretch>
        </p:blipFill>
        <p:spPr bwMode="auto">
          <a:xfrm>
            <a:off x="495300" y="1295400"/>
            <a:ext cx="7658100" cy="486794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The operation of the stack…..cont</a:t>
            </a:r>
          </a:p>
        </p:txBody>
      </p:sp>
      <p:sp>
        <p:nvSpPr>
          <p:cNvPr id="4" name="Slide Number Placeholder 3"/>
          <p:cNvSpPr>
            <a:spLocks noGrp="1"/>
          </p:cNvSpPr>
          <p:nvPr>
            <p:ph type="sldNum" sz="quarter" idx="12"/>
          </p:nvPr>
        </p:nvSpPr>
        <p:spPr/>
        <p:txBody>
          <a:bodyPr/>
          <a:lstStyle/>
          <a:p>
            <a:fld id="{4B084175-AE3F-4F83-9362-C827856E231F}" type="slidenum">
              <a:rPr lang="en-US" smtClean="0"/>
              <a:pPr/>
              <a:t>7</a:t>
            </a:fld>
            <a:endParaRPr lang="en-US" dirty="0"/>
          </a:p>
        </p:txBody>
      </p:sp>
      <p:sp>
        <p:nvSpPr>
          <p:cNvPr id="5" name="Content Placeholder 4"/>
          <p:cNvSpPr>
            <a:spLocks noGrp="1"/>
          </p:cNvSpPr>
          <p:nvPr>
            <p:ph sz="quarter" idx="1"/>
          </p:nvPr>
        </p:nvSpPr>
        <p:spPr/>
        <p:txBody>
          <a:bodyPr/>
          <a:lstStyle/>
          <a:p>
            <a:r>
              <a:rPr lang="en-US" dirty="0"/>
              <a:t>The insertion (or addition) operation is referred to as </a:t>
            </a:r>
            <a:r>
              <a:rPr lang="en-US" i="1" dirty="0"/>
              <a:t>push</a:t>
            </a:r>
          </a:p>
          <a:p>
            <a:r>
              <a:rPr lang="en-US" i="1" dirty="0"/>
              <a:t>deletion (or </a:t>
            </a:r>
            <a:r>
              <a:rPr lang="en-US" dirty="0"/>
              <a:t>remove) operation as </a:t>
            </a:r>
            <a:r>
              <a:rPr lang="en-US" i="1" dirty="0"/>
              <a:t>pop. </a:t>
            </a:r>
          </a:p>
          <a:p>
            <a:r>
              <a:rPr lang="en-US" i="1" dirty="0"/>
              <a:t>A stack is said to be empty or underflow, if the stack contains no </a:t>
            </a:r>
            <a:r>
              <a:rPr lang="en-US" dirty="0"/>
              <a:t>elements. </a:t>
            </a:r>
          </a:p>
          <a:p>
            <a:pPr lvl="1"/>
            <a:r>
              <a:rPr lang="en-US" dirty="0"/>
              <a:t>At this point the top of the stack is present at the bottom of the stack.</a:t>
            </a:r>
          </a:p>
          <a:p>
            <a:r>
              <a:rPr lang="en-US" dirty="0"/>
              <a:t> It is </a:t>
            </a:r>
            <a:r>
              <a:rPr lang="en-US" i="1" dirty="0"/>
              <a:t>overflow when the stack becomes full, i.e., no other elements can be pushed onto the </a:t>
            </a:r>
            <a:r>
              <a:rPr lang="en-US" dirty="0"/>
              <a:t>stack. </a:t>
            </a:r>
          </a:p>
          <a:p>
            <a:pPr lvl="1"/>
            <a:r>
              <a:rPr lang="en-US" dirty="0"/>
              <a:t>At this point the top pointer is at the highest location of the stack.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OPERATIONS PERFORMED ON STACK</a:t>
            </a:r>
          </a:p>
        </p:txBody>
      </p:sp>
      <p:sp>
        <p:nvSpPr>
          <p:cNvPr id="4" name="Slide Number Placeholder 3"/>
          <p:cNvSpPr>
            <a:spLocks noGrp="1"/>
          </p:cNvSpPr>
          <p:nvPr>
            <p:ph type="sldNum" sz="quarter" idx="12"/>
          </p:nvPr>
        </p:nvSpPr>
        <p:spPr/>
        <p:txBody>
          <a:bodyPr/>
          <a:lstStyle/>
          <a:p>
            <a:fld id="{4B084175-AE3F-4F83-9362-C827856E231F}" type="slidenum">
              <a:rPr lang="en-US" smtClean="0"/>
              <a:pPr/>
              <a:t>8</a:t>
            </a:fld>
            <a:endParaRPr lang="en-US"/>
          </a:p>
        </p:txBody>
      </p:sp>
      <p:sp>
        <p:nvSpPr>
          <p:cNvPr id="5" name="Content Placeholder 4"/>
          <p:cNvSpPr>
            <a:spLocks noGrp="1"/>
          </p:cNvSpPr>
          <p:nvPr>
            <p:ph sz="quarter" idx="1"/>
          </p:nvPr>
        </p:nvSpPr>
        <p:spPr/>
        <p:txBody>
          <a:bodyPr>
            <a:normAutofit lnSpcReduction="10000"/>
          </a:bodyPr>
          <a:lstStyle/>
          <a:p>
            <a:r>
              <a:rPr lang="en-US" dirty="0"/>
              <a:t>The primitive operations performed on the stack are as follows:</a:t>
            </a:r>
          </a:p>
          <a:p>
            <a:pPr lvl="1"/>
            <a:r>
              <a:rPr lang="en-US" b="1" dirty="0"/>
              <a:t>PUSH</a:t>
            </a:r>
          </a:p>
          <a:p>
            <a:pPr lvl="1"/>
            <a:r>
              <a:rPr lang="en-US" b="1" dirty="0"/>
              <a:t>POP</a:t>
            </a:r>
          </a:p>
          <a:p>
            <a:pPr lvl="1"/>
            <a:endParaRPr lang="en-US" b="1" dirty="0"/>
          </a:p>
          <a:p>
            <a:pPr lvl="1"/>
            <a:r>
              <a:rPr lang="en-US" sz="2400" b="1" i="1" dirty="0"/>
              <a:t>PUSH: </a:t>
            </a:r>
            <a:r>
              <a:rPr lang="en-US" sz="2400" i="1" dirty="0"/>
              <a:t>The process of adding (or inserting) a new element to the top of the stack is </a:t>
            </a:r>
            <a:r>
              <a:rPr lang="en-US" sz="2400" dirty="0"/>
              <a:t>called PUSH operation. </a:t>
            </a:r>
          </a:p>
          <a:p>
            <a:pPr lvl="2"/>
            <a:r>
              <a:rPr lang="en-US" sz="2400" dirty="0"/>
              <a:t>Pushing an element to a stack will add the new element at the top.</a:t>
            </a:r>
          </a:p>
          <a:p>
            <a:pPr lvl="2"/>
            <a:r>
              <a:rPr lang="en-US" sz="2400" dirty="0"/>
              <a:t>After every push operation the top is incremented by one.</a:t>
            </a:r>
          </a:p>
          <a:p>
            <a:pPr lvl="2"/>
            <a:r>
              <a:rPr lang="en-US" sz="2400" dirty="0"/>
              <a:t> If the array is full and there is no new element can be accommodated, then the stack overflow condition occurs</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OPERATIONS PERFORMED ON STACK</a:t>
            </a:r>
          </a:p>
        </p:txBody>
      </p:sp>
      <p:sp>
        <p:nvSpPr>
          <p:cNvPr id="4" name="Slide Number Placeholder 3"/>
          <p:cNvSpPr>
            <a:spLocks noGrp="1"/>
          </p:cNvSpPr>
          <p:nvPr>
            <p:ph type="sldNum" sz="quarter" idx="12"/>
          </p:nvPr>
        </p:nvSpPr>
        <p:spPr/>
        <p:txBody>
          <a:bodyPr/>
          <a:lstStyle/>
          <a:p>
            <a:fld id="{4B084175-AE3F-4F83-9362-C827856E231F}" type="slidenum">
              <a:rPr lang="en-US" smtClean="0"/>
              <a:pPr/>
              <a:t>9</a:t>
            </a:fld>
            <a:endParaRPr lang="en-US"/>
          </a:p>
        </p:txBody>
      </p:sp>
      <p:sp>
        <p:nvSpPr>
          <p:cNvPr id="5" name="Content Placeholder 4"/>
          <p:cNvSpPr>
            <a:spLocks noGrp="1"/>
          </p:cNvSpPr>
          <p:nvPr>
            <p:ph sz="quarter" idx="1"/>
          </p:nvPr>
        </p:nvSpPr>
        <p:spPr/>
        <p:txBody>
          <a:bodyPr>
            <a:normAutofit/>
          </a:bodyPr>
          <a:lstStyle/>
          <a:p>
            <a:pPr lvl="1"/>
            <a:r>
              <a:rPr lang="en-US" sz="2800" b="1" i="1" dirty="0"/>
              <a:t>POP:</a:t>
            </a:r>
            <a:r>
              <a:rPr lang="en-US" sz="2800" i="1" dirty="0"/>
              <a:t> The process of deleting (or removing) an element from the top of stack is called </a:t>
            </a:r>
            <a:r>
              <a:rPr lang="en-US" sz="2800" dirty="0"/>
              <a:t>POP operation. </a:t>
            </a:r>
          </a:p>
          <a:p>
            <a:pPr lvl="2"/>
            <a:r>
              <a:rPr lang="en-US" sz="2800" dirty="0"/>
              <a:t>After every pop operation the stack is decremented by one. </a:t>
            </a:r>
          </a:p>
          <a:p>
            <a:pPr lvl="2"/>
            <a:r>
              <a:rPr lang="en-US" sz="2800" dirty="0"/>
              <a:t>If there is no element in the stack and the pop operation is performed then the stack underflow condition occurs.</a:t>
            </a:r>
          </a:p>
        </p:txBody>
      </p:sp>
    </p:spTree>
    <p:extLst>
      <p:ext uri="{BB962C8B-B14F-4D97-AF65-F5344CB8AC3E}">
        <p14:creationId xmlns:p14="http://schemas.microsoft.com/office/powerpoint/2010/main" val="1662959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STACK IMPLEMENTATION</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a:bodyPr>
          <a:lstStyle/>
          <a:p>
            <a:pPr algn="just"/>
            <a:r>
              <a:rPr lang="en-US" dirty="0"/>
              <a:t>Stack can be implemented in two ways:</a:t>
            </a:r>
          </a:p>
          <a:p>
            <a:pPr algn="just">
              <a:buNone/>
            </a:pPr>
            <a:r>
              <a:rPr lang="en-US" dirty="0"/>
              <a:t>	1. Static implementation (using arrays)</a:t>
            </a:r>
          </a:p>
          <a:p>
            <a:pPr algn="just">
              <a:buNone/>
            </a:pPr>
            <a:r>
              <a:rPr lang="en-US" dirty="0"/>
              <a:t>	2. Dynamic implementation (using pointers)</a:t>
            </a:r>
          </a:p>
          <a:p>
            <a:pPr algn="just"/>
            <a:r>
              <a:rPr lang="en-US" dirty="0"/>
              <a:t>Static implementation uses arrays to create stack.</a:t>
            </a:r>
          </a:p>
          <a:p>
            <a:pPr algn="just"/>
            <a:r>
              <a:rPr lang="en-US" dirty="0"/>
              <a:t> It is a very simple technique but is not a flexible way.</a:t>
            </a:r>
          </a:p>
          <a:p>
            <a:pPr lvl="1" algn="just"/>
            <a:r>
              <a:rPr lang="en-US" dirty="0"/>
              <a:t>The size of the stack has to be declared during the program design, after that, the size cannot be varied (</a:t>
            </a:r>
            <a:r>
              <a:rPr lang="en-US" i="1" dirty="0"/>
              <a:t>i.e., </a:t>
            </a:r>
            <a:r>
              <a:rPr lang="en-US" dirty="0"/>
              <a:t>increased or decreased). </a:t>
            </a:r>
          </a:p>
          <a:p>
            <a:pPr algn="just"/>
            <a:r>
              <a:rPr lang="en-US" dirty="0"/>
              <a:t>The above said limitations can be overcome by dynamically implementing (is also called linked list representation) the stack using pointers.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USING ARRAYS</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a:bodyPr>
          <a:lstStyle/>
          <a:p>
            <a:r>
              <a:rPr lang="en-US" b="1" dirty="0"/>
              <a:t>Algorithm for push</a:t>
            </a:r>
          </a:p>
          <a:p>
            <a:r>
              <a:rPr lang="en-US" dirty="0"/>
              <a:t>Suppose STACK[SIZE] is a one dimensional array for implementing the stack, which will hold the data items.</a:t>
            </a:r>
          </a:p>
          <a:p>
            <a:r>
              <a:rPr lang="en-US" dirty="0"/>
              <a:t> TOP is the pointer that points to the top most element of the stack. DATA is the data item to be pushed.</a:t>
            </a:r>
          </a:p>
          <a:p>
            <a:pPr lvl="1">
              <a:buNone/>
            </a:pPr>
            <a:r>
              <a:rPr lang="en-US" dirty="0"/>
              <a:t>1. If TOP = SIZE – 1, then:</a:t>
            </a:r>
          </a:p>
          <a:p>
            <a:pPr lvl="1">
              <a:buNone/>
            </a:pPr>
            <a:r>
              <a:rPr lang="en-US" dirty="0"/>
              <a:t>		(</a:t>
            </a:r>
            <a:r>
              <a:rPr lang="en-US" i="1" dirty="0"/>
              <a:t>a) Display “The stack is in overflow condition”</a:t>
            </a:r>
          </a:p>
          <a:p>
            <a:pPr lvl="1">
              <a:buNone/>
            </a:pPr>
            <a:r>
              <a:rPr lang="en-US" dirty="0"/>
              <a:t>		(</a:t>
            </a:r>
            <a:r>
              <a:rPr lang="en-US" i="1" dirty="0"/>
              <a:t>b) Exit</a:t>
            </a:r>
          </a:p>
          <a:p>
            <a:pPr lvl="1">
              <a:buNone/>
            </a:pPr>
            <a:r>
              <a:rPr lang="en-US" dirty="0"/>
              <a:t>2. TOP = TOP + 1</a:t>
            </a:r>
          </a:p>
          <a:p>
            <a:pPr lvl="1">
              <a:buNone/>
            </a:pPr>
            <a:r>
              <a:rPr lang="en-US" dirty="0"/>
              <a:t>3. STACK [TOP] = ITEM</a:t>
            </a:r>
          </a:p>
          <a:p>
            <a:pPr lvl="1">
              <a:buNone/>
            </a:pPr>
            <a:r>
              <a:rPr lang="en-US" dirty="0"/>
              <a:t>4. Exit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in C++</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fontScale="92500" lnSpcReduction="10000"/>
          </a:bodyPr>
          <a:lstStyle/>
          <a:p>
            <a:pPr>
              <a:buNone/>
            </a:pPr>
            <a:r>
              <a:rPr lang="en-US" sz="1900" dirty="0"/>
              <a:t>void STACK_ARRAY::push()</a:t>
            </a:r>
          </a:p>
          <a:p>
            <a:pPr>
              <a:buNone/>
            </a:pPr>
            <a:r>
              <a:rPr lang="en-US" sz="1900" dirty="0"/>
              <a:t>{                        </a:t>
            </a:r>
          </a:p>
          <a:p>
            <a:pPr>
              <a:buNone/>
            </a:pPr>
            <a:r>
              <a:rPr lang="en-US" sz="1900" dirty="0" err="1"/>
              <a:t>int</a:t>
            </a:r>
            <a:r>
              <a:rPr lang="en-US" sz="1900" dirty="0"/>
              <a:t> item;</a:t>
            </a:r>
          </a:p>
          <a:p>
            <a:pPr>
              <a:buNone/>
            </a:pPr>
            <a:r>
              <a:rPr lang="en-US" sz="1900" dirty="0"/>
              <a:t>if (Top == MAXSIZE–1)</a:t>
            </a:r>
          </a:p>
          <a:p>
            <a:pPr>
              <a:buNone/>
            </a:pPr>
            <a:r>
              <a:rPr lang="en-US" sz="1900" dirty="0"/>
              <a:t>{</a:t>
            </a:r>
          </a:p>
          <a:p>
            <a:pPr>
              <a:buNone/>
            </a:pPr>
            <a:r>
              <a:rPr lang="en-US" sz="1900" dirty="0" err="1"/>
              <a:t>cout</a:t>
            </a:r>
            <a:r>
              <a:rPr lang="en-US" sz="1900" dirty="0"/>
              <a:t>&lt;&lt;“\</a:t>
            </a:r>
            <a:r>
              <a:rPr lang="en-US" sz="1900" dirty="0" err="1"/>
              <a:t>nThe</a:t>
            </a:r>
            <a:r>
              <a:rPr lang="en-US" sz="1900" dirty="0"/>
              <a:t> Stack Is Full”;</a:t>
            </a:r>
          </a:p>
          <a:p>
            <a:pPr>
              <a:buNone/>
            </a:pPr>
            <a:r>
              <a:rPr lang="en-US" sz="1900" dirty="0" err="1"/>
              <a:t>getch</a:t>
            </a:r>
            <a:r>
              <a:rPr lang="en-US" sz="1900" dirty="0"/>
              <a:t>();</a:t>
            </a:r>
          </a:p>
          <a:p>
            <a:pPr>
              <a:buNone/>
            </a:pPr>
            <a:r>
              <a:rPr lang="en-US" sz="1900" dirty="0"/>
              <a:t>}</a:t>
            </a:r>
          </a:p>
          <a:p>
            <a:pPr>
              <a:buNone/>
            </a:pPr>
            <a:r>
              <a:rPr lang="en-US" sz="1900" dirty="0"/>
              <a:t>else</a:t>
            </a:r>
          </a:p>
          <a:p>
            <a:pPr>
              <a:buNone/>
            </a:pPr>
            <a:r>
              <a:rPr lang="en-US" sz="1900" dirty="0"/>
              <a:t>{</a:t>
            </a:r>
          </a:p>
          <a:p>
            <a:pPr>
              <a:buNone/>
            </a:pPr>
            <a:r>
              <a:rPr lang="en-US" sz="1900" dirty="0" err="1"/>
              <a:t>cout</a:t>
            </a:r>
            <a:r>
              <a:rPr lang="en-US" sz="1900" dirty="0"/>
              <a:t>&lt;&lt;“\</a:t>
            </a:r>
            <a:r>
              <a:rPr lang="en-US" sz="1900" dirty="0" err="1"/>
              <a:t>nEnter</a:t>
            </a:r>
            <a:r>
              <a:rPr lang="en-US" sz="1900" dirty="0"/>
              <a:t> The Element To Be Inserted = ”;</a:t>
            </a:r>
          </a:p>
          <a:p>
            <a:pPr>
              <a:buNone/>
            </a:pPr>
            <a:r>
              <a:rPr lang="en-US" sz="1900" dirty="0" err="1"/>
              <a:t>cin</a:t>
            </a:r>
            <a:r>
              <a:rPr lang="en-US" sz="1900" dirty="0"/>
              <a:t>&gt;&gt;item;</a:t>
            </a:r>
          </a:p>
          <a:p>
            <a:pPr>
              <a:buNone/>
            </a:pPr>
            <a:r>
              <a:rPr lang="en-US" sz="1900" dirty="0"/>
              <a:t>stack[++Top]=item; </a:t>
            </a:r>
          </a:p>
          <a:p>
            <a:pPr>
              <a:buNone/>
            </a:pPr>
            <a:r>
              <a:rPr lang="en-US" sz="1900" dirty="0"/>
              <a:t>}</a:t>
            </a:r>
          </a:p>
          <a:p>
            <a:pPr>
              <a:buNone/>
            </a:pPr>
            <a:r>
              <a:rPr lang="en-US" sz="1900" dirty="0"/>
              <a:t>}</a:t>
            </a:r>
          </a:p>
          <a:p>
            <a:endParaRPr lang="en-US" dirty="0"/>
          </a:p>
        </p:txBody>
      </p:sp>
      <p:sp>
        <p:nvSpPr>
          <p:cNvPr id="8" name="Left Arrow 7"/>
          <p:cNvSpPr/>
          <p:nvPr/>
        </p:nvSpPr>
        <p:spPr>
          <a:xfrm>
            <a:off x="4953000" y="1295400"/>
            <a:ext cx="4038600" cy="2057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a:p>
            <a:r>
              <a:rPr lang="en-US" sz="1400" dirty="0"/>
              <a:t>//if the top pointer already reached the maximum allowed size then</a:t>
            </a:r>
          </a:p>
          <a:p>
            <a:r>
              <a:rPr lang="en-US" sz="1400" dirty="0"/>
              <a:t>//we can say that the stack is full or overflow</a:t>
            </a:r>
          </a:p>
          <a:p>
            <a:pPr algn="ctr"/>
            <a:endParaRPr lang="en-US" sz="1200" dirty="0"/>
          </a:p>
        </p:txBody>
      </p:sp>
      <p:sp>
        <p:nvSpPr>
          <p:cNvPr id="9" name="Left Arrow 8"/>
          <p:cNvSpPr/>
          <p:nvPr/>
        </p:nvSpPr>
        <p:spPr>
          <a:xfrm>
            <a:off x="4953000" y="4114800"/>
            <a:ext cx="4038600" cy="2209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1400" dirty="0"/>
              <a:t>//Otherwise an element can be added or inserted by</a:t>
            </a:r>
          </a:p>
          <a:p>
            <a:pPr>
              <a:buNone/>
            </a:pPr>
            <a:r>
              <a:rPr lang="en-US" sz="1400" dirty="0"/>
              <a:t>//incrementing the stack pointer Top as follows</a:t>
            </a:r>
          </a:p>
          <a:p>
            <a:pPr>
              <a:buNone/>
            </a:pPr>
            <a:r>
              <a:rPr lang="en-US" sz="1400" dirty="0"/>
              <a:t>// Remember here Top=-1;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USING ARRAYS</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lnSpcReduction="10000"/>
          </a:bodyPr>
          <a:lstStyle/>
          <a:p>
            <a:r>
              <a:rPr lang="en-US" b="1" dirty="0"/>
              <a:t>Algorithm for pop</a:t>
            </a:r>
          </a:p>
          <a:p>
            <a:r>
              <a:rPr lang="en-US" dirty="0"/>
              <a:t>TOP is the pointer that points to the top most element of the stack. </a:t>
            </a:r>
          </a:p>
          <a:p>
            <a:r>
              <a:rPr lang="en-US" dirty="0"/>
              <a:t>DATA is the popped (or deleted) data item from the top of the stack.</a:t>
            </a:r>
          </a:p>
          <a:p>
            <a:pPr lvl="1">
              <a:buNone/>
            </a:pPr>
            <a:r>
              <a:rPr lang="en-US" dirty="0"/>
              <a:t>1. If TOP &lt; 0, then</a:t>
            </a:r>
          </a:p>
          <a:p>
            <a:pPr lvl="2">
              <a:buNone/>
            </a:pPr>
            <a:r>
              <a:rPr lang="en-US" dirty="0"/>
              <a:t>(</a:t>
            </a:r>
            <a:r>
              <a:rPr lang="en-US" i="1" dirty="0"/>
              <a:t>a) Display “The Stack is empty”</a:t>
            </a:r>
          </a:p>
          <a:p>
            <a:pPr lvl="2">
              <a:buNone/>
            </a:pPr>
            <a:r>
              <a:rPr lang="en-US" dirty="0"/>
              <a:t>(</a:t>
            </a:r>
            <a:r>
              <a:rPr lang="en-US" i="1" dirty="0"/>
              <a:t>b) Exit</a:t>
            </a:r>
          </a:p>
          <a:p>
            <a:pPr lvl="1">
              <a:buNone/>
            </a:pPr>
            <a:r>
              <a:rPr lang="en-US" dirty="0"/>
              <a:t>2. Else remove the Top most element</a:t>
            </a:r>
          </a:p>
          <a:p>
            <a:pPr lvl="1">
              <a:buNone/>
            </a:pPr>
            <a:r>
              <a:rPr lang="en-US" dirty="0"/>
              <a:t>3. DATA = STACK[TOP]</a:t>
            </a:r>
          </a:p>
          <a:p>
            <a:pPr lvl="1">
              <a:buNone/>
            </a:pPr>
            <a:r>
              <a:rPr lang="en-US" dirty="0"/>
              <a:t>4. TOP = TOP – 1</a:t>
            </a:r>
          </a:p>
          <a:p>
            <a:pPr lvl="1">
              <a:buNone/>
            </a:pPr>
            <a:r>
              <a:rPr lang="en-US" dirty="0"/>
              <a:t>5. Exit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in C++</a:t>
            </a:r>
          </a:p>
        </p:txBody>
      </p:sp>
      <p:sp>
        <p:nvSpPr>
          <p:cNvPr id="3" name="Footer Placeholder 2"/>
          <p:cNvSpPr>
            <a:spLocks noGrp="1"/>
          </p:cNvSpPr>
          <p:nvPr>
            <p:ph type="ftr" sz="quarter" idx="11"/>
          </p:nvPr>
        </p:nvSpPr>
        <p:spPr/>
        <p:txBody>
          <a:bodyPr/>
          <a:lstStyle/>
          <a:p>
            <a:r>
              <a:rPr lang="en-US"/>
              <a:t>Algorithm and Data Structure </a:t>
            </a:r>
          </a:p>
        </p:txBody>
      </p:sp>
      <p:sp>
        <p:nvSpPr>
          <p:cNvPr id="4" name="Content Placeholder 3"/>
          <p:cNvSpPr>
            <a:spLocks noGrp="1"/>
          </p:cNvSpPr>
          <p:nvPr>
            <p:ph sz="quarter" idx="1"/>
          </p:nvPr>
        </p:nvSpPr>
        <p:spPr/>
        <p:txBody>
          <a:bodyPr>
            <a:normAutofit/>
          </a:bodyPr>
          <a:lstStyle/>
          <a:p>
            <a:pPr>
              <a:buNone/>
            </a:pPr>
            <a:r>
              <a:rPr lang="en-US" sz="1800" dirty="0"/>
              <a:t>void STACK_ARRAY::pop()</a:t>
            </a:r>
          </a:p>
          <a:p>
            <a:pPr>
              <a:buNone/>
            </a:pPr>
            <a:r>
              <a:rPr lang="en-US" sz="1800" dirty="0"/>
              <a:t>{</a:t>
            </a:r>
          </a:p>
          <a:p>
            <a:pPr>
              <a:buNone/>
            </a:pPr>
            <a:r>
              <a:rPr lang="en-US" sz="1800" dirty="0" err="1"/>
              <a:t>int</a:t>
            </a:r>
            <a:r>
              <a:rPr lang="en-US" sz="1800" dirty="0"/>
              <a:t> item;</a:t>
            </a:r>
          </a:p>
          <a:p>
            <a:pPr>
              <a:buNone/>
            </a:pPr>
            <a:r>
              <a:rPr lang="en-US" sz="1800" dirty="0"/>
              <a:t>if (Top == –1)</a:t>
            </a:r>
          </a:p>
          <a:p>
            <a:pPr>
              <a:buNone/>
            </a:pPr>
            <a:r>
              <a:rPr lang="en-US" sz="1800" dirty="0" err="1"/>
              <a:t>cout</a:t>
            </a:r>
            <a:r>
              <a:rPr lang="en-US" sz="1800" dirty="0"/>
              <a:t>&lt;&lt;“\</a:t>
            </a:r>
            <a:r>
              <a:rPr lang="en-US" sz="1800" dirty="0" err="1"/>
              <a:t>nThe</a:t>
            </a:r>
            <a:r>
              <a:rPr lang="en-US" sz="1800" dirty="0"/>
              <a:t> Stack Is Empty”;</a:t>
            </a:r>
          </a:p>
          <a:p>
            <a:pPr>
              <a:buNone/>
            </a:pPr>
            <a:r>
              <a:rPr lang="en-US" sz="1800" dirty="0"/>
              <a:t>else</a:t>
            </a:r>
          </a:p>
          <a:p>
            <a:pPr>
              <a:buNone/>
            </a:pPr>
            <a:r>
              <a:rPr lang="en-US" sz="1800" dirty="0"/>
              <a:t>{</a:t>
            </a:r>
          </a:p>
          <a:p>
            <a:pPr>
              <a:buNone/>
            </a:pPr>
            <a:r>
              <a:rPr lang="en-US" sz="1800" dirty="0"/>
              <a:t>item=stack[Top--];</a:t>
            </a:r>
          </a:p>
          <a:p>
            <a:pPr>
              <a:buNone/>
            </a:pPr>
            <a:r>
              <a:rPr lang="en-US" sz="1800" dirty="0" err="1"/>
              <a:t>cout</a:t>
            </a:r>
            <a:r>
              <a:rPr lang="en-US" sz="1800" dirty="0"/>
              <a:t>&lt;&lt;“\</a:t>
            </a:r>
            <a:r>
              <a:rPr lang="en-US" sz="1800" dirty="0" err="1"/>
              <a:t>nThe</a:t>
            </a:r>
            <a:r>
              <a:rPr lang="en-US" sz="1800" dirty="0"/>
              <a:t> Deleted Element Is = ”&lt;&lt;item;</a:t>
            </a:r>
          </a:p>
          <a:p>
            <a:pPr>
              <a:buNone/>
            </a:pPr>
            <a:r>
              <a:rPr lang="en-US" sz="1800" dirty="0"/>
              <a:t>}</a:t>
            </a:r>
          </a:p>
          <a:p>
            <a:pPr>
              <a:buNone/>
            </a:pPr>
            <a:r>
              <a:rPr lang="en-US" sz="1800" dirty="0"/>
              <a:t>}</a:t>
            </a:r>
          </a:p>
        </p:txBody>
      </p:sp>
      <p:sp>
        <p:nvSpPr>
          <p:cNvPr id="8" name="Left Arrow 7"/>
          <p:cNvSpPr/>
          <p:nvPr/>
        </p:nvSpPr>
        <p:spPr>
          <a:xfrm>
            <a:off x="4953000" y="1295400"/>
            <a:ext cx="4038600" cy="2057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p>
          <a:p>
            <a:pPr>
              <a:buNone/>
            </a:pPr>
            <a:r>
              <a:rPr lang="en-US" sz="1400" dirty="0"/>
              <a:t>//If the Top pointer points to NULL, then the stack is empty</a:t>
            </a:r>
          </a:p>
          <a:p>
            <a:pPr>
              <a:buNone/>
            </a:pPr>
            <a:r>
              <a:rPr lang="en-US" sz="1400" dirty="0"/>
              <a:t>//That is NO element is there to delete or pop</a:t>
            </a:r>
          </a:p>
          <a:p>
            <a:pPr algn="ctr"/>
            <a:endParaRPr lang="en-US" sz="1200" dirty="0"/>
          </a:p>
        </p:txBody>
      </p:sp>
      <p:sp>
        <p:nvSpPr>
          <p:cNvPr id="9" name="Left Arrow 8"/>
          <p:cNvSpPr/>
          <p:nvPr/>
        </p:nvSpPr>
        <p:spPr>
          <a:xfrm>
            <a:off x="4953000" y="3276600"/>
            <a:ext cx="4038600" cy="2209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1400" dirty="0"/>
              <a:t>//Otherwise the top most element in the stack is </a:t>
            </a:r>
            <a:r>
              <a:rPr lang="en-US" sz="1400" dirty="0" err="1"/>
              <a:t>poped</a:t>
            </a:r>
            <a:r>
              <a:rPr lang="en-US" sz="1400" dirty="0"/>
              <a:t> or</a:t>
            </a:r>
          </a:p>
          <a:p>
            <a:pPr>
              <a:buNone/>
            </a:pPr>
            <a:r>
              <a:rPr lang="en-US" sz="1400" dirty="0"/>
              <a:t>//deleted by decrementing the Top pointer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function to print all the existing elements in the stack</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10000"/>
          </a:bodyPr>
          <a:lstStyle/>
          <a:p>
            <a:pPr>
              <a:buNone/>
            </a:pPr>
            <a:r>
              <a:rPr lang="en-US" dirty="0"/>
              <a:t>void STACK_ARRAY::traverse()</a:t>
            </a:r>
          </a:p>
          <a:p>
            <a:pPr>
              <a:buNone/>
            </a:pPr>
            <a:r>
              <a:rPr lang="en-US" dirty="0"/>
              <a:t>{</a:t>
            </a:r>
          </a:p>
          <a:p>
            <a:pPr>
              <a:buNone/>
            </a:pPr>
            <a:r>
              <a:rPr lang="en-US" dirty="0" err="1"/>
              <a:t>int</a:t>
            </a:r>
            <a:r>
              <a:rPr lang="en-US" dirty="0"/>
              <a:t> </a:t>
            </a:r>
            <a:r>
              <a:rPr lang="en-US" dirty="0" err="1"/>
              <a:t>i</a:t>
            </a:r>
            <a:r>
              <a:rPr lang="en-US" dirty="0"/>
              <a:t>;</a:t>
            </a:r>
          </a:p>
          <a:p>
            <a:pPr>
              <a:buNone/>
            </a:pPr>
            <a:r>
              <a:rPr lang="en-US" dirty="0"/>
              <a:t>if (Top == -1)</a:t>
            </a:r>
          </a:p>
          <a:p>
            <a:pPr>
              <a:buNone/>
            </a:pPr>
            <a:r>
              <a:rPr lang="en-US" dirty="0" err="1"/>
              <a:t>cout</a:t>
            </a:r>
            <a:r>
              <a:rPr lang="en-US" dirty="0"/>
              <a:t>&lt;&lt;“\</a:t>
            </a:r>
            <a:r>
              <a:rPr lang="en-US" dirty="0" err="1"/>
              <a:t>nThe</a:t>
            </a:r>
            <a:r>
              <a:rPr lang="en-US" dirty="0"/>
              <a:t> Stack is Empty”;</a:t>
            </a:r>
          </a:p>
          <a:p>
            <a:pPr>
              <a:buNone/>
            </a:pPr>
            <a:r>
              <a:rPr lang="en-US" dirty="0"/>
              <a:t>else</a:t>
            </a:r>
          </a:p>
          <a:p>
            <a:pPr>
              <a:buNone/>
            </a:pPr>
            <a:r>
              <a:rPr lang="en-US" dirty="0"/>
              <a:t>{</a:t>
            </a:r>
          </a:p>
          <a:p>
            <a:pPr>
              <a:buNone/>
            </a:pPr>
            <a:r>
              <a:rPr lang="en-US" dirty="0" err="1"/>
              <a:t>cout</a:t>
            </a:r>
            <a:r>
              <a:rPr lang="en-US" dirty="0"/>
              <a:t>&lt;&lt;“\n\</a:t>
            </a:r>
            <a:r>
              <a:rPr lang="en-US" dirty="0" err="1"/>
              <a:t>nThe</a:t>
            </a:r>
            <a:r>
              <a:rPr lang="en-US" dirty="0"/>
              <a:t> Element(s) In The Stack(s) is/are...”;</a:t>
            </a:r>
          </a:p>
          <a:p>
            <a:pPr>
              <a:buNone/>
            </a:pPr>
            <a:r>
              <a:rPr lang="en-US" dirty="0"/>
              <a:t>for(</a:t>
            </a:r>
            <a:r>
              <a:rPr lang="en-US" dirty="0" err="1"/>
              <a:t>i</a:t>
            </a:r>
            <a:r>
              <a:rPr lang="en-US" dirty="0"/>
              <a:t>=Top; </a:t>
            </a:r>
            <a:r>
              <a:rPr lang="en-US" dirty="0" err="1"/>
              <a:t>i</a:t>
            </a:r>
            <a:r>
              <a:rPr lang="en-US" dirty="0"/>
              <a:t>&gt;=0; </a:t>
            </a:r>
            <a:r>
              <a:rPr lang="en-US" dirty="0" err="1"/>
              <a:t>i</a:t>
            </a:r>
            <a:r>
              <a:rPr lang="en-US" dirty="0"/>
              <a:t>--)</a:t>
            </a:r>
          </a:p>
          <a:p>
            <a:pPr>
              <a:buNone/>
            </a:pPr>
            <a:r>
              <a:rPr lang="en-US" dirty="0" err="1"/>
              <a:t>cout</a:t>
            </a:r>
            <a:r>
              <a:rPr lang="en-US" dirty="0"/>
              <a:t>&lt;&lt;“\n ”&lt;&lt;stack[</a:t>
            </a:r>
            <a:r>
              <a:rPr lang="en-US" dirty="0" err="1"/>
              <a:t>i</a:t>
            </a:r>
            <a:r>
              <a:rPr lang="en-US" dirty="0"/>
              <a:t>];</a:t>
            </a:r>
          </a:p>
          <a:p>
            <a:pPr>
              <a:buNone/>
            </a:pPr>
            <a:r>
              <a:rPr lang="en-US" dirty="0"/>
              <a:t>}</a:t>
            </a:r>
          </a:p>
          <a:p>
            <a:pPr>
              <a:buNone/>
            </a:pPr>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84545-50CE-9012-D277-5125E3CBD04C}"/>
              </a:ext>
            </a:extLst>
          </p:cNvPr>
          <p:cNvSpPr>
            <a:spLocks noGrp="1"/>
          </p:cNvSpPr>
          <p:nvPr>
            <p:ph type="title"/>
          </p:nvPr>
        </p:nvSpPr>
        <p:spPr>
          <a:xfrm>
            <a:off x="228600" y="2895600"/>
            <a:ext cx="8915400" cy="914400"/>
          </a:xfrm>
        </p:spPr>
        <p:txBody>
          <a:bodyPr>
            <a:normAutofit fontScale="90000"/>
          </a:bodyPr>
          <a:lstStyle/>
          <a:p>
            <a:r>
              <a:rPr lang="en-US" b="1" dirty="0"/>
              <a:t>Implementation of Stack Using Linked List</a:t>
            </a:r>
          </a:p>
        </p:txBody>
      </p:sp>
      <p:sp>
        <p:nvSpPr>
          <p:cNvPr id="3" name="Footer Placeholder 2">
            <a:extLst>
              <a:ext uri="{FF2B5EF4-FFF2-40B4-BE49-F238E27FC236}">
                <a16:creationId xmlns:a16="http://schemas.microsoft.com/office/drawing/2014/main" id="{6380ADA2-216E-ADC8-8EF3-5F80ADAC7816}"/>
              </a:ext>
            </a:extLst>
          </p:cNvPr>
          <p:cNvSpPr>
            <a:spLocks noGrp="1"/>
          </p:cNvSpPr>
          <p:nvPr>
            <p:ph type="ftr" sz="quarter" idx="11"/>
          </p:nvPr>
        </p:nvSpPr>
        <p:spPr/>
        <p:txBody>
          <a:bodyPr/>
          <a:lstStyle/>
          <a:p>
            <a:r>
              <a:rPr lang="en-US"/>
              <a:t>Algorithm and Data Structure </a:t>
            </a:r>
            <a:endParaRPr lang="en-US" dirty="0"/>
          </a:p>
        </p:txBody>
      </p:sp>
    </p:spTree>
    <p:extLst>
      <p:ext uri="{BB962C8B-B14F-4D97-AF65-F5344CB8AC3E}">
        <p14:creationId xmlns:p14="http://schemas.microsoft.com/office/powerpoint/2010/main" val="4095746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normAutofit/>
          </a:bodyPr>
          <a:lstStyle/>
          <a:p>
            <a:r>
              <a:rPr lang="en-US" sz="1800" b="1" dirty="0"/>
              <a:t>Implementation issues of the stack (Last In First Out - LIFO) using linked list</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pic>
        <p:nvPicPr>
          <p:cNvPr id="1026" name="Picture 2"/>
          <p:cNvPicPr>
            <a:picLocks noChangeAspect="1" noChangeArrowheads="1"/>
          </p:cNvPicPr>
          <p:nvPr/>
        </p:nvPicPr>
        <p:blipFill>
          <a:blip r:embed="rId2"/>
          <a:srcRect/>
          <a:stretch>
            <a:fillRect/>
          </a:stretch>
        </p:blipFill>
        <p:spPr bwMode="auto">
          <a:xfrm>
            <a:off x="2166938" y="547688"/>
            <a:ext cx="4810125" cy="57626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ALGORITHM FOR PUSH OPERATION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a:bodyPr>
          <a:lstStyle/>
          <a:p>
            <a:r>
              <a:rPr lang="en-US" dirty="0"/>
              <a:t>Suppose TOP is a pointer, which is pointing towards the topmost element of the stack. TOP is NULL when the stack is empty. DATA is the data item to be pushed.</a:t>
            </a:r>
          </a:p>
          <a:p>
            <a:r>
              <a:rPr lang="en-US" dirty="0"/>
              <a:t>1. Input the DATA to be pushed</a:t>
            </a:r>
          </a:p>
          <a:p>
            <a:r>
              <a:rPr lang="en-US" dirty="0"/>
              <a:t>2. </a:t>
            </a:r>
            <a:r>
              <a:rPr lang="en-US" dirty="0" err="1"/>
              <a:t>Creat</a:t>
            </a:r>
            <a:r>
              <a:rPr lang="en-US" dirty="0"/>
              <a:t> a New Node</a:t>
            </a:r>
          </a:p>
          <a:p>
            <a:r>
              <a:rPr lang="en-US" dirty="0"/>
              <a:t>3. </a:t>
            </a:r>
            <a:r>
              <a:rPr lang="en-US" dirty="0" err="1"/>
              <a:t>NewNode</a:t>
            </a:r>
            <a:r>
              <a:rPr lang="en-US" dirty="0"/>
              <a:t> → DATA = DATA</a:t>
            </a:r>
          </a:p>
          <a:p>
            <a:r>
              <a:rPr lang="en-US" dirty="0"/>
              <a:t>4. </a:t>
            </a:r>
            <a:r>
              <a:rPr lang="en-US" dirty="0" err="1"/>
              <a:t>NewNode</a:t>
            </a:r>
            <a:r>
              <a:rPr lang="en-US" dirty="0"/>
              <a:t> → Next = TOP</a:t>
            </a:r>
          </a:p>
          <a:p>
            <a:r>
              <a:rPr lang="en-US" dirty="0"/>
              <a:t>5. TOP = </a:t>
            </a:r>
            <a:r>
              <a:rPr lang="en-US" dirty="0" err="1"/>
              <a:t>NewNode</a:t>
            </a:r>
            <a:endParaRPr lang="en-US" dirty="0"/>
          </a:p>
          <a:p>
            <a:r>
              <a:rPr lang="en-US" dirty="0"/>
              <a:t>6. Exit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STACK IMPLEMENTATION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62500" lnSpcReduction="20000"/>
          </a:bodyPr>
          <a:lstStyle/>
          <a:p>
            <a:pPr>
              <a:buNone/>
            </a:pPr>
            <a:r>
              <a:rPr lang="en-US" dirty="0"/>
              <a:t>class </a:t>
            </a:r>
            <a:r>
              <a:rPr lang="en-US" dirty="0" err="1"/>
              <a:t>Stack_Linked</a:t>
            </a:r>
            <a:endParaRPr lang="en-US" dirty="0"/>
          </a:p>
          <a:p>
            <a:pPr>
              <a:buNone/>
            </a:pPr>
            <a:r>
              <a:rPr lang="en-US" dirty="0"/>
              <a:t>{</a:t>
            </a:r>
          </a:p>
          <a:p>
            <a:pPr>
              <a:buNone/>
            </a:pPr>
            <a:r>
              <a:rPr lang="en-US" dirty="0" err="1"/>
              <a:t>struct</a:t>
            </a:r>
            <a:r>
              <a:rPr lang="en-US" dirty="0"/>
              <a:t> NODE	</a:t>
            </a:r>
            <a:r>
              <a:rPr lang="en-US" dirty="0">
                <a:solidFill>
                  <a:srgbClr val="00B050"/>
                </a:solidFill>
              </a:rPr>
              <a:t>//Structure is created for the node</a:t>
            </a:r>
          </a:p>
          <a:p>
            <a:pPr>
              <a:buNone/>
            </a:pPr>
            <a:r>
              <a:rPr lang="en-US" dirty="0"/>
              <a:t>{</a:t>
            </a:r>
          </a:p>
          <a:p>
            <a:pPr>
              <a:buNone/>
            </a:pPr>
            <a:r>
              <a:rPr lang="en-US" dirty="0" err="1"/>
              <a:t>int</a:t>
            </a:r>
            <a:r>
              <a:rPr lang="en-US" dirty="0"/>
              <a:t> info;</a:t>
            </a:r>
          </a:p>
          <a:p>
            <a:pPr>
              <a:buNone/>
            </a:pPr>
            <a:r>
              <a:rPr lang="en-US" dirty="0" err="1"/>
              <a:t>struct</a:t>
            </a:r>
            <a:r>
              <a:rPr lang="en-US" dirty="0"/>
              <a:t> NODE *link;	</a:t>
            </a:r>
            <a:r>
              <a:rPr lang="en-US" dirty="0">
                <a:solidFill>
                  <a:srgbClr val="00B050"/>
                </a:solidFill>
              </a:rPr>
              <a:t>//A link to the next node</a:t>
            </a:r>
          </a:p>
          <a:p>
            <a:pPr>
              <a:buNone/>
            </a:pPr>
            <a:r>
              <a:rPr lang="en-US" dirty="0"/>
              <a:t>};</a:t>
            </a:r>
          </a:p>
          <a:p>
            <a:pPr>
              <a:buNone/>
            </a:pPr>
            <a:r>
              <a:rPr lang="en-US" dirty="0"/>
              <a:t>NODE *top;	</a:t>
            </a:r>
            <a:r>
              <a:rPr lang="en-US" dirty="0">
                <a:solidFill>
                  <a:srgbClr val="00B050"/>
                </a:solidFill>
              </a:rPr>
              <a:t>//A variable top is been declared for the structure</a:t>
            </a:r>
          </a:p>
          <a:p>
            <a:pPr>
              <a:buNone/>
            </a:pPr>
            <a:r>
              <a:rPr lang="en-US" dirty="0"/>
              <a:t>public:</a:t>
            </a:r>
          </a:p>
          <a:p>
            <a:pPr>
              <a:buNone/>
            </a:pPr>
            <a:r>
              <a:rPr lang="en-US" dirty="0" err="1"/>
              <a:t>Stack_Linked</a:t>
            </a:r>
            <a:r>
              <a:rPr lang="en-US" dirty="0"/>
              <a:t>()	</a:t>
            </a:r>
            <a:r>
              <a:rPr lang="en-US" dirty="0">
                <a:solidFill>
                  <a:srgbClr val="00B050"/>
                </a:solidFill>
              </a:rPr>
              <a:t>//Constructer is defined for the class</a:t>
            </a:r>
          </a:p>
          <a:p>
            <a:pPr>
              <a:buNone/>
            </a:pPr>
            <a:r>
              <a:rPr lang="en-US" dirty="0"/>
              <a:t>{</a:t>
            </a:r>
          </a:p>
          <a:p>
            <a:pPr>
              <a:buNone/>
            </a:pPr>
            <a:r>
              <a:rPr lang="en-US" dirty="0"/>
              <a:t>top=NULL;	</a:t>
            </a:r>
            <a:r>
              <a:rPr lang="en-US" dirty="0">
                <a:solidFill>
                  <a:srgbClr val="00B050"/>
                </a:solidFill>
              </a:rPr>
              <a:t>//top pointer is initialized</a:t>
            </a:r>
          </a:p>
          <a:p>
            <a:pPr>
              <a:buNone/>
            </a:pPr>
            <a:r>
              <a:rPr lang="en-US" dirty="0"/>
              <a:t>}</a:t>
            </a:r>
          </a:p>
          <a:p>
            <a:pPr>
              <a:buNone/>
            </a:pPr>
            <a:r>
              <a:rPr lang="en-US" dirty="0"/>
              <a:t>void push();</a:t>
            </a:r>
          </a:p>
          <a:p>
            <a:pPr>
              <a:buNone/>
            </a:pPr>
            <a:r>
              <a:rPr lang="en-US" dirty="0"/>
              <a:t>void pop();</a:t>
            </a:r>
          </a:p>
          <a:p>
            <a:pPr>
              <a:buNone/>
            </a:pPr>
            <a:r>
              <a:rPr lang="en-US" dirty="0"/>
              <a:t>void display();</a:t>
            </a:r>
          </a:p>
          <a:p>
            <a:pPr>
              <a:buNone/>
            </a:pPr>
            <a:r>
              <a:rPr lang="en-US"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 to perform the push operation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a:bodyPr>
          <a:lstStyle/>
          <a:p>
            <a:pPr>
              <a:buNone/>
            </a:pPr>
            <a:r>
              <a:rPr lang="en-US" dirty="0"/>
              <a:t>void </a:t>
            </a:r>
            <a:r>
              <a:rPr lang="en-US" dirty="0" err="1"/>
              <a:t>Stack_Linked</a:t>
            </a:r>
            <a:r>
              <a:rPr lang="en-US" dirty="0"/>
              <a:t>::push()</a:t>
            </a:r>
          </a:p>
          <a:p>
            <a:pPr>
              <a:buNone/>
            </a:pPr>
            <a:r>
              <a:rPr lang="en-US" dirty="0"/>
              <a:t>{</a:t>
            </a:r>
            <a:r>
              <a:rPr lang="en-US" dirty="0">
                <a:solidFill>
                  <a:srgbClr val="00B050"/>
                </a:solidFill>
              </a:rPr>
              <a:t>//A new node is created dynamically</a:t>
            </a:r>
            <a:endParaRPr lang="en-US" dirty="0"/>
          </a:p>
          <a:p>
            <a:pPr lvl="1">
              <a:buNone/>
            </a:pPr>
            <a:r>
              <a:rPr lang="en-US" dirty="0"/>
              <a:t>NODE *</a:t>
            </a:r>
            <a:r>
              <a:rPr lang="en-US" dirty="0" err="1"/>
              <a:t>NewNode</a:t>
            </a:r>
            <a:endParaRPr lang="en-US" dirty="0">
              <a:solidFill>
                <a:srgbClr val="00B050"/>
              </a:solidFill>
            </a:endParaRPr>
          </a:p>
          <a:p>
            <a:pPr lvl="1">
              <a:buNone/>
            </a:pPr>
            <a:r>
              <a:rPr lang="en-US" dirty="0" err="1"/>
              <a:t>NewNode</a:t>
            </a:r>
            <a:r>
              <a:rPr lang="en-US" dirty="0"/>
              <a:t>=new NODE;       </a:t>
            </a:r>
            <a:r>
              <a:rPr lang="en-US" sz="1800" dirty="0">
                <a:solidFill>
                  <a:srgbClr val="00B050"/>
                </a:solidFill>
              </a:rPr>
              <a:t>// or NODE *</a:t>
            </a:r>
            <a:r>
              <a:rPr lang="en-US" sz="1800" dirty="0" err="1">
                <a:solidFill>
                  <a:srgbClr val="00B050"/>
                </a:solidFill>
              </a:rPr>
              <a:t>NewNode</a:t>
            </a:r>
            <a:r>
              <a:rPr lang="en-US" sz="1800" dirty="0">
                <a:solidFill>
                  <a:srgbClr val="00B050"/>
                </a:solidFill>
              </a:rPr>
              <a:t> = new NODE</a:t>
            </a:r>
          </a:p>
          <a:p>
            <a:pPr lvl="1">
              <a:buNone/>
            </a:pPr>
            <a:r>
              <a:rPr lang="en-US" dirty="0" err="1"/>
              <a:t>int</a:t>
            </a:r>
            <a:r>
              <a:rPr lang="en-US" dirty="0"/>
              <a:t> </a:t>
            </a:r>
            <a:r>
              <a:rPr lang="en-US" dirty="0" err="1"/>
              <a:t>pushed_item</a:t>
            </a:r>
            <a:r>
              <a:rPr lang="en-US" dirty="0"/>
              <a:t>; ;         </a:t>
            </a:r>
          </a:p>
          <a:p>
            <a:pPr lvl="1">
              <a:buNone/>
            </a:pPr>
            <a:r>
              <a:rPr lang="en-US" dirty="0" err="1"/>
              <a:t>cout</a:t>
            </a:r>
            <a:r>
              <a:rPr lang="en-US" dirty="0"/>
              <a:t>&lt;&lt;“\</a:t>
            </a:r>
            <a:r>
              <a:rPr lang="en-US" dirty="0" err="1"/>
              <a:t>nInput</a:t>
            </a:r>
            <a:r>
              <a:rPr lang="en-US" dirty="0"/>
              <a:t> the new value to be pushed on the stack:”;</a:t>
            </a:r>
          </a:p>
          <a:p>
            <a:pPr lvl="1">
              <a:buNone/>
            </a:pPr>
            <a:r>
              <a:rPr lang="en-US" dirty="0" err="1"/>
              <a:t>cin</a:t>
            </a:r>
            <a:r>
              <a:rPr lang="en-US" dirty="0"/>
              <a:t>&gt;&gt;</a:t>
            </a:r>
            <a:r>
              <a:rPr lang="en-US" dirty="0" err="1"/>
              <a:t>pushed_item</a:t>
            </a:r>
            <a:r>
              <a:rPr lang="en-US" dirty="0"/>
              <a:t>;</a:t>
            </a:r>
          </a:p>
          <a:p>
            <a:pPr lvl="1">
              <a:buNone/>
            </a:pPr>
            <a:r>
              <a:rPr lang="en-US" dirty="0" err="1"/>
              <a:t>NewNode</a:t>
            </a:r>
            <a:r>
              <a:rPr lang="en-US" dirty="0"/>
              <a:t>-&gt;info=</a:t>
            </a:r>
            <a:r>
              <a:rPr lang="en-US" dirty="0" err="1"/>
              <a:t>pushed_item</a:t>
            </a:r>
            <a:r>
              <a:rPr lang="en-US" dirty="0"/>
              <a:t>;</a:t>
            </a:r>
            <a:r>
              <a:rPr lang="en-US" dirty="0">
                <a:solidFill>
                  <a:srgbClr val="00B050"/>
                </a:solidFill>
              </a:rPr>
              <a:t>//Data is pushed to the stack</a:t>
            </a:r>
          </a:p>
          <a:p>
            <a:pPr lvl="1">
              <a:buNone/>
            </a:pPr>
            <a:r>
              <a:rPr lang="en-US" dirty="0" err="1"/>
              <a:t>NewNode</a:t>
            </a:r>
            <a:r>
              <a:rPr lang="en-US" dirty="0"/>
              <a:t>-&gt;link=top;</a:t>
            </a:r>
            <a:r>
              <a:rPr lang="en-US" dirty="0">
                <a:solidFill>
                  <a:srgbClr val="00B050"/>
                </a:solidFill>
              </a:rPr>
              <a:t>//Link pointer is set to the next node</a:t>
            </a:r>
          </a:p>
          <a:p>
            <a:pPr lvl="1">
              <a:buNone/>
            </a:pPr>
            <a:r>
              <a:rPr lang="en-US" dirty="0"/>
              <a:t>top=</a:t>
            </a:r>
            <a:r>
              <a:rPr lang="en-US" dirty="0" err="1"/>
              <a:t>NewNode</a:t>
            </a:r>
            <a:r>
              <a:rPr lang="en-US" dirty="0"/>
              <a:t>;</a:t>
            </a:r>
            <a:r>
              <a:rPr lang="en-US" dirty="0">
                <a:solidFill>
                  <a:srgbClr val="00B050"/>
                </a:solidFill>
              </a:rPr>
              <a:t>//Top pointer is set</a:t>
            </a:r>
          </a:p>
          <a:p>
            <a:pPr>
              <a:buNone/>
            </a:pPr>
            <a:r>
              <a:rPr lang="en-US" dirty="0"/>
              <a:t>}</a:t>
            </a:r>
          </a:p>
        </p:txBody>
      </p:sp>
      <p:sp>
        <p:nvSpPr>
          <p:cNvPr id="5" name="Right Brace 4"/>
          <p:cNvSpPr/>
          <p:nvPr/>
        </p:nvSpPr>
        <p:spPr>
          <a:xfrm>
            <a:off x="3962400" y="2209800"/>
            <a:ext cx="152400" cy="76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ALGORITHM FOR POP OPERATION</a:t>
            </a:r>
            <a:br>
              <a:rPr lang="en-US" b="1" dirty="0"/>
            </a:b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20000"/>
          </a:bodyPr>
          <a:lstStyle/>
          <a:p>
            <a:r>
              <a:rPr lang="en-US" dirty="0"/>
              <a:t>Suppose TOP is a pointer, which is pointing towards the topmost element of the stack. </a:t>
            </a:r>
          </a:p>
          <a:p>
            <a:r>
              <a:rPr lang="en-US" dirty="0"/>
              <a:t>TOP is NULL when the stack is empty. </a:t>
            </a:r>
          </a:p>
          <a:p>
            <a:r>
              <a:rPr lang="en-US" dirty="0"/>
              <a:t>TEMP is pointer variable to hold any nodes address.</a:t>
            </a:r>
          </a:p>
          <a:p>
            <a:r>
              <a:rPr lang="en-US" dirty="0"/>
              <a:t>DATA is the information on the node which is just deleted.</a:t>
            </a:r>
          </a:p>
          <a:p>
            <a:r>
              <a:rPr lang="en-US" dirty="0"/>
              <a:t>1. if (TOP is equal to NULL)</a:t>
            </a:r>
          </a:p>
          <a:p>
            <a:pPr lvl="2">
              <a:buNone/>
            </a:pPr>
            <a:r>
              <a:rPr lang="en-US" dirty="0"/>
              <a:t>(</a:t>
            </a:r>
            <a:r>
              <a:rPr lang="en-US" i="1" dirty="0"/>
              <a:t>a) Display “The stack is empty”</a:t>
            </a:r>
          </a:p>
          <a:p>
            <a:r>
              <a:rPr lang="en-US" dirty="0"/>
              <a:t>2. Else</a:t>
            </a:r>
          </a:p>
          <a:p>
            <a:pPr lvl="2">
              <a:buNone/>
            </a:pPr>
            <a:r>
              <a:rPr lang="en-US" dirty="0"/>
              <a:t>(</a:t>
            </a:r>
            <a:r>
              <a:rPr lang="en-US" i="1" dirty="0"/>
              <a:t>a) TEMP = TOP</a:t>
            </a:r>
          </a:p>
          <a:p>
            <a:pPr lvl="2">
              <a:buNone/>
            </a:pPr>
            <a:r>
              <a:rPr lang="en-US" dirty="0"/>
              <a:t>(</a:t>
            </a:r>
            <a:r>
              <a:rPr lang="en-US" i="1" dirty="0"/>
              <a:t>b) Display “The popped element TOP → DATA”</a:t>
            </a:r>
          </a:p>
          <a:p>
            <a:pPr lvl="2">
              <a:buNone/>
            </a:pPr>
            <a:r>
              <a:rPr lang="en-US" dirty="0"/>
              <a:t>(</a:t>
            </a:r>
            <a:r>
              <a:rPr lang="en-US" i="1" dirty="0"/>
              <a:t>c) TOP = TOP → Next</a:t>
            </a:r>
          </a:p>
          <a:p>
            <a:pPr lvl="2">
              <a:buNone/>
            </a:pPr>
            <a:r>
              <a:rPr lang="en-US" dirty="0"/>
              <a:t>(</a:t>
            </a:r>
            <a:r>
              <a:rPr lang="en-US" i="1" dirty="0"/>
              <a:t>d) TEMP → Next = NULL</a:t>
            </a:r>
          </a:p>
          <a:p>
            <a:pPr lvl="2">
              <a:buNone/>
            </a:pPr>
            <a:r>
              <a:rPr lang="en-US" dirty="0"/>
              <a:t>(</a:t>
            </a:r>
            <a:r>
              <a:rPr lang="en-US" i="1" dirty="0"/>
              <a:t>e) Free the TEMP node</a:t>
            </a:r>
          </a:p>
          <a:p>
            <a:r>
              <a:rPr lang="en-US" dirty="0"/>
              <a:t>3. Exit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to implement the pop operation</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85000" lnSpcReduction="20000"/>
          </a:bodyPr>
          <a:lstStyle/>
          <a:p>
            <a:pPr>
              <a:buNone/>
            </a:pPr>
            <a:r>
              <a:rPr lang="en-US" dirty="0"/>
              <a:t>void </a:t>
            </a:r>
            <a:r>
              <a:rPr lang="en-US" dirty="0" err="1"/>
              <a:t>Stack_Linked</a:t>
            </a:r>
            <a:r>
              <a:rPr lang="en-US" dirty="0"/>
              <a:t>::pop()</a:t>
            </a:r>
          </a:p>
          <a:p>
            <a:pPr>
              <a:buNone/>
            </a:pPr>
            <a:r>
              <a:rPr lang="en-US" dirty="0"/>
              <a:t>{</a:t>
            </a:r>
          </a:p>
          <a:p>
            <a:pPr lvl="1">
              <a:buNone/>
            </a:pPr>
            <a:r>
              <a:rPr lang="en-US" dirty="0"/>
              <a:t>NODE </a:t>
            </a:r>
            <a:r>
              <a:rPr lang="en-US" dirty="0" err="1"/>
              <a:t>tmp</a:t>
            </a:r>
            <a:r>
              <a:rPr lang="en-US" dirty="0"/>
              <a:t>;</a:t>
            </a:r>
          </a:p>
          <a:p>
            <a:pPr lvl="1">
              <a:buNone/>
            </a:pPr>
            <a:r>
              <a:rPr lang="en-US" dirty="0"/>
              <a:t>if(top == NULL)	</a:t>
            </a:r>
            <a:r>
              <a:rPr lang="en-US" dirty="0">
                <a:solidFill>
                  <a:srgbClr val="00B050"/>
                </a:solidFill>
              </a:rPr>
              <a:t>//checking whether the stack is empty or not</a:t>
            </a:r>
          </a:p>
          <a:p>
            <a:pPr lvl="2">
              <a:buNone/>
            </a:pPr>
            <a:r>
              <a:rPr lang="en-US" dirty="0" err="1"/>
              <a:t>cout</a:t>
            </a:r>
            <a:r>
              <a:rPr lang="en-US" dirty="0"/>
              <a:t>&lt;&lt;“\</a:t>
            </a:r>
            <a:r>
              <a:rPr lang="en-US" dirty="0" err="1"/>
              <a:t>nStack</a:t>
            </a:r>
            <a:r>
              <a:rPr lang="en-US" dirty="0"/>
              <a:t> is empty\n”;</a:t>
            </a:r>
          </a:p>
          <a:p>
            <a:pPr lvl="1">
              <a:buNone/>
            </a:pPr>
            <a:r>
              <a:rPr lang="en-US" dirty="0"/>
              <a:t>else</a:t>
            </a:r>
          </a:p>
          <a:p>
            <a:pPr>
              <a:buNone/>
            </a:pPr>
            <a:r>
              <a:rPr lang="en-US" dirty="0"/>
              <a:t>	    {</a:t>
            </a:r>
          </a:p>
          <a:p>
            <a:pPr>
              <a:buNone/>
            </a:pPr>
            <a:r>
              <a:rPr lang="en-US" dirty="0"/>
              <a:t>         </a:t>
            </a:r>
            <a:r>
              <a:rPr lang="en-US" dirty="0" err="1"/>
              <a:t>tmp</a:t>
            </a:r>
            <a:r>
              <a:rPr lang="en-US" dirty="0"/>
              <a:t>=top;		</a:t>
            </a:r>
            <a:r>
              <a:rPr lang="en-US" dirty="0">
                <a:solidFill>
                  <a:srgbClr val="00B050"/>
                </a:solidFill>
              </a:rPr>
              <a:t>//popping the element</a:t>
            </a:r>
          </a:p>
          <a:p>
            <a:pPr>
              <a:buNone/>
            </a:pPr>
            <a:r>
              <a:rPr lang="en-US" dirty="0"/>
              <a:t>	     </a:t>
            </a:r>
            <a:r>
              <a:rPr lang="en-US" dirty="0" err="1"/>
              <a:t>cout</a:t>
            </a:r>
            <a:r>
              <a:rPr lang="en-US" dirty="0"/>
              <a:t>&lt;&lt;“\</a:t>
            </a:r>
            <a:r>
              <a:rPr lang="en-US" dirty="0" err="1"/>
              <a:t>nPopped</a:t>
            </a:r>
            <a:r>
              <a:rPr lang="en-US" dirty="0"/>
              <a:t> item is:”&lt;&lt;</a:t>
            </a:r>
            <a:r>
              <a:rPr lang="en-US" dirty="0" err="1"/>
              <a:t>tmp</a:t>
            </a:r>
            <a:r>
              <a:rPr lang="en-US" dirty="0"/>
              <a:t>-&gt;info;</a:t>
            </a:r>
          </a:p>
          <a:p>
            <a:pPr>
              <a:buNone/>
            </a:pPr>
            <a:r>
              <a:rPr lang="en-US" dirty="0"/>
              <a:t>	     top=top-&gt;link;	</a:t>
            </a:r>
            <a:r>
              <a:rPr lang="en-US" dirty="0">
                <a:solidFill>
                  <a:srgbClr val="00B050"/>
                </a:solidFill>
              </a:rPr>
              <a:t>//resetting the top pointer</a:t>
            </a:r>
          </a:p>
          <a:p>
            <a:pPr>
              <a:buNone/>
            </a:pPr>
            <a:r>
              <a:rPr lang="en-US" dirty="0"/>
              <a:t>        </a:t>
            </a:r>
            <a:r>
              <a:rPr lang="en-US" dirty="0" err="1"/>
              <a:t>tmp</a:t>
            </a:r>
            <a:r>
              <a:rPr lang="en-US" dirty="0"/>
              <a:t>-&gt;link=NULL;</a:t>
            </a:r>
          </a:p>
          <a:p>
            <a:pPr>
              <a:buNone/>
            </a:pPr>
            <a:r>
              <a:rPr lang="en-US" dirty="0"/>
              <a:t>        delete(</a:t>
            </a:r>
            <a:r>
              <a:rPr lang="en-US" dirty="0" err="1"/>
              <a:t>tmp</a:t>
            </a:r>
            <a:r>
              <a:rPr lang="en-US" dirty="0"/>
              <a:t>);	</a:t>
            </a:r>
            <a:r>
              <a:rPr lang="en-US" dirty="0">
                <a:solidFill>
                  <a:srgbClr val="00B050"/>
                </a:solidFill>
              </a:rPr>
              <a:t>//freeing the popped node</a:t>
            </a:r>
          </a:p>
          <a:p>
            <a:pPr>
              <a:buNone/>
            </a:pPr>
            <a:r>
              <a:rPr lang="en-US" dirty="0"/>
              <a:t>        }</a:t>
            </a:r>
          </a:p>
          <a:p>
            <a:pPr>
              <a:buNone/>
            </a:pPr>
            <a:r>
              <a:rPr lang="en-US"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a:t>Function to display all the element in the stack</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20000"/>
          </a:bodyPr>
          <a:lstStyle/>
          <a:p>
            <a:pPr>
              <a:buNone/>
            </a:pPr>
            <a:r>
              <a:rPr lang="en-US" dirty="0"/>
              <a:t>void </a:t>
            </a:r>
            <a:r>
              <a:rPr lang="en-US" dirty="0" err="1"/>
              <a:t>Stack_Linked</a:t>
            </a:r>
            <a:r>
              <a:rPr lang="en-US" dirty="0"/>
              <a:t>::display()</a:t>
            </a:r>
          </a:p>
          <a:p>
            <a:pPr>
              <a:buNone/>
            </a:pPr>
            <a:r>
              <a:rPr lang="en-US" dirty="0"/>
              <a:t>{</a:t>
            </a:r>
          </a:p>
          <a:p>
            <a:pPr lvl="1">
              <a:buNone/>
            </a:pPr>
            <a:r>
              <a:rPr lang="en-US" dirty="0"/>
              <a:t>if(top==NULL) 	</a:t>
            </a:r>
            <a:r>
              <a:rPr lang="en-US" dirty="0">
                <a:solidFill>
                  <a:srgbClr val="00B050"/>
                </a:solidFill>
              </a:rPr>
              <a:t>/Checking whether the stack is empty or not</a:t>
            </a:r>
          </a:p>
          <a:p>
            <a:pPr lvl="1">
              <a:buNone/>
            </a:pPr>
            <a:r>
              <a:rPr lang="en-US" dirty="0" err="1"/>
              <a:t>cout</a:t>
            </a:r>
            <a:r>
              <a:rPr lang="en-US" dirty="0"/>
              <a:t>&lt;&lt;“\</a:t>
            </a:r>
            <a:r>
              <a:rPr lang="en-US" dirty="0" err="1"/>
              <a:t>nStack</a:t>
            </a:r>
            <a:r>
              <a:rPr lang="en-US" dirty="0"/>
              <a:t> is empty\n”;</a:t>
            </a:r>
          </a:p>
          <a:p>
            <a:pPr lvl="2">
              <a:buNone/>
            </a:pPr>
            <a:r>
              <a:rPr lang="en-US" dirty="0"/>
              <a:t>else</a:t>
            </a:r>
          </a:p>
          <a:p>
            <a:pPr lvl="2">
              <a:buNone/>
            </a:pPr>
            <a:r>
              <a:rPr lang="en-US" dirty="0"/>
              <a:t>{</a:t>
            </a:r>
          </a:p>
          <a:p>
            <a:pPr lvl="2">
              <a:buNone/>
            </a:pPr>
            <a:r>
              <a:rPr lang="en-US" dirty="0"/>
              <a:t>NODE </a:t>
            </a:r>
            <a:r>
              <a:rPr lang="en-US" dirty="0" err="1"/>
              <a:t>ptr</a:t>
            </a:r>
            <a:r>
              <a:rPr lang="en-US" dirty="0"/>
              <a:t>=top;</a:t>
            </a:r>
          </a:p>
          <a:p>
            <a:pPr lvl="2">
              <a:buNone/>
            </a:pPr>
            <a:r>
              <a:rPr lang="en-US" dirty="0" err="1"/>
              <a:t>cout</a:t>
            </a:r>
            <a:r>
              <a:rPr lang="en-US" dirty="0"/>
              <a:t>&lt;&lt;“\</a:t>
            </a:r>
            <a:r>
              <a:rPr lang="en-US" dirty="0" err="1"/>
              <a:t>nStack</a:t>
            </a:r>
            <a:r>
              <a:rPr lang="en-US" dirty="0"/>
              <a:t> elements:\n”;</a:t>
            </a:r>
          </a:p>
          <a:p>
            <a:pPr lvl="3">
              <a:buNone/>
            </a:pPr>
            <a:r>
              <a:rPr lang="en-US" dirty="0"/>
              <a:t>while(</a:t>
            </a:r>
            <a:r>
              <a:rPr lang="en-US" dirty="0" err="1"/>
              <a:t>ptr</a:t>
            </a:r>
            <a:r>
              <a:rPr lang="en-US" dirty="0"/>
              <a:t> != NULL)</a:t>
            </a:r>
          </a:p>
          <a:p>
            <a:pPr lvl="3">
              <a:buNone/>
            </a:pPr>
            <a:r>
              <a:rPr lang="en-US" dirty="0"/>
              <a:t>{</a:t>
            </a:r>
          </a:p>
          <a:p>
            <a:pPr lvl="3">
              <a:buNone/>
            </a:pPr>
            <a:r>
              <a:rPr lang="en-US" dirty="0" err="1"/>
              <a:t>cout</a:t>
            </a:r>
            <a:r>
              <a:rPr lang="en-US" dirty="0"/>
              <a:t>&lt;&lt;“\n”&lt;&lt;</a:t>
            </a:r>
            <a:r>
              <a:rPr lang="en-US" dirty="0" err="1"/>
              <a:t>ptr</a:t>
            </a:r>
            <a:r>
              <a:rPr lang="en-US" dirty="0"/>
              <a:t>-&gt;info;</a:t>
            </a:r>
          </a:p>
          <a:p>
            <a:pPr lvl="3">
              <a:buNone/>
            </a:pPr>
            <a:r>
              <a:rPr lang="en-US" dirty="0" err="1"/>
              <a:t>ptr</a:t>
            </a:r>
            <a:r>
              <a:rPr lang="en-US" dirty="0"/>
              <a:t> = </a:t>
            </a:r>
            <a:r>
              <a:rPr lang="en-US" dirty="0" err="1"/>
              <a:t>ptr</a:t>
            </a:r>
            <a:r>
              <a:rPr lang="en-US" dirty="0"/>
              <a:t>-&gt;link;</a:t>
            </a:r>
          </a:p>
          <a:p>
            <a:pPr lvl="3">
              <a:buNone/>
            </a:pPr>
            <a:r>
              <a:rPr lang="en-US" dirty="0"/>
              <a:t>}	</a:t>
            </a:r>
            <a:r>
              <a:rPr lang="en-US" dirty="0">
                <a:solidFill>
                  <a:srgbClr val="00B050"/>
                </a:solidFill>
              </a:rPr>
              <a:t>/*End of while */</a:t>
            </a:r>
          </a:p>
          <a:p>
            <a:pPr lvl="2">
              <a:buNone/>
            </a:pPr>
            <a:r>
              <a:rPr lang="en-US" dirty="0"/>
              <a:t>}		</a:t>
            </a:r>
            <a:r>
              <a:rPr lang="en-US" dirty="0">
                <a:solidFill>
                  <a:srgbClr val="00B050"/>
                </a:solidFill>
              </a:rPr>
              <a:t>/*End of else*/</a:t>
            </a:r>
          </a:p>
          <a:p>
            <a:pPr>
              <a:buNone/>
            </a:pPr>
            <a:r>
              <a:rPr lang="en-US" dirty="0"/>
              <a:t>}	</a:t>
            </a:r>
            <a:r>
              <a:rPr lang="en-US" dirty="0">
                <a:solidFill>
                  <a:srgbClr val="00B050"/>
                </a:solidFill>
              </a:rPr>
              <a:t>/*End of display()*/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STACKS</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lstStyle/>
          <a:p>
            <a:r>
              <a:rPr lang="en-US" dirty="0"/>
              <a:t>There are a number of applications of stacks.</a:t>
            </a:r>
          </a:p>
          <a:p>
            <a:pPr marL="883920" lvl="1" indent="-609600"/>
            <a:r>
              <a:rPr lang="en-US" dirty="0"/>
              <a:t>Recursion</a:t>
            </a:r>
          </a:p>
          <a:p>
            <a:pPr marL="883920" lvl="1" indent="-609600"/>
            <a:r>
              <a:rPr lang="en-US" dirty="0"/>
              <a:t>String Reversing</a:t>
            </a:r>
          </a:p>
          <a:p>
            <a:pPr marL="883920" lvl="1" indent="-609600"/>
            <a:r>
              <a:rPr lang="en-US" dirty="0"/>
              <a:t>Checking for balanced braces</a:t>
            </a:r>
          </a:p>
          <a:p>
            <a:pPr marL="883920" lvl="1" indent="-609600"/>
            <a:r>
              <a:rPr lang="en-US" dirty="0"/>
              <a:t>Checking for Palindrome</a:t>
            </a:r>
          </a:p>
          <a:p>
            <a:pPr marL="883920" lvl="1" indent="-609600"/>
            <a:r>
              <a:rPr lang="en-US" dirty="0"/>
              <a:t>Memory Management</a:t>
            </a:r>
          </a:p>
          <a:p>
            <a:pPr marL="883920" lvl="1" indent="-609600"/>
            <a:r>
              <a:rPr lang="en-US" dirty="0"/>
              <a:t>Expression Evaluation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RECURSION</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85000" lnSpcReduction="20000"/>
          </a:bodyPr>
          <a:lstStyle/>
          <a:p>
            <a:r>
              <a:rPr lang="en-US" dirty="0"/>
              <a:t>Recursion occurs when a function is called by itself repeatedly. </a:t>
            </a:r>
          </a:p>
          <a:p>
            <a:r>
              <a:rPr lang="en-US" dirty="0"/>
              <a:t>The general algorithm model for any recursive function contains the following steps:</a:t>
            </a:r>
          </a:p>
          <a:p>
            <a:pPr lvl="1">
              <a:buNone/>
            </a:pPr>
            <a:r>
              <a:rPr lang="en-US" dirty="0"/>
              <a:t>1. </a:t>
            </a:r>
            <a:r>
              <a:rPr lang="en-US" i="1" dirty="0"/>
              <a:t>Prologue: Save the parameters, local variables, and return address.</a:t>
            </a:r>
          </a:p>
          <a:p>
            <a:pPr lvl="1">
              <a:buNone/>
            </a:pPr>
            <a:r>
              <a:rPr lang="en-US" dirty="0"/>
              <a:t>2. </a:t>
            </a:r>
            <a:r>
              <a:rPr lang="en-US" i="1" dirty="0"/>
              <a:t>Body: If the base criterion has been reached, then perform the final computation</a:t>
            </a:r>
          </a:p>
          <a:p>
            <a:pPr lvl="1">
              <a:buNone/>
            </a:pPr>
            <a:r>
              <a:rPr lang="en-US" dirty="0"/>
              <a:t>and go to step 3; otherwise, perform the partial computation and go to step 1</a:t>
            </a:r>
          </a:p>
          <a:p>
            <a:pPr lvl="1">
              <a:buNone/>
            </a:pPr>
            <a:r>
              <a:rPr lang="en-US" dirty="0"/>
              <a:t>(initiate a recursive call).</a:t>
            </a:r>
          </a:p>
          <a:p>
            <a:pPr lvl="1">
              <a:buNone/>
            </a:pPr>
            <a:r>
              <a:rPr lang="en-US" dirty="0"/>
              <a:t>3. </a:t>
            </a:r>
            <a:r>
              <a:rPr lang="en-US" i="1" dirty="0"/>
              <a:t>Epilogue: Restore the most recently saved parameters, local variables, and return </a:t>
            </a:r>
            <a:r>
              <a:rPr lang="en-US" dirty="0"/>
              <a:t>address.</a:t>
            </a:r>
          </a:p>
          <a:p>
            <a:r>
              <a:rPr lang="en-US" dirty="0"/>
              <a:t>The key box in the flowchart contained in the body of the function is the one, which invokes a call to itself.</a:t>
            </a:r>
          </a:p>
          <a:p>
            <a:r>
              <a:rPr lang="en-US" dirty="0"/>
              <a:t>Each time a function call to itself is executed, the prologue of the function saves necessary information required for its proper functioning.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Flowchart model for a recursive algorithm</a:t>
            </a:r>
          </a:p>
        </p:txBody>
      </p:sp>
      <p:sp>
        <p:nvSpPr>
          <p:cNvPr id="3" name="Footer Placeholder 2"/>
          <p:cNvSpPr>
            <a:spLocks noGrp="1"/>
          </p:cNvSpPr>
          <p:nvPr>
            <p:ph type="ftr" sz="quarter" idx="11"/>
          </p:nvPr>
        </p:nvSpPr>
        <p:spPr/>
        <p:txBody>
          <a:bodyPr/>
          <a:lstStyle/>
          <a:p>
            <a:r>
              <a:rPr lang="en-US"/>
              <a:t>Algorithm and Data Structure </a:t>
            </a:r>
            <a:endParaRPr lang="en-US" dirty="0"/>
          </a:p>
        </p:txBody>
      </p:sp>
      <p:pic>
        <p:nvPicPr>
          <p:cNvPr id="1026" name="Picture 2"/>
          <p:cNvPicPr>
            <a:picLocks noChangeAspect="1" noChangeArrowheads="1"/>
          </p:cNvPicPr>
          <p:nvPr/>
        </p:nvPicPr>
        <p:blipFill>
          <a:blip r:embed="rId2"/>
          <a:srcRect/>
          <a:stretch>
            <a:fillRect/>
          </a:stretch>
        </p:blipFill>
        <p:spPr bwMode="auto">
          <a:xfrm>
            <a:off x="2400300" y="1314450"/>
            <a:ext cx="4343400" cy="493395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RECURSION</a:t>
            </a:r>
            <a:endParaRPr lang="en-US" dirty="0"/>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10000"/>
          </a:bodyPr>
          <a:lstStyle/>
          <a:p>
            <a:r>
              <a:rPr lang="en-US" dirty="0"/>
              <a:t>The Last-in-First-Out characteristics of a recursive function points that the stack is the most obvious data structure to implement the recursive function. </a:t>
            </a:r>
          </a:p>
          <a:p>
            <a:r>
              <a:rPr lang="en-US" dirty="0"/>
              <a:t>Programs compiled, make use of a stack for the procedure or function invocation in memory.</a:t>
            </a:r>
          </a:p>
          <a:p>
            <a:r>
              <a:rPr lang="en-US" dirty="0"/>
              <a:t> When any procedure or function is called, a number of words (such as variables, return address and other arguments and its data(s) for future use) are pushed</a:t>
            </a:r>
          </a:p>
          <a:p>
            <a:pPr>
              <a:buNone/>
            </a:pPr>
            <a:r>
              <a:rPr lang="en-US" dirty="0"/>
              <a:t>	onto the program stack.</a:t>
            </a:r>
          </a:p>
          <a:p>
            <a:r>
              <a:rPr lang="en-US" dirty="0"/>
              <a:t> When the procedure or function returns, this frame of data is popped off the stack.</a:t>
            </a:r>
          </a:p>
          <a:p>
            <a:r>
              <a:rPr lang="en-US" dirty="0"/>
              <a:t>As a function calls a function, its arguments, return address and local variables are pushed onto the stack.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1"/>
          </p:nvPr>
        </p:nvSpPr>
        <p:spPr/>
        <p:txBody>
          <a:bodyPr/>
          <a:lstStyle/>
          <a:p>
            <a:r>
              <a:rPr lang="en-US"/>
              <a:t>Algorithm and Data Structure </a:t>
            </a:r>
            <a:endParaRPr lang="en-US" dirty="0"/>
          </a:p>
        </p:txBody>
      </p:sp>
      <p:sp>
        <p:nvSpPr>
          <p:cNvPr id="4" name="Content Placeholder 3"/>
          <p:cNvSpPr>
            <a:spLocks noGrp="1"/>
          </p:cNvSpPr>
          <p:nvPr>
            <p:ph sz="quarter" idx="1"/>
          </p:nvPr>
        </p:nvSpPr>
        <p:spPr/>
        <p:txBody>
          <a:bodyPr>
            <a:normAutofit fontScale="92500" lnSpcReduction="20000"/>
          </a:bodyPr>
          <a:lstStyle/>
          <a:p>
            <a:r>
              <a:rPr lang="en-US" dirty="0"/>
              <a:t>The stack is a region of main memory within which programs temporarily store data as they execute. </a:t>
            </a:r>
          </a:p>
          <a:p>
            <a:r>
              <a:rPr lang="en-US" dirty="0"/>
              <a:t>For example:</a:t>
            </a:r>
          </a:p>
          <a:p>
            <a:pPr lvl="1"/>
            <a:r>
              <a:rPr lang="en-US" dirty="0"/>
              <a:t>When a program sends parameters to a function, the parameters are placed on the stack. </a:t>
            </a:r>
          </a:p>
          <a:p>
            <a:pPr lvl="1"/>
            <a:endParaRPr lang="en-US" dirty="0"/>
          </a:p>
          <a:p>
            <a:pPr lvl="1"/>
            <a:r>
              <a:rPr lang="en-US" dirty="0"/>
              <a:t>When the function completes its execution these parameters are popped off from the stack. </a:t>
            </a:r>
          </a:p>
          <a:p>
            <a:pPr lvl="1"/>
            <a:endParaRPr lang="en-US" dirty="0"/>
          </a:p>
          <a:p>
            <a:pPr lvl="1"/>
            <a:r>
              <a:rPr lang="en-US" dirty="0"/>
              <a:t>When a function calls other function the current contents (</a:t>
            </a:r>
            <a:r>
              <a:rPr lang="en-US" dirty="0" err="1"/>
              <a:t>ie</a:t>
            </a:r>
            <a:r>
              <a:rPr lang="en-US" dirty="0"/>
              <a:t>., variables) of the caller function are pushed onto the stack with the address of the instruction just next to the call instruction.</a:t>
            </a:r>
          </a:p>
          <a:p>
            <a:pPr lvl="1"/>
            <a:endParaRPr lang="en-US" dirty="0"/>
          </a:p>
          <a:p>
            <a:pPr lvl="1"/>
            <a:r>
              <a:rPr lang="en-US" dirty="0"/>
              <a:t>This is done so after the execution of called function, the compiler can backtrack (or remember) the path from where it is sent to the called function.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304800" y="630238"/>
            <a:ext cx="5562600" cy="568325"/>
          </a:xfrm>
        </p:spPr>
        <p:txBody>
          <a:bodyPr>
            <a:normAutofit fontScale="90000"/>
          </a:bodyPr>
          <a:lstStyle/>
          <a:p>
            <a:pPr eaLnBrk="1" hangingPunct="1"/>
            <a:r>
              <a:rPr lang="en-US" dirty="0"/>
              <a:t>String Reversing</a:t>
            </a:r>
          </a:p>
        </p:txBody>
      </p:sp>
      <p:sp>
        <p:nvSpPr>
          <p:cNvPr id="79875" name="Rectangle 3"/>
          <p:cNvSpPr>
            <a:spLocks noGrp="1" noChangeArrowheads="1"/>
          </p:cNvSpPr>
          <p:nvPr>
            <p:ph type="body" idx="1"/>
          </p:nvPr>
        </p:nvSpPr>
        <p:spPr/>
        <p:txBody>
          <a:bodyPr/>
          <a:lstStyle/>
          <a:p>
            <a:pPr eaLnBrk="1" hangingPunct="1"/>
            <a:r>
              <a:rPr lang="en-US"/>
              <a:t>Push each character on to a stack as it is read</a:t>
            </a:r>
          </a:p>
          <a:p>
            <a:pPr eaLnBrk="1" hangingPunct="1"/>
            <a:r>
              <a:rPr lang="en-US"/>
              <a:t>When the line is finished, we then pop characters off the stack, and they will come off in the reverse order</a:t>
            </a:r>
          </a:p>
        </p:txBody>
      </p:sp>
      <p:sp>
        <p:nvSpPr>
          <p:cNvPr id="21509" name="Rectangle 4"/>
          <p:cNvSpPr>
            <a:spLocks noChangeArrowheads="1"/>
          </p:cNvSpPr>
          <p:nvPr/>
        </p:nvSpPr>
        <p:spPr bwMode="auto">
          <a:xfrm>
            <a:off x="4256088" y="3235325"/>
            <a:ext cx="9144000" cy="0"/>
          </a:xfrm>
          <a:prstGeom prst="rect">
            <a:avLst/>
          </a:prstGeom>
          <a:noFill/>
          <a:ln w="9525">
            <a:noFill/>
            <a:miter lim="800000"/>
            <a:headEnd/>
            <a:tailEnd/>
          </a:ln>
        </p:spPr>
        <p:txBody>
          <a:bodyPr>
            <a:spAutoFit/>
          </a:bodyPr>
          <a:lstStyle/>
          <a:p>
            <a:endParaRPr lang="en-US"/>
          </a:p>
        </p:txBody>
      </p:sp>
      <p:sp>
        <p:nvSpPr>
          <p:cNvPr id="21510" name="AutoShape 5" descr="stack"/>
          <p:cNvSpPr>
            <a:spLocks noChangeAspect="1" noChangeArrowheads="1"/>
          </p:cNvSpPr>
          <p:nvPr/>
        </p:nvSpPr>
        <p:spPr bwMode="auto">
          <a:xfrm>
            <a:off x="4424363" y="3281363"/>
            <a:ext cx="296862" cy="296862"/>
          </a:xfrm>
          <a:prstGeom prst="rect">
            <a:avLst/>
          </a:prstGeom>
          <a:noFill/>
          <a:ln w="9525">
            <a:noFill/>
            <a:miter lim="800000"/>
            <a:headEnd/>
            <a:tailEnd/>
          </a:ln>
        </p:spPr>
        <p:txBody>
          <a:bodyPr/>
          <a:lstStyle/>
          <a:p>
            <a:endParaRPr lang="en-US"/>
          </a:p>
        </p:txBody>
      </p:sp>
      <p:sp>
        <p:nvSpPr>
          <p:cNvPr id="21511" name="Rectangle 6"/>
          <p:cNvSpPr>
            <a:spLocks noChangeArrowheads="1"/>
          </p:cNvSpPr>
          <p:nvPr/>
        </p:nvSpPr>
        <p:spPr bwMode="auto">
          <a:xfrm>
            <a:off x="3113088" y="2006600"/>
            <a:ext cx="9144000" cy="0"/>
          </a:xfrm>
          <a:prstGeom prst="rect">
            <a:avLst/>
          </a:prstGeom>
          <a:noFill/>
          <a:ln w="9525">
            <a:noFill/>
            <a:miter lim="800000"/>
            <a:headEnd/>
            <a:tailEnd/>
          </a:ln>
        </p:spPr>
        <p:txBody>
          <a:bodyPr>
            <a:spAutoFit/>
          </a:bodyPr>
          <a:lstStyle/>
          <a:p>
            <a:endParaRPr lang="en-US"/>
          </a:p>
        </p:txBody>
      </p:sp>
      <p:sp>
        <p:nvSpPr>
          <p:cNvPr id="8" name="Footer Placeholder 7"/>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500" fill="hold"/>
                                        <p:tgtEl>
                                          <p:spTgt spid="79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8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anim calcmode="lin" valueType="num">
                                      <p:cBhvr additive="base">
                                        <p:cTn id="11" dur="500" fill="hold"/>
                                        <p:tgtEl>
                                          <p:spTgt spid="7987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987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381000" y="152400"/>
            <a:ext cx="8686800" cy="1066800"/>
          </a:xfrm>
        </p:spPr>
        <p:txBody>
          <a:bodyPr/>
          <a:lstStyle/>
          <a:p>
            <a:pPr eaLnBrk="1" hangingPunct="1"/>
            <a:r>
              <a:rPr lang="en-US" dirty="0"/>
              <a:t>Checking for Balanced Braces</a:t>
            </a:r>
          </a:p>
        </p:txBody>
      </p:sp>
      <p:sp>
        <p:nvSpPr>
          <p:cNvPr id="22532" name="Rectangle 3"/>
          <p:cNvSpPr>
            <a:spLocks noGrp="1" noChangeArrowheads="1"/>
          </p:cNvSpPr>
          <p:nvPr>
            <p:ph type="body" idx="1"/>
          </p:nvPr>
        </p:nvSpPr>
        <p:spPr/>
        <p:txBody>
          <a:bodyPr/>
          <a:lstStyle/>
          <a:p>
            <a:pPr eaLnBrk="1" hangingPunct="1"/>
            <a:r>
              <a:rPr lang="en-US"/>
              <a:t>A stack can be used to verify whether a program contains balanced braces</a:t>
            </a:r>
          </a:p>
          <a:p>
            <a:pPr lvl="1" eaLnBrk="1" hangingPunct="1"/>
            <a:r>
              <a:rPr lang="en-US"/>
              <a:t>An example of balanced braces</a:t>
            </a:r>
          </a:p>
          <a:p>
            <a:pPr lvl="2" eaLnBrk="1" hangingPunct="1">
              <a:buFontTx/>
              <a:buNone/>
            </a:pPr>
            <a:r>
              <a:rPr lang="en-US" b="1">
                <a:solidFill>
                  <a:srgbClr val="9966FF"/>
                </a:solidFill>
                <a:latin typeface="Courier New" pitchFamily="49" charset="0"/>
              </a:rPr>
              <a:t>abc{defg{ijk}{l{mn}}op}qr</a:t>
            </a:r>
          </a:p>
          <a:p>
            <a:pPr lvl="2" eaLnBrk="1" hangingPunct="1">
              <a:buFontTx/>
              <a:buNone/>
            </a:pPr>
            <a:endParaRPr lang="en-US" b="1">
              <a:solidFill>
                <a:srgbClr val="9966FF"/>
              </a:solidFill>
              <a:latin typeface="Courier New" pitchFamily="49" charset="0"/>
            </a:endParaRPr>
          </a:p>
          <a:p>
            <a:pPr lvl="1" eaLnBrk="1" hangingPunct="1"/>
            <a:r>
              <a:rPr lang="en-US"/>
              <a:t>An example of unbalanced braces</a:t>
            </a:r>
          </a:p>
          <a:p>
            <a:pPr lvl="2" eaLnBrk="1" hangingPunct="1">
              <a:buFontTx/>
              <a:buNone/>
            </a:pPr>
            <a:r>
              <a:rPr lang="en-US" b="1">
                <a:solidFill>
                  <a:srgbClr val="9966FF"/>
                </a:solidFill>
                <a:latin typeface="Courier New" pitchFamily="49" charset="0"/>
              </a:rPr>
              <a:t>abc{def}}{ghij{kl}m</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609600" y="1752600"/>
            <a:ext cx="8305800" cy="2667000"/>
          </a:xfrm>
        </p:spPr>
        <p:txBody>
          <a:bodyPr/>
          <a:lstStyle/>
          <a:p>
            <a:pPr eaLnBrk="1" hangingPunct="1"/>
            <a:r>
              <a:rPr lang="en-US" dirty="0"/>
              <a:t>Requirements for balanced braces</a:t>
            </a:r>
          </a:p>
          <a:p>
            <a:pPr lvl="1" eaLnBrk="1" hangingPunct="1"/>
            <a:r>
              <a:rPr lang="en-US" dirty="0"/>
              <a:t>Each time you encounter a “}”, it matches an already encountered “{”</a:t>
            </a:r>
          </a:p>
          <a:p>
            <a:pPr lvl="1" eaLnBrk="1" hangingPunct="1"/>
            <a:r>
              <a:rPr lang="en-US" dirty="0"/>
              <a:t>When you reach the end of the string, you have matched each “{”</a:t>
            </a:r>
          </a:p>
        </p:txBody>
      </p:sp>
      <p:sp>
        <p:nvSpPr>
          <p:cNvPr id="23556" name="Rectangle 5"/>
          <p:cNvSpPr>
            <a:spLocks noChangeArrowheads="1"/>
          </p:cNvSpPr>
          <p:nvPr/>
        </p:nvSpPr>
        <p:spPr bwMode="auto">
          <a:xfrm>
            <a:off x="457200" y="76200"/>
            <a:ext cx="8763000" cy="1219200"/>
          </a:xfrm>
          <a:prstGeom prst="rect">
            <a:avLst/>
          </a:prstGeom>
          <a:noFill/>
          <a:ln w="9525">
            <a:noFill/>
            <a:miter lim="800000"/>
            <a:headEnd/>
            <a:tailEnd/>
          </a:ln>
        </p:spPr>
        <p:txBody>
          <a:bodyPr anchor="ctr"/>
          <a:lstStyle/>
          <a:p>
            <a:pPr>
              <a:spcBef>
                <a:spcPct val="0"/>
              </a:spcBef>
            </a:pPr>
            <a:r>
              <a:rPr lang="en-US" sz="3200" dirty="0">
                <a:solidFill>
                  <a:schemeClr val="tx2"/>
                </a:solidFill>
                <a:latin typeface="+mj-lt"/>
                <a:ea typeface="+mj-ea"/>
                <a:cs typeface="+mj-cs"/>
              </a:rPr>
              <a:t>Checking for Balanced Braces</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9" name="Rectangle 2"/>
          <p:cNvSpPr>
            <a:spLocks noGrp="1" noChangeArrowheads="1"/>
          </p:cNvSpPr>
          <p:nvPr>
            <p:ph type="title" idx="4294967295"/>
          </p:nvPr>
        </p:nvSpPr>
        <p:spPr>
          <a:xfrm>
            <a:off x="914400" y="304800"/>
            <a:ext cx="8229600" cy="1219200"/>
          </a:xfrm>
        </p:spPr>
        <p:txBody>
          <a:bodyPr/>
          <a:lstStyle/>
          <a:p>
            <a:pPr eaLnBrk="1" hangingPunct="1"/>
            <a:r>
              <a:rPr lang="en-US" dirty="0"/>
              <a:t>2. Checking for Balanced Braces</a:t>
            </a:r>
          </a:p>
        </p:txBody>
      </p:sp>
      <p:pic>
        <p:nvPicPr>
          <p:cNvPr id="24580" name="Picture 3"/>
          <p:cNvPicPr>
            <a:picLocks noChangeAspect="1" noChangeArrowheads="1"/>
          </p:cNvPicPr>
          <p:nvPr/>
        </p:nvPicPr>
        <p:blipFill>
          <a:blip r:embed="rId2"/>
          <a:srcRect/>
          <a:stretch>
            <a:fillRect/>
          </a:stretch>
        </p:blipFill>
        <p:spPr bwMode="auto">
          <a:xfrm>
            <a:off x="990600" y="1752600"/>
            <a:ext cx="7450138" cy="4267200"/>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dirty="0"/>
              <a:t>Palindrome</a:t>
            </a:r>
          </a:p>
        </p:txBody>
      </p:sp>
      <p:sp>
        <p:nvSpPr>
          <p:cNvPr id="107523" name="Rectangle 3"/>
          <p:cNvSpPr>
            <a:spLocks noGrp="1" noChangeArrowheads="1"/>
          </p:cNvSpPr>
          <p:nvPr>
            <p:ph type="body" idx="1"/>
          </p:nvPr>
        </p:nvSpPr>
        <p:spPr/>
        <p:txBody>
          <a:bodyPr/>
          <a:lstStyle/>
          <a:p>
            <a:pPr eaLnBrk="1" hangingPunct="1">
              <a:lnSpc>
                <a:spcPct val="90000"/>
              </a:lnSpc>
            </a:pPr>
            <a:r>
              <a:rPr lang="en-US" sz="2800"/>
              <a:t>A Palindrome is a string that reads the same in either direction</a:t>
            </a:r>
          </a:p>
          <a:p>
            <a:pPr lvl="1" eaLnBrk="1" hangingPunct="1">
              <a:lnSpc>
                <a:spcPct val="90000"/>
              </a:lnSpc>
            </a:pPr>
            <a:r>
              <a:rPr lang="en-US" sz="2400"/>
              <a:t>Examples: MALAYALAM</a:t>
            </a:r>
          </a:p>
          <a:p>
            <a:pPr lvl="1" eaLnBrk="1" hangingPunct="1">
              <a:lnSpc>
                <a:spcPct val="90000"/>
              </a:lnSpc>
            </a:pPr>
            <a:r>
              <a:rPr lang="en-US" sz="2400"/>
              <a:t>Algorithm</a:t>
            </a:r>
          </a:p>
          <a:p>
            <a:pPr lvl="1" eaLnBrk="1" hangingPunct="1">
              <a:lnSpc>
                <a:spcPct val="90000"/>
              </a:lnSpc>
            </a:pPr>
            <a:r>
              <a:rPr lang="en-US" sz="2400"/>
              <a:t>Scan the input string from left to right and push each character of input string onto a stack</a:t>
            </a:r>
          </a:p>
          <a:p>
            <a:pPr lvl="1" eaLnBrk="1" hangingPunct="1">
              <a:lnSpc>
                <a:spcPct val="90000"/>
              </a:lnSpc>
            </a:pPr>
            <a:r>
              <a:rPr lang="en-US" sz="2400"/>
              <a:t>Form the reverse of the string by popping the characters and joining them together in the order that they come off the stack</a:t>
            </a:r>
          </a:p>
          <a:p>
            <a:pPr lvl="1" eaLnBrk="1" hangingPunct="1">
              <a:lnSpc>
                <a:spcPct val="90000"/>
              </a:lnSpc>
            </a:pPr>
            <a:r>
              <a:rPr lang="en-US" sz="2400"/>
              <a:t>Compare the reversed string with the original. If they are the same, the original input string is a palindrome</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7523">
                                            <p:txEl>
                                              <p:pRg st="3" end="3"/>
                                            </p:txEl>
                                          </p:spTgt>
                                        </p:tgtEl>
                                        <p:attrNameLst>
                                          <p:attrName>style.visibility</p:attrName>
                                        </p:attrNameLst>
                                      </p:cBhvr>
                                      <p:to>
                                        <p:strVal val="visible"/>
                                      </p:to>
                                    </p:set>
                                    <p:animEffect transition="in" filter="box(in)">
                                      <p:cBhvr>
                                        <p:cTn id="7" dur="500"/>
                                        <p:tgtEl>
                                          <p:spTgt spid="10752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7523">
                                            <p:txEl>
                                              <p:pRg st="4" end="4"/>
                                            </p:txEl>
                                          </p:spTgt>
                                        </p:tgtEl>
                                        <p:attrNameLst>
                                          <p:attrName>style.visibility</p:attrName>
                                        </p:attrNameLst>
                                      </p:cBhvr>
                                      <p:to>
                                        <p:strVal val="visible"/>
                                      </p:to>
                                    </p:set>
                                    <p:animEffect transition="in" filter="box(in)">
                                      <p:cBhvr>
                                        <p:cTn id="12" dur="500"/>
                                        <p:tgtEl>
                                          <p:spTgt spid="10752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7523">
                                            <p:txEl>
                                              <p:pRg st="5" end="5"/>
                                            </p:txEl>
                                          </p:spTgt>
                                        </p:tgtEl>
                                        <p:attrNameLst>
                                          <p:attrName>style.visibility</p:attrName>
                                        </p:attrNameLst>
                                      </p:cBhvr>
                                      <p:to>
                                        <p:strVal val="visible"/>
                                      </p:to>
                                    </p:set>
                                    <p:animEffect transition="in" filter="box(in)">
                                      <p:cBhvr>
                                        <p:cTn id="17" dur="500"/>
                                        <p:tgtEl>
                                          <p:spTgt spid="1075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609600"/>
            <a:ext cx="8229600" cy="990600"/>
          </a:xfrm>
        </p:spPr>
        <p:txBody>
          <a:bodyPr>
            <a:normAutofit fontScale="90000"/>
          </a:bodyPr>
          <a:lstStyle/>
          <a:p>
            <a:br>
              <a:rPr lang="en-US" dirty="0"/>
            </a:br>
            <a:br>
              <a:rPr lang="en-US" dirty="0"/>
            </a:br>
            <a:br>
              <a:rPr lang="en-US" dirty="0"/>
            </a:br>
            <a:r>
              <a:rPr lang="en-US" dirty="0"/>
              <a:t>A Legend: The Towers of Hanoi </a:t>
            </a:r>
            <a:br>
              <a:rPr lang="en-US" dirty="0"/>
            </a:br>
            <a:endParaRPr lang="en-US" dirty="0"/>
          </a:p>
        </p:txBody>
      </p:sp>
      <p:sp>
        <p:nvSpPr>
          <p:cNvPr id="26628" name="Rectangle 3"/>
          <p:cNvSpPr>
            <a:spLocks noGrp="1" noChangeArrowheads="1"/>
          </p:cNvSpPr>
          <p:nvPr>
            <p:ph type="body" idx="1"/>
          </p:nvPr>
        </p:nvSpPr>
        <p:spPr/>
        <p:txBody>
          <a:bodyPr>
            <a:noAutofit/>
          </a:bodyPr>
          <a:lstStyle/>
          <a:p>
            <a:pPr algn="just" eaLnBrk="1" hangingPunct="1">
              <a:lnSpc>
                <a:spcPct val="90000"/>
              </a:lnSpc>
            </a:pPr>
            <a:r>
              <a:rPr lang="en-US" sz="2400" dirty="0">
                <a:solidFill>
                  <a:schemeClr val="tx2"/>
                </a:solidFill>
                <a:latin typeface="+mj-lt"/>
                <a:ea typeface="+mj-ea"/>
                <a:cs typeface="+mj-cs"/>
              </a:rPr>
              <a:t>In the great temple of Brahma in Benares, on a brass plate under the dome that marks the center of the world, there are 64 disks of pure gold that the priests carry one at a time between these diamond needles according to Brahma's immutable law: No disk may be placed on a smaller disk. In the begging of the world all 64 disks formed the Tower of Brahma on one needle. Now, however, the process of transfer of the tower from one needle to another is in mid course. When the last disk is finally in place, once again forming the Tower of Brahma but on a different needle, then will come the end of the world and all will turn to dust. </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sz="2800"/>
              <a:t>The Towers of Hanoi</a:t>
            </a:r>
            <a:br>
              <a:rPr lang="en-US" sz="2800"/>
            </a:br>
            <a:r>
              <a:rPr lang="en-US" sz="2800"/>
              <a:t>A Stack-based Application</a:t>
            </a:r>
          </a:p>
        </p:txBody>
      </p:sp>
      <p:sp>
        <p:nvSpPr>
          <p:cNvPr id="27652" name="Rectangle 3"/>
          <p:cNvSpPr>
            <a:spLocks noGrp="1" noChangeArrowheads="1"/>
          </p:cNvSpPr>
          <p:nvPr>
            <p:ph type="body" idx="1"/>
          </p:nvPr>
        </p:nvSpPr>
        <p:spPr>
          <a:xfrm>
            <a:off x="609600" y="1752600"/>
            <a:ext cx="8305800" cy="3225800"/>
          </a:xfrm>
        </p:spPr>
        <p:txBody>
          <a:bodyPr>
            <a:normAutofit/>
          </a:bodyPr>
          <a:lstStyle/>
          <a:p>
            <a:pPr lvl="1" eaLnBrk="1" hangingPunct="1"/>
            <a:r>
              <a:rPr lang="en-US" sz="2400" u="sng">
                <a:solidFill>
                  <a:srgbClr val="FF3300"/>
                </a:solidFill>
              </a:rPr>
              <a:t>GIVEN</a:t>
            </a:r>
            <a:r>
              <a:rPr lang="en-US" sz="2400"/>
              <a:t>: three poles</a:t>
            </a:r>
          </a:p>
          <a:p>
            <a:pPr lvl="1" eaLnBrk="1" hangingPunct="1"/>
            <a:r>
              <a:rPr lang="en-US" sz="2400"/>
              <a:t>a set of discs on the first pole, discs of different sizes, the smallest discs at the top</a:t>
            </a:r>
          </a:p>
          <a:p>
            <a:pPr lvl="1" eaLnBrk="1" hangingPunct="1"/>
            <a:r>
              <a:rPr lang="en-US" sz="2400" u="sng">
                <a:solidFill>
                  <a:srgbClr val="FF3300"/>
                </a:solidFill>
              </a:rPr>
              <a:t>GOAL</a:t>
            </a:r>
            <a:r>
              <a:rPr lang="en-US" sz="2400"/>
              <a:t>: move all the discs from the left pole to the right one. </a:t>
            </a:r>
          </a:p>
          <a:p>
            <a:pPr lvl="1" eaLnBrk="1" hangingPunct="1"/>
            <a:r>
              <a:rPr lang="en-US" sz="2400" u="sng">
                <a:solidFill>
                  <a:srgbClr val="FF3300"/>
                </a:solidFill>
              </a:rPr>
              <a:t>CONDITIONS</a:t>
            </a:r>
            <a:r>
              <a:rPr lang="en-US" sz="2400"/>
              <a:t>: only one disc may be moved at a time. </a:t>
            </a:r>
          </a:p>
          <a:p>
            <a:pPr lvl="1" eaLnBrk="1" hangingPunct="1"/>
            <a:r>
              <a:rPr lang="en-US" sz="2400"/>
              <a:t>A disc can be placed either on an empty pole or on top of a larger disc. </a:t>
            </a:r>
          </a:p>
          <a:p>
            <a:pPr lvl="1" eaLnBrk="1" hangingPunct="1"/>
            <a:endParaRPr lang="en-US" sz="2400"/>
          </a:p>
        </p:txBody>
      </p:sp>
      <p:pic>
        <p:nvPicPr>
          <p:cNvPr id="27653" name="Picture 4" descr="hanoi"/>
          <p:cNvPicPr>
            <a:picLocks noChangeAspect="1" noChangeArrowheads="1"/>
          </p:cNvPicPr>
          <p:nvPr/>
        </p:nvPicPr>
        <p:blipFill>
          <a:blip r:embed="rId2"/>
          <a:srcRect/>
          <a:stretch>
            <a:fillRect/>
          </a:stretch>
        </p:blipFill>
        <p:spPr bwMode="auto">
          <a:xfrm>
            <a:off x="2667000" y="4549775"/>
            <a:ext cx="2971800" cy="1820863"/>
          </a:xfrm>
          <a:prstGeom prst="rect">
            <a:avLst/>
          </a:prstGeom>
          <a:noFill/>
          <a:ln w="9525">
            <a:noFill/>
            <a:miter lim="800000"/>
            <a:headEnd/>
            <a:tailEnd/>
          </a:ln>
        </p:spPr>
      </p:pic>
      <p:sp>
        <p:nvSpPr>
          <p:cNvPr id="6" name="Footer Placeholder 5"/>
          <p:cNvSpPr>
            <a:spLocks noGrp="1"/>
          </p:cNvSpPr>
          <p:nvPr>
            <p:ph type="ftr" sz="quarter" idx="11"/>
          </p:nvPr>
        </p:nvSpPr>
        <p:spPr/>
        <p:txBody>
          <a:bodyPr/>
          <a:lstStyle/>
          <a:p>
            <a:r>
              <a:rPr lang="en-US"/>
              <a:t>Algorithm and Data Structure </a:t>
            </a:r>
            <a:endParaRPr 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t>Towers of Hanoi</a:t>
            </a:r>
          </a:p>
        </p:txBody>
      </p:sp>
      <p:pic>
        <p:nvPicPr>
          <p:cNvPr id="28676" name="Picture 3" descr="hanoi1"/>
          <p:cNvPicPr>
            <a:picLocks noChangeAspect="1" noChangeArrowheads="1"/>
          </p:cNvPicPr>
          <p:nvPr/>
        </p:nvPicPr>
        <p:blipFill>
          <a:blip r:embed="rId2"/>
          <a:srcRect/>
          <a:stretch>
            <a:fillRect/>
          </a:stretch>
        </p:blipFill>
        <p:spPr bwMode="auto">
          <a:xfrm>
            <a:off x="1903413" y="2103438"/>
            <a:ext cx="5337175" cy="2651125"/>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t>Towers of Hanoi</a:t>
            </a:r>
          </a:p>
        </p:txBody>
      </p:sp>
      <p:pic>
        <p:nvPicPr>
          <p:cNvPr id="29700" name="Picture 3" descr="hanoi2"/>
          <p:cNvPicPr>
            <a:picLocks noChangeAspect="1" noChangeArrowheads="1"/>
          </p:cNvPicPr>
          <p:nvPr/>
        </p:nvPicPr>
        <p:blipFill>
          <a:blip r:embed="rId2"/>
          <a:srcRect/>
          <a:stretch>
            <a:fillRect/>
          </a:stretch>
        </p:blipFill>
        <p:spPr bwMode="auto">
          <a:xfrm>
            <a:off x="1905000" y="2286000"/>
            <a:ext cx="5349875" cy="2378075"/>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t>Towers of Hanoi</a:t>
            </a:r>
          </a:p>
        </p:txBody>
      </p:sp>
      <p:pic>
        <p:nvPicPr>
          <p:cNvPr id="30724" name="Picture 3" descr="hanoi3"/>
          <p:cNvPicPr>
            <a:picLocks noChangeAspect="1" noChangeArrowheads="1"/>
          </p:cNvPicPr>
          <p:nvPr/>
        </p:nvPicPr>
        <p:blipFill>
          <a:blip r:embed="rId2"/>
          <a:srcRect/>
          <a:stretch>
            <a:fillRect/>
          </a:stretch>
        </p:blipFill>
        <p:spPr bwMode="auto">
          <a:xfrm>
            <a:off x="1905000" y="3124200"/>
            <a:ext cx="5337175" cy="1589088"/>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a:t>Towers of Hanoi</a:t>
            </a:r>
          </a:p>
        </p:txBody>
      </p:sp>
      <p:pic>
        <p:nvPicPr>
          <p:cNvPr id="31748" name="Picture 3" descr="hanoi4"/>
          <p:cNvPicPr>
            <a:picLocks noChangeAspect="1" noChangeArrowheads="1"/>
          </p:cNvPicPr>
          <p:nvPr/>
        </p:nvPicPr>
        <p:blipFill>
          <a:blip r:embed="rId2"/>
          <a:srcRect/>
          <a:stretch>
            <a:fillRect/>
          </a:stretch>
        </p:blipFill>
        <p:spPr bwMode="auto">
          <a:xfrm>
            <a:off x="1905000" y="3124200"/>
            <a:ext cx="5337175" cy="1589088"/>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en-US"/>
              <a:t>Towers of Hanoi</a:t>
            </a:r>
          </a:p>
        </p:txBody>
      </p:sp>
      <p:pic>
        <p:nvPicPr>
          <p:cNvPr id="32772" name="Picture 3" descr="hanoi5"/>
          <p:cNvPicPr>
            <a:picLocks noChangeAspect="1" noChangeArrowheads="1"/>
          </p:cNvPicPr>
          <p:nvPr/>
        </p:nvPicPr>
        <p:blipFill>
          <a:blip r:embed="rId2"/>
          <a:srcRect/>
          <a:stretch>
            <a:fillRect/>
          </a:stretch>
        </p:blipFill>
        <p:spPr bwMode="auto">
          <a:xfrm>
            <a:off x="1905000" y="3124200"/>
            <a:ext cx="5314950" cy="1600200"/>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a:t>Towers of Hanoi</a:t>
            </a:r>
          </a:p>
        </p:txBody>
      </p:sp>
      <p:pic>
        <p:nvPicPr>
          <p:cNvPr id="33796" name="Picture 3" descr="hanoi6"/>
          <p:cNvPicPr>
            <a:picLocks noChangeAspect="1" noChangeArrowheads="1"/>
          </p:cNvPicPr>
          <p:nvPr/>
        </p:nvPicPr>
        <p:blipFill>
          <a:blip r:embed="rId2"/>
          <a:srcRect/>
          <a:stretch>
            <a:fillRect/>
          </a:stretch>
        </p:blipFill>
        <p:spPr bwMode="auto">
          <a:xfrm>
            <a:off x="1828800" y="3124200"/>
            <a:ext cx="5314950" cy="1600200"/>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a:t>Towers of Hanoi</a:t>
            </a:r>
          </a:p>
        </p:txBody>
      </p:sp>
      <p:pic>
        <p:nvPicPr>
          <p:cNvPr id="34820" name="Picture 3" descr="hanoi7"/>
          <p:cNvPicPr>
            <a:picLocks noChangeAspect="1" noChangeArrowheads="1"/>
          </p:cNvPicPr>
          <p:nvPr/>
        </p:nvPicPr>
        <p:blipFill>
          <a:blip r:embed="rId2"/>
          <a:srcRect/>
          <a:stretch>
            <a:fillRect/>
          </a:stretch>
        </p:blipFill>
        <p:spPr bwMode="auto">
          <a:xfrm>
            <a:off x="1905000" y="2438400"/>
            <a:ext cx="5314950" cy="2400300"/>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en-US"/>
              <a:t>Towers of Hanoi</a:t>
            </a:r>
          </a:p>
        </p:txBody>
      </p:sp>
      <p:pic>
        <p:nvPicPr>
          <p:cNvPr id="35844" name="Picture 3" descr="hanoi8"/>
          <p:cNvPicPr>
            <a:picLocks noChangeAspect="1" noChangeArrowheads="1"/>
          </p:cNvPicPr>
          <p:nvPr/>
        </p:nvPicPr>
        <p:blipFill>
          <a:blip r:embed="rId2"/>
          <a:srcRect/>
          <a:stretch>
            <a:fillRect/>
          </a:stretch>
        </p:blipFill>
        <p:spPr bwMode="auto">
          <a:xfrm>
            <a:off x="1914525" y="2103438"/>
            <a:ext cx="5314950" cy="2651125"/>
          </a:xfrm>
          <a:prstGeom prst="rect">
            <a:avLst/>
          </a:prstGeom>
          <a:noFill/>
          <a:ln w="9525">
            <a:noFill/>
            <a:miter lim="800000"/>
            <a:headEnd/>
            <a:tailEnd/>
          </a:ln>
        </p:spPr>
      </p:pic>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4"/>
          <p:cNvSpPr>
            <a:spLocks noChangeArrowheads="1"/>
          </p:cNvSpPr>
          <p:nvPr/>
        </p:nvSpPr>
        <p:spPr bwMode="auto">
          <a:xfrm>
            <a:off x="1600200" y="2743200"/>
            <a:ext cx="6172200" cy="579438"/>
          </a:xfrm>
          <a:prstGeom prst="rect">
            <a:avLst/>
          </a:prstGeom>
          <a:noFill/>
          <a:ln w="9525">
            <a:noFill/>
            <a:miter lim="800000"/>
            <a:headEnd/>
            <a:tailEnd/>
          </a:ln>
        </p:spPr>
        <p:txBody>
          <a:bodyPr>
            <a:spAutoFit/>
          </a:bodyPr>
          <a:lstStyle/>
          <a:p>
            <a:pPr algn="ctr"/>
            <a:r>
              <a:rPr lang="en-US" sz="3200" b="1">
                <a:solidFill>
                  <a:srgbClr val="9966FF"/>
                </a:solidFill>
              </a:rPr>
              <a:t> </a:t>
            </a:r>
            <a:r>
              <a:rPr lang="en-US" sz="3200" b="1">
                <a:solidFill>
                  <a:schemeClr val="accent2"/>
                </a:solidFill>
              </a:rPr>
              <a:t>Expression Evaluation</a:t>
            </a:r>
          </a:p>
        </p:txBody>
      </p:sp>
      <p:sp>
        <p:nvSpPr>
          <p:cNvPr id="4" name="Footer Placeholder 3"/>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t>Consider the same problems</a:t>
            </a:r>
          </a:p>
        </p:txBody>
      </p:sp>
      <p:sp>
        <p:nvSpPr>
          <p:cNvPr id="115715" name="Rectangle 3"/>
          <p:cNvSpPr>
            <a:spLocks noGrp="1" noChangeArrowheads="1"/>
          </p:cNvSpPr>
          <p:nvPr>
            <p:ph type="body" idx="1"/>
          </p:nvPr>
        </p:nvSpPr>
        <p:spPr/>
        <p:txBody>
          <a:bodyPr/>
          <a:lstStyle/>
          <a:p>
            <a:pPr eaLnBrk="1" hangingPunct="1"/>
            <a:r>
              <a:rPr lang="en-US" dirty="0"/>
              <a:t>Convert an infix expression into postfix expression. i.e.</a:t>
            </a:r>
          </a:p>
          <a:p>
            <a:pPr lvl="1" eaLnBrk="1" hangingPunct="1"/>
            <a:r>
              <a:rPr lang="en-US" dirty="0"/>
              <a:t>How </a:t>
            </a:r>
            <a:r>
              <a:rPr lang="en-US" dirty="0" err="1"/>
              <a:t>a+b</a:t>
            </a:r>
            <a:r>
              <a:rPr lang="en-US" dirty="0"/>
              <a:t> can be converted into </a:t>
            </a:r>
            <a:r>
              <a:rPr lang="en-US" dirty="0" err="1"/>
              <a:t>ab</a:t>
            </a:r>
            <a:r>
              <a:rPr lang="en-US" dirty="0"/>
              <a:t>+</a:t>
            </a:r>
          </a:p>
          <a:p>
            <a:pPr eaLnBrk="1" hangingPunct="1"/>
            <a:r>
              <a:rPr lang="en-US" dirty="0"/>
              <a:t>And many more problems……..</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blinds(horizontal)">
                                      <p:cBhvr>
                                        <p:cTn id="7" dur="500"/>
                                        <p:tgtEl>
                                          <p:spTgt spid="11571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blinds(horizontal)">
                                      <p:cBhvr>
                                        <p:cTn id="10" dur="500"/>
                                        <p:tgtEl>
                                          <p:spTgt spid="1157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5715">
                                            <p:txEl>
                                              <p:pRg st="2" end="2"/>
                                            </p:txEl>
                                          </p:spTgt>
                                        </p:tgtEl>
                                        <p:attrNameLst>
                                          <p:attrName>style.visibility</p:attrName>
                                        </p:attrNameLst>
                                      </p:cBhvr>
                                      <p:to>
                                        <p:strVal val="visible"/>
                                      </p:to>
                                    </p:set>
                                    <p:animEffect transition="in" filter="blinds(horizontal)">
                                      <p:cBhvr>
                                        <p:cTn id="15" dur="500"/>
                                        <p:tgtEl>
                                          <p:spTgt spid="115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n-US" b="1" dirty="0"/>
              <a:t>EXPRESSION</a:t>
            </a:r>
            <a:endParaRPr lang="en-US" dirty="0"/>
          </a:p>
        </p:txBody>
      </p:sp>
      <p:sp>
        <p:nvSpPr>
          <p:cNvPr id="115715" name="Rectangle 3"/>
          <p:cNvSpPr>
            <a:spLocks noGrp="1" noChangeArrowheads="1"/>
          </p:cNvSpPr>
          <p:nvPr>
            <p:ph type="body" idx="1"/>
          </p:nvPr>
        </p:nvSpPr>
        <p:spPr/>
        <p:txBody>
          <a:bodyPr>
            <a:normAutofit fontScale="85000" lnSpcReduction="20000"/>
          </a:bodyPr>
          <a:lstStyle/>
          <a:p>
            <a:r>
              <a:rPr lang="en-US" dirty="0"/>
              <a:t>An expression is defined as the number of operands or data items combined with several operators</a:t>
            </a:r>
          </a:p>
          <a:p>
            <a:r>
              <a:rPr lang="en-US" dirty="0"/>
              <a:t>There are basically three types of notation for an expression (mathematical expression.)</a:t>
            </a:r>
          </a:p>
          <a:p>
            <a:pPr lvl="1">
              <a:buNone/>
            </a:pPr>
            <a:r>
              <a:rPr lang="en-US" dirty="0"/>
              <a:t>1. Infix notation</a:t>
            </a:r>
          </a:p>
          <a:p>
            <a:pPr lvl="1">
              <a:buNone/>
            </a:pPr>
            <a:r>
              <a:rPr lang="en-US" dirty="0"/>
              <a:t>2. Prefix notation</a:t>
            </a:r>
          </a:p>
          <a:p>
            <a:pPr lvl="1">
              <a:buNone/>
            </a:pPr>
            <a:r>
              <a:rPr lang="en-US" dirty="0"/>
              <a:t>3. Postfix notation</a:t>
            </a:r>
          </a:p>
          <a:p>
            <a:r>
              <a:rPr lang="en-US" dirty="0"/>
              <a:t>The </a:t>
            </a:r>
            <a:r>
              <a:rPr lang="en-US" i="1" dirty="0">
                <a:solidFill>
                  <a:srgbClr val="FF0000"/>
                </a:solidFill>
              </a:rPr>
              <a:t>infix notation </a:t>
            </a:r>
            <a:r>
              <a:rPr lang="en-US" i="1" dirty="0"/>
              <a:t>is, where the </a:t>
            </a:r>
            <a:r>
              <a:rPr lang="en-US" dirty="0"/>
              <a:t>operator is written in-between the operands.</a:t>
            </a:r>
          </a:p>
          <a:p>
            <a:r>
              <a:rPr lang="en-US" dirty="0"/>
              <a:t> For example : The expression to add two numbers A and B is written in infix notation as:</a:t>
            </a:r>
          </a:p>
          <a:p>
            <a:pPr algn="ctr">
              <a:buNone/>
            </a:pPr>
            <a:r>
              <a:rPr lang="en-US" dirty="0"/>
              <a:t>A + B</a:t>
            </a:r>
          </a:p>
          <a:p>
            <a:r>
              <a:rPr lang="en-US" dirty="0"/>
              <a:t>The </a:t>
            </a:r>
            <a:r>
              <a:rPr lang="en-US" i="1" dirty="0">
                <a:solidFill>
                  <a:srgbClr val="FF0000"/>
                </a:solidFill>
              </a:rPr>
              <a:t>prefix notation </a:t>
            </a:r>
            <a:r>
              <a:rPr lang="en-US" i="1" dirty="0"/>
              <a:t>is a notation in which the operator(s) is written before the operands, </a:t>
            </a:r>
            <a:r>
              <a:rPr lang="en-US" dirty="0"/>
              <a:t>it is also called polish notation in the honor of the polish mathematician Jan </a:t>
            </a:r>
            <a:r>
              <a:rPr lang="en-US" dirty="0" err="1"/>
              <a:t>Lukasiewicz</a:t>
            </a:r>
            <a:r>
              <a:rPr lang="en-US" dirty="0"/>
              <a:t> who developed this notation. </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blinds(horizontal)">
                                      <p:cBhvr>
                                        <p:cTn id="7" dur="500"/>
                                        <p:tgtEl>
                                          <p:spTgt spid="115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15">
                                            <p:txEl>
                                              <p:pRg st="1" end="1"/>
                                            </p:txEl>
                                          </p:spTgt>
                                        </p:tgtEl>
                                        <p:attrNameLst>
                                          <p:attrName>style.visibility</p:attrName>
                                        </p:attrNameLst>
                                      </p:cBhvr>
                                      <p:to>
                                        <p:strVal val="visible"/>
                                      </p:to>
                                    </p:set>
                                    <p:animEffect transition="in" filter="blinds(horizontal)">
                                      <p:cBhvr>
                                        <p:cTn id="12" dur="500"/>
                                        <p:tgtEl>
                                          <p:spTgt spid="11571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5715">
                                            <p:txEl>
                                              <p:pRg st="2" end="2"/>
                                            </p:txEl>
                                          </p:spTgt>
                                        </p:tgtEl>
                                        <p:attrNameLst>
                                          <p:attrName>style.visibility</p:attrName>
                                        </p:attrNameLst>
                                      </p:cBhvr>
                                      <p:to>
                                        <p:strVal val="visible"/>
                                      </p:to>
                                    </p:set>
                                    <p:animEffect transition="in" filter="blinds(horizontal)">
                                      <p:cBhvr>
                                        <p:cTn id="15" dur="500"/>
                                        <p:tgtEl>
                                          <p:spTgt spid="11571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5715">
                                            <p:txEl>
                                              <p:pRg st="3" end="3"/>
                                            </p:txEl>
                                          </p:spTgt>
                                        </p:tgtEl>
                                        <p:attrNameLst>
                                          <p:attrName>style.visibility</p:attrName>
                                        </p:attrNameLst>
                                      </p:cBhvr>
                                      <p:to>
                                        <p:strVal val="visible"/>
                                      </p:to>
                                    </p:set>
                                    <p:animEffect transition="in" filter="blinds(horizontal)">
                                      <p:cBhvr>
                                        <p:cTn id="18" dur="500"/>
                                        <p:tgtEl>
                                          <p:spTgt spid="11571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5715">
                                            <p:txEl>
                                              <p:pRg st="4" end="4"/>
                                            </p:txEl>
                                          </p:spTgt>
                                        </p:tgtEl>
                                        <p:attrNameLst>
                                          <p:attrName>style.visibility</p:attrName>
                                        </p:attrNameLst>
                                      </p:cBhvr>
                                      <p:to>
                                        <p:strVal val="visible"/>
                                      </p:to>
                                    </p:set>
                                    <p:animEffect transition="in" filter="blinds(horizontal)">
                                      <p:cBhvr>
                                        <p:cTn id="21" dur="500"/>
                                        <p:tgtEl>
                                          <p:spTgt spid="11571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5715">
                                            <p:txEl>
                                              <p:pRg st="5" end="5"/>
                                            </p:txEl>
                                          </p:spTgt>
                                        </p:tgtEl>
                                        <p:attrNameLst>
                                          <p:attrName>style.visibility</p:attrName>
                                        </p:attrNameLst>
                                      </p:cBhvr>
                                      <p:to>
                                        <p:strVal val="visible"/>
                                      </p:to>
                                    </p:set>
                                    <p:animEffect transition="in" filter="blinds(horizontal)">
                                      <p:cBhvr>
                                        <p:cTn id="26" dur="500"/>
                                        <p:tgtEl>
                                          <p:spTgt spid="11571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5715">
                                            <p:txEl>
                                              <p:pRg st="6" end="6"/>
                                            </p:txEl>
                                          </p:spTgt>
                                        </p:tgtEl>
                                        <p:attrNameLst>
                                          <p:attrName>style.visibility</p:attrName>
                                        </p:attrNameLst>
                                      </p:cBhvr>
                                      <p:to>
                                        <p:strVal val="visible"/>
                                      </p:to>
                                    </p:set>
                                    <p:animEffect transition="in" filter="blinds(horizontal)">
                                      <p:cBhvr>
                                        <p:cTn id="31" dur="500"/>
                                        <p:tgtEl>
                                          <p:spTgt spid="11571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15715">
                                            <p:txEl>
                                              <p:pRg st="7" end="7"/>
                                            </p:txEl>
                                          </p:spTgt>
                                        </p:tgtEl>
                                        <p:attrNameLst>
                                          <p:attrName>style.visibility</p:attrName>
                                        </p:attrNameLst>
                                      </p:cBhvr>
                                      <p:to>
                                        <p:strVal val="visible"/>
                                      </p:to>
                                    </p:set>
                                    <p:animEffect transition="in" filter="blinds(horizontal)">
                                      <p:cBhvr>
                                        <p:cTn id="36" dur="500"/>
                                        <p:tgtEl>
                                          <p:spTgt spid="115715">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15715">
                                            <p:txEl>
                                              <p:pRg st="8" end="8"/>
                                            </p:txEl>
                                          </p:spTgt>
                                        </p:tgtEl>
                                        <p:attrNameLst>
                                          <p:attrName>style.visibility</p:attrName>
                                        </p:attrNameLst>
                                      </p:cBhvr>
                                      <p:to>
                                        <p:strVal val="visible"/>
                                      </p:to>
                                    </p:set>
                                    <p:animEffect transition="in" filter="blinds(horizontal)">
                                      <p:cBhvr>
                                        <p:cTn id="41" dur="500"/>
                                        <p:tgtEl>
                                          <p:spTgt spid="115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n-US" b="1" dirty="0"/>
              <a:t>EXPRESSION….cont</a:t>
            </a:r>
            <a:endParaRPr lang="en-US" dirty="0"/>
          </a:p>
        </p:txBody>
      </p:sp>
      <p:sp>
        <p:nvSpPr>
          <p:cNvPr id="115715" name="Rectangle 3"/>
          <p:cNvSpPr>
            <a:spLocks noGrp="1" noChangeArrowheads="1"/>
          </p:cNvSpPr>
          <p:nvPr>
            <p:ph type="body" idx="1"/>
          </p:nvPr>
        </p:nvSpPr>
        <p:spPr/>
        <p:txBody>
          <a:bodyPr>
            <a:normAutofit fontScale="77500" lnSpcReduction="20000"/>
          </a:bodyPr>
          <a:lstStyle/>
          <a:p>
            <a:r>
              <a:rPr lang="en-US" dirty="0"/>
              <a:t>The same expression when written in prefix notation looks like:</a:t>
            </a:r>
          </a:p>
          <a:p>
            <a:pPr algn="ctr">
              <a:buNone/>
            </a:pPr>
            <a:r>
              <a:rPr lang="en-US" dirty="0"/>
              <a:t>               + A B</a:t>
            </a:r>
          </a:p>
          <a:p>
            <a:r>
              <a:rPr lang="en-US" dirty="0"/>
              <a:t>In the </a:t>
            </a:r>
            <a:r>
              <a:rPr lang="en-US" i="1" dirty="0">
                <a:solidFill>
                  <a:srgbClr val="FF0000"/>
                </a:solidFill>
              </a:rPr>
              <a:t>postfix notation </a:t>
            </a:r>
            <a:r>
              <a:rPr lang="en-US" i="1" dirty="0"/>
              <a:t>the operator(s) are written after the operands, so it is called </a:t>
            </a:r>
            <a:r>
              <a:rPr lang="en-US" dirty="0"/>
              <a:t>the postfix notation, it is also known as </a:t>
            </a:r>
            <a:r>
              <a:rPr lang="en-US" i="1" dirty="0"/>
              <a:t>suffix notation or reverse polish notation.</a:t>
            </a:r>
          </a:p>
          <a:p>
            <a:pPr algn="ctr">
              <a:buNone/>
            </a:pPr>
            <a:r>
              <a:rPr lang="en-US" dirty="0"/>
              <a:t>A B +</a:t>
            </a:r>
          </a:p>
          <a:p>
            <a:r>
              <a:rPr lang="en-US" dirty="0"/>
              <a:t>For example, a C function to return the sum of two variables A and B (passed as argument) is called or invoked by the instruction:</a:t>
            </a:r>
          </a:p>
          <a:p>
            <a:pPr algn="ctr">
              <a:buNone/>
            </a:pPr>
            <a:r>
              <a:rPr lang="en-US" dirty="0"/>
              <a:t>add(A, B)</a:t>
            </a:r>
          </a:p>
          <a:p>
            <a:r>
              <a:rPr lang="en-US" dirty="0"/>
              <a:t>Note that the operator </a:t>
            </a:r>
            <a:r>
              <a:rPr lang="en-US" i="1" dirty="0"/>
              <a:t>add (name of the function) precedes the operands A and B.</a:t>
            </a:r>
          </a:p>
          <a:p>
            <a:r>
              <a:rPr lang="en-US" dirty="0"/>
              <a:t>Moreover the postfix notation is the way computer looks towards arithmetic expression, any expression entered into the computer is first converted into postfix notation, stored in stack and then calculated. </a:t>
            </a:r>
          </a:p>
          <a:p>
            <a:r>
              <a:rPr lang="en-US" dirty="0"/>
              <a:t>In a postfix expression operands appear before the </a:t>
            </a:r>
            <a:r>
              <a:rPr lang="en-US" dirty="0" err="1"/>
              <a:t>operator,so</a:t>
            </a:r>
            <a:r>
              <a:rPr lang="en-US" dirty="0"/>
              <a:t> there is no need for operator precedence and other rules.</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blinds(horizontal)">
                                      <p:cBhvr>
                                        <p:cTn id="7" dur="500"/>
                                        <p:tgtEl>
                                          <p:spTgt spid="115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15">
                                            <p:txEl>
                                              <p:pRg st="1" end="1"/>
                                            </p:txEl>
                                          </p:spTgt>
                                        </p:tgtEl>
                                        <p:attrNameLst>
                                          <p:attrName>style.visibility</p:attrName>
                                        </p:attrNameLst>
                                      </p:cBhvr>
                                      <p:to>
                                        <p:strVal val="visible"/>
                                      </p:to>
                                    </p:set>
                                    <p:animEffect transition="in" filter="blinds(horizontal)">
                                      <p:cBhvr>
                                        <p:cTn id="12" dur="500"/>
                                        <p:tgtEl>
                                          <p:spTgt spid="115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5715">
                                            <p:txEl>
                                              <p:pRg st="2" end="2"/>
                                            </p:txEl>
                                          </p:spTgt>
                                        </p:tgtEl>
                                        <p:attrNameLst>
                                          <p:attrName>style.visibility</p:attrName>
                                        </p:attrNameLst>
                                      </p:cBhvr>
                                      <p:to>
                                        <p:strVal val="visible"/>
                                      </p:to>
                                    </p:set>
                                    <p:animEffect transition="in" filter="blinds(horizontal)">
                                      <p:cBhvr>
                                        <p:cTn id="17" dur="500"/>
                                        <p:tgtEl>
                                          <p:spTgt spid="1157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5715">
                                            <p:txEl>
                                              <p:pRg st="3" end="3"/>
                                            </p:txEl>
                                          </p:spTgt>
                                        </p:tgtEl>
                                        <p:attrNameLst>
                                          <p:attrName>style.visibility</p:attrName>
                                        </p:attrNameLst>
                                      </p:cBhvr>
                                      <p:to>
                                        <p:strVal val="visible"/>
                                      </p:to>
                                    </p:set>
                                    <p:animEffect transition="in" filter="blinds(horizontal)">
                                      <p:cBhvr>
                                        <p:cTn id="22" dur="500"/>
                                        <p:tgtEl>
                                          <p:spTgt spid="1157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5715">
                                            <p:txEl>
                                              <p:pRg st="4" end="4"/>
                                            </p:txEl>
                                          </p:spTgt>
                                        </p:tgtEl>
                                        <p:attrNameLst>
                                          <p:attrName>style.visibility</p:attrName>
                                        </p:attrNameLst>
                                      </p:cBhvr>
                                      <p:to>
                                        <p:strVal val="visible"/>
                                      </p:to>
                                    </p:set>
                                    <p:animEffect transition="in" filter="blinds(horizontal)">
                                      <p:cBhvr>
                                        <p:cTn id="27" dur="500"/>
                                        <p:tgtEl>
                                          <p:spTgt spid="1157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5715">
                                            <p:txEl>
                                              <p:pRg st="5" end="5"/>
                                            </p:txEl>
                                          </p:spTgt>
                                        </p:tgtEl>
                                        <p:attrNameLst>
                                          <p:attrName>style.visibility</p:attrName>
                                        </p:attrNameLst>
                                      </p:cBhvr>
                                      <p:to>
                                        <p:strVal val="visible"/>
                                      </p:to>
                                    </p:set>
                                    <p:animEffect transition="in" filter="blinds(horizontal)">
                                      <p:cBhvr>
                                        <p:cTn id="32" dur="500"/>
                                        <p:tgtEl>
                                          <p:spTgt spid="1157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5715">
                                            <p:txEl>
                                              <p:pRg st="6" end="6"/>
                                            </p:txEl>
                                          </p:spTgt>
                                        </p:tgtEl>
                                        <p:attrNameLst>
                                          <p:attrName>style.visibility</p:attrName>
                                        </p:attrNameLst>
                                      </p:cBhvr>
                                      <p:to>
                                        <p:strVal val="visible"/>
                                      </p:to>
                                    </p:set>
                                    <p:animEffect transition="in" filter="blinds(horizontal)">
                                      <p:cBhvr>
                                        <p:cTn id="37" dur="500"/>
                                        <p:tgtEl>
                                          <p:spTgt spid="1157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5715">
                                            <p:txEl>
                                              <p:pRg st="7" end="7"/>
                                            </p:txEl>
                                          </p:spTgt>
                                        </p:tgtEl>
                                        <p:attrNameLst>
                                          <p:attrName>style.visibility</p:attrName>
                                        </p:attrNameLst>
                                      </p:cBhvr>
                                      <p:to>
                                        <p:strVal val="visible"/>
                                      </p:to>
                                    </p:set>
                                    <p:animEffect transition="in" filter="blinds(horizontal)">
                                      <p:cBhvr>
                                        <p:cTn id="42" dur="500"/>
                                        <p:tgtEl>
                                          <p:spTgt spid="1157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5715">
                                            <p:txEl>
                                              <p:pRg st="8" end="8"/>
                                            </p:txEl>
                                          </p:spTgt>
                                        </p:tgtEl>
                                        <p:attrNameLst>
                                          <p:attrName>style.visibility</p:attrName>
                                        </p:attrNameLst>
                                      </p:cBhvr>
                                      <p:to>
                                        <p:strVal val="visible"/>
                                      </p:to>
                                    </p:set>
                                    <p:animEffect transition="in" filter="blinds(horizontal)">
                                      <p:cBhvr>
                                        <p:cTn id="47" dur="500"/>
                                        <p:tgtEl>
                                          <p:spTgt spid="115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457200" y="76200"/>
            <a:ext cx="8458200" cy="1143000"/>
          </a:xfrm>
        </p:spPr>
        <p:txBody>
          <a:bodyPr/>
          <a:lstStyle/>
          <a:p>
            <a:pPr eaLnBrk="1" hangingPunct="1"/>
            <a:r>
              <a:rPr lang="en-US" dirty="0"/>
              <a:t>Converting Infix expression to postfix</a:t>
            </a:r>
          </a:p>
        </p:txBody>
      </p:sp>
      <p:sp>
        <p:nvSpPr>
          <p:cNvPr id="116739" name="Rectangle 3"/>
          <p:cNvSpPr>
            <a:spLocks noGrp="1" noChangeArrowheads="1"/>
          </p:cNvSpPr>
          <p:nvPr>
            <p:ph type="body" idx="1"/>
          </p:nvPr>
        </p:nvSpPr>
        <p:spPr>
          <a:xfrm>
            <a:off x="457200" y="1295400"/>
            <a:ext cx="8458200" cy="5029200"/>
          </a:xfrm>
        </p:spPr>
        <p:txBody>
          <a:bodyPr/>
          <a:lstStyle/>
          <a:p>
            <a:pPr marL="609600" indent="-609600" eaLnBrk="1" hangingPunct="1">
              <a:lnSpc>
                <a:spcPct val="90000"/>
              </a:lnSpc>
            </a:pPr>
            <a:r>
              <a:rPr lang="en-US" sz="2000" dirty="0"/>
              <a:t>When an operand is read, it is immediately placed onto the output</a:t>
            </a:r>
          </a:p>
          <a:p>
            <a:pPr marL="609600" indent="-609600" eaLnBrk="1" hangingPunct="1">
              <a:lnSpc>
                <a:spcPct val="40000"/>
              </a:lnSpc>
              <a:buFontTx/>
              <a:buNone/>
            </a:pPr>
            <a:endParaRPr lang="en-US" sz="2000" dirty="0"/>
          </a:p>
          <a:p>
            <a:pPr marL="609600" indent="-609600" eaLnBrk="1" hangingPunct="1">
              <a:lnSpc>
                <a:spcPct val="90000"/>
              </a:lnSpc>
            </a:pPr>
            <a:r>
              <a:rPr lang="en-US" sz="2000" dirty="0"/>
              <a:t>When an operator or left parenthesis comes then save it in the stack initially stack is empty</a:t>
            </a:r>
          </a:p>
          <a:p>
            <a:pPr marL="609600" indent="-609600" eaLnBrk="1" hangingPunct="1">
              <a:lnSpc>
                <a:spcPct val="40000"/>
              </a:lnSpc>
              <a:buFontTx/>
              <a:buNone/>
            </a:pPr>
            <a:endParaRPr lang="en-US" sz="2000" dirty="0"/>
          </a:p>
          <a:p>
            <a:pPr marL="609600" indent="-609600" eaLnBrk="1" hangingPunct="1">
              <a:lnSpc>
                <a:spcPct val="90000"/>
              </a:lnSpc>
            </a:pPr>
            <a:r>
              <a:rPr lang="en-US" sz="2000" dirty="0"/>
              <a:t>If we see a right parenthesis, then we pop the stack, writing symbols until we encounter a (corresponding) left parenthesis, which is popped but not output</a:t>
            </a:r>
          </a:p>
          <a:p>
            <a:pPr marL="609600" indent="-609600" eaLnBrk="1" hangingPunct="1">
              <a:lnSpc>
                <a:spcPct val="40000"/>
              </a:lnSpc>
              <a:buFontTx/>
              <a:buNone/>
            </a:pPr>
            <a:endParaRPr lang="en-US" sz="2000" dirty="0"/>
          </a:p>
          <a:p>
            <a:pPr marL="609600" indent="-609600" eaLnBrk="1" hangingPunct="1">
              <a:lnSpc>
                <a:spcPct val="90000"/>
              </a:lnSpc>
            </a:pPr>
            <a:r>
              <a:rPr lang="en-US" sz="2000" dirty="0"/>
              <a:t>If we see any other symbol (‘+’, ‘*’, ‘(‘, etc) then we pop entries form the stack until we find an entry of lower priority. One exception is that we never remove a ‘(‘ from the stack except when processing a ‘)’</a:t>
            </a:r>
          </a:p>
          <a:p>
            <a:pPr marL="609600" indent="-609600" eaLnBrk="1" hangingPunct="1">
              <a:lnSpc>
                <a:spcPct val="50000"/>
              </a:lnSpc>
            </a:pPr>
            <a:endParaRPr lang="en-US" sz="2000" dirty="0"/>
          </a:p>
          <a:p>
            <a:pPr marL="609600" indent="-609600" eaLnBrk="1" hangingPunct="1">
              <a:lnSpc>
                <a:spcPct val="80000"/>
              </a:lnSpc>
            </a:pPr>
            <a:r>
              <a:rPr lang="en-US" sz="2000" dirty="0"/>
              <a:t>When the popping is done, we push the operand onto the stack</a:t>
            </a:r>
          </a:p>
          <a:p>
            <a:pPr marL="609600" indent="-609600" eaLnBrk="1" hangingPunct="1">
              <a:lnSpc>
                <a:spcPct val="40000"/>
              </a:lnSpc>
            </a:pPr>
            <a:endParaRPr lang="en-US" sz="2000" dirty="0"/>
          </a:p>
          <a:p>
            <a:pPr marL="609600" indent="-609600" eaLnBrk="1" hangingPunct="1">
              <a:lnSpc>
                <a:spcPct val="90000"/>
              </a:lnSpc>
            </a:pPr>
            <a:r>
              <a:rPr lang="en-US" sz="2000" dirty="0"/>
              <a:t>Finally, if we read the end of input, we pop the stack until it is empty, writing symbols onto the output</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box(in)">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6739">
                                            <p:txEl>
                                              <p:pRg st="2" end="2"/>
                                            </p:txEl>
                                          </p:spTgt>
                                        </p:tgtEl>
                                        <p:attrNameLst>
                                          <p:attrName>style.visibility</p:attrName>
                                        </p:attrNameLst>
                                      </p:cBhvr>
                                      <p:to>
                                        <p:strVal val="visible"/>
                                      </p:to>
                                    </p:set>
                                    <p:animEffect transition="in" filter="box(in)">
                                      <p:cBhvr>
                                        <p:cTn id="12" dur="500"/>
                                        <p:tgtEl>
                                          <p:spTgt spid="1167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6739">
                                            <p:txEl>
                                              <p:pRg st="4" end="4"/>
                                            </p:txEl>
                                          </p:spTgt>
                                        </p:tgtEl>
                                        <p:attrNameLst>
                                          <p:attrName>style.visibility</p:attrName>
                                        </p:attrNameLst>
                                      </p:cBhvr>
                                      <p:to>
                                        <p:strVal val="visible"/>
                                      </p:to>
                                    </p:set>
                                    <p:animEffect transition="in" filter="box(in)">
                                      <p:cBhvr>
                                        <p:cTn id="17" dur="500"/>
                                        <p:tgtEl>
                                          <p:spTgt spid="1167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6739">
                                            <p:txEl>
                                              <p:pRg st="6" end="6"/>
                                            </p:txEl>
                                          </p:spTgt>
                                        </p:tgtEl>
                                        <p:attrNameLst>
                                          <p:attrName>style.visibility</p:attrName>
                                        </p:attrNameLst>
                                      </p:cBhvr>
                                      <p:to>
                                        <p:strVal val="visible"/>
                                      </p:to>
                                    </p:set>
                                    <p:animEffect transition="in" filter="box(in)">
                                      <p:cBhvr>
                                        <p:cTn id="22" dur="500"/>
                                        <p:tgtEl>
                                          <p:spTgt spid="11673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6739">
                                            <p:txEl>
                                              <p:pRg st="8" end="8"/>
                                            </p:txEl>
                                          </p:spTgt>
                                        </p:tgtEl>
                                        <p:attrNameLst>
                                          <p:attrName>style.visibility</p:attrName>
                                        </p:attrNameLst>
                                      </p:cBhvr>
                                      <p:to>
                                        <p:strVal val="visible"/>
                                      </p:to>
                                    </p:set>
                                    <p:animEffect transition="in" filter="box(in)">
                                      <p:cBhvr>
                                        <p:cTn id="27" dur="500"/>
                                        <p:tgtEl>
                                          <p:spTgt spid="116739">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16739">
                                            <p:txEl>
                                              <p:pRg st="10" end="10"/>
                                            </p:txEl>
                                          </p:spTgt>
                                        </p:tgtEl>
                                        <p:attrNameLst>
                                          <p:attrName>style.visibility</p:attrName>
                                        </p:attrNameLst>
                                      </p:cBhvr>
                                      <p:to>
                                        <p:strVal val="visible"/>
                                      </p:to>
                                    </p:set>
                                    <p:animEffect transition="in" filter="box(in)">
                                      <p:cBhvr>
                                        <p:cTn id="32" dur="500"/>
                                        <p:tgtEl>
                                          <p:spTgt spid="1167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457200" y="152400"/>
            <a:ext cx="8229600" cy="1066800"/>
          </a:xfrm>
        </p:spPr>
        <p:txBody>
          <a:bodyPr/>
          <a:lstStyle/>
          <a:p>
            <a:pPr eaLnBrk="1" hangingPunct="1"/>
            <a:r>
              <a:rPr lang="en-US" dirty="0"/>
              <a:t>Converting Infix expression to postfix</a:t>
            </a:r>
          </a:p>
        </p:txBody>
      </p:sp>
      <p:sp>
        <p:nvSpPr>
          <p:cNvPr id="117763" name="Rectangle 3"/>
          <p:cNvSpPr>
            <a:spLocks noGrp="1" noChangeArrowheads="1"/>
          </p:cNvSpPr>
          <p:nvPr>
            <p:ph type="body" idx="1"/>
          </p:nvPr>
        </p:nvSpPr>
        <p:spPr>
          <a:xfrm>
            <a:off x="457200" y="990600"/>
            <a:ext cx="7467600" cy="1219200"/>
          </a:xfrm>
        </p:spPr>
        <p:txBody>
          <a:bodyPr/>
          <a:lstStyle/>
          <a:p>
            <a:pPr marL="609600" indent="-609600" eaLnBrk="1" hangingPunct="1">
              <a:lnSpc>
                <a:spcPct val="40000"/>
              </a:lnSpc>
              <a:buFontTx/>
              <a:buNone/>
            </a:pPr>
            <a:endParaRPr lang="en-US" sz="2400" dirty="0"/>
          </a:p>
          <a:p>
            <a:pPr marL="609600" indent="-609600" eaLnBrk="1" hangingPunct="1"/>
            <a:r>
              <a:rPr lang="en-US" sz="2000" dirty="0"/>
              <a:t>Convert the following infix expression to postfix expression</a:t>
            </a:r>
          </a:p>
          <a:p>
            <a:pPr marL="609600" indent="-609600" eaLnBrk="1" hangingPunct="1">
              <a:buFontTx/>
              <a:buNone/>
            </a:pPr>
            <a:r>
              <a:rPr lang="en-US" sz="2000" dirty="0"/>
              <a:t>	</a:t>
            </a:r>
            <a:r>
              <a:rPr lang="en-US" sz="2000" dirty="0" err="1"/>
              <a:t>a+b</a:t>
            </a:r>
            <a:r>
              <a:rPr lang="en-US" sz="2000" dirty="0"/>
              <a:t>*c+(d*</a:t>
            </a:r>
            <a:r>
              <a:rPr lang="en-US" sz="2000" dirty="0" err="1"/>
              <a:t>e+f</a:t>
            </a:r>
            <a:r>
              <a:rPr lang="en-US" sz="2000" dirty="0"/>
              <a:t>)*g</a:t>
            </a:r>
          </a:p>
          <a:p>
            <a:pPr marL="609600" indent="-609600" eaLnBrk="1" hangingPunct="1">
              <a:buFontTx/>
              <a:buNone/>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a:p>
            <a:pPr marL="609600" indent="-609600" eaLnBrk="1" hangingPunct="1">
              <a:buFontTx/>
              <a:buAutoNum type="arabicPeriod"/>
            </a:pPr>
            <a:endParaRPr lang="en-US" sz="2000" dirty="0"/>
          </a:p>
        </p:txBody>
      </p:sp>
      <p:sp>
        <p:nvSpPr>
          <p:cNvPr id="117764" name="Text Box 4"/>
          <p:cNvSpPr txBox="1">
            <a:spLocks noChangeArrowheads="1"/>
          </p:cNvSpPr>
          <p:nvPr/>
        </p:nvSpPr>
        <p:spPr bwMode="auto">
          <a:xfrm>
            <a:off x="304800" y="1981200"/>
            <a:ext cx="81534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a:pPr>
            <a:r>
              <a:rPr lang="en-US" sz="2000">
                <a:latin typeface="Times New Roman" pitchFamily="18" charset="0"/>
              </a:rPr>
              <a:t>First the symbol </a:t>
            </a:r>
            <a:r>
              <a:rPr lang="en-US" sz="2000">
                <a:solidFill>
                  <a:srgbClr val="FF00FF"/>
                </a:solidFill>
                <a:latin typeface="Times New Roman" pitchFamily="18" charset="0"/>
              </a:rPr>
              <a:t>a</a:t>
            </a:r>
            <a:r>
              <a:rPr lang="en-US" sz="2000">
                <a:latin typeface="Times New Roman" pitchFamily="18" charset="0"/>
              </a:rPr>
              <a:t> is read, so it is passed through to the output</a:t>
            </a:r>
          </a:p>
        </p:txBody>
      </p:sp>
      <p:grpSp>
        <p:nvGrpSpPr>
          <p:cNvPr id="2" name="Group 5"/>
          <p:cNvGrpSpPr>
            <a:grpSpLocks/>
          </p:cNvGrpSpPr>
          <p:nvPr/>
        </p:nvGrpSpPr>
        <p:grpSpPr bwMode="auto">
          <a:xfrm>
            <a:off x="7315200" y="2514600"/>
            <a:ext cx="1600200" cy="914400"/>
            <a:chOff x="1632" y="2064"/>
            <a:chExt cx="1008" cy="576"/>
          </a:xfrm>
        </p:grpSpPr>
        <p:sp>
          <p:nvSpPr>
            <p:cNvPr id="43036" name="Rectangle 6"/>
            <p:cNvSpPr>
              <a:spLocks noChangeArrowheads="1"/>
            </p:cNvSpPr>
            <p:nvPr/>
          </p:nvSpPr>
          <p:spPr bwMode="auto">
            <a:xfrm>
              <a:off x="1632" y="2064"/>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3037" name="Text Box 7"/>
            <p:cNvSpPr txBox="1">
              <a:spLocks noChangeArrowheads="1"/>
            </p:cNvSpPr>
            <p:nvPr/>
          </p:nvSpPr>
          <p:spPr bwMode="auto">
            <a:xfrm>
              <a:off x="1632" y="2064"/>
              <a:ext cx="432"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a:t>
              </a:r>
            </a:p>
          </p:txBody>
        </p:sp>
        <p:sp>
          <p:nvSpPr>
            <p:cNvPr id="43038" name="Text Box 8"/>
            <p:cNvSpPr txBox="1">
              <a:spLocks noChangeArrowheads="1"/>
            </p:cNvSpPr>
            <p:nvPr/>
          </p:nvSpPr>
          <p:spPr bwMode="auto">
            <a:xfrm>
              <a:off x="1776" y="2352"/>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117769" name="Text Box 9"/>
          <p:cNvSpPr txBox="1">
            <a:spLocks noChangeArrowheads="1"/>
          </p:cNvSpPr>
          <p:nvPr/>
        </p:nvSpPr>
        <p:spPr bwMode="auto">
          <a:xfrm>
            <a:off x="304800" y="29718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2"/>
            </a:pPr>
            <a:r>
              <a:rPr lang="en-US" sz="2000">
                <a:latin typeface="Times New Roman" pitchFamily="18" charset="0"/>
              </a:rPr>
              <a:t>Then </a:t>
            </a:r>
            <a:r>
              <a:rPr lang="en-US" sz="2000">
                <a:solidFill>
                  <a:srgbClr val="FF00FF"/>
                </a:solidFill>
                <a:latin typeface="Times New Roman" pitchFamily="18" charset="0"/>
              </a:rPr>
              <a:t>+</a:t>
            </a:r>
            <a:r>
              <a:rPr lang="en-US" sz="2000">
                <a:latin typeface="Times New Roman" pitchFamily="18" charset="0"/>
              </a:rPr>
              <a:t> is read and pushed onto the stack</a:t>
            </a:r>
          </a:p>
        </p:txBody>
      </p:sp>
      <p:grpSp>
        <p:nvGrpSpPr>
          <p:cNvPr id="3" name="Group 10"/>
          <p:cNvGrpSpPr>
            <a:grpSpLocks/>
          </p:cNvGrpSpPr>
          <p:nvPr/>
        </p:nvGrpSpPr>
        <p:grpSpPr bwMode="auto">
          <a:xfrm>
            <a:off x="6324600" y="3048000"/>
            <a:ext cx="838200" cy="1295400"/>
            <a:chOff x="5088" y="3504"/>
            <a:chExt cx="528" cy="816"/>
          </a:xfrm>
        </p:grpSpPr>
        <p:grpSp>
          <p:nvGrpSpPr>
            <p:cNvPr id="4" name="Group 11"/>
            <p:cNvGrpSpPr>
              <a:grpSpLocks/>
            </p:cNvGrpSpPr>
            <p:nvPr/>
          </p:nvGrpSpPr>
          <p:grpSpPr bwMode="auto">
            <a:xfrm>
              <a:off x="5184" y="3504"/>
              <a:ext cx="336" cy="528"/>
              <a:chOff x="5184" y="3504"/>
              <a:chExt cx="336" cy="528"/>
            </a:xfrm>
          </p:grpSpPr>
          <p:sp>
            <p:nvSpPr>
              <p:cNvPr id="43031" name="Line 12"/>
              <p:cNvSpPr>
                <a:spLocks noChangeShapeType="1"/>
              </p:cNvSpPr>
              <p:nvPr/>
            </p:nvSpPr>
            <p:spPr bwMode="auto">
              <a:xfrm>
                <a:off x="5184" y="4032"/>
                <a:ext cx="336" cy="0"/>
              </a:xfrm>
              <a:prstGeom prst="line">
                <a:avLst/>
              </a:prstGeom>
              <a:noFill/>
              <a:ln w="9525">
                <a:solidFill>
                  <a:schemeClr val="tx1"/>
                </a:solidFill>
                <a:miter lim="800000"/>
                <a:headEnd/>
                <a:tailEnd/>
              </a:ln>
            </p:spPr>
            <p:txBody>
              <a:bodyPr wrap="none"/>
              <a:lstStyle/>
              <a:p>
                <a:endParaRPr lang="en-US"/>
              </a:p>
            </p:txBody>
          </p:sp>
          <p:grpSp>
            <p:nvGrpSpPr>
              <p:cNvPr id="5" name="Group 13"/>
              <p:cNvGrpSpPr>
                <a:grpSpLocks/>
              </p:cNvGrpSpPr>
              <p:nvPr/>
            </p:nvGrpSpPr>
            <p:grpSpPr bwMode="auto">
              <a:xfrm>
                <a:off x="5184" y="3504"/>
                <a:ext cx="336" cy="528"/>
                <a:chOff x="4128" y="3168"/>
                <a:chExt cx="336" cy="528"/>
              </a:xfrm>
            </p:grpSpPr>
            <p:sp>
              <p:nvSpPr>
                <p:cNvPr id="43033" name="Line 14"/>
                <p:cNvSpPr>
                  <a:spLocks noChangeShapeType="1"/>
                </p:cNvSpPr>
                <p:nvPr/>
              </p:nvSpPr>
              <p:spPr bwMode="auto">
                <a:xfrm>
                  <a:off x="4464" y="3168"/>
                  <a:ext cx="0" cy="528"/>
                </a:xfrm>
                <a:prstGeom prst="line">
                  <a:avLst/>
                </a:prstGeom>
                <a:noFill/>
                <a:ln w="9525">
                  <a:solidFill>
                    <a:schemeClr val="tx1"/>
                  </a:solidFill>
                  <a:miter lim="800000"/>
                  <a:headEnd/>
                  <a:tailEnd/>
                </a:ln>
              </p:spPr>
              <p:txBody>
                <a:bodyPr wrap="none"/>
                <a:lstStyle/>
                <a:p>
                  <a:endParaRPr lang="en-US"/>
                </a:p>
              </p:txBody>
            </p:sp>
            <p:sp>
              <p:nvSpPr>
                <p:cNvPr id="43034" name="Line 15"/>
                <p:cNvSpPr>
                  <a:spLocks noChangeShapeType="1"/>
                </p:cNvSpPr>
                <p:nvPr/>
              </p:nvSpPr>
              <p:spPr bwMode="auto">
                <a:xfrm flipV="1">
                  <a:off x="4128" y="3168"/>
                  <a:ext cx="0" cy="528"/>
                </a:xfrm>
                <a:prstGeom prst="line">
                  <a:avLst/>
                </a:prstGeom>
                <a:noFill/>
                <a:ln w="9525">
                  <a:solidFill>
                    <a:schemeClr val="tx1"/>
                  </a:solidFill>
                  <a:miter lim="800000"/>
                  <a:headEnd/>
                  <a:tailEnd/>
                </a:ln>
              </p:spPr>
              <p:txBody>
                <a:bodyPr wrap="none"/>
                <a:lstStyle/>
                <a:p>
                  <a:endParaRPr lang="en-US"/>
                </a:p>
              </p:txBody>
            </p:sp>
            <p:sp>
              <p:nvSpPr>
                <p:cNvPr id="43035" name="Text Box 16"/>
                <p:cNvSpPr txBox="1">
                  <a:spLocks noChangeArrowheads="1"/>
                </p:cNvSpPr>
                <p:nvPr/>
              </p:nvSpPr>
              <p:spPr bwMode="auto">
                <a:xfrm>
                  <a:off x="4128" y="3408"/>
                  <a:ext cx="336" cy="288"/>
                </a:xfrm>
                <a:prstGeom prst="rect">
                  <a:avLst/>
                </a:prstGeom>
                <a:noFill/>
                <a:ln w="9525">
                  <a:noFill/>
                  <a:miter lim="800000"/>
                  <a:headEnd/>
                  <a:tailEnd/>
                </a:ln>
              </p:spPr>
              <p:txBody>
                <a:bodyPr>
                  <a:spAutoFit/>
                </a:bodyPr>
                <a:lstStyle/>
                <a:p>
                  <a:pPr algn="ctr" eaLnBrk="1" hangingPunct="1">
                    <a:spcBef>
                      <a:spcPct val="50000"/>
                    </a:spcBef>
                  </a:pPr>
                  <a:r>
                    <a:rPr lang="en-US" sz="2400">
                      <a:latin typeface="Times New Roman" pitchFamily="18" charset="0"/>
                    </a:rPr>
                    <a:t>+</a:t>
                  </a:r>
                </a:p>
              </p:txBody>
            </p:sp>
          </p:grpSp>
        </p:grpSp>
        <p:sp>
          <p:nvSpPr>
            <p:cNvPr id="43030" name="Text Box 17"/>
            <p:cNvSpPr txBox="1">
              <a:spLocks noChangeArrowheads="1"/>
            </p:cNvSpPr>
            <p:nvPr/>
          </p:nvSpPr>
          <p:spPr bwMode="auto">
            <a:xfrm>
              <a:off x="5088"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17778" name="Text Box 18"/>
          <p:cNvSpPr txBox="1">
            <a:spLocks noChangeArrowheads="1"/>
          </p:cNvSpPr>
          <p:nvPr/>
        </p:nvSpPr>
        <p:spPr bwMode="auto">
          <a:xfrm>
            <a:off x="381000" y="5257800"/>
            <a:ext cx="8077200" cy="7016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4"/>
            </a:pPr>
            <a:r>
              <a:rPr lang="en-US" sz="2000">
                <a:latin typeface="Times New Roman" pitchFamily="18" charset="0"/>
              </a:rPr>
              <a:t>Next a </a:t>
            </a:r>
            <a:r>
              <a:rPr lang="en-US" sz="2000">
                <a:solidFill>
                  <a:srgbClr val="FF00FF"/>
                </a:solidFill>
                <a:latin typeface="Times New Roman" pitchFamily="18" charset="0"/>
              </a:rPr>
              <a:t>*</a:t>
            </a:r>
            <a:r>
              <a:rPr lang="en-US" sz="2000">
                <a:latin typeface="Times New Roman" pitchFamily="18" charset="0"/>
              </a:rPr>
              <a:t> is read. The top entry on the operator stack has lower precedence than *, so nothing is output and * is put on the stack</a:t>
            </a:r>
          </a:p>
        </p:txBody>
      </p:sp>
      <p:sp>
        <p:nvSpPr>
          <p:cNvPr id="117779" name="Rectangle 19"/>
          <p:cNvSpPr>
            <a:spLocks noChangeArrowheads="1"/>
          </p:cNvSpPr>
          <p:nvPr/>
        </p:nvSpPr>
        <p:spPr bwMode="auto">
          <a:xfrm>
            <a:off x="366713" y="4421188"/>
            <a:ext cx="5424487" cy="366712"/>
          </a:xfrm>
          <a:prstGeom prst="rect">
            <a:avLst/>
          </a:prstGeom>
          <a:noFill/>
          <a:ln w="9525">
            <a:noFill/>
            <a:miter lim="800000"/>
            <a:headEnd/>
            <a:tailEnd/>
          </a:ln>
        </p:spPr>
        <p:txBody>
          <a:bodyPr wrap="none">
            <a:spAutoFit/>
          </a:bodyPr>
          <a:lstStyle/>
          <a:p>
            <a:pPr marL="457200" indent="-457200" eaLnBrk="1" hangingPunct="1">
              <a:lnSpc>
                <a:spcPct val="90000"/>
              </a:lnSpc>
              <a:spcBef>
                <a:spcPct val="20000"/>
              </a:spcBef>
              <a:buFontTx/>
              <a:buAutoNum type="arabicPeriod" startAt="3"/>
            </a:pPr>
            <a:r>
              <a:rPr lang="en-US" sz="2000">
                <a:latin typeface="Times New Roman" pitchFamily="18" charset="0"/>
              </a:rPr>
              <a:t>Next </a:t>
            </a:r>
            <a:r>
              <a:rPr lang="en-US" sz="2000">
                <a:solidFill>
                  <a:srgbClr val="FF00FF"/>
                </a:solidFill>
                <a:latin typeface="Times New Roman" pitchFamily="18" charset="0"/>
              </a:rPr>
              <a:t>b</a:t>
            </a:r>
            <a:r>
              <a:rPr lang="en-US" sz="2000">
                <a:latin typeface="Times New Roman" pitchFamily="18" charset="0"/>
              </a:rPr>
              <a:t> is read and passed through to the output</a:t>
            </a:r>
          </a:p>
        </p:txBody>
      </p:sp>
      <p:grpSp>
        <p:nvGrpSpPr>
          <p:cNvPr id="6" name="Group 20"/>
          <p:cNvGrpSpPr>
            <a:grpSpLocks/>
          </p:cNvGrpSpPr>
          <p:nvPr/>
        </p:nvGrpSpPr>
        <p:grpSpPr bwMode="auto">
          <a:xfrm>
            <a:off x="6324600" y="4419600"/>
            <a:ext cx="1600200" cy="914400"/>
            <a:chOff x="4032" y="3024"/>
            <a:chExt cx="1008" cy="576"/>
          </a:xfrm>
        </p:grpSpPr>
        <p:sp>
          <p:nvSpPr>
            <p:cNvPr id="43026" name="Rectangle 21"/>
            <p:cNvSpPr>
              <a:spLocks noChangeArrowheads="1"/>
            </p:cNvSpPr>
            <p:nvPr/>
          </p:nvSpPr>
          <p:spPr bwMode="auto">
            <a:xfrm>
              <a:off x="4032" y="3024"/>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3027" name="Text Box 22"/>
            <p:cNvSpPr txBox="1">
              <a:spLocks noChangeArrowheads="1"/>
            </p:cNvSpPr>
            <p:nvPr/>
          </p:nvSpPr>
          <p:spPr bwMode="auto">
            <a:xfrm>
              <a:off x="4032" y="3024"/>
              <a:ext cx="432"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a:t>
              </a:r>
            </a:p>
          </p:txBody>
        </p:sp>
        <p:sp>
          <p:nvSpPr>
            <p:cNvPr id="43028" name="Text Box 23"/>
            <p:cNvSpPr txBox="1">
              <a:spLocks noChangeArrowheads="1"/>
            </p:cNvSpPr>
            <p:nvPr/>
          </p:nvSpPr>
          <p:spPr bwMode="auto">
            <a:xfrm>
              <a:off x="4176" y="3312"/>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grpSp>
        <p:nvGrpSpPr>
          <p:cNvPr id="7" name="Group 24"/>
          <p:cNvGrpSpPr>
            <a:grpSpLocks/>
          </p:cNvGrpSpPr>
          <p:nvPr/>
        </p:nvGrpSpPr>
        <p:grpSpPr bwMode="auto">
          <a:xfrm>
            <a:off x="8001000" y="4876800"/>
            <a:ext cx="838200" cy="1295400"/>
            <a:chOff x="5088" y="3360"/>
            <a:chExt cx="528" cy="816"/>
          </a:xfrm>
        </p:grpSpPr>
        <p:sp>
          <p:nvSpPr>
            <p:cNvPr id="43021" name="Line 25"/>
            <p:cNvSpPr>
              <a:spLocks noChangeShapeType="1"/>
            </p:cNvSpPr>
            <p:nvPr/>
          </p:nvSpPr>
          <p:spPr bwMode="auto">
            <a:xfrm>
              <a:off x="5184" y="3888"/>
              <a:ext cx="336" cy="0"/>
            </a:xfrm>
            <a:prstGeom prst="line">
              <a:avLst/>
            </a:prstGeom>
            <a:noFill/>
            <a:ln w="9525">
              <a:solidFill>
                <a:schemeClr val="tx1"/>
              </a:solidFill>
              <a:miter lim="800000"/>
              <a:headEnd/>
              <a:tailEnd/>
            </a:ln>
          </p:spPr>
          <p:txBody>
            <a:bodyPr wrap="none"/>
            <a:lstStyle/>
            <a:p>
              <a:endParaRPr lang="en-US"/>
            </a:p>
          </p:txBody>
        </p:sp>
        <p:sp>
          <p:nvSpPr>
            <p:cNvPr id="43022" name="Line 26"/>
            <p:cNvSpPr>
              <a:spLocks noChangeShapeType="1"/>
            </p:cNvSpPr>
            <p:nvPr/>
          </p:nvSpPr>
          <p:spPr bwMode="auto">
            <a:xfrm>
              <a:off x="5520" y="3360"/>
              <a:ext cx="0" cy="528"/>
            </a:xfrm>
            <a:prstGeom prst="line">
              <a:avLst/>
            </a:prstGeom>
            <a:noFill/>
            <a:ln w="9525">
              <a:solidFill>
                <a:schemeClr val="tx1"/>
              </a:solidFill>
              <a:miter lim="800000"/>
              <a:headEnd/>
              <a:tailEnd/>
            </a:ln>
          </p:spPr>
          <p:txBody>
            <a:bodyPr wrap="none"/>
            <a:lstStyle/>
            <a:p>
              <a:endParaRPr lang="en-US"/>
            </a:p>
          </p:txBody>
        </p:sp>
        <p:sp>
          <p:nvSpPr>
            <p:cNvPr id="43023" name="Line 27"/>
            <p:cNvSpPr>
              <a:spLocks noChangeShapeType="1"/>
            </p:cNvSpPr>
            <p:nvPr/>
          </p:nvSpPr>
          <p:spPr bwMode="auto">
            <a:xfrm flipV="1">
              <a:off x="5184" y="3360"/>
              <a:ext cx="0" cy="528"/>
            </a:xfrm>
            <a:prstGeom prst="line">
              <a:avLst/>
            </a:prstGeom>
            <a:noFill/>
            <a:ln w="9525">
              <a:solidFill>
                <a:schemeClr val="tx1"/>
              </a:solidFill>
              <a:miter lim="800000"/>
              <a:headEnd/>
              <a:tailEnd/>
            </a:ln>
          </p:spPr>
          <p:txBody>
            <a:bodyPr wrap="none"/>
            <a:lstStyle/>
            <a:p>
              <a:endParaRPr lang="en-US"/>
            </a:p>
          </p:txBody>
        </p:sp>
        <p:sp>
          <p:nvSpPr>
            <p:cNvPr id="43024" name="Text Box 28"/>
            <p:cNvSpPr txBox="1">
              <a:spLocks noChangeArrowheads="1"/>
            </p:cNvSpPr>
            <p:nvPr/>
          </p:nvSpPr>
          <p:spPr bwMode="auto">
            <a:xfrm>
              <a:off x="5184" y="3360"/>
              <a:ext cx="336" cy="538"/>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3025" name="Text Box 29"/>
            <p:cNvSpPr txBox="1">
              <a:spLocks noChangeArrowheads="1"/>
            </p:cNvSpPr>
            <p:nvPr/>
          </p:nvSpPr>
          <p:spPr bwMode="auto">
            <a:xfrm>
              <a:off x="5088" y="388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31" name="Footer Placeholder 30"/>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7763">
                                            <p:txEl>
                                              <p:pRg st="1" end="1"/>
                                            </p:txEl>
                                          </p:spTgt>
                                        </p:tgtEl>
                                        <p:attrNameLst>
                                          <p:attrName>style.visibility</p:attrName>
                                        </p:attrNameLst>
                                      </p:cBhvr>
                                      <p:to>
                                        <p:strVal val="visible"/>
                                      </p:to>
                                    </p:set>
                                    <p:animEffect transition="in" filter="box(in)">
                                      <p:cBhvr>
                                        <p:cTn id="7" dur="500"/>
                                        <p:tgtEl>
                                          <p:spTgt spid="1177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7763">
                                            <p:txEl>
                                              <p:pRg st="2" end="2"/>
                                            </p:txEl>
                                          </p:spTgt>
                                        </p:tgtEl>
                                        <p:attrNameLst>
                                          <p:attrName>style.visibility</p:attrName>
                                        </p:attrNameLst>
                                      </p:cBhvr>
                                      <p:to>
                                        <p:strVal val="visible"/>
                                      </p:to>
                                    </p:set>
                                    <p:animEffect transition="in" filter="box(in)">
                                      <p:cBhvr>
                                        <p:cTn id="12" dur="500"/>
                                        <p:tgtEl>
                                          <p:spTgt spid="1177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7764"/>
                                        </p:tgtEl>
                                        <p:attrNameLst>
                                          <p:attrName>style.visibility</p:attrName>
                                        </p:attrNameLst>
                                      </p:cBhvr>
                                      <p:to>
                                        <p:strVal val="visible"/>
                                      </p:to>
                                    </p:set>
                                    <p:animEffect transition="in" filter="box(in)">
                                      <p:cBhvr>
                                        <p:cTn id="17" dur="500"/>
                                        <p:tgtEl>
                                          <p:spTgt spid="11776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7769"/>
                                        </p:tgtEl>
                                        <p:attrNameLst>
                                          <p:attrName>style.visibility</p:attrName>
                                        </p:attrNameLst>
                                      </p:cBhvr>
                                      <p:to>
                                        <p:strVal val="visible"/>
                                      </p:to>
                                    </p:set>
                                    <p:animEffect transition="in" filter="box(in)">
                                      <p:cBhvr>
                                        <p:cTn id="27" dur="500"/>
                                        <p:tgtEl>
                                          <p:spTgt spid="11776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in)">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17779"/>
                                        </p:tgtEl>
                                        <p:attrNameLst>
                                          <p:attrName>style.visibility</p:attrName>
                                        </p:attrNameLst>
                                      </p:cBhvr>
                                      <p:to>
                                        <p:strVal val="visible"/>
                                      </p:to>
                                    </p:set>
                                    <p:animEffect transition="in" filter="box(in)">
                                      <p:cBhvr>
                                        <p:cTn id="37" dur="500"/>
                                        <p:tgtEl>
                                          <p:spTgt spid="11777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ox(i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17778"/>
                                        </p:tgtEl>
                                        <p:attrNameLst>
                                          <p:attrName>style.visibility</p:attrName>
                                        </p:attrNameLst>
                                      </p:cBhvr>
                                      <p:to>
                                        <p:strVal val="visible"/>
                                      </p:to>
                                    </p:set>
                                    <p:animEffect transition="in" filter="box(in)">
                                      <p:cBhvr>
                                        <p:cTn id="47" dur="500"/>
                                        <p:tgtEl>
                                          <p:spTgt spid="117778"/>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ox(in)">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autoUpdateAnimBg="0"/>
      <p:bldP spid="117764" grpId="0" autoUpdateAnimBg="0"/>
      <p:bldP spid="117769" grpId="0" autoUpdateAnimBg="0"/>
      <p:bldP spid="117778" grpId="0" autoUpdateAnimBg="0"/>
      <p:bldP spid="117779"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533400" y="76200"/>
            <a:ext cx="8382000" cy="1143000"/>
          </a:xfrm>
        </p:spPr>
        <p:txBody>
          <a:bodyPr/>
          <a:lstStyle/>
          <a:p>
            <a:pPr eaLnBrk="1" hangingPunct="1"/>
            <a:r>
              <a:rPr lang="en-US" dirty="0"/>
              <a:t>Converting Infix expression to postfix</a:t>
            </a:r>
          </a:p>
        </p:txBody>
      </p:sp>
      <p:sp>
        <p:nvSpPr>
          <p:cNvPr id="44036" name="Rectangle 3"/>
          <p:cNvSpPr>
            <a:spLocks noGrp="1" noChangeArrowheads="1"/>
          </p:cNvSpPr>
          <p:nvPr>
            <p:ph type="body" idx="1"/>
          </p:nvPr>
        </p:nvSpPr>
        <p:spPr>
          <a:xfrm>
            <a:off x="457200" y="1524000"/>
            <a:ext cx="80010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400" dirty="0"/>
          </a:p>
          <a:p>
            <a:pPr marL="609600" indent="-609600" eaLnBrk="1" hangingPunct="1">
              <a:lnSpc>
                <a:spcPct val="40000"/>
              </a:lnSpc>
              <a:buFontTx/>
              <a:buNone/>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None/>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a:p>
            <a:pPr marL="609600" indent="-609600" eaLnBrk="1" hangingPunct="1">
              <a:lnSpc>
                <a:spcPct val="90000"/>
              </a:lnSpc>
              <a:buFontTx/>
              <a:buAutoNum type="arabicPeriod"/>
            </a:pPr>
            <a:endParaRPr lang="en-US" sz="2800" dirty="0"/>
          </a:p>
        </p:txBody>
      </p:sp>
      <p:sp>
        <p:nvSpPr>
          <p:cNvPr id="118788" name="Text Box 4"/>
          <p:cNvSpPr txBox="1">
            <a:spLocks noChangeArrowheads="1"/>
          </p:cNvSpPr>
          <p:nvPr/>
        </p:nvSpPr>
        <p:spPr bwMode="auto">
          <a:xfrm>
            <a:off x="990600" y="2651125"/>
            <a:ext cx="81534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5"/>
            </a:pPr>
            <a:r>
              <a:rPr lang="en-US" sz="2000">
                <a:latin typeface="Times New Roman" pitchFamily="18" charset="0"/>
              </a:rPr>
              <a:t>Next </a:t>
            </a:r>
            <a:r>
              <a:rPr lang="en-US" sz="2000">
                <a:solidFill>
                  <a:srgbClr val="FF00FF"/>
                </a:solidFill>
                <a:latin typeface="Times New Roman" pitchFamily="18" charset="0"/>
              </a:rPr>
              <a:t>c</a:t>
            </a:r>
            <a:r>
              <a:rPr lang="en-US" sz="2000">
                <a:latin typeface="Times New Roman" pitchFamily="18" charset="0"/>
              </a:rPr>
              <a:t> is read and output</a:t>
            </a:r>
          </a:p>
        </p:txBody>
      </p:sp>
      <p:sp>
        <p:nvSpPr>
          <p:cNvPr id="118789" name="Text Box 5"/>
          <p:cNvSpPr txBox="1">
            <a:spLocks noChangeArrowheads="1"/>
          </p:cNvSpPr>
          <p:nvPr/>
        </p:nvSpPr>
        <p:spPr bwMode="auto">
          <a:xfrm>
            <a:off x="990600" y="3565525"/>
            <a:ext cx="8153400" cy="10064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6"/>
            </a:pPr>
            <a:r>
              <a:rPr lang="en-US" sz="2000">
                <a:latin typeface="Times New Roman" pitchFamily="18" charset="0"/>
              </a:rPr>
              <a:t>The next symbol is a </a:t>
            </a:r>
            <a:r>
              <a:rPr lang="en-US" sz="2000">
                <a:solidFill>
                  <a:srgbClr val="FF00FF"/>
                </a:solidFill>
                <a:latin typeface="Times New Roman" pitchFamily="18" charset="0"/>
              </a:rPr>
              <a:t>+</a:t>
            </a:r>
            <a:r>
              <a:rPr lang="en-US" sz="2000">
                <a:latin typeface="Times New Roman" pitchFamily="18" charset="0"/>
              </a:rPr>
              <a:t>. Checking the stack, we find that priority of stack top symbol * is higher than + . So we pop a * and place it on the output, Pop  the other +, which is not of lower but equal priority, and then push +</a:t>
            </a:r>
          </a:p>
        </p:txBody>
      </p:sp>
      <p:grpSp>
        <p:nvGrpSpPr>
          <p:cNvPr id="2" name="Group 6"/>
          <p:cNvGrpSpPr>
            <a:grpSpLocks/>
          </p:cNvGrpSpPr>
          <p:nvPr/>
        </p:nvGrpSpPr>
        <p:grpSpPr bwMode="auto">
          <a:xfrm>
            <a:off x="2209800" y="4876800"/>
            <a:ext cx="4724400" cy="1371600"/>
            <a:chOff x="1344" y="2448"/>
            <a:chExt cx="2976" cy="864"/>
          </a:xfrm>
        </p:grpSpPr>
        <p:grpSp>
          <p:nvGrpSpPr>
            <p:cNvPr id="3" name="Group 7"/>
            <p:cNvGrpSpPr>
              <a:grpSpLocks/>
            </p:cNvGrpSpPr>
            <p:nvPr/>
          </p:nvGrpSpPr>
          <p:grpSpPr bwMode="auto">
            <a:xfrm>
              <a:off x="3792" y="2448"/>
              <a:ext cx="528" cy="816"/>
              <a:chOff x="5088" y="3504"/>
              <a:chExt cx="528" cy="816"/>
            </a:xfrm>
          </p:grpSpPr>
          <p:grpSp>
            <p:nvGrpSpPr>
              <p:cNvPr id="4" name="Group 8"/>
              <p:cNvGrpSpPr>
                <a:grpSpLocks/>
              </p:cNvGrpSpPr>
              <p:nvPr/>
            </p:nvGrpSpPr>
            <p:grpSpPr bwMode="auto">
              <a:xfrm>
                <a:off x="5184" y="3504"/>
                <a:ext cx="336" cy="528"/>
                <a:chOff x="5184" y="3504"/>
                <a:chExt cx="336" cy="528"/>
              </a:xfrm>
            </p:grpSpPr>
            <p:sp>
              <p:nvSpPr>
                <p:cNvPr id="44057" name="Line 9"/>
                <p:cNvSpPr>
                  <a:spLocks noChangeShapeType="1"/>
                </p:cNvSpPr>
                <p:nvPr/>
              </p:nvSpPr>
              <p:spPr bwMode="auto">
                <a:xfrm>
                  <a:off x="5184" y="4032"/>
                  <a:ext cx="336" cy="0"/>
                </a:xfrm>
                <a:prstGeom prst="line">
                  <a:avLst/>
                </a:prstGeom>
                <a:noFill/>
                <a:ln w="9525">
                  <a:solidFill>
                    <a:schemeClr val="tx1"/>
                  </a:solidFill>
                  <a:miter lim="800000"/>
                  <a:headEnd/>
                  <a:tailEnd/>
                </a:ln>
              </p:spPr>
              <p:txBody>
                <a:bodyPr wrap="none"/>
                <a:lstStyle/>
                <a:p>
                  <a:endParaRPr lang="en-US"/>
                </a:p>
              </p:txBody>
            </p:sp>
            <p:grpSp>
              <p:nvGrpSpPr>
                <p:cNvPr id="5" name="Group 10"/>
                <p:cNvGrpSpPr>
                  <a:grpSpLocks/>
                </p:cNvGrpSpPr>
                <p:nvPr/>
              </p:nvGrpSpPr>
              <p:grpSpPr bwMode="auto">
                <a:xfrm>
                  <a:off x="5184" y="3504"/>
                  <a:ext cx="336" cy="528"/>
                  <a:chOff x="4128" y="3168"/>
                  <a:chExt cx="336" cy="528"/>
                </a:xfrm>
              </p:grpSpPr>
              <p:sp>
                <p:nvSpPr>
                  <p:cNvPr id="44059" name="Line 11"/>
                  <p:cNvSpPr>
                    <a:spLocks noChangeShapeType="1"/>
                  </p:cNvSpPr>
                  <p:nvPr/>
                </p:nvSpPr>
                <p:spPr bwMode="auto">
                  <a:xfrm>
                    <a:off x="4464" y="3168"/>
                    <a:ext cx="0" cy="528"/>
                  </a:xfrm>
                  <a:prstGeom prst="line">
                    <a:avLst/>
                  </a:prstGeom>
                  <a:noFill/>
                  <a:ln w="9525">
                    <a:solidFill>
                      <a:schemeClr val="tx1"/>
                    </a:solidFill>
                    <a:miter lim="800000"/>
                    <a:headEnd/>
                    <a:tailEnd/>
                  </a:ln>
                </p:spPr>
                <p:txBody>
                  <a:bodyPr wrap="none"/>
                  <a:lstStyle/>
                  <a:p>
                    <a:endParaRPr lang="en-US"/>
                  </a:p>
                </p:txBody>
              </p:sp>
              <p:sp>
                <p:nvSpPr>
                  <p:cNvPr id="44060" name="Line 12"/>
                  <p:cNvSpPr>
                    <a:spLocks noChangeShapeType="1"/>
                  </p:cNvSpPr>
                  <p:nvPr/>
                </p:nvSpPr>
                <p:spPr bwMode="auto">
                  <a:xfrm flipV="1">
                    <a:off x="4128" y="3168"/>
                    <a:ext cx="0" cy="528"/>
                  </a:xfrm>
                  <a:prstGeom prst="line">
                    <a:avLst/>
                  </a:prstGeom>
                  <a:noFill/>
                  <a:ln w="9525">
                    <a:solidFill>
                      <a:schemeClr val="tx1"/>
                    </a:solidFill>
                    <a:miter lim="800000"/>
                    <a:headEnd/>
                    <a:tailEnd/>
                  </a:ln>
                </p:spPr>
                <p:txBody>
                  <a:bodyPr wrap="none"/>
                  <a:lstStyle/>
                  <a:p>
                    <a:endParaRPr lang="en-US"/>
                  </a:p>
                </p:txBody>
              </p:sp>
              <p:sp>
                <p:nvSpPr>
                  <p:cNvPr id="44061" name="Text Box 13"/>
                  <p:cNvSpPr txBox="1">
                    <a:spLocks noChangeArrowheads="1"/>
                  </p:cNvSpPr>
                  <p:nvPr/>
                </p:nvSpPr>
                <p:spPr bwMode="auto">
                  <a:xfrm>
                    <a:off x="4128" y="3408"/>
                    <a:ext cx="336" cy="288"/>
                  </a:xfrm>
                  <a:prstGeom prst="rect">
                    <a:avLst/>
                  </a:prstGeom>
                  <a:noFill/>
                  <a:ln w="9525">
                    <a:noFill/>
                    <a:miter lim="800000"/>
                    <a:headEnd/>
                    <a:tailEnd/>
                  </a:ln>
                </p:spPr>
                <p:txBody>
                  <a:bodyPr>
                    <a:spAutoFit/>
                  </a:bodyPr>
                  <a:lstStyle/>
                  <a:p>
                    <a:pPr algn="ctr" eaLnBrk="1" hangingPunct="1">
                      <a:spcBef>
                        <a:spcPct val="50000"/>
                      </a:spcBef>
                    </a:pPr>
                    <a:r>
                      <a:rPr lang="en-US" sz="2400">
                        <a:latin typeface="Times New Roman" pitchFamily="18" charset="0"/>
                      </a:rPr>
                      <a:t>+</a:t>
                    </a:r>
                  </a:p>
                </p:txBody>
              </p:sp>
            </p:grpSp>
          </p:grpSp>
          <p:sp>
            <p:nvSpPr>
              <p:cNvPr id="44056" name="Text Box 14"/>
              <p:cNvSpPr txBox="1">
                <a:spLocks noChangeArrowheads="1"/>
              </p:cNvSpPr>
              <p:nvPr/>
            </p:nvSpPr>
            <p:spPr bwMode="auto">
              <a:xfrm>
                <a:off x="5088"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nvGrpSpPr>
            <p:cNvPr id="6" name="Group 15"/>
            <p:cNvGrpSpPr>
              <a:grpSpLocks/>
            </p:cNvGrpSpPr>
            <p:nvPr/>
          </p:nvGrpSpPr>
          <p:grpSpPr bwMode="auto">
            <a:xfrm>
              <a:off x="1344" y="2496"/>
              <a:ext cx="1872" cy="816"/>
              <a:chOff x="1344" y="2832"/>
              <a:chExt cx="1872" cy="816"/>
            </a:xfrm>
          </p:grpSpPr>
          <p:sp>
            <p:nvSpPr>
              <p:cNvPr id="44046" name="Rectangle 16"/>
              <p:cNvSpPr>
                <a:spLocks noChangeArrowheads="1"/>
              </p:cNvSpPr>
              <p:nvPr/>
            </p:nvSpPr>
            <p:spPr bwMode="auto">
              <a:xfrm>
                <a:off x="2208" y="2832"/>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4047" name="Text Box 17"/>
              <p:cNvSpPr txBox="1">
                <a:spLocks noChangeArrowheads="1"/>
              </p:cNvSpPr>
              <p:nvPr/>
            </p:nvSpPr>
            <p:spPr bwMode="auto">
              <a:xfrm>
                <a:off x="2208" y="2832"/>
                <a:ext cx="672"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a:t>
                </a:r>
              </a:p>
            </p:txBody>
          </p:sp>
          <p:sp>
            <p:nvSpPr>
              <p:cNvPr id="44048" name="Text Box 18"/>
              <p:cNvSpPr txBox="1">
                <a:spLocks noChangeArrowheads="1"/>
              </p:cNvSpPr>
              <p:nvPr/>
            </p:nvSpPr>
            <p:spPr bwMode="auto">
              <a:xfrm>
                <a:off x="2352" y="3120"/>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nvGrpSpPr>
              <p:cNvPr id="7" name="Group 19"/>
              <p:cNvGrpSpPr>
                <a:grpSpLocks/>
              </p:cNvGrpSpPr>
              <p:nvPr/>
            </p:nvGrpSpPr>
            <p:grpSpPr bwMode="auto">
              <a:xfrm>
                <a:off x="1344" y="2832"/>
                <a:ext cx="528" cy="816"/>
                <a:chOff x="5088" y="3360"/>
                <a:chExt cx="528" cy="816"/>
              </a:xfrm>
            </p:grpSpPr>
            <p:sp>
              <p:nvSpPr>
                <p:cNvPr id="44050" name="Line 20"/>
                <p:cNvSpPr>
                  <a:spLocks noChangeShapeType="1"/>
                </p:cNvSpPr>
                <p:nvPr/>
              </p:nvSpPr>
              <p:spPr bwMode="auto">
                <a:xfrm>
                  <a:off x="5184" y="3888"/>
                  <a:ext cx="336" cy="0"/>
                </a:xfrm>
                <a:prstGeom prst="line">
                  <a:avLst/>
                </a:prstGeom>
                <a:noFill/>
                <a:ln w="9525">
                  <a:solidFill>
                    <a:schemeClr val="tx1"/>
                  </a:solidFill>
                  <a:miter lim="800000"/>
                  <a:headEnd/>
                  <a:tailEnd/>
                </a:ln>
              </p:spPr>
              <p:txBody>
                <a:bodyPr wrap="none"/>
                <a:lstStyle/>
                <a:p>
                  <a:endParaRPr lang="en-US"/>
                </a:p>
              </p:txBody>
            </p:sp>
            <p:sp>
              <p:nvSpPr>
                <p:cNvPr id="44051" name="Line 21"/>
                <p:cNvSpPr>
                  <a:spLocks noChangeShapeType="1"/>
                </p:cNvSpPr>
                <p:nvPr/>
              </p:nvSpPr>
              <p:spPr bwMode="auto">
                <a:xfrm>
                  <a:off x="5520" y="3360"/>
                  <a:ext cx="0" cy="528"/>
                </a:xfrm>
                <a:prstGeom prst="line">
                  <a:avLst/>
                </a:prstGeom>
                <a:noFill/>
                <a:ln w="9525">
                  <a:solidFill>
                    <a:schemeClr val="tx1"/>
                  </a:solidFill>
                  <a:miter lim="800000"/>
                  <a:headEnd/>
                  <a:tailEnd/>
                </a:ln>
              </p:spPr>
              <p:txBody>
                <a:bodyPr wrap="none"/>
                <a:lstStyle/>
                <a:p>
                  <a:endParaRPr lang="en-US"/>
                </a:p>
              </p:txBody>
            </p:sp>
            <p:sp>
              <p:nvSpPr>
                <p:cNvPr id="44052" name="Line 22"/>
                <p:cNvSpPr>
                  <a:spLocks noChangeShapeType="1"/>
                </p:cNvSpPr>
                <p:nvPr/>
              </p:nvSpPr>
              <p:spPr bwMode="auto">
                <a:xfrm flipV="1">
                  <a:off x="5184" y="3360"/>
                  <a:ext cx="0" cy="528"/>
                </a:xfrm>
                <a:prstGeom prst="line">
                  <a:avLst/>
                </a:prstGeom>
                <a:noFill/>
                <a:ln w="9525">
                  <a:solidFill>
                    <a:schemeClr val="tx1"/>
                  </a:solidFill>
                  <a:miter lim="800000"/>
                  <a:headEnd/>
                  <a:tailEnd/>
                </a:ln>
              </p:spPr>
              <p:txBody>
                <a:bodyPr wrap="none"/>
                <a:lstStyle/>
                <a:p>
                  <a:endParaRPr lang="en-US"/>
                </a:p>
              </p:txBody>
            </p:sp>
            <p:sp>
              <p:nvSpPr>
                <p:cNvPr id="44053" name="Text Box 23"/>
                <p:cNvSpPr txBox="1">
                  <a:spLocks noChangeArrowheads="1"/>
                </p:cNvSpPr>
                <p:nvPr/>
              </p:nvSpPr>
              <p:spPr bwMode="auto">
                <a:xfrm>
                  <a:off x="5184" y="3360"/>
                  <a:ext cx="336" cy="538"/>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4054" name="Text Box 24"/>
                <p:cNvSpPr txBox="1">
                  <a:spLocks noChangeArrowheads="1"/>
                </p:cNvSpPr>
                <p:nvPr/>
              </p:nvSpPr>
              <p:spPr bwMode="auto">
                <a:xfrm>
                  <a:off x="5088" y="388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grpSp>
        <p:nvGrpSpPr>
          <p:cNvPr id="8" name="Group 25"/>
          <p:cNvGrpSpPr>
            <a:grpSpLocks/>
          </p:cNvGrpSpPr>
          <p:nvPr/>
        </p:nvGrpSpPr>
        <p:grpSpPr bwMode="auto">
          <a:xfrm>
            <a:off x="5181600" y="2667000"/>
            <a:ext cx="1600200" cy="914400"/>
            <a:chOff x="2832" y="1248"/>
            <a:chExt cx="1008" cy="576"/>
          </a:xfrm>
        </p:grpSpPr>
        <p:sp>
          <p:nvSpPr>
            <p:cNvPr id="44041" name="Rectangle 26"/>
            <p:cNvSpPr>
              <a:spLocks noChangeArrowheads="1"/>
            </p:cNvSpPr>
            <p:nvPr/>
          </p:nvSpPr>
          <p:spPr bwMode="auto">
            <a:xfrm>
              <a:off x="2832" y="1248"/>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4042" name="Text Box 27"/>
            <p:cNvSpPr txBox="1">
              <a:spLocks noChangeArrowheads="1"/>
            </p:cNvSpPr>
            <p:nvPr/>
          </p:nvSpPr>
          <p:spPr bwMode="auto">
            <a:xfrm>
              <a:off x="2832" y="1248"/>
              <a:ext cx="432"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a:t>
              </a:r>
            </a:p>
          </p:txBody>
        </p:sp>
        <p:sp>
          <p:nvSpPr>
            <p:cNvPr id="44043" name="Text Box 28"/>
            <p:cNvSpPr txBox="1">
              <a:spLocks noChangeArrowheads="1"/>
            </p:cNvSpPr>
            <p:nvPr/>
          </p:nvSpPr>
          <p:spPr bwMode="auto">
            <a:xfrm>
              <a:off x="2976" y="1536"/>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30" name="Footer Placeholder 2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box(in)">
                                      <p:cBhvr>
                                        <p:cTn id="7" dur="500"/>
                                        <p:tgtEl>
                                          <p:spTgt spid="11878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8789"/>
                                        </p:tgtEl>
                                        <p:attrNameLst>
                                          <p:attrName>style.visibility</p:attrName>
                                        </p:attrNameLst>
                                      </p:cBhvr>
                                      <p:to>
                                        <p:strVal val="visible"/>
                                      </p:to>
                                    </p:set>
                                    <p:animEffect transition="in" filter="box(in)">
                                      <p:cBhvr>
                                        <p:cTn id="17" dur="500"/>
                                        <p:tgtEl>
                                          <p:spTgt spid="11878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autoUpdateAnimBg="0"/>
      <p:bldP spid="118789"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381000" y="76200"/>
            <a:ext cx="8534400" cy="1143000"/>
          </a:xfrm>
        </p:spPr>
        <p:txBody>
          <a:bodyPr/>
          <a:lstStyle/>
          <a:p>
            <a:pPr eaLnBrk="1" hangingPunct="1"/>
            <a:r>
              <a:rPr lang="en-US" dirty="0"/>
              <a:t>Converting Infix expression to postfix</a:t>
            </a:r>
          </a:p>
        </p:txBody>
      </p:sp>
      <p:sp>
        <p:nvSpPr>
          <p:cNvPr id="45060" name="Rectangle 3"/>
          <p:cNvSpPr>
            <a:spLocks noGrp="1" noChangeArrowheads="1"/>
          </p:cNvSpPr>
          <p:nvPr>
            <p:ph type="body" idx="1"/>
          </p:nvPr>
        </p:nvSpPr>
        <p:spPr>
          <a:xfrm>
            <a:off x="457200" y="1219200"/>
            <a:ext cx="80010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800" dirty="0"/>
          </a:p>
          <a:p>
            <a:pPr marL="609600" indent="-609600" eaLnBrk="1" hangingPunct="1">
              <a:lnSpc>
                <a:spcPct val="40000"/>
              </a:lnSpc>
              <a:buFontTx/>
              <a:buNone/>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None/>
            </a:pPr>
            <a:endParaRPr lang="en-US" sz="2400" dirty="0"/>
          </a:p>
          <a:p>
            <a:pPr marL="609600" indent="-609600" eaLnBrk="1" hangingPunct="1">
              <a:lnSpc>
                <a:spcPct val="90000"/>
              </a:lnSpc>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None/>
            </a:pPr>
            <a:endParaRPr lang="en-US" sz="2400" dirty="0"/>
          </a:p>
          <a:p>
            <a:pPr marL="609600" indent="-609600" eaLnBrk="1" hangingPunct="1">
              <a:lnSpc>
                <a:spcPct val="90000"/>
              </a:lnSpc>
            </a:pPr>
            <a:endParaRPr lang="en-US" sz="2400" dirty="0"/>
          </a:p>
          <a:p>
            <a:pPr marL="609600" indent="-609600" eaLnBrk="1" hangingPunct="1">
              <a:lnSpc>
                <a:spcPct val="90000"/>
              </a:lnSpc>
            </a:pPr>
            <a:endParaRPr lang="en-US" sz="2400" dirty="0"/>
          </a:p>
          <a:p>
            <a:pPr marL="609600" indent="-609600" eaLnBrk="1" hangingPunct="1">
              <a:lnSpc>
                <a:spcPct val="90000"/>
              </a:lnSpc>
            </a:pPr>
            <a:endParaRPr lang="en-US" sz="2400" dirty="0"/>
          </a:p>
          <a:p>
            <a:pPr marL="609600" indent="-609600" eaLnBrk="1" hangingPunct="1">
              <a:lnSpc>
                <a:spcPct val="90000"/>
              </a:lnSpc>
            </a:pPr>
            <a:endParaRPr lang="en-US" sz="2400" dirty="0"/>
          </a:p>
          <a:p>
            <a:pPr marL="609600" indent="-609600" eaLnBrk="1" hangingPunct="1">
              <a:lnSpc>
                <a:spcPct val="90000"/>
              </a:lnSpc>
            </a:pPr>
            <a:endParaRPr lang="en-US" sz="2400" dirty="0"/>
          </a:p>
          <a:p>
            <a:pPr marL="609600" indent="-609600" eaLnBrk="1" hangingPunct="1">
              <a:lnSpc>
                <a:spcPct val="90000"/>
              </a:lnSpc>
            </a:pPr>
            <a:endParaRPr lang="en-US" sz="2400" dirty="0"/>
          </a:p>
        </p:txBody>
      </p:sp>
      <p:sp>
        <p:nvSpPr>
          <p:cNvPr id="119812" name="Text Box 4"/>
          <p:cNvSpPr txBox="1">
            <a:spLocks noChangeArrowheads="1"/>
          </p:cNvSpPr>
          <p:nvPr/>
        </p:nvSpPr>
        <p:spPr bwMode="auto">
          <a:xfrm>
            <a:off x="609600" y="2209800"/>
            <a:ext cx="8077200" cy="7016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7"/>
            </a:pPr>
            <a:r>
              <a:rPr lang="en-US" sz="2000" dirty="0">
                <a:latin typeface="Times New Roman" pitchFamily="18" charset="0"/>
              </a:rPr>
              <a:t>The next symbol read is  ‘</a:t>
            </a:r>
            <a:r>
              <a:rPr lang="en-US" sz="2000" dirty="0">
                <a:solidFill>
                  <a:srgbClr val="FF00FF"/>
                </a:solidFill>
                <a:latin typeface="Times New Roman" pitchFamily="18" charset="0"/>
              </a:rPr>
              <a:t>(</a:t>
            </a:r>
            <a:r>
              <a:rPr lang="en-US" sz="2000" dirty="0">
                <a:latin typeface="Times New Roman" pitchFamily="18" charset="0"/>
              </a:rPr>
              <a:t>‘, which, being of highest precedence, is placed on the stack</a:t>
            </a:r>
          </a:p>
        </p:txBody>
      </p:sp>
      <p:grpSp>
        <p:nvGrpSpPr>
          <p:cNvPr id="2" name="Group 5"/>
          <p:cNvGrpSpPr>
            <a:grpSpLocks/>
          </p:cNvGrpSpPr>
          <p:nvPr/>
        </p:nvGrpSpPr>
        <p:grpSpPr bwMode="auto">
          <a:xfrm>
            <a:off x="2819400" y="2911475"/>
            <a:ext cx="838200" cy="1676400"/>
            <a:chOff x="4752" y="2208"/>
            <a:chExt cx="528" cy="1056"/>
          </a:xfrm>
        </p:grpSpPr>
        <p:sp>
          <p:nvSpPr>
            <p:cNvPr id="45068" name="Line 6"/>
            <p:cNvSpPr>
              <a:spLocks noChangeShapeType="1"/>
            </p:cNvSpPr>
            <p:nvPr/>
          </p:nvSpPr>
          <p:spPr bwMode="auto">
            <a:xfrm>
              <a:off x="4848" y="2976"/>
              <a:ext cx="336" cy="0"/>
            </a:xfrm>
            <a:prstGeom prst="line">
              <a:avLst/>
            </a:prstGeom>
            <a:noFill/>
            <a:ln w="9525">
              <a:solidFill>
                <a:schemeClr val="tx1"/>
              </a:solidFill>
              <a:miter lim="800000"/>
              <a:headEnd/>
              <a:tailEnd/>
            </a:ln>
          </p:spPr>
          <p:txBody>
            <a:bodyPr wrap="none"/>
            <a:lstStyle/>
            <a:p>
              <a:endParaRPr lang="en-US"/>
            </a:p>
          </p:txBody>
        </p:sp>
        <p:sp>
          <p:nvSpPr>
            <p:cNvPr id="45069" name="Line 7"/>
            <p:cNvSpPr>
              <a:spLocks noChangeShapeType="1"/>
            </p:cNvSpPr>
            <p:nvPr/>
          </p:nvSpPr>
          <p:spPr bwMode="auto">
            <a:xfrm>
              <a:off x="5184" y="2208"/>
              <a:ext cx="0" cy="768"/>
            </a:xfrm>
            <a:prstGeom prst="line">
              <a:avLst/>
            </a:prstGeom>
            <a:noFill/>
            <a:ln w="9525">
              <a:solidFill>
                <a:schemeClr val="tx1"/>
              </a:solidFill>
              <a:miter lim="800000"/>
              <a:headEnd/>
              <a:tailEnd/>
            </a:ln>
          </p:spPr>
          <p:txBody>
            <a:bodyPr wrap="none"/>
            <a:lstStyle/>
            <a:p>
              <a:endParaRPr lang="en-US"/>
            </a:p>
          </p:txBody>
        </p:sp>
        <p:sp>
          <p:nvSpPr>
            <p:cNvPr id="45070" name="Line 8"/>
            <p:cNvSpPr>
              <a:spLocks noChangeShapeType="1"/>
            </p:cNvSpPr>
            <p:nvPr/>
          </p:nvSpPr>
          <p:spPr bwMode="auto">
            <a:xfrm flipV="1">
              <a:off x="4848" y="2208"/>
              <a:ext cx="0" cy="768"/>
            </a:xfrm>
            <a:prstGeom prst="line">
              <a:avLst/>
            </a:prstGeom>
            <a:noFill/>
            <a:ln w="9525">
              <a:solidFill>
                <a:schemeClr val="tx1"/>
              </a:solidFill>
              <a:miter lim="800000"/>
              <a:headEnd/>
              <a:tailEnd/>
            </a:ln>
          </p:spPr>
          <p:txBody>
            <a:bodyPr wrap="none"/>
            <a:lstStyle/>
            <a:p>
              <a:endParaRPr lang="en-US"/>
            </a:p>
          </p:txBody>
        </p:sp>
        <p:sp>
          <p:nvSpPr>
            <p:cNvPr id="45071" name="Text Box 9"/>
            <p:cNvSpPr txBox="1">
              <a:spLocks noChangeArrowheads="1"/>
            </p:cNvSpPr>
            <p:nvPr/>
          </p:nvSpPr>
          <p:spPr bwMode="auto">
            <a:xfrm>
              <a:off x="4896" y="2352"/>
              <a:ext cx="240" cy="633"/>
            </a:xfrm>
            <a:prstGeom prst="rect">
              <a:avLst/>
            </a:prstGeom>
            <a:noFill/>
            <a:ln w="9525">
              <a:noFill/>
              <a:miter lim="800000"/>
              <a:headEnd/>
              <a:tailEnd/>
            </a:ln>
          </p:spPr>
          <p:txBody>
            <a:bodyPr>
              <a:spAutoFit/>
            </a:bodyPr>
            <a:lstStyle/>
            <a:p>
              <a:pPr algn="ctr" eaLnBrk="1" hangingPunct="1">
                <a:spcBef>
                  <a:spcPct val="50000"/>
                </a:spcBef>
              </a:pPr>
              <a:r>
                <a:rPr lang="en-US" sz="2400">
                  <a:latin typeface="Times New Roman" pitchFamily="18" charset="0"/>
                </a:rPr>
                <a:t>(</a:t>
              </a:r>
            </a:p>
            <a:p>
              <a:pPr algn="ctr" eaLnBrk="1" hangingPunct="1">
                <a:spcBef>
                  <a:spcPct val="50000"/>
                </a:spcBef>
              </a:pPr>
              <a:r>
                <a:rPr lang="en-US" sz="2400">
                  <a:latin typeface="Times New Roman" pitchFamily="18" charset="0"/>
                </a:rPr>
                <a:t>+</a:t>
              </a:r>
            </a:p>
          </p:txBody>
        </p:sp>
        <p:sp>
          <p:nvSpPr>
            <p:cNvPr id="45072" name="Text Box 10"/>
            <p:cNvSpPr txBox="1">
              <a:spLocks noChangeArrowheads="1"/>
            </p:cNvSpPr>
            <p:nvPr/>
          </p:nvSpPr>
          <p:spPr bwMode="auto">
            <a:xfrm>
              <a:off x="4752" y="2976"/>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19819" name="Text Box 11"/>
          <p:cNvSpPr txBox="1">
            <a:spLocks noChangeArrowheads="1"/>
          </p:cNvSpPr>
          <p:nvPr/>
        </p:nvSpPr>
        <p:spPr bwMode="auto">
          <a:xfrm>
            <a:off x="609600" y="46482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8"/>
            </a:pPr>
            <a:r>
              <a:rPr lang="en-US" sz="2000">
                <a:latin typeface="Times New Roman" pitchFamily="18" charset="0"/>
              </a:rPr>
              <a:t>Then </a:t>
            </a:r>
            <a:r>
              <a:rPr lang="en-US" sz="2000">
                <a:solidFill>
                  <a:srgbClr val="FF00FF"/>
                </a:solidFill>
                <a:latin typeface="Times New Roman" pitchFamily="18" charset="0"/>
              </a:rPr>
              <a:t>d</a:t>
            </a:r>
            <a:r>
              <a:rPr lang="en-US" sz="2000">
                <a:latin typeface="Times New Roman" pitchFamily="18" charset="0"/>
              </a:rPr>
              <a:t> is read and output</a:t>
            </a:r>
          </a:p>
        </p:txBody>
      </p:sp>
      <p:grpSp>
        <p:nvGrpSpPr>
          <p:cNvPr id="3" name="Group 12"/>
          <p:cNvGrpSpPr>
            <a:grpSpLocks/>
          </p:cNvGrpSpPr>
          <p:nvPr/>
        </p:nvGrpSpPr>
        <p:grpSpPr bwMode="auto">
          <a:xfrm>
            <a:off x="4419600" y="4664075"/>
            <a:ext cx="1600200" cy="914400"/>
            <a:chOff x="2160" y="2880"/>
            <a:chExt cx="1008" cy="576"/>
          </a:xfrm>
        </p:grpSpPr>
        <p:sp>
          <p:nvSpPr>
            <p:cNvPr id="45065" name="Rectangle 13"/>
            <p:cNvSpPr>
              <a:spLocks noChangeArrowheads="1"/>
            </p:cNvSpPr>
            <p:nvPr/>
          </p:nvSpPr>
          <p:spPr bwMode="auto">
            <a:xfrm>
              <a:off x="2160" y="2880"/>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5066" name="Text Box 14"/>
            <p:cNvSpPr txBox="1">
              <a:spLocks noChangeArrowheads="1"/>
            </p:cNvSpPr>
            <p:nvPr/>
          </p:nvSpPr>
          <p:spPr bwMode="auto">
            <a:xfrm>
              <a:off x="2160" y="2880"/>
              <a:ext cx="76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a:t>
              </a:r>
            </a:p>
          </p:txBody>
        </p:sp>
        <p:sp>
          <p:nvSpPr>
            <p:cNvPr id="45067" name="Text Box 15"/>
            <p:cNvSpPr txBox="1">
              <a:spLocks noChangeArrowheads="1"/>
            </p:cNvSpPr>
            <p:nvPr/>
          </p:nvSpPr>
          <p:spPr bwMode="auto">
            <a:xfrm>
              <a:off x="2304" y="3168"/>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17" name="Footer Placeholder 16"/>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box(in)">
                                      <p:cBhvr>
                                        <p:cTn id="7" dur="500"/>
                                        <p:tgtEl>
                                          <p:spTgt spid="1198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9819"/>
                                        </p:tgtEl>
                                        <p:attrNameLst>
                                          <p:attrName>style.visibility</p:attrName>
                                        </p:attrNameLst>
                                      </p:cBhvr>
                                      <p:to>
                                        <p:strVal val="visible"/>
                                      </p:to>
                                    </p:set>
                                    <p:animEffect transition="in" filter="box(in)">
                                      <p:cBhvr>
                                        <p:cTn id="17" dur="500"/>
                                        <p:tgtEl>
                                          <p:spTgt spid="11981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autoUpdateAnimBg="0"/>
      <p:bldP spid="119819"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457200" y="76200"/>
            <a:ext cx="8458200" cy="1143000"/>
          </a:xfrm>
        </p:spPr>
        <p:txBody>
          <a:bodyPr/>
          <a:lstStyle/>
          <a:p>
            <a:pPr eaLnBrk="1" hangingPunct="1"/>
            <a:r>
              <a:rPr lang="en-US" dirty="0"/>
              <a:t>Converting Infix expression to postfix</a:t>
            </a:r>
          </a:p>
        </p:txBody>
      </p:sp>
      <p:sp>
        <p:nvSpPr>
          <p:cNvPr id="46084" name="Rectangle 3"/>
          <p:cNvSpPr>
            <a:spLocks noGrp="1" noChangeArrowheads="1"/>
          </p:cNvSpPr>
          <p:nvPr>
            <p:ph type="body" idx="1"/>
          </p:nvPr>
        </p:nvSpPr>
        <p:spPr>
          <a:xfrm>
            <a:off x="457200" y="1447800"/>
            <a:ext cx="80010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800" dirty="0"/>
          </a:p>
          <a:p>
            <a:pPr marL="609600" indent="-609600" eaLnBrk="1" hangingPunct="1">
              <a:lnSpc>
                <a:spcPct val="4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p:txBody>
      </p:sp>
      <p:sp>
        <p:nvSpPr>
          <p:cNvPr id="120836" name="Text Box 4"/>
          <p:cNvSpPr txBox="1">
            <a:spLocks noChangeArrowheads="1"/>
          </p:cNvSpPr>
          <p:nvPr/>
        </p:nvSpPr>
        <p:spPr bwMode="auto">
          <a:xfrm>
            <a:off x="533400" y="2209800"/>
            <a:ext cx="8077200" cy="10064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9"/>
            </a:pPr>
            <a:r>
              <a:rPr lang="en-US" sz="2000" dirty="0">
                <a:latin typeface="Times New Roman" pitchFamily="18" charset="0"/>
              </a:rPr>
              <a:t>We continue by reading a </a:t>
            </a:r>
            <a:r>
              <a:rPr lang="en-US" sz="2000" dirty="0">
                <a:solidFill>
                  <a:srgbClr val="FF00FF"/>
                </a:solidFill>
                <a:latin typeface="Times New Roman" pitchFamily="18" charset="0"/>
              </a:rPr>
              <a:t>*</a:t>
            </a:r>
            <a:r>
              <a:rPr lang="en-US" sz="2000" dirty="0">
                <a:latin typeface="Times New Roman" pitchFamily="18" charset="0"/>
              </a:rPr>
              <a:t>. Since open parenthesis do not get removed except when a closed parenthesis is being processed, there is no output and we push * in stack</a:t>
            </a:r>
          </a:p>
        </p:txBody>
      </p:sp>
      <p:grpSp>
        <p:nvGrpSpPr>
          <p:cNvPr id="2" name="Group 5"/>
          <p:cNvGrpSpPr>
            <a:grpSpLocks/>
          </p:cNvGrpSpPr>
          <p:nvPr/>
        </p:nvGrpSpPr>
        <p:grpSpPr bwMode="auto">
          <a:xfrm>
            <a:off x="3505200" y="2987675"/>
            <a:ext cx="838200" cy="2057400"/>
            <a:chOff x="2064" y="2016"/>
            <a:chExt cx="528" cy="1296"/>
          </a:xfrm>
        </p:grpSpPr>
        <p:sp>
          <p:nvSpPr>
            <p:cNvPr id="46092" name="Line 6"/>
            <p:cNvSpPr>
              <a:spLocks noChangeShapeType="1"/>
            </p:cNvSpPr>
            <p:nvPr/>
          </p:nvSpPr>
          <p:spPr bwMode="auto">
            <a:xfrm>
              <a:off x="2112" y="2976"/>
              <a:ext cx="336" cy="0"/>
            </a:xfrm>
            <a:prstGeom prst="line">
              <a:avLst/>
            </a:prstGeom>
            <a:noFill/>
            <a:ln w="9525">
              <a:solidFill>
                <a:schemeClr val="tx1"/>
              </a:solidFill>
              <a:miter lim="800000"/>
              <a:headEnd/>
              <a:tailEnd/>
            </a:ln>
          </p:spPr>
          <p:txBody>
            <a:bodyPr wrap="none"/>
            <a:lstStyle/>
            <a:p>
              <a:endParaRPr lang="en-US"/>
            </a:p>
          </p:txBody>
        </p:sp>
        <p:sp>
          <p:nvSpPr>
            <p:cNvPr id="46093" name="Line 7"/>
            <p:cNvSpPr>
              <a:spLocks noChangeShapeType="1"/>
            </p:cNvSpPr>
            <p:nvPr/>
          </p:nvSpPr>
          <p:spPr bwMode="auto">
            <a:xfrm>
              <a:off x="2448" y="2016"/>
              <a:ext cx="0" cy="960"/>
            </a:xfrm>
            <a:prstGeom prst="line">
              <a:avLst/>
            </a:prstGeom>
            <a:noFill/>
            <a:ln w="9525">
              <a:solidFill>
                <a:schemeClr val="tx1"/>
              </a:solidFill>
              <a:miter lim="800000"/>
              <a:headEnd/>
              <a:tailEnd/>
            </a:ln>
          </p:spPr>
          <p:txBody>
            <a:bodyPr wrap="none"/>
            <a:lstStyle/>
            <a:p>
              <a:endParaRPr lang="en-US"/>
            </a:p>
          </p:txBody>
        </p:sp>
        <p:sp>
          <p:nvSpPr>
            <p:cNvPr id="46094" name="Line 8"/>
            <p:cNvSpPr>
              <a:spLocks noChangeShapeType="1"/>
            </p:cNvSpPr>
            <p:nvPr/>
          </p:nvSpPr>
          <p:spPr bwMode="auto">
            <a:xfrm flipV="1">
              <a:off x="2112" y="2016"/>
              <a:ext cx="0" cy="1008"/>
            </a:xfrm>
            <a:prstGeom prst="line">
              <a:avLst/>
            </a:prstGeom>
            <a:noFill/>
            <a:ln w="9525">
              <a:solidFill>
                <a:schemeClr val="tx1"/>
              </a:solidFill>
              <a:miter lim="800000"/>
              <a:headEnd/>
              <a:tailEnd/>
            </a:ln>
          </p:spPr>
          <p:txBody>
            <a:bodyPr wrap="none"/>
            <a:lstStyle/>
            <a:p>
              <a:endParaRPr lang="en-US"/>
            </a:p>
          </p:txBody>
        </p:sp>
        <p:sp>
          <p:nvSpPr>
            <p:cNvPr id="46095" name="Text Box 9"/>
            <p:cNvSpPr txBox="1">
              <a:spLocks noChangeArrowheads="1"/>
            </p:cNvSpPr>
            <p:nvPr/>
          </p:nvSpPr>
          <p:spPr bwMode="auto">
            <a:xfrm>
              <a:off x="2160" y="2208"/>
              <a:ext cx="240" cy="826"/>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6096" name="Text Box 10"/>
            <p:cNvSpPr txBox="1">
              <a:spLocks noChangeArrowheads="1"/>
            </p:cNvSpPr>
            <p:nvPr/>
          </p:nvSpPr>
          <p:spPr bwMode="auto">
            <a:xfrm>
              <a:off x="2064" y="3024"/>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20843" name="Text Box 11"/>
          <p:cNvSpPr txBox="1">
            <a:spLocks noChangeArrowheads="1"/>
          </p:cNvSpPr>
          <p:nvPr/>
        </p:nvSpPr>
        <p:spPr bwMode="auto">
          <a:xfrm>
            <a:off x="533400" y="51054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0"/>
            </a:pPr>
            <a:r>
              <a:rPr lang="en-US" sz="2000">
                <a:latin typeface="Times New Roman" pitchFamily="18" charset="0"/>
              </a:rPr>
              <a:t>Next, </a:t>
            </a:r>
            <a:r>
              <a:rPr lang="en-US" sz="2000">
                <a:solidFill>
                  <a:srgbClr val="FF00FF"/>
                </a:solidFill>
                <a:latin typeface="Times New Roman" pitchFamily="18" charset="0"/>
              </a:rPr>
              <a:t>e</a:t>
            </a:r>
            <a:r>
              <a:rPr lang="en-US" sz="2000">
                <a:latin typeface="Times New Roman" pitchFamily="18" charset="0"/>
              </a:rPr>
              <a:t> is read and output is</a:t>
            </a:r>
          </a:p>
        </p:txBody>
      </p:sp>
      <p:grpSp>
        <p:nvGrpSpPr>
          <p:cNvPr id="3" name="Group 12"/>
          <p:cNvGrpSpPr>
            <a:grpSpLocks/>
          </p:cNvGrpSpPr>
          <p:nvPr/>
        </p:nvGrpSpPr>
        <p:grpSpPr bwMode="auto">
          <a:xfrm>
            <a:off x="4114800" y="5197475"/>
            <a:ext cx="1600200" cy="914400"/>
            <a:chOff x="2880" y="3408"/>
            <a:chExt cx="1008" cy="576"/>
          </a:xfrm>
        </p:grpSpPr>
        <p:sp>
          <p:nvSpPr>
            <p:cNvPr id="46089" name="Rectangle 13"/>
            <p:cNvSpPr>
              <a:spLocks noChangeArrowheads="1"/>
            </p:cNvSpPr>
            <p:nvPr/>
          </p:nvSpPr>
          <p:spPr bwMode="auto">
            <a:xfrm>
              <a:off x="2880" y="3408"/>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6090" name="Text Box 14"/>
            <p:cNvSpPr txBox="1">
              <a:spLocks noChangeArrowheads="1"/>
            </p:cNvSpPr>
            <p:nvPr/>
          </p:nvSpPr>
          <p:spPr bwMode="auto">
            <a:xfrm>
              <a:off x="2880" y="3408"/>
              <a:ext cx="76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a:t>
              </a:r>
            </a:p>
          </p:txBody>
        </p:sp>
        <p:sp>
          <p:nvSpPr>
            <p:cNvPr id="46091" name="Text Box 15"/>
            <p:cNvSpPr txBox="1">
              <a:spLocks noChangeArrowheads="1"/>
            </p:cNvSpPr>
            <p:nvPr/>
          </p:nvSpPr>
          <p:spPr bwMode="auto">
            <a:xfrm>
              <a:off x="3024" y="3696"/>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17" name="Footer Placeholder 16"/>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box(in)">
                                      <p:cBhvr>
                                        <p:cTn id="7" dur="500"/>
                                        <p:tgtEl>
                                          <p:spTgt spid="12083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0843"/>
                                        </p:tgtEl>
                                        <p:attrNameLst>
                                          <p:attrName>style.visibility</p:attrName>
                                        </p:attrNameLst>
                                      </p:cBhvr>
                                      <p:to>
                                        <p:strVal val="visible"/>
                                      </p:to>
                                    </p:set>
                                    <p:animEffect transition="in" filter="box(in)">
                                      <p:cBhvr>
                                        <p:cTn id="17" dur="500"/>
                                        <p:tgtEl>
                                          <p:spTgt spid="12084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utoUpdateAnimBg="0"/>
      <p:bldP spid="120843"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457200" y="76200"/>
            <a:ext cx="8458200" cy="1143000"/>
          </a:xfrm>
        </p:spPr>
        <p:txBody>
          <a:bodyPr/>
          <a:lstStyle/>
          <a:p>
            <a:pPr eaLnBrk="1" hangingPunct="1"/>
            <a:r>
              <a:rPr lang="en-US" dirty="0"/>
              <a:t>Converting Infix expression to postfix</a:t>
            </a:r>
          </a:p>
        </p:txBody>
      </p:sp>
      <p:sp>
        <p:nvSpPr>
          <p:cNvPr id="47108" name="Rectangle 3"/>
          <p:cNvSpPr>
            <a:spLocks noGrp="1" noChangeArrowheads="1"/>
          </p:cNvSpPr>
          <p:nvPr>
            <p:ph type="body" idx="1"/>
          </p:nvPr>
        </p:nvSpPr>
        <p:spPr>
          <a:xfrm>
            <a:off x="457200" y="1219200"/>
            <a:ext cx="74676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800" dirty="0"/>
          </a:p>
          <a:p>
            <a:pPr marL="609600" indent="-609600" eaLnBrk="1" hangingPunct="1">
              <a:lnSpc>
                <a:spcPct val="4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p:txBody>
      </p:sp>
      <p:sp>
        <p:nvSpPr>
          <p:cNvPr id="121860" name="Text Box 4"/>
          <p:cNvSpPr txBox="1">
            <a:spLocks noChangeArrowheads="1"/>
          </p:cNvSpPr>
          <p:nvPr/>
        </p:nvSpPr>
        <p:spPr bwMode="auto">
          <a:xfrm>
            <a:off x="533400" y="2362200"/>
            <a:ext cx="8077200" cy="7016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1"/>
            </a:pPr>
            <a:r>
              <a:rPr lang="en-US" sz="2000" dirty="0">
                <a:latin typeface="Times New Roman" pitchFamily="18" charset="0"/>
              </a:rPr>
              <a:t>The next symbol read is a </a:t>
            </a:r>
            <a:r>
              <a:rPr lang="en-US" sz="2000" dirty="0">
                <a:solidFill>
                  <a:srgbClr val="FF00FF"/>
                </a:solidFill>
                <a:latin typeface="Times New Roman" pitchFamily="18" charset="0"/>
              </a:rPr>
              <a:t>+</a:t>
            </a:r>
            <a:r>
              <a:rPr lang="en-US" sz="2000" dirty="0">
                <a:latin typeface="Times New Roman" pitchFamily="18" charset="0"/>
              </a:rPr>
              <a:t>, since priority of stack top value is higher so we pop * and push +</a:t>
            </a:r>
          </a:p>
        </p:txBody>
      </p:sp>
      <p:grpSp>
        <p:nvGrpSpPr>
          <p:cNvPr id="2" name="Group 5"/>
          <p:cNvGrpSpPr>
            <a:grpSpLocks/>
          </p:cNvGrpSpPr>
          <p:nvPr/>
        </p:nvGrpSpPr>
        <p:grpSpPr bwMode="auto">
          <a:xfrm>
            <a:off x="3581400" y="2971800"/>
            <a:ext cx="3200400" cy="2057400"/>
            <a:chOff x="1968" y="1920"/>
            <a:chExt cx="2016" cy="1296"/>
          </a:xfrm>
        </p:grpSpPr>
        <p:grpSp>
          <p:nvGrpSpPr>
            <p:cNvPr id="3" name="Group 6"/>
            <p:cNvGrpSpPr>
              <a:grpSpLocks/>
            </p:cNvGrpSpPr>
            <p:nvPr/>
          </p:nvGrpSpPr>
          <p:grpSpPr bwMode="auto">
            <a:xfrm>
              <a:off x="2976" y="2160"/>
              <a:ext cx="1008" cy="576"/>
              <a:chOff x="2928" y="1920"/>
              <a:chExt cx="1008" cy="576"/>
            </a:xfrm>
          </p:grpSpPr>
          <p:sp>
            <p:nvSpPr>
              <p:cNvPr id="47123" name="Rectangle 7"/>
              <p:cNvSpPr>
                <a:spLocks noChangeArrowheads="1"/>
              </p:cNvSpPr>
              <p:nvPr/>
            </p:nvSpPr>
            <p:spPr bwMode="auto">
              <a:xfrm>
                <a:off x="2928" y="1920"/>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124" name="Text Box 8"/>
              <p:cNvSpPr txBox="1">
                <a:spLocks noChangeArrowheads="1"/>
              </p:cNvSpPr>
              <p:nvPr/>
            </p:nvSpPr>
            <p:spPr bwMode="auto">
              <a:xfrm>
                <a:off x="2928" y="1920"/>
                <a:ext cx="864"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a:t>
                </a:r>
              </a:p>
            </p:txBody>
          </p:sp>
          <p:sp>
            <p:nvSpPr>
              <p:cNvPr id="47125" name="Text Box 9"/>
              <p:cNvSpPr txBox="1">
                <a:spLocks noChangeArrowheads="1"/>
              </p:cNvSpPr>
              <p:nvPr/>
            </p:nvSpPr>
            <p:spPr bwMode="auto">
              <a:xfrm>
                <a:off x="3072" y="2208"/>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grpSp>
          <p:nvGrpSpPr>
            <p:cNvPr id="4" name="Group 10"/>
            <p:cNvGrpSpPr>
              <a:grpSpLocks/>
            </p:cNvGrpSpPr>
            <p:nvPr/>
          </p:nvGrpSpPr>
          <p:grpSpPr bwMode="auto">
            <a:xfrm>
              <a:off x="1968" y="1920"/>
              <a:ext cx="528" cy="1296"/>
              <a:chOff x="1872" y="1920"/>
              <a:chExt cx="528" cy="1296"/>
            </a:xfrm>
          </p:grpSpPr>
          <p:sp>
            <p:nvSpPr>
              <p:cNvPr id="47118" name="Line 11"/>
              <p:cNvSpPr>
                <a:spLocks noChangeShapeType="1"/>
              </p:cNvSpPr>
              <p:nvPr/>
            </p:nvSpPr>
            <p:spPr bwMode="auto">
              <a:xfrm>
                <a:off x="1920" y="2880"/>
                <a:ext cx="336" cy="0"/>
              </a:xfrm>
              <a:prstGeom prst="line">
                <a:avLst/>
              </a:prstGeom>
              <a:noFill/>
              <a:ln w="9525">
                <a:solidFill>
                  <a:schemeClr val="tx1"/>
                </a:solidFill>
                <a:miter lim="800000"/>
                <a:headEnd/>
                <a:tailEnd/>
              </a:ln>
            </p:spPr>
            <p:txBody>
              <a:bodyPr wrap="none"/>
              <a:lstStyle/>
              <a:p>
                <a:endParaRPr lang="en-US"/>
              </a:p>
            </p:txBody>
          </p:sp>
          <p:sp>
            <p:nvSpPr>
              <p:cNvPr id="47119" name="Line 12"/>
              <p:cNvSpPr>
                <a:spLocks noChangeShapeType="1"/>
              </p:cNvSpPr>
              <p:nvPr/>
            </p:nvSpPr>
            <p:spPr bwMode="auto">
              <a:xfrm>
                <a:off x="2256" y="1920"/>
                <a:ext cx="0" cy="960"/>
              </a:xfrm>
              <a:prstGeom prst="line">
                <a:avLst/>
              </a:prstGeom>
              <a:noFill/>
              <a:ln w="9525">
                <a:solidFill>
                  <a:schemeClr val="tx1"/>
                </a:solidFill>
                <a:miter lim="800000"/>
                <a:headEnd/>
                <a:tailEnd/>
              </a:ln>
            </p:spPr>
            <p:txBody>
              <a:bodyPr wrap="none"/>
              <a:lstStyle/>
              <a:p>
                <a:endParaRPr lang="en-US"/>
              </a:p>
            </p:txBody>
          </p:sp>
          <p:sp>
            <p:nvSpPr>
              <p:cNvPr id="47120" name="Line 13"/>
              <p:cNvSpPr>
                <a:spLocks noChangeShapeType="1"/>
              </p:cNvSpPr>
              <p:nvPr/>
            </p:nvSpPr>
            <p:spPr bwMode="auto">
              <a:xfrm flipV="1">
                <a:off x="1920" y="1920"/>
                <a:ext cx="0" cy="1008"/>
              </a:xfrm>
              <a:prstGeom prst="line">
                <a:avLst/>
              </a:prstGeom>
              <a:noFill/>
              <a:ln w="9525">
                <a:solidFill>
                  <a:schemeClr val="tx1"/>
                </a:solidFill>
                <a:miter lim="800000"/>
                <a:headEnd/>
                <a:tailEnd/>
              </a:ln>
            </p:spPr>
            <p:txBody>
              <a:bodyPr wrap="none"/>
              <a:lstStyle/>
              <a:p>
                <a:endParaRPr lang="en-US"/>
              </a:p>
            </p:txBody>
          </p:sp>
          <p:sp>
            <p:nvSpPr>
              <p:cNvPr id="47121" name="Text Box 14"/>
              <p:cNvSpPr txBox="1">
                <a:spLocks noChangeArrowheads="1"/>
              </p:cNvSpPr>
              <p:nvPr/>
            </p:nvSpPr>
            <p:spPr bwMode="auto">
              <a:xfrm>
                <a:off x="1968" y="2112"/>
                <a:ext cx="240" cy="826"/>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7122" name="Text Box 15"/>
              <p:cNvSpPr txBox="1">
                <a:spLocks noChangeArrowheads="1"/>
              </p:cNvSpPr>
              <p:nvPr/>
            </p:nvSpPr>
            <p:spPr bwMode="auto">
              <a:xfrm>
                <a:off x="1872" y="292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121872" name="Text Box 16"/>
          <p:cNvSpPr txBox="1">
            <a:spLocks noChangeArrowheads="1"/>
          </p:cNvSpPr>
          <p:nvPr/>
        </p:nvSpPr>
        <p:spPr bwMode="auto">
          <a:xfrm>
            <a:off x="533400" y="5241925"/>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2"/>
            </a:pPr>
            <a:r>
              <a:rPr lang="en-US" sz="2000">
                <a:latin typeface="Times New Roman" pitchFamily="18" charset="0"/>
              </a:rPr>
              <a:t>Now we read </a:t>
            </a:r>
            <a:r>
              <a:rPr lang="en-US" sz="2000">
                <a:solidFill>
                  <a:srgbClr val="FF00FF"/>
                </a:solidFill>
                <a:latin typeface="Times New Roman" pitchFamily="18" charset="0"/>
              </a:rPr>
              <a:t>f</a:t>
            </a:r>
            <a:r>
              <a:rPr lang="en-US" sz="2000">
                <a:latin typeface="Times New Roman" pitchFamily="18" charset="0"/>
              </a:rPr>
              <a:t> and output f</a:t>
            </a:r>
          </a:p>
        </p:txBody>
      </p:sp>
      <p:grpSp>
        <p:nvGrpSpPr>
          <p:cNvPr id="5" name="Group 17"/>
          <p:cNvGrpSpPr>
            <a:grpSpLocks/>
          </p:cNvGrpSpPr>
          <p:nvPr/>
        </p:nvGrpSpPr>
        <p:grpSpPr bwMode="auto">
          <a:xfrm>
            <a:off x="4191000" y="5257800"/>
            <a:ext cx="2133600" cy="914400"/>
            <a:chOff x="2880" y="3408"/>
            <a:chExt cx="1344" cy="576"/>
          </a:xfrm>
        </p:grpSpPr>
        <p:sp>
          <p:nvSpPr>
            <p:cNvPr id="47113" name="Rectangle 18"/>
            <p:cNvSpPr>
              <a:spLocks noChangeArrowheads="1"/>
            </p:cNvSpPr>
            <p:nvPr/>
          </p:nvSpPr>
          <p:spPr bwMode="auto">
            <a:xfrm>
              <a:off x="2880" y="3408"/>
              <a:ext cx="1008"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114" name="Text Box 19"/>
            <p:cNvSpPr txBox="1">
              <a:spLocks noChangeArrowheads="1"/>
            </p:cNvSpPr>
            <p:nvPr/>
          </p:nvSpPr>
          <p:spPr bwMode="auto">
            <a:xfrm>
              <a:off x="2880" y="3408"/>
              <a:ext cx="1344"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abc*+de*f</a:t>
              </a:r>
            </a:p>
          </p:txBody>
        </p:sp>
        <p:sp>
          <p:nvSpPr>
            <p:cNvPr id="47115" name="Text Box 20"/>
            <p:cNvSpPr txBox="1">
              <a:spLocks noChangeArrowheads="1"/>
            </p:cNvSpPr>
            <p:nvPr/>
          </p:nvSpPr>
          <p:spPr bwMode="auto">
            <a:xfrm>
              <a:off x="3024" y="3696"/>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22" name="Footer Placeholder 21"/>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1860"/>
                                        </p:tgtEl>
                                        <p:attrNameLst>
                                          <p:attrName>style.visibility</p:attrName>
                                        </p:attrNameLst>
                                      </p:cBhvr>
                                      <p:to>
                                        <p:strVal val="visible"/>
                                      </p:to>
                                    </p:set>
                                    <p:animEffect transition="in" filter="box(in)">
                                      <p:cBhvr>
                                        <p:cTn id="7" dur="500"/>
                                        <p:tgtEl>
                                          <p:spTgt spid="12186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1872"/>
                                        </p:tgtEl>
                                        <p:attrNameLst>
                                          <p:attrName>style.visibility</p:attrName>
                                        </p:attrNameLst>
                                      </p:cBhvr>
                                      <p:to>
                                        <p:strVal val="visible"/>
                                      </p:to>
                                    </p:set>
                                    <p:animEffect transition="in" filter="box(in)">
                                      <p:cBhvr>
                                        <p:cTn id="17" dur="500"/>
                                        <p:tgtEl>
                                          <p:spTgt spid="12187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i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autoUpdateAnimBg="0"/>
      <p:bldP spid="12187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304800" y="0"/>
            <a:ext cx="8610600" cy="1143000"/>
          </a:xfrm>
        </p:spPr>
        <p:txBody>
          <a:bodyPr/>
          <a:lstStyle/>
          <a:p>
            <a:pPr eaLnBrk="1" hangingPunct="1"/>
            <a:r>
              <a:rPr lang="en-US" dirty="0"/>
              <a:t>Converting Infix expression to postfix</a:t>
            </a:r>
          </a:p>
        </p:txBody>
      </p:sp>
      <p:sp>
        <p:nvSpPr>
          <p:cNvPr id="48132" name="Rectangle 3"/>
          <p:cNvSpPr>
            <a:spLocks noGrp="1" noChangeArrowheads="1"/>
          </p:cNvSpPr>
          <p:nvPr>
            <p:ph type="body" idx="1"/>
          </p:nvPr>
        </p:nvSpPr>
        <p:spPr>
          <a:xfrm>
            <a:off x="381000" y="1219200"/>
            <a:ext cx="74676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800" dirty="0"/>
          </a:p>
          <a:p>
            <a:pPr marL="609600" indent="-609600" eaLnBrk="1" hangingPunct="1">
              <a:lnSpc>
                <a:spcPct val="4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p:txBody>
      </p:sp>
      <p:sp>
        <p:nvSpPr>
          <p:cNvPr id="122884" name="Text Box 4"/>
          <p:cNvSpPr txBox="1">
            <a:spLocks noChangeArrowheads="1"/>
          </p:cNvSpPr>
          <p:nvPr/>
        </p:nvSpPr>
        <p:spPr bwMode="auto">
          <a:xfrm>
            <a:off x="457200" y="22860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3"/>
            </a:pPr>
            <a:r>
              <a:rPr lang="en-US" sz="2000">
                <a:latin typeface="Times New Roman" pitchFamily="18" charset="0"/>
              </a:rPr>
              <a:t>Now we read a ‘</a:t>
            </a:r>
            <a:r>
              <a:rPr lang="en-US" sz="2000">
                <a:solidFill>
                  <a:srgbClr val="FF00FF"/>
                </a:solidFill>
                <a:latin typeface="Times New Roman" pitchFamily="18" charset="0"/>
              </a:rPr>
              <a:t>)</a:t>
            </a:r>
            <a:r>
              <a:rPr lang="en-US" sz="2000">
                <a:latin typeface="Times New Roman" pitchFamily="18" charset="0"/>
              </a:rPr>
              <a:t>’, so the stack is emptied back to the ‘(‘, we output a +</a:t>
            </a:r>
          </a:p>
        </p:txBody>
      </p:sp>
      <p:sp>
        <p:nvSpPr>
          <p:cNvPr id="122885" name="Text Box 5"/>
          <p:cNvSpPr txBox="1">
            <a:spLocks noChangeArrowheads="1"/>
          </p:cNvSpPr>
          <p:nvPr/>
        </p:nvSpPr>
        <p:spPr bwMode="auto">
          <a:xfrm>
            <a:off x="457200" y="41910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4"/>
            </a:pPr>
            <a:r>
              <a:rPr lang="en-US" sz="2000">
                <a:latin typeface="Times New Roman" pitchFamily="18" charset="0"/>
              </a:rPr>
              <a:t>We read a </a:t>
            </a:r>
            <a:r>
              <a:rPr lang="en-US" sz="2000">
                <a:solidFill>
                  <a:srgbClr val="FF00FF"/>
                </a:solidFill>
                <a:latin typeface="Times New Roman" pitchFamily="18" charset="0"/>
              </a:rPr>
              <a:t>*</a:t>
            </a:r>
            <a:r>
              <a:rPr lang="en-US" sz="2000">
                <a:latin typeface="Times New Roman" pitchFamily="18" charset="0"/>
              </a:rPr>
              <a:t> next; it is pushed onto the stack</a:t>
            </a:r>
          </a:p>
        </p:txBody>
      </p:sp>
      <p:grpSp>
        <p:nvGrpSpPr>
          <p:cNvPr id="2" name="Group 6"/>
          <p:cNvGrpSpPr>
            <a:grpSpLocks/>
          </p:cNvGrpSpPr>
          <p:nvPr/>
        </p:nvGrpSpPr>
        <p:grpSpPr bwMode="auto">
          <a:xfrm>
            <a:off x="1981200" y="2895600"/>
            <a:ext cx="5029200" cy="1295400"/>
            <a:chOff x="1632" y="1968"/>
            <a:chExt cx="3168" cy="816"/>
          </a:xfrm>
        </p:grpSpPr>
        <p:grpSp>
          <p:nvGrpSpPr>
            <p:cNvPr id="3" name="Group 7"/>
            <p:cNvGrpSpPr>
              <a:grpSpLocks/>
            </p:cNvGrpSpPr>
            <p:nvPr/>
          </p:nvGrpSpPr>
          <p:grpSpPr bwMode="auto">
            <a:xfrm>
              <a:off x="2976" y="2016"/>
              <a:ext cx="1824" cy="624"/>
              <a:chOff x="2976" y="2016"/>
              <a:chExt cx="1824" cy="624"/>
            </a:xfrm>
          </p:grpSpPr>
          <p:sp>
            <p:nvSpPr>
              <p:cNvPr id="48156" name="Rectangle 8"/>
              <p:cNvSpPr>
                <a:spLocks noChangeArrowheads="1"/>
              </p:cNvSpPr>
              <p:nvPr/>
            </p:nvSpPr>
            <p:spPr bwMode="auto">
              <a:xfrm>
                <a:off x="2976" y="2016"/>
                <a:ext cx="1824"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57" name="Text Box 9"/>
              <p:cNvSpPr txBox="1">
                <a:spLocks noChangeArrowheads="1"/>
              </p:cNvSpPr>
              <p:nvPr/>
            </p:nvSpPr>
            <p:spPr bwMode="auto">
              <a:xfrm>
                <a:off x="2976" y="2016"/>
                <a:ext cx="1104"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abc*+de*f+</a:t>
                </a:r>
              </a:p>
            </p:txBody>
          </p:sp>
          <p:sp>
            <p:nvSpPr>
              <p:cNvPr id="48158" name="Text Box 10"/>
              <p:cNvSpPr txBox="1">
                <a:spLocks noChangeArrowheads="1"/>
              </p:cNvSpPr>
              <p:nvPr/>
            </p:nvSpPr>
            <p:spPr bwMode="auto">
              <a:xfrm>
                <a:off x="3408" y="2352"/>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grpSp>
          <p:nvGrpSpPr>
            <p:cNvPr id="4" name="Group 11"/>
            <p:cNvGrpSpPr>
              <a:grpSpLocks/>
            </p:cNvGrpSpPr>
            <p:nvPr/>
          </p:nvGrpSpPr>
          <p:grpSpPr bwMode="auto">
            <a:xfrm>
              <a:off x="1632" y="1968"/>
              <a:ext cx="528" cy="816"/>
              <a:chOff x="5088" y="3504"/>
              <a:chExt cx="528" cy="816"/>
            </a:xfrm>
          </p:grpSpPr>
          <p:grpSp>
            <p:nvGrpSpPr>
              <p:cNvPr id="5" name="Group 12"/>
              <p:cNvGrpSpPr>
                <a:grpSpLocks/>
              </p:cNvGrpSpPr>
              <p:nvPr/>
            </p:nvGrpSpPr>
            <p:grpSpPr bwMode="auto">
              <a:xfrm>
                <a:off x="5184" y="3504"/>
                <a:ext cx="336" cy="528"/>
                <a:chOff x="5184" y="3504"/>
                <a:chExt cx="336" cy="528"/>
              </a:xfrm>
            </p:grpSpPr>
            <p:sp>
              <p:nvSpPr>
                <p:cNvPr id="48151" name="Line 13"/>
                <p:cNvSpPr>
                  <a:spLocks noChangeShapeType="1"/>
                </p:cNvSpPr>
                <p:nvPr/>
              </p:nvSpPr>
              <p:spPr bwMode="auto">
                <a:xfrm>
                  <a:off x="5184" y="4032"/>
                  <a:ext cx="336" cy="0"/>
                </a:xfrm>
                <a:prstGeom prst="line">
                  <a:avLst/>
                </a:prstGeom>
                <a:noFill/>
                <a:ln w="9525">
                  <a:solidFill>
                    <a:schemeClr val="tx1"/>
                  </a:solidFill>
                  <a:miter lim="800000"/>
                  <a:headEnd/>
                  <a:tailEnd/>
                </a:ln>
              </p:spPr>
              <p:txBody>
                <a:bodyPr wrap="none"/>
                <a:lstStyle/>
                <a:p>
                  <a:endParaRPr lang="en-US"/>
                </a:p>
              </p:txBody>
            </p:sp>
            <p:grpSp>
              <p:nvGrpSpPr>
                <p:cNvPr id="6" name="Group 14"/>
                <p:cNvGrpSpPr>
                  <a:grpSpLocks/>
                </p:cNvGrpSpPr>
                <p:nvPr/>
              </p:nvGrpSpPr>
              <p:grpSpPr bwMode="auto">
                <a:xfrm>
                  <a:off x="5184" y="3504"/>
                  <a:ext cx="336" cy="528"/>
                  <a:chOff x="4128" y="3168"/>
                  <a:chExt cx="336" cy="528"/>
                </a:xfrm>
              </p:grpSpPr>
              <p:sp>
                <p:nvSpPr>
                  <p:cNvPr id="48153" name="Line 15"/>
                  <p:cNvSpPr>
                    <a:spLocks noChangeShapeType="1"/>
                  </p:cNvSpPr>
                  <p:nvPr/>
                </p:nvSpPr>
                <p:spPr bwMode="auto">
                  <a:xfrm>
                    <a:off x="4464" y="3168"/>
                    <a:ext cx="0" cy="528"/>
                  </a:xfrm>
                  <a:prstGeom prst="line">
                    <a:avLst/>
                  </a:prstGeom>
                  <a:noFill/>
                  <a:ln w="9525">
                    <a:solidFill>
                      <a:schemeClr val="tx1"/>
                    </a:solidFill>
                    <a:miter lim="800000"/>
                    <a:headEnd/>
                    <a:tailEnd/>
                  </a:ln>
                </p:spPr>
                <p:txBody>
                  <a:bodyPr wrap="none"/>
                  <a:lstStyle/>
                  <a:p>
                    <a:endParaRPr lang="en-US"/>
                  </a:p>
                </p:txBody>
              </p:sp>
              <p:sp>
                <p:nvSpPr>
                  <p:cNvPr id="48154" name="Line 16"/>
                  <p:cNvSpPr>
                    <a:spLocks noChangeShapeType="1"/>
                  </p:cNvSpPr>
                  <p:nvPr/>
                </p:nvSpPr>
                <p:spPr bwMode="auto">
                  <a:xfrm flipV="1">
                    <a:off x="4128" y="3168"/>
                    <a:ext cx="0" cy="528"/>
                  </a:xfrm>
                  <a:prstGeom prst="line">
                    <a:avLst/>
                  </a:prstGeom>
                  <a:noFill/>
                  <a:ln w="9525">
                    <a:solidFill>
                      <a:schemeClr val="tx1"/>
                    </a:solidFill>
                    <a:miter lim="800000"/>
                    <a:headEnd/>
                    <a:tailEnd/>
                  </a:ln>
                </p:spPr>
                <p:txBody>
                  <a:bodyPr wrap="none"/>
                  <a:lstStyle/>
                  <a:p>
                    <a:endParaRPr lang="en-US"/>
                  </a:p>
                </p:txBody>
              </p:sp>
              <p:sp>
                <p:nvSpPr>
                  <p:cNvPr id="48155" name="Text Box 17"/>
                  <p:cNvSpPr txBox="1">
                    <a:spLocks noChangeArrowheads="1"/>
                  </p:cNvSpPr>
                  <p:nvPr/>
                </p:nvSpPr>
                <p:spPr bwMode="auto">
                  <a:xfrm>
                    <a:off x="4128" y="3408"/>
                    <a:ext cx="336" cy="288"/>
                  </a:xfrm>
                  <a:prstGeom prst="rect">
                    <a:avLst/>
                  </a:prstGeom>
                  <a:noFill/>
                  <a:ln w="9525">
                    <a:noFill/>
                    <a:miter lim="800000"/>
                    <a:headEnd/>
                    <a:tailEnd/>
                  </a:ln>
                </p:spPr>
                <p:txBody>
                  <a:bodyPr>
                    <a:spAutoFit/>
                  </a:bodyPr>
                  <a:lstStyle/>
                  <a:p>
                    <a:pPr algn="ctr" eaLnBrk="1" hangingPunct="1">
                      <a:spcBef>
                        <a:spcPct val="50000"/>
                      </a:spcBef>
                    </a:pPr>
                    <a:r>
                      <a:rPr lang="en-US" sz="2400">
                        <a:latin typeface="Times New Roman" pitchFamily="18" charset="0"/>
                      </a:rPr>
                      <a:t>+</a:t>
                    </a:r>
                  </a:p>
                </p:txBody>
              </p:sp>
            </p:grpSp>
          </p:grpSp>
          <p:sp>
            <p:nvSpPr>
              <p:cNvPr id="48150" name="Text Box 18"/>
              <p:cNvSpPr txBox="1">
                <a:spLocks noChangeArrowheads="1"/>
              </p:cNvSpPr>
              <p:nvPr/>
            </p:nvSpPr>
            <p:spPr bwMode="auto">
              <a:xfrm>
                <a:off x="5088"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nvGrpSpPr>
          <p:cNvPr id="7" name="Group 19"/>
          <p:cNvGrpSpPr>
            <a:grpSpLocks/>
          </p:cNvGrpSpPr>
          <p:nvPr/>
        </p:nvGrpSpPr>
        <p:grpSpPr bwMode="auto">
          <a:xfrm>
            <a:off x="5715000" y="3962400"/>
            <a:ext cx="838200" cy="1295400"/>
            <a:chOff x="5088" y="3360"/>
            <a:chExt cx="528" cy="816"/>
          </a:xfrm>
        </p:grpSpPr>
        <p:sp>
          <p:nvSpPr>
            <p:cNvPr id="48142" name="Line 20"/>
            <p:cNvSpPr>
              <a:spLocks noChangeShapeType="1"/>
            </p:cNvSpPr>
            <p:nvPr/>
          </p:nvSpPr>
          <p:spPr bwMode="auto">
            <a:xfrm>
              <a:off x="5184" y="3888"/>
              <a:ext cx="336" cy="0"/>
            </a:xfrm>
            <a:prstGeom prst="line">
              <a:avLst/>
            </a:prstGeom>
            <a:noFill/>
            <a:ln w="9525">
              <a:solidFill>
                <a:schemeClr val="tx1"/>
              </a:solidFill>
              <a:miter lim="800000"/>
              <a:headEnd/>
              <a:tailEnd/>
            </a:ln>
          </p:spPr>
          <p:txBody>
            <a:bodyPr wrap="none"/>
            <a:lstStyle/>
            <a:p>
              <a:endParaRPr lang="en-US"/>
            </a:p>
          </p:txBody>
        </p:sp>
        <p:sp>
          <p:nvSpPr>
            <p:cNvPr id="48143" name="Line 21"/>
            <p:cNvSpPr>
              <a:spLocks noChangeShapeType="1"/>
            </p:cNvSpPr>
            <p:nvPr/>
          </p:nvSpPr>
          <p:spPr bwMode="auto">
            <a:xfrm>
              <a:off x="5520" y="3360"/>
              <a:ext cx="0" cy="528"/>
            </a:xfrm>
            <a:prstGeom prst="line">
              <a:avLst/>
            </a:prstGeom>
            <a:noFill/>
            <a:ln w="9525">
              <a:solidFill>
                <a:schemeClr val="tx1"/>
              </a:solidFill>
              <a:miter lim="800000"/>
              <a:headEnd/>
              <a:tailEnd/>
            </a:ln>
          </p:spPr>
          <p:txBody>
            <a:bodyPr wrap="none"/>
            <a:lstStyle/>
            <a:p>
              <a:endParaRPr lang="en-US"/>
            </a:p>
          </p:txBody>
        </p:sp>
        <p:sp>
          <p:nvSpPr>
            <p:cNvPr id="48144" name="Line 22"/>
            <p:cNvSpPr>
              <a:spLocks noChangeShapeType="1"/>
            </p:cNvSpPr>
            <p:nvPr/>
          </p:nvSpPr>
          <p:spPr bwMode="auto">
            <a:xfrm flipV="1">
              <a:off x="5184" y="3360"/>
              <a:ext cx="0" cy="528"/>
            </a:xfrm>
            <a:prstGeom prst="line">
              <a:avLst/>
            </a:prstGeom>
            <a:noFill/>
            <a:ln w="9525">
              <a:solidFill>
                <a:schemeClr val="tx1"/>
              </a:solidFill>
              <a:miter lim="800000"/>
              <a:headEnd/>
              <a:tailEnd/>
            </a:ln>
          </p:spPr>
          <p:txBody>
            <a:bodyPr wrap="none"/>
            <a:lstStyle/>
            <a:p>
              <a:endParaRPr lang="en-US"/>
            </a:p>
          </p:txBody>
        </p:sp>
        <p:sp>
          <p:nvSpPr>
            <p:cNvPr id="48145" name="Text Box 23"/>
            <p:cNvSpPr txBox="1">
              <a:spLocks noChangeArrowheads="1"/>
            </p:cNvSpPr>
            <p:nvPr/>
          </p:nvSpPr>
          <p:spPr bwMode="auto">
            <a:xfrm>
              <a:off x="5184" y="3360"/>
              <a:ext cx="336" cy="538"/>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8146" name="Text Box 24"/>
            <p:cNvSpPr txBox="1">
              <a:spLocks noChangeArrowheads="1"/>
            </p:cNvSpPr>
            <p:nvPr/>
          </p:nvSpPr>
          <p:spPr bwMode="auto">
            <a:xfrm>
              <a:off x="5088" y="388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22905" name="Text Box 25"/>
          <p:cNvSpPr txBox="1">
            <a:spLocks noChangeArrowheads="1"/>
          </p:cNvSpPr>
          <p:nvPr/>
        </p:nvSpPr>
        <p:spPr bwMode="auto">
          <a:xfrm>
            <a:off x="457200" y="56388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5"/>
            </a:pPr>
            <a:r>
              <a:rPr lang="en-US" sz="2000">
                <a:latin typeface="Times New Roman" pitchFamily="18" charset="0"/>
              </a:rPr>
              <a:t>Now, </a:t>
            </a:r>
            <a:r>
              <a:rPr lang="en-US" sz="2000">
                <a:solidFill>
                  <a:srgbClr val="FF00FF"/>
                </a:solidFill>
                <a:latin typeface="Times New Roman" pitchFamily="18" charset="0"/>
              </a:rPr>
              <a:t>g</a:t>
            </a:r>
            <a:r>
              <a:rPr lang="en-US" sz="2000">
                <a:latin typeface="Times New Roman" pitchFamily="18" charset="0"/>
              </a:rPr>
              <a:t> is read and output</a:t>
            </a:r>
          </a:p>
        </p:txBody>
      </p:sp>
      <p:grpSp>
        <p:nvGrpSpPr>
          <p:cNvPr id="8" name="Group 26"/>
          <p:cNvGrpSpPr>
            <a:grpSpLocks/>
          </p:cNvGrpSpPr>
          <p:nvPr/>
        </p:nvGrpSpPr>
        <p:grpSpPr bwMode="auto">
          <a:xfrm>
            <a:off x="3886200" y="5410200"/>
            <a:ext cx="2895600" cy="990600"/>
            <a:chOff x="2736" y="3696"/>
            <a:chExt cx="1824" cy="624"/>
          </a:xfrm>
        </p:grpSpPr>
        <p:sp>
          <p:nvSpPr>
            <p:cNvPr id="48139" name="Rectangle 27"/>
            <p:cNvSpPr>
              <a:spLocks noChangeArrowheads="1"/>
            </p:cNvSpPr>
            <p:nvPr/>
          </p:nvSpPr>
          <p:spPr bwMode="auto">
            <a:xfrm>
              <a:off x="2736" y="3696"/>
              <a:ext cx="1824"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40" name="Text Box 28"/>
            <p:cNvSpPr txBox="1">
              <a:spLocks noChangeArrowheads="1"/>
            </p:cNvSpPr>
            <p:nvPr/>
          </p:nvSpPr>
          <p:spPr bwMode="auto">
            <a:xfrm>
              <a:off x="2736" y="3696"/>
              <a:ext cx="124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abc*+de*f+g</a:t>
              </a:r>
            </a:p>
          </p:txBody>
        </p:sp>
        <p:sp>
          <p:nvSpPr>
            <p:cNvPr id="48141" name="Text Box 29"/>
            <p:cNvSpPr txBox="1">
              <a:spLocks noChangeArrowheads="1"/>
            </p:cNvSpPr>
            <p:nvPr/>
          </p:nvSpPr>
          <p:spPr bwMode="auto">
            <a:xfrm>
              <a:off x="3168" y="4032"/>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sp>
        <p:nvSpPr>
          <p:cNvPr id="31" name="Footer Placeholder 30"/>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884"/>
                                        </p:tgtEl>
                                        <p:attrNameLst>
                                          <p:attrName>style.visibility</p:attrName>
                                        </p:attrNameLst>
                                      </p:cBhvr>
                                      <p:to>
                                        <p:strVal val="visible"/>
                                      </p:to>
                                    </p:set>
                                    <p:animEffect transition="in" filter="box(in)">
                                      <p:cBhvr>
                                        <p:cTn id="7" dur="500"/>
                                        <p:tgtEl>
                                          <p:spTgt spid="12288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22885"/>
                                        </p:tgtEl>
                                        <p:attrNameLst>
                                          <p:attrName>style.visibility</p:attrName>
                                        </p:attrNameLst>
                                      </p:cBhvr>
                                      <p:to>
                                        <p:strVal val="visible"/>
                                      </p:to>
                                    </p:set>
                                    <p:animEffect transition="in" filter="box(in)">
                                      <p:cBhvr>
                                        <p:cTn id="17" dur="500"/>
                                        <p:tgtEl>
                                          <p:spTgt spid="12288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2905"/>
                                        </p:tgtEl>
                                        <p:attrNameLst>
                                          <p:attrName>style.visibility</p:attrName>
                                        </p:attrNameLst>
                                      </p:cBhvr>
                                      <p:to>
                                        <p:strVal val="visible"/>
                                      </p:to>
                                    </p:set>
                                    <p:animEffect transition="in" filter="box(in)">
                                      <p:cBhvr>
                                        <p:cTn id="27" dur="500"/>
                                        <p:tgtEl>
                                          <p:spTgt spid="12290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i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utoUpdateAnimBg="0"/>
      <p:bldP spid="122885" grpId="0" autoUpdateAnimBg="0"/>
      <p:bldP spid="122905"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304800" y="76200"/>
            <a:ext cx="8458200" cy="1143000"/>
          </a:xfrm>
        </p:spPr>
        <p:txBody>
          <a:bodyPr/>
          <a:lstStyle/>
          <a:p>
            <a:pPr eaLnBrk="1" hangingPunct="1"/>
            <a:r>
              <a:rPr lang="en-US" dirty="0"/>
              <a:t>Converting Infix expression to postfix</a:t>
            </a:r>
          </a:p>
        </p:txBody>
      </p:sp>
      <p:sp>
        <p:nvSpPr>
          <p:cNvPr id="49156" name="Rectangle 3"/>
          <p:cNvSpPr>
            <a:spLocks noGrp="1" noChangeArrowheads="1"/>
          </p:cNvSpPr>
          <p:nvPr>
            <p:ph type="body" idx="1"/>
          </p:nvPr>
        </p:nvSpPr>
        <p:spPr>
          <a:xfrm>
            <a:off x="381000" y="1219200"/>
            <a:ext cx="7467600" cy="1219200"/>
          </a:xfrm>
        </p:spPr>
        <p:txBody>
          <a:bodyPr/>
          <a:lstStyle/>
          <a:p>
            <a:pPr marL="609600" indent="-609600" eaLnBrk="1" hangingPunct="1">
              <a:lnSpc>
                <a:spcPct val="90000"/>
              </a:lnSpc>
              <a:buFontTx/>
              <a:buNone/>
            </a:pPr>
            <a:r>
              <a:rPr lang="en-US" sz="2000" dirty="0"/>
              <a:t>Converting the following infix expression to postfix expression.</a:t>
            </a:r>
          </a:p>
          <a:p>
            <a:pPr marL="609600" indent="-609600" algn="ctr" eaLnBrk="1" hangingPunct="1">
              <a:lnSpc>
                <a:spcPct val="90000"/>
              </a:lnSpc>
              <a:buFontTx/>
              <a:buNone/>
            </a:pPr>
            <a:r>
              <a:rPr lang="en-US" sz="2000" dirty="0" err="1"/>
              <a:t>a+b</a:t>
            </a:r>
            <a:r>
              <a:rPr lang="en-US" sz="2000" dirty="0"/>
              <a:t>*c+(d*</a:t>
            </a:r>
            <a:r>
              <a:rPr lang="en-US" sz="2000" dirty="0" err="1"/>
              <a:t>e+f</a:t>
            </a:r>
            <a:r>
              <a:rPr lang="en-US" sz="2000" dirty="0"/>
              <a:t>)*g</a:t>
            </a:r>
          </a:p>
          <a:p>
            <a:pPr marL="609600" indent="-609600" eaLnBrk="1" hangingPunct="1">
              <a:lnSpc>
                <a:spcPct val="90000"/>
              </a:lnSpc>
              <a:buFontTx/>
              <a:buNone/>
            </a:pPr>
            <a:endParaRPr lang="en-US" sz="2800" dirty="0"/>
          </a:p>
          <a:p>
            <a:pPr marL="609600" indent="-609600" eaLnBrk="1" hangingPunct="1">
              <a:lnSpc>
                <a:spcPct val="4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None/>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a:p>
            <a:pPr marL="609600" indent="-609600" eaLnBrk="1" hangingPunct="1">
              <a:lnSpc>
                <a:spcPct val="90000"/>
              </a:lnSpc>
              <a:buFontTx/>
              <a:buAutoNum type="arabicPeriod"/>
            </a:pPr>
            <a:endParaRPr lang="en-US" sz="2400" dirty="0"/>
          </a:p>
        </p:txBody>
      </p:sp>
      <p:sp>
        <p:nvSpPr>
          <p:cNvPr id="123908" name="Text Box 4"/>
          <p:cNvSpPr txBox="1">
            <a:spLocks noChangeArrowheads="1"/>
          </p:cNvSpPr>
          <p:nvPr/>
        </p:nvSpPr>
        <p:spPr bwMode="auto">
          <a:xfrm>
            <a:off x="457200" y="3336925"/>
            <a:ext cx="8077200" cy="7016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16"/>
            </a:pPr>
            <a:r>
              <a:rPr lang="en-US" sz="2000">
                <a:latin typeface="Times New Roman" pitchFamily="18" charset="0"/>
              </a:rPr>
              <a:t>The input is now empty, so  pop output symbols from the stack until it is empty</a:t>
            </a:r>
          </a:p>
        </p:txBody>
      </p:sp>
      <p:grpSp>
        <p:nvGrpSpPr>
          <p:cNvPr id="2" name="Group 5"/>
          <p:cNvGrpSpPr>
            <a:grpSpLocks/>
          </p:cNvGrpSpPr>
          <p:nvPr/>
        </p:nvGrpSpPr>
        <p:grpSpPr bwMode="auto">
          <a:xfrm>
            <a:off x="1981200" y="4038600"/>
            <a:ext cx="5029200" cy="1295400"/>
            <a:chOff x="1632" y="1920"/>
            <a:chExt cx="3168" cy="816"/>
          </a:xfrm>
        </p:grpSpPr>
        <p:grpSp>
          <p:nvGrpSpPr>
            <p:cNvPr id="3" name="Group 6"/>
            <p:cNvGrpSpPr>
              <a:grpSpLocks/>
            </p:cNvGrpSpPr>
            <p:nvPr/>
          </p:nvGrpSpPr>
          <p:grpSpPr bwMode="auto">
            <a:xfrm>
              <a:off x="2976" y="1968"/>
              <a:ext cx="1824" cy="624"/>
              <a:chOff x="2976" y="1968"/>
              <a:chExt cx="1824" cy="624"/>
            </a:xfrm>
          </p:grpSpPr>
          <p:sp>
            <p:nvSpPr>
              <p:cNvPr id="49174" name="Rectangle 7"/>
              <p:cNvSpPr>
                <a:spLocks noChangeArrowheads="1"/>
              </p:cNvSpPr>
              <p:nvPr/>
            </p:nvSpPr>
            <p:spPr bwMode="auto">
              <a:xfrm>
                <a:off x="2976" y="1968"/>
                <a:ext cx="1824" cy="28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175" name="Text Box 8"/>
              <p:cNvSpPr txBox="1">
                <a:spLocks noChangeArrowheads="1"/>
              </p:cNvSpPr>
              <p:nvPr/>
            </p:nvSpPr>
            <p:spPr bwMode="auto">
              <a:xfrm>
                <a:off x="2976" y="1968"/>
                <a:ext cx="144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abc*+de*f+g*+</a:t>
                </a:r>
              </a:p>
            </p:txBody>
          </p:sp>
          <p:sp>
            <p:nvSpPr>
              <p:cNvPr id="49176" name="Text Box 9"/>
              <p:cNvSpPr txBox="1">
                <a:spLocks noChangeArrowheads="1"/>
              </p:cNvSpPr>
              <p:nvPr/>
            </p:nvSpPr>
            <p:spPr bwMode="auto">
              <a:xfrm>
                <a:off x="3408" y="2304"/>
                <a:ext cx="720"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output</a:t>
                </a:r>
              </a:p>
            </p:txBody>
          </p:sp>
        </p:grpSp>
        <p:grpSp>
          <p:nvGrpSpPr>
            <p:cNvPr id="4" name="Group 10"/>
            <p:cNvGrpSpPr>
              <a:grpSpLocks/>
            </p:cNvGrpSpPr>
            <p:nvPr/>
          </p:nvGrpSpPr>
          <p:grpSpPr bwMode="auto">
            <a:xfrm>
              <a:off x="1632" y="1920"/>
              <a:ext cx="528" cy="816"/>
              <a:chOff x="1632" y="1920"/>
              <a:chExt cx="528" cy="816"/>
            </a:xfrm>
          </p:grpSpPr>
          <p:grpSp>
            <p:nvGrpSpPr>
              <p:cNvPr id="5" name="Group 11"/>
              <p:cNvGrpSpPr>
                <a:grpSpLocks/>
              </p:cNvGrpSpPr>
              <p:nvPr/>
            </p:nvGrpSpPr>
            <p:grpSpPr bwMode="auto">
              <a:xfrm>
                <a:off x="1728" y="1920"/>
                <a:ext cx="336" cy="528"/>
                <a:chOff x="5184" y="3504"/>
                <a:chExt cx="336" cy="528"/>
              </a:xfrm>
            </p:grpSpPr>
            <p:sp>
              <p:nvSpPr>
                <p:cNvPr id="49169" name="Line 12"/>
                <p:cNvSpPr>
                  <a:spLocks noChangeShapeType="1"/>
                </p:cNvSpPr>
                <p:nvPr/>
              </p:nvSpPr>
              <p:spPr bwMode="auto">
                <a:xfrm>
                  <a:off x="5184" y="4032"/>
                  <a:ext cx="336" cy="0"/>
                </a:xfrm>
                <a:prstGeom prst="line">
                  <a:avLst/>
                </a:prstGeom>
                <a:noFill/>
                <a:ln w="9525">
                  <a:solidFill>
                    <a:schemeClr val="tx1"/>
                  </a:solidFill>
                  <a:miter lim="800000"/>
                  <a:headEnd/>
                  <a:tailEnd/>
                </a:ln>
              </p:spPr>
              <p:txBody>
                <a:bodyPr wrap="none"/>
                <a:lstStyle/>
                <a:p>
                  <a:endParaRPr lang="en-US"/>
                </a:p>
              </p:txBody>
            </p:sp>
            <p:grpSp>
              <p:nvGrpSpPr>
                <p:cNvPr id="6" name="Group 13"/>
                <p:cNvGrpSpPr>
                  <a:grpSpLocks/>
                </p:cNvGrpSpPr>
                <p:nvPr/>
              </p:nvGrpSpPr>
              <p:grpSpPr bwMode="auto">
                <a:xfrm>
                  <a:off x="5184" y="3504"/>
                  <a:ext cx="336" cy="528"/>
                  <a:chOff x="4128" y="3168"/>
                  <a:chExt cx="336" cy="528"/>
                </a:xfrm>
              </p:grpSpPr>
              <p:sp>
                <p:nvSpPr>
                  <p:cNvPr id="49171" name="Line 14"/>
                  <p:cNvSpPr>
                    <a:spLocks noChangeShapeType="1"/>
                  </p:cNvSpPr>
                  <p:nvPr/>
                </p:nvSpPr>
                <p:spPr bwMode="auto">
                  <a:xfrm>
                    <a:off x="4464" y="3168"/>
                    <a:ext cx="0" cy="528"/>
                  </a:xfrm>
                  <a:prstGeom prst="line">
                    <a:avLst/>
                  </a:prstGeom>
                  <a:noFill/>
                  <a:ln w="9525">
                    <a:solidFill>
                      <a:schemeClr val="tx1"/>
                    </a:solidFill>
                    <a:miter lim="800000"/>
                    <a:headEnd/>
                    <a:tailEnd/>
                  </a:ln>
                </p:spPr>
                <p:txBody>
                  <a:bodyPr wrap="none"/>
                  <a:lstStyle/>
                  <a:p>
                    <a:endParaRPr lang="en-US"/>
                  </a:p>
                </p:txBody>
              </p:sp>
              <p:sp>
                <p:nvSpPr>
                  <p:cNvPr id="49172" name="Line 15"/>
                  <p:cNvSpPr>
                    <a:spLocks noChangeShapeType="1"/>
                  </p:cNvSpPr>
                  <p:nvPr/>
                </p:nvSpPr>
                <p:spPr bwMode="auto">
                  <a:xfrm flipV="1">
                    <a:off x="4128" y="3168"/>
                    <a:ext cx="0" cy="528"/>
                  </a:xfrm>
                  <a:prstGeom prst="line">
                    <a:avLst/>
                  </a:prstGeom>
                  <a:noFill/>
                  <a:ln w="9525">
                    <a:solidFill>
                      <a:schemeClr val="tx1"/>
                    </a:solidFill>
                    <a:miter lim="800000"/>
                    <a:headEnd/>
                    <a:tailEnd/>
                  </a:ln>
                </p:spPr>
                <p:txBody>
                  <a:bodyPr wrap="none"/>
                  <a:lstStyle/>
                  <a:p>
                    <a:endParaRPr lang="en-US"/>
                  </a:p>
                </p:txBody>
              </p:sp>
              <p:sp>
                <p:nvSpPr>
                  <p:cNvPr id="49173" name="Text Box 16"/>
                  <p:cNvSpPr txBox="1">
                    <a:spLocks noChangeArrowheads="1"/>
                  </p:cNvSpPr>
                  <p:nvPr/>
                </p:nvSpPr>
                <p:spPr bwMode="auto">
                  <a:xfrm>
                    <a:off x="4128" y="3408"/>
                    <a:ext cx="336" cy="288"/>
                  </a:xfrm>
                  <a:prstGeom prst="rect">
                    <a:avLst/>
                  </a:prstGeom>
                  <a:noFill/>
                  <a:ln w="9525">
                    <a:noFill/>
                    <a:miter lim="800000"/>
                    <a:headEnd/>
                    <a:tailEnd/>
                  </a:ln>
                </p:spPr>
                <p:txBody>
                  <a:bodyPr>
                    <a:spAutoFit/>
                  </a:bodyPr>
                  <a:lstStyle/>
                  <a:p>
                    <a:pPr algn="ctr" eaLnBrk="1" hangingPunct="1">
                      <a:spcBef>
                        <a:spcPct val="50000"/>
                      </a:spcBef>
                    </a:pPr>
                    <a:endParaRPr lang="en-US" sz="2400">
                      <a:latin typeface="Times New Roman" pitchFamily="18" charset="0"/>
                    </a:endParaRPr>
                  </a:p>
                </p:txBody>
              </p:sp>
            </p:grpSp>
          </p:grpSp>
          <p:sp>
            <p:nvSpPr>
              <p:cNvPr id="49168" name="Text Box 17"/>
              <p:cNvSpPr txBox="1">
                <a:spLocks noChangeArrowheads="1"/>
              </p:cNvSpPr>
              <p:nvPr/>
            </p:nvSpPr>
            <p:spPr bwMode="auto">
              <a:xfrm>
                <a:off x="1632" y="244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nvGrpSpPr>
          <p:cNvPr id="7" name="Group 18"/>
          <p:cNvGrpSpPr>
            <a:grpSpLocks/>
          </p:cNvGrpSpPr>
          <p:nvPr/>
        </p:nvGrpSpPr>
        <p:grpSpPr bwMode="auto">
          <a:xfrm>
            <a:off x="3581400" y="1905000"/>
            <a:ext cx="838200" cy="1295400"/>
            <a:chOff x="5088" y="3360"/>
            <a:chExt cx="528" cy="816"/>
          </a:xfrm>
        </p:grpSpPr>
        <p:sp>
          <p:nvSpPr>
            <p:cNvPr id="49160" name="Line 19"/>
            <p:cNvSpPr>
              <a:spLocks noChangeShapeType="1"/>
            </p:cNvSpPr>
            <p:nvPr/>
          </p:nvSpPr>
          <p:spPr bwMode="auto">
            <a:xfrm>
              <a:off x="5184" y="3888"/>
              <a:ext cx="336" cy="0"/>
            </a:xfrm>
            <a:prstGeom prst="line">
              <a:avLst/>
            </a:prstGeom>
            <a:noFill/>
            <a:ln w="9525">
              <a:solidFill>
                <a:schemeClr val="tx1"/>
              </a:solidFill>
              <a:miter lim="800000"/>
              <a:headEnd/>
              <a:tailEnd/>
            </a:ln>
          </p:spPr>
          <p:txBody>
            <a:bodyPr wrap="none"/>
            <a:lstStyle/>
            <a:p>
              <a:endParaRPr lang="en-US"/>
            </a:p>
          </p:txBody>
        </p:sp>
        <p:sp>
          <p:nvSpPr>
            <p:cNvPr id="49161" name="Line 20"/>
            <p:cNvSpPr>
              <a:spLocks noChangeShapeType="1"/>
            </p:cNvSpPr>
            <p:nvPr/>
          </p:nvSpPr>
          <p:spPr bwMode="auto">
            <a:xfrm>
              <a:off x="5520" y="3360"/>
              <a:ext cx="0" cy="528"/>
            </a:xfrm>
            <a:prstGeom prst="line">
              <a:avLst/>
            </a:prstGeom>
            <a:noFill/>
            <a:ln w="9525">
              <a:solidFill>
                <a:schemeClr val="tx1"/>
              </a:solidFill>
              <a:miter lim="800000"/>
              <a:headEnd/>
              <a:tailEnd/>
            </a:ln>
          </p:spPr>
          <p:txBody>
            <a:bodyPr wrap="none"/>
            <a:lstStyle/>
            <a:p>
              <a:endParaRPr lang="en-US"/>
            </a:p>
          </p:txBody>
        </p:sp>
        <p:sp>
          <p:nvSpPr>
            <p:cNvPr id="49162" name="Line 21"/>
            <p:cNvSpPr>
              <a:spLocks noChangeShapeType="1"/>
            </p:cNvSpPr>
            <p:nvPr/>
          </p:nvSpPr>
          <p:spPr bwMode="auto">
            <a:xfrm flipV="1">
              <a:off x="5184" y="3360"/>
              <a:ext cx="0" cy="528"/>
            </a:xfrm>
            <a:prstGeom prst="line">
              <a:avLst/>
            </a:prstGeom>
            <a:noFill/>
            <a:ln w="9525">
              <a:solidFill>
                <a:schemeClr val="tx1"/>
              </a:solidFill>
              <a:miter lim="800000"/>
              <a:headEnd/>
              <a:tailEnd/>
            </a:ln>
          </p:spPr>
          <p:txBody>
            <a:bodyPr wrap="none"/>
            <a:lstStyle/>
            <a:p>
              <a:endParaRPr lang="en-US"/>
            </a:p>
          </p:txBody>
        </p:sp>
        <p:sp>
          <p:nvSpPr>
            <p:cNvPr id="49163" name="Text Box 22"/>
            <p:cNvSpPr txBox="1">
              <a:spLocks noChangeArrowheads="1"/>
            </p:cNvSpPr>
            <p:nvPr/>
          </p:nvSpPr>
          <p:spPr bwMode="auto">
            <a:xfrm>
              <a:off x="5184" y="3360"/>
              <a:ext cx="336" cy="538"/>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a:t>
              </a:r>
            </a:p>
            <a:p>
              <a:pPr algn="ctr" eaLnBrk="1" hangingPunct="1">
                <a:spcBef>
                  <a:spcPct val="50000"/>
                </a:spcBef>
              </a:pPr>
              <a:r>
                <a:rPr lang="en-US" sz="2000">
                  <a:latin typeface="Times New Roman" pitchFamily="18" charset="0"/>
                </a:rPr>
                <a:t>+</a:t>
              </a:r>
            </a:p>
          </p:txBody>
        </p:sp>
        <p:sp>
          <p:nvSpPr>
            <p:cNvPr id="49164" name="Text Box 23"/>
            <p:cNvSpPr txBox="1">
              <a:spLocks noChangeArrowheads="1"/>
            </p:cNvSpPr>
            <p:nvPr/>
          </p:nvSpPr>
          <p:spPr bwMode="auto">
            <a:xfrm>
              <a:off x="5088" y="3888"/>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25" name="Footer Placeholder 2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animEffect transition="in" filter="box(in)">
                                      <p:cBhvr>
                                        <p:cTn id="7" dur="500"/>
                                        <p:tgtEl>
                                          <p:spTgt spid="12390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304800" y="152400"/>
            <a:ext cx="8382000" cy="1066800"/>
          </a:xfrm>
        </p:spPr>
        <p:txBody>
          <a:bodyPr/>
          <a:lstStyle/>
          <a:p>
            <a:pPr eaLnBrk="1" hangingPunct="1"/>
            <a:r>
              <a:rPr lang="en-US" dirty="0"/>
              <a:t>Consider the same problems</a:t>
            </a:r>
          </a:p>
        </p:txBody>
      </p:sp>
      <p:sp>
        <p:nvSpPr>
          <p:cNvPr id="124931" name="Rectangle 3"/>
          <p:cNvSpPr>
            <a:spLocks noGrp="1" noChangeArrowheads="1"/>
          </p:cNvSpPr>
          <p:nvPr>
            <p:ph type="body" idx="1"/>
          </p:nvPr>
        </p:nvSpPr>
        <p:spPr/>
        <p:txBody>
          <a:bodyPr/>
          <a:lstStyle/>
          <a:p>
            <a:pPr eaLnBrk="1" hangingPunct="1"/>
            <a:r>
              <a:rPr lang="en-US" sz="2800" dirty="0"/>
              <a:t>Evaluate a postfix expression / postfix calculator.</a:t>
            </a:r>
          </a:p>
          <a:p>
            <a:pPr eaLnBrk="1" hangingPunct="1">
              <a:lnSpc>
                <a:spcPct val="0"/>
              </a:lnSpc>
            </a:pPr>
            <a:endParaRPr lang="en-US" sz="2800" dirty="0"/>
          </a:p>
          <a:p>
            <a:pPr lvl="1" eaLnBrk="1" hangingPunct="1"/>
            <a:r>
              <a:rPr lang="en-US" sz="2400" dirty="0"/>
              <a:t>A postfix expression is a mathematical expression in which operators appears at the right side of an operand. E.g.</a:t>
            </a:r>
          </a:p>
          <a:p>
            <a:pPr eaLnBrk="1" hangingPunct="1">
              <a:lnSpc>
                <a:spcPct val="0"/>
              </a:lnSpc>
            </a:pPr>
            <a:endParaRPr lang="en-US" sz="2800" dirty="0"/>
          </a:p>
          <a:p>
            <a:pPr lvl="1" eaLnBrk="1" hangingPunct="1"/>
            <a:r>
              <a:rPr lang="en-US" sz="2400" i="1" dirty="0" err="1"/>
              <a:t>ab</a:t>
            </a:r>
            <a:r>
              <a:rPr lang="en-US" sz="2400" i="1" dirty="0"/>
              <a:t>+ </a:t>
            </a:r>
            <a:r>
              <a:rPr lang="en-US" sz="2400" dirty="0"/>
              <a:t>is equivalent to </a:t>
            </a:r>
            <a:r>
              <a:rPr lang="en-US" sz="2400" i="1" dirty="0" err="1"/>
              <a:t>a+b</a:t>
            </a:r>
            <a:r>
              <a:rPr lang="en-US" sz="2400" i="1" dirty="0"/>
              <a:t>,</a:t>
            </a:r>
          </a:p>
          <a:p>
            <a:pPr eaLnBrk="1" hangingPunct="1">
              <a:lnSpc>
                <a:spcPct val="0"/>
              </a:lnSpc>
            </a:pPr>
            <a:endParaRPr lang="en-US" sz="2800" i="1" dirty="0"/>
          </a:p>
          <a:p>
            <a:pPr lvl="1" eaLnBrk="1" hangingPunct="1"/>
            <a:r>
              <a:rPr lang="en-US" sz="2400" i="1" dirty="0"/>
              <a:t> </a:t>
            </a:r>
            <a:r>
              <a:rPr lang="en-US" sz="2400" i="1" dirty="0" err="1"/>
              <a:t>ab+c</a:t>
            </a:r>
            <a:r>
              <a:rPr lang="en-US" sz="2400" i="1" dirty="0"/>
              <a:t>- </a:t>
            </a:r>
            <a:r>
              <a:rPr lang="en-US" sz="2400" dirty="0"/>
              <a:t>is equivalent to </a:t>
            </a:r>
            <a:r>
              <a:rPr lang="en-US" sz="2400" i="1" dirty="0" err="1"/>
              <a:t>a+b</a:t>
            </a:r>
            <a:r>
              <a:rPr lang="en-US" sz="2400" i="1" dirty="0"/>
              <a:t>-c</a:t>
            </a:r>
          </a:p>
          <a:p>
            <a:pPr eaLnBrk="1" hangingPunct="1">
              <a:lnSpc>
                <a:spcPct val="0"/>
              </a:lnSpc>
            </a:pPr>
            <a:endParaRPr lang="en-US" sz="2800" dirty="0"/>
          </a:p>
          <a:p>
            <a:pPr lvl="1" eaLnBrk="1" hangingPunct="1"/>
            <a:r>
              <a:rPr lang="en-US" sz="2400" dirty="0" err="1"/>
              <a:t>ab+cd</a:t>
            </a:r>
            <a:r>
              <a:rPr lang="en-US" sz="2400" dirty="0"/>
              <a:t>*- is equivalent to </a:t>
            </a:r>
            <a:r>
              <a:rPr lang="en-US" sz="2400" dirty="0" err="1"/>
              <a:t>a+b</a:t>
            </a:r>
            <a:r>
              <a:rPr lang="en-US" sz="2400" dirty="0"/>
              <a:t>-c*d </a:t>
            </a:r>
          </a:p>
        </p:txBody>
      </p:sp>
      <p:sp>
        <p:nvSpPr>
          <p:cNvPr id="5" name="Footer Placeholder 4"/>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Effect transition="in" filter="blinds(vertical)">
                                      <p:cBhvr>
                                        <p:cTn id="7" dur="500"/>
                                        <p:tgtEl>
                                          <p:spTgt spid="124931">
                                            <p:txEl>
                                              <p:pRg st="0" end="0"/>
                                            </p:txEl>
                                          </p:spTgt>
                                        </p:tgtEl>
                                      </p:cBhvr>
                                    </p:animEffect>
                                  </p:childTnLst>
                                </p:cTn>
                              </p:par>
                              <p:par>
                                <p:cTn id="8" presetID="3" presetClass="entr" presetSubtype="5" fill="hold" grpId="0" nodeType="withEffect">
                                  <p:stCondLst>
                                    <p:cond delay="0"/>
                                  </p:stCondLst>
                                  <p:childTnLst>
                                    <p:set>
                                      <p:cBhvr>
                                        <p:cTn id="9" dur="1" fill="hold">
                                          <p:stCondLst>
                                            <p:cond delay="0"/>
                                          </p:stCondLst>
                                        </p:cTn>
                                        <p:tgtEl>
                                          <p:spTgt spid="124931">
                                            <p:txEl>
                                              <p:pRg st="2" end="2"/>
                                            </p:txEl>
                                          </p:spTgt>
                                        </p:tgtEl>
                                        <p:attrNameLst>
                                          <p:attrName>style.visibility</p:attrName>
                                        </p:attrNameLst>
                                      </p:cBhvr>
                                      <p:to>
                                        <p:strVal val="visible"/>
                                      </p:to>
                                    </p:set>
                                    <p:animEffect transition="in" filter="blinds(vertical)">
                                      <p:cBhvr>
                                        <p:cTn id="10" dur="500"/>
                                        <p:tgtEl>
                                          <p:spTgt spid="124931">
                                            <p:txEl>
                                              <p:pRg st="2" end="2"/>
                                            </p:txEl>
                                          </p:spTgt>
                                        </p:tgtEl>
                                      </p:cBhvr>
                                    </p:animEffect>
                                  </p:childTnLst>
                                </p:cTn>
                              </p:par>
                              <p:par>
                                <p:cTn id="11" presetID="3" presetClass="entr" presetSubtype="5" fill="hold" grpId="0" nodeType="withEffect">
                                  <p:stCondLst>
                                    <p:cond delay="0"/>
                                  </p:stCondLst>
                                  <p:childTnLst>
                                    <p:set>
                                      <p:cBhvr>
                                        <p:cTn id="12" dur="1" fill="hold">
                                          <p:stCondLst>
                                            <p:cond delay="0"/>
                                          </p:stCondLst>
                                        </p:cTn>
                                        <p:tgtEl>
                                          <p:spTgt spid="124931">
                                            <p:txEl>
                                              <p:pRg st="4" end="4"/>
                                            </p:txEl>
                                          </p:spTgt>
                                        </p:tgtEl>
                                        <p:attrNameLst>
                                          <p:attrName>style.visibility</p:attrName>
                                        </p:attrNameLst>
                                      </p:cBhvr>
                                      <p:to>
                                        <p:strVal val="visible"/>
                                      </p:to>
                                    </p:set>
                                    <p:animEffect transition="in" filter="blinds(vertical)">
                                      <p:cBhvr>
                                        <p:cTn id="13" dur="500"/>
                                        <p:tgtEl>
                                          <p:spTgt spid="124931">
                                            <p:txEl>
                                              <p:pRg st="4" end="4"/>
                                            </p:txEl>
                                          </p:spTgt>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4931">
                                            <p:txEl>
                                              <p:pRg st="6" end="6"/>
                                            </p:txEl>
                                          </p:spTgt>
                                        </p:tgtEl>
                                        <p:attrNameLst>
                                          <p:attrName>style.visibility</p:attrName>
                                        </p:attrNameLst>
                                      </p:cBhvr>
                                      <p:to>
                                        <p:strVal val="visible"/>
                                      </p:to>
                                    </p:set>
                                    <p:animEffect transition="in" filter="blinds(vertical)">
                                      <p:cBhvr>
                                        <p:cTn id="16" dur="500"/>
                                        <p:tgtEl>
                                          <p:spTgt spid="124931">
                                            <p:txEl>
                                              <p:pRg st="6" end="6"/>
                                            </p:txEl>
                                          </p:spTgt>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124931">
                                            <p:txEl>
                                              <p:pRg st="8" end="8"/>
                                            </p:txEl>
                                          </p:spTgt>
                                        </p:tgtEl>
                                        <p:attrNameLst>
                                          <p:attrName>style.visibility</p:attrName>
                                        </p:attrNameLst>
                                      </p:cBhvr>
                                      <p:to>
                                        <p:strVal val="visible"/>
                                      </p:to>
                                    </p:set>
                                    <p:animEffect transition="in" filter="blinds(vertical)">
                                      <p:cBhvr>
                                        <p:cTn id="19" dur="500"/>
                                        <p:tgtEl>
                                          <p:spTgt spid="1249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noFill/>
        </p:spPr>
        <p:txBody>
          <a:bodyPr/>
          <a:lstStyle/>
          <a:p>
            <a:pPr eaLnBrk="1" hangingPunct="1"/>
            <a:r>
              <a:rPr lang="en-US"/>
              <a:t>Evaluating Postfix Expression</a:t>
            </a:r>
          </a:p>
        </p:txBody>
      </p:sp>
      <p:sp>
        <p:nvSpPr>
          <p:cNvPr id="125955" name="Rectangle 3"/>
          <p:cNvSpPr>
            <a:spLocks noChangeArrowheads="1"/>
          </p:cNvSpPr>
          <p:nvPr/>
        </p:nvSpPr>
        <p:spPr bwMode="auto">
          <a:xfrm>
            <a:off x="304800" y="1143000"/>
            <a:ext cx="7467600" cy="1219200"/>
          </a:xfrm>
          <a:prstGeom prst="rect">
            <a:avLst/>
          </a:prstGeom>
          <a:noFill/>
          <a:ln w="9525">
            <a:noFill/>
            <a:miter lim="800000"/>
            <a:headEnd/>
            <a:tailEnd/>
          </a:ln>
        </p:spPr>
        <p:txBody>
          <a:bodyPr/>
          <a:lstStyle/>
          <a:p>
            <a:pPr marL="609600" indent="-609600" eaLnBrk="1" hangingPunct="1">
              <a:lnSpc>
                <a:spcPct val="90000"/>
              </a:lnSpc>
              <a:spcBef>
                <a:spcPct val="20000"/>
              </a:spcBef>
              <a:buFontTx/>
              <a:buBlip>
                <a:blip r:embed="rId2"/>
              </a:buBlip>
            </a:pPr>
            <a:r>
              <a:rPr lang="en-US" sz="2800" dirty="0">
                <a:latin typeface="Arial Narrow" pitchFamily="34" charset="0"/>
              </a:rPr>
              <a:t>Postfix Expression Evaluation</a:t>
            </a:r>
          </a:p>
          <a:p>
            <a:pPr marL="609600" indent="-609600" eaLnBrk="1" hangingPunct="1">
              <a:lnSpc>
                <a:spcPct val="90000"/>
              </a:lnSpc>
              <a:spcBef>
                <a:spcPct val="20000"/>
              </a:spcBef>
              <a:buFontTx/>
              <a:buBlip>
                <a:blip r:embed="rId2"/>
              </a:buBlip>
            </a:pPr>
            <a:endParaRPr lang="en-US" sz="2800" dirty="0">
              <a:latin typeface="Arial Narrow" pitchFamily="34" charset="0"/>
            </a:endParaRPr>
          </a:p>
          <a:p>
            <a:pPr marL="990600" lvl="1" indent="-533400" eaLnBrk="1" hangingPunct="1">
              <a:lnSpc>
                <a:spcPct val="90000"/>
              </a:lnSpc>
              <a:spcBef>
                <a:spcPct val="20000"/>
              </a:spcBef>
              <a:buFontTx/>
              <a:buChar char="–"/>
            </a:pPr>
            <a:r>
              <a:rPr lang="en-US" sz="2400" dirty="0">
                <a:latin typeface="Arial Narrow" pitchFamily="34" charset="0"/>
              </a:rPr>
              <a:t>When a number is seen, it is pushed onto the stack</a:t>
            </a:r>
          </a:p>
          <a:p>
            <a:pPr marL="609600" indent="-609600" eaLnBrk="1" hangingPunct="1">
              <a:lnSpc>
                <a:spcPct val="90000"/>
              </a:lnSpc>
              <a:spcBef>
                <a:spcPct val="20000"/>
              </a:spcBef>
            </a:pPr>
            <a:endParaRPr lang="en-US" sz="2800" dirty="0">
              <a:latin typeface="Arial Narrow" pitchFamily="34" charset="0"/>
            </a:endParaRPr>
          </a:p>
          <a:p>
            <a:pPr marL="990600" lvl="1" indent="-533400" eaLnBrk="1" hangingPunct="1">
              <a:lnSpc>
                <a:spcPct val="90000"/>
              </a:lnSpc>
              <a:spcBef>
                <a:spcPct val="20000"/>
              </a:spcBef>
              <a:buFontTx/>
              <a:buChar char="–"/>
            </a:pPr>
            <a:r>
              <a:rPr lang="en-US" sz="2400" dirty="0">
                <a:latin typeface="Arial Narrow" pitchFamily="34" charset="0"/>
              </a:rPr>
              <a:t>When an operator is seen, then pop two elements from stack and push the result onto the stack</a:t>
            </a:r>
          </a:p>
          <a:p>
            <a:pPr marL="609600" indent="-609600" eaLnBrk="1" hangingPunct="1">
              <a:lnSpc>
                <a:spcPct val="90000"/>
              </a:lnSpc>
              <a:spcBef>
                <a:spcPct val="20000"/>
              </a:spcBef>
              <a:buFontTx/>
              <a:buBlip>
                <a:blip r:embed="rId2"/>
              </a:buBlip>
            </a:pPr>
            <a:r>
              <a:rPr lang="en-US" sz="2800" dirty="0">
                <a:latin typeface="Arial Narrow" pitchFamily="34" charset="0"/>
              </a:rPr>
              <a:t>Now we evaluate the following postfix expression</a:t>
            </a:r>
          </a:p>
          <a:p>
            <a:pPr marL="609600" indent="-609600" eaLnBrk="1" hangingPunct="1">
              <a:lnSpc>
                <a:spcPct val="90000"/>
              </a:lnSpc>
              <a:spcBef>
                <a:spcPct val="20000"/>
              </a:spcBef>
            </a:pPr>
            <a:r>
              <a:rPr lang="en-US" sz="2800" dirty="0">
                <a:latin typeface="Arial Narrow" pitchFamily="34" charset="0"/>
              </a:rPr>
              <a:t>	6 5 2 3 + 8 * + 3 + *</a:t>
            </a:r>
          </a:p>
          <a:p>
            <a:pPr marL="990600" lvl="1" indent="-533400" eaLnBrk="1" hangingPunct="1">
              <a:lnSpc>
                <a:spcPct val="90000"/>
              </a:lnSpc>
              <a:spcBef>
                <a:spcPct val="20000"/>
              </a:spcBef>
            </a:pPr>
            <a:endParaRPr lang="en-US" sz="2400" dirty="0">
              <a:latin typeface="Arial Narrow" pitchFamily="34" charset="0"/>
            </a:endParaRPr>
          </a:p>
          <a:p>
            <a:pPr marL="609600" indent="-609600" eaLnBrk="1" hangingPunct="1">
              <a:lnSpc>
                <a:spcPct val="90000"/>
              </a:lnSpc>
              <a:spcBef>
                <a:spcPct val="20000"/>
              </a:spcBef>
            </a:pPr>
            <a:endParaRPr lang="en-US" sz="2800" dirty="0">
              <a:latin typeface="Arial Narrow" pitchFamily="34" charset="0"/>
            </a:endParaRPr>
          </a:p>
          <a:p>
            <a:pPr marL="609600" indent="-609600" eaLnBrk="1" hangingPunct="1">
              <a:lnSpc>
                <a:spcPct val="40000"/>
              </a:lnSpc>
              <a:spcBef>
                <a:spcPct val="20000"/>
              </a:spcBef>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a:p>
            <a:pPr marL="609600" indent="-609600" eaLnBrk="1" hangingPunct="1">
              <a:lnSpc>
                <a:spcPct val="90000"/>
              </a:lnSpc>
              <a:spcBef>
                <a:spcPct val="20000"/>
              </a:spcBef>
              <a:buFontTx/>
              <a:buAutoNum type="arabicPeriod"/>
            </a:pPr>
            <a:endParaRPr lang="en-US" sz="2400" dirty="0">
              <a:latin typeface="Arial Narrow" pitchFamily="34" charset="0"/>
            </a:endParaRPr>
          </a:p>
        </p:txBody>
      </p:sp>
      <p:sp>
        <p:nvSpPr>
          <p:cNvPr id="125956" name="Text Box 4"/>
          <p:cNvSpPr txBox="1">
            <a:spLocks noChangeArrowheads="1"/>
          </p:cNvSpPr>
          <p:nvPr/>
        </p:nvSpPr>
        <p:spPr bwMode="auto">
          <a:xfrm>
            <a:off x="533400" y="51054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a:pPr>
            <a:r>
              <a:rPr lang="en-US" sz="2000" dirty="0">
                <a:latin typeface="Arial Narrow" pitchFamily="34" charset="0"/>
              </a:rPr>
              <a:t>The first four are placed on the stack. The resulting stack is</a:t>
            </a:r>
          </a:p>
        </p:txBody>
      </p:sp>
      <p:grpSp>
        <p:nvGrpSpPr>
          <p:cNvPr id="2" name="Group 5"/>
          <p:cNvGrpSpPr>
            <a:grpSpLocks/>
          </p:cNvGrpSpPr>
          <p:nvPr/>
        </p:nvGrpSpPr>
        <p:grpSpPr bwMode="auto">
          <a:xfrm>
            <a:off x="6858000" y="3962400"/>
            <a:ext cx="838200" cy="2438400"/>
            <a:chOff x="5232" y="2784"/>
            <a:chExt cx="528" cy="1536"/>
          </a:xfrm>
        </p:grpSpPr>
        <p:sp>
          <p:nvSpPr>
            <p:cNvPr id="51207" name="Line 6"/>
            <p:cNvSpPr>
              <a:spLocks noChangeShapeType="1"/>
            </p:cNvSpPr>
            <p:nvPr/>
          </p:nvSpPr>
          <p:spPr bwMode="auto">
            <a:xfrm>
              <a:off x="5280" y="3984"/>
              <a:ext cx="336" cy="0"/>
            </a:xfrm>
            <a:prstGeom prst="line">
              <a:avLst/>
            </a:prstGeom>
            <a:noFill/>
            <a:ln w="9525">
              <a:solidFill>
                <a:schemeClr val="tx1"/>
              </a:solidFill>
              <a:miter lim="800000"/>
              <a:headEnd/>
              <a:tailEnd/>
            </a:ln>
          </p:spPr>
          <p:txBody>
            <a:bodyPr wrap="none"/>
            <a:lstStyle/>
            <a:p>
              <a:endParaRPr lang="en-US"/>
            </a:p>
          </p:txBody>
        </p:sp>
        <p:grpSp>
          <p:nvGrpSpPr>
            <p:cNvPr id="3" name="Group 7"/>
            <p:cNvGrpSpPr>
              <a:grpSpLocks/>
            </p:cNvGrpSpPr>
            <p:nvPr/>
          </p:nvGrpSpPr>
          <p:grpSpPr bwMode="auto">
            <a:xfrm>
              <a:off x="5232" y="2784"/>
              <a:ext cx="528" cy="1536"/>
              <a:chOff x="4800" y="2784"/>
              <a:chExt cx="528" cy="1536"/>
            </a:xfrm>
          </p:grpSpPr>
          <p:sp>
            <p:nvSpPr>
              <p:cNvPr id="51209" name="Line 8"/>
              <p:cNvSpPr>
                <a:spLocks noChangeShapeType="1"/>
              </p:cNvSpPr>
              <p:nvPr/>
            </p:nvSpPr>
            <p:spPr bwMode="auto">
              <a:xfrm>
                <a:off x="5184" y="2784"/>
                <a:ext cx="0" cy="1200"/>
              </a:xfrm>
              <a:prstGeom prst="line">
                <a:avLst/>
              </a:prstGeom>
              <a:noFill/>
              <a:ln w="9525">
                <a:solidFill>
                  <a:schemeClr val="tx1"/>
                </a:solidFill>
                <a:miter lim="800000"/>
                <a:headEnd/>
                <a:tailEnd/>
              </a:ln>
            </p:spPr>
            <p:txBody>
              <a:bodyPr wrap="none"/>
              <a:lstStyle/>
              <a:p>
                <a:endParaRPr lang="en-US"/>
              </a:p>
            </p:txBody>
          </p:sp>
          <p:sp>
            <p:nvSpPr>
              <p:cNvPr id="51210" name="Line 9"/>
              <p:cNvSpPr>
                <a:spLocks noChangeShapeType="1"/>
              </p:cNvSpPr>
              <p:nvPr/>
            </p:nvSpPr>
            <p:spPr bwMode="auto">
              <a:xfrm flipV="1">
                <a:off x="4848" y="2832"/>
                <a:ext cx="0" cy="1200"/>
              </a:xfrm>
              <a:prstGeom prst="line">
                <a:avLst/>
              </a:prstGeom>
              <a:noFill/>
              <a:ln w="9525">
                <a:solidFill>
                  <a:schemeClr val="tx1"/>
                </a:solidFill>
                <a:miter lim="800000"/>
                <a:headEnd/>
                <a:tailEnd/>
              </a:ln>
            </p:spPr>
            <p:txBody>
              <a:bodyPr wrap="none"/>
              <a:lstStyle/>
              <a:p>
                <a:endParaRPr lang="en-US"/>
              </a:p>
            </p:txBody>
          </p:sp>
          <p:sp>
            <p:nvSpPr>
              <p:cNvPr id="51211" name="Text Box 10"/>
              <p:cNvSpPr txBox="1">
                <a:spLocks noChangeArrowheads="1"/>
              </p:cNvSpPr>
              <p:nvPr/>
            </p:nvSpPr>
            <p:spPr bwMode="auto">
              <a:xfrm>
                <a:off x="4896" y="2880"/>
                <a:ext cx="240" cy="1114"/>
              </a:xfrm>
              <a:prstGeom prst="rect">
                <a:avLst/>
              </a:prstGeom>
              <a:noFill/>
              <a:ln w="9525">
                <a:noFill/>
                <a:miter lim="800000"/>
                <a:headEnd/>
                <a:tailEnd/>
              </a:ln>
            </p:spPr>
            <p:txBody>
              <a:bodyPr>
                <a:spAutoFit/>
              </a:bodyPr>
              <a:lstStyle/>
              <a:p>
                <a:pPr algn="ctr" eaLnBrk="1" hangingPunct="1">
                  <a:spcBef>
                    <a:spcPct val="50000"/>
                  </a:spcBef>
                </a:pPr>
                <a:r>
                  <a:rPr lang="en-US" sz="2000" dirty="0">
                    <a:latin typeface="Times New Roman" pitchFamily="18" charset="0"/>
                  </a:rPr>
                  <a:t>3</a:t>
                </a:r>
              </a:p>
              <a:p>
                <a:pPr algn="ctr" eaLnBrk="1" hangingPunct="1">
                  <a:spcBef>
                    <a:spcPct val="50000"/>
                  </a:spcBef>
                </a:pPr>
                <a:r>
                  <a:rPr lang="en-US" sz="2000" dirty="0">
                    <a:latin typeface="Times New Roman" pitchFamily="18" charset="0"/>
                  </a:rPr>
                  <a:t>2</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6</a:t>
                </a:r>
              </a:p>
            </p:txBody>
          </p:sp>
          <p:sp>
            <p:nvSpPr>
              <p:cNvPr id="51212" name="Text Box 11"/>
              <p:cNvSpPr txBox="1">
                <a:spLocks noChangeArrowheads="1"/>
              </p:cNvSpPr>
              <p:nvPr/>
            </p:nvSpPr>
            <p:spPr bwMode="auto">
              <a:xfrm>
                <a:off x="4800"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13" name="Footer Placeholder 12"/>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box(in)">
                                      <p:cBhvr>
                                        <p:cTn id="7" dur="500"/>
                                        <p:tgtEl>
                                          <p:spTgt spid="12595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25955">
                                            <p:txEl>
                                              <p:pRg st="2" end="2"/>
                                            </p:txEl>
                                          </p:spTgt>
                                        </p:tgtEl>
                                        <p:attrNameLst>
                                          <p:attrName>style.visibility</p:attrName>
                                        </p:attrNameLst>
                                      </p:cBhvr>
                                      <p:to>
                                        <p:strVal val="visible"/>
                                      </p:to>
                                    </p:set>
                                    <p:animEffect transition="in" filter="box(in)">
                                      <p:cBhvr>
                                        <p:cTn id="10" dur="500"/>
                                        <p:tgtEl>
                                          <p:spTgt spid="125955">
                                            <p:txEl>
                                              <p:pRg st="2" end="2"/>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25955">
                                            <p:txEl>
                                              <p:pRg st="4" end="4"/>
                                            </p:txEl>
                                          </p:spTgt>
                                        </p:tgtEl>
                                        <p:attrNameLst>
                                          <p:attrName>style.visibility</p:attrName>
                                        </p:attrNameLst>
                                      </p:cBhvr>
                                      <p:to>
                                        <p:strVal val="visible"/>
                                      </p:to>
                                    </p:set>
                                    <p:animEffect transition="in" filter="box(in)">
                                      <p:cBhvr>
                                        <p:cTn id="13" dur="500"/>
                                        <p:tgtEl>
                                          <p:spTgt spid="12595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25955">
                                            <p:txEl>
                                              <p:pRg st="5" end="5"/>
                                            </p:txEl>
                                          </p:spTgt>
                                        </p:tgtEl>
                                        <p:attrNameLst>
                                          <p:attrName>style.visibility</p:attrName>
                                        </p:attrNameLst>
                                      </p:cBhvr>
                                      <p:to>
                                        <p:strVal val="visible"/>
                                      </p:to>
                                    </p:set>
                                    <p:animEffect transition="in" filter="box(in)">
                                      <p:cBhvr>
                                        <p:cTn id="18" dur="500"/>
                                        <p:tgtEl>
                                          <p:spTgt spid="12595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25955">
                                            <p:txEl>
                                              <p:pRg st="6" end="6"/>
                                            </p:txEl>
                                          </p:spTgt>
                                        </p:tgtEl>
                                        <p:attrNameLst>
                                          <p:attrName>style.visibility</p:attrName>
                                        </p:attrNameLst>
                                      </p:cBhvr>
                                      <p:to>
                                        <p:strVal val="visible"/>
                                      </p:to>
                                    </p:set>
                                    <p:animEffect transition="in" filter="box(in)">
                                      <p:cBhvr>
                                        <p:cTn id="23" dur="500"/>
                                        <p:tgtEl>
                                          <p:spTgt spid="125955">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25956"/>
                                        </p:tgtEl>
                                        <p:attrNameLst>
                                          <p:attrName>style.visibility</p:attrName>
                                        </p:attrNameLst>
                                      </p:cBhvr>
                                      <p:to>
                                        <p:strVal val="visible"/>
                                      </p:to>
                                    </p:set>
                                    <p:animEffect transition="in" filter="box(in)">
                                      <p:cBhvr>
                                        <p:cTn id="28" dur="500"/>
                                        <p:tgtEl>
                                          <p:spTgt spid="125956"/>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ox(in)">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autoUpdateAnimBg="0"/>
      <p:bldP spid="125956"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noFill/>
        </p:spPr>
        <p:txBody>
          <a:bodyPr/>
          <a:lstStyle/>
          <a:p>
            <a:pPr eaLnBrk="1" hangingPunct="1"/>
            <a:r>
              <a:rPr lang="en-US"/>
              <a:t>Evaluating Postfix Expression</a:t>
            </a:r>
          </a:p>
        </p:txBody>
      </p:sp>
      <p:sp>
        <p:nvSpPr>
          <p:cNvPr id="52228" name="Rectangle 3"/>
          <p:cNvSpPr>
            <a:spLocks noGrp="1" noChangeArrowheads="1"/>
          </p:cNvSpPr>
          <p:nvPr>
            <p:ph type="body" idx="1"/>
          </p:nvPr>
        </p:nvSpPr>
        <p:spPr>
          <a:xfrm>
            <a:off x="381000" y="1219200"/>
            <a:ext cx="7772400" cy="4114800"/>
          </a:xfrm>
          <a:noFill/>
        </p:spPr>
        <p:txBody>
          <a:bodyPr/>
          <a:lstStyle/>
          <a:p>
            <a:pPr marL="609600" indent="-609600" eaLnBrk="1" hangingPunct="1"/>
            <a:r>
              <a:rPr lang="en-US" dirty="0"/>
              <a:t>evaluating the following postfix expression.</a:t>
            </a:r>
          </a:p>
          <a:p>
            <a:pPr marL="609600" indent="-609600" eaLnBrk="1" hangingPunct="1">
              <a:buFontTx/>
              <a:buNone/>
            </a:pPr>
            <a:r>
              <a:rPr lang="en-US" dirty="0"/>
              <a:t>	6 5 2 3 + 8 * + 3 + *</a:t>
            </a:r>
          </a:p>
          <a:p>
            <a:pPr marL="990600" lvl="1" indent="-533400" eaLnBrk="1" hangingPunct="1">
              <a:buFontTx/>
              <a:buNone/>
            </a:pPr>
            <a:endParaRPr lang="en-US" dirty="0"/>
          </a:p>
          <a:p>
            <a:pPr marL="609600" indent="-609600" eaLnBrk="1" hangingPunct="1">
              <a:buFontTx/>
              <a:buNone/>
            </a:pPr>
            <a:endParaRPr lang="en-US" dirty="0"/>
          </a:p>
          <a:p>
            <a:pPr marL="609600" indent="-609600" eaLnBrk="1" hangingPunct="1">
              <a:lnSpc>
                <a:spcPct val="40000"/>
              </a:lnSpc>
              <a:buFontTx/>
              <a:buNone/>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a:p>
            <a:pPr marL="609600" indent="-609600" eaLnBrk="1" hangingPunct="1">
              <a:buFontTx/>
              <a:buAutoNum type="arabicPeriod"/>
            </a:pPr>
            <a:endParaRPr lang="en-US" sz="2800" dirty="0"/>
          </a:p>
        </p:txBody>
      </p:sp>
      <p:grpSp>
        <p:nvGrpSpPr>
          <p:cNvPr id="2" name="Group 4"/>
          <p:cNvGrpSpPr>
            <a:grpSpLocks/>
          </p:cNvGrpSpPr>
          <p:nvPr/>
        </p:nvGrpSpPr>
        <p:grpSpPr bwMode="auto">
          <a:xfrm>
            <a:off x="4953000" y="1752600"/>
            <a:ext cx="838200" cy="2438400"/>
            <a:chOff x="5232" y="2784"/>
            <a:chExt cx="528" cy="1536"/>
          </a:xfrm>
        </p:grpSpPr>
        <p:sp>
          <p:nvSpPr>
            <p:cNvPr id="52238" name="Line 5"/>
            <p:cNvSpPr>
              <a:spLocks noChangeShapeType="1"/>
            </p:cNvSpPr>
            <p:nvPr/>
          </p:nvSpPr>
          <p:spPr bwMode="auto">
            <a:xfrm>
              <a:off x="5280" y="3984"/>
              <a:ext cx="336" cy="0"/>
            </a:xfrm>
            <a:prstGeom prst="line">
              <a:avLst/>
            </a:prstGeom>
            <a:noFill/>
            <a:ln w="9525">
              <a:solidFill>
                <a:schemeClr val="tx1"/>
              </a:solidFill>
              <a:miter lim="800000"/>
              <a:headEnd/>
              <a:tailEnd/>
            </a:ln>
          </p:spPr>
          <p:txBody>
            <a:bodyPr wrap="none"/>
            <a:lstStyle/>
            <a:p>
              <a:endParaRPr lang="en-US"/>
            </a:p>
          </p:txBody>
        </p:sp>
        <p:grpSp>
          <p:nvGrpSpPr>
            <p:cNvPr id="3" name="Group 6"/>
            <p:cNvGrpSpPr>
              <a:grpSpLocks/>
            </p:cNvGrpSpPr>
            <p:nvPr/>
          </p:nvGrpSpPr>
          <p:grpSpPr bwMode="auto">
            <a:xfrm>
              <a:off x="5232" y="2784"/>
              <a:ext cx="528" cy="1536"/>
              <a:chOff x="4800" y="2784"/>
              <a:chExt cx="528" cy="1536"/>
            </a:xfrm>
          </p:grpSpPr>
          <p:sp>
            <p:nvSpPr>
              <p:cNvPr id="52240" name="Line 7"/>
              <p:cNvSpPr>
                <a:spLocks noChangeShapeType="1"/>
              </p:cNvSpPr>
              <p:nvPr/>
            </p:nvSpPr>
            <p:spPr bwMode="auto">
              <a:xfrm>
                <a:off x="5184" y="2784"/>
                <a:ext cx="0" cy="1200"/>
              </a:xfrm>
              <a:prstGeom prst="line">
                <a:avLst/>
              </a:prstGeom>
              <a:noFill/>
              <a:ln w="9525">
                <a:solidFill>
                  <a:schemeClr val="tx1"/>
                </a:solidFill>
                <a:miter lim="800000"/>
                <a:headEnd/>
                <a:tailEnd/>
              </a:ln>
            </p:spPr>
            <p:txBody>
              <a:bodyPr wrap="none"/>
              <a:lstStyle/>
              <a:p>
                <a:endParaRPr lang="en-US"/>
              </a:p>
            </p:txBody>
          </p:sp>
          <p:sp>
            <p:nvSpPr>
              <p:cNvPr id="52241" name="Line 8"/>
              <p:cNvSpPr>
                <a:spLocks noChangeShapeType="1"/>
              </p:cNvSpPr>
              <p:nvPr/>
            </p:nvSpPr>
            <p:spPr bwMode="auto">
              <a:xfrm flipV="1">
                <a:off x="4848" y="2784"/>
                <a:ext cx="0" cy="1200"/>
              </a:xfrm>
              <a:prstGeom prst="line">
                <a:avLst/>
              </a:prstGeom>
              <a:noFill/>
              <a:ln w="9525">
                <a:solidFill>
                  <a:schemeClr val="tx1"/>
                </a:solidFill>
                <a:miter lim="800000"/>
                <a:headEnd/>
                <a:tailEnd/>
              </a:ln>
            </p:spPr>
            <p:txBody>
              <a:bodyPr wrap="none"/>
              <a:lstStyle/>
              <a:p>
                <a:endParaRPr lang="en-US"/>
              </a:p>
            </p:txBody>
          </p:sp>
          <p:sp>
            <p:nvSpPr>
              <p:cNvPr id="52242" name="Text Box 9"/>
              <p:cNvSpPr txBox="1">
                <a:spLocks noChangeArrowheads="1"/>
              </p:cNvSpPr>
              <p:nvPr/>
            </p:nvSpPr>
            <p:spPr bwMode="auto">
              <a:xfrm>
                <a:off x="4896" y="2880"/>
                <a:ext cx="240" cy="1114"/>
              </a:xfrm>
              <a:prstGeom prst="rect">
                <a:avLst/>
              </a:prstGeom>
              <a:noFill/>
              <a:ln w="9525">
                <a:noFill/>
                <a:miter lim="800000"/>
                <a:headEnd/>
                <a:tailEnd/>
              </a:ln>
            </p:spPr>
            <p:txBody>
              <a:bodyPr>
                <a:spAutoFit/>
              </a:bodyPr>
              <a:lstStyle/>
              <a:p>
                <a:pPr algn="ctr" eaLnBrk="1" hangingPunct="1">
                  <a:spcBef>
                    <a:spcPct val="50000"/>
                  </a:spcBef>
                </a:pPr>
                <a:r>
                  <a:rPr lang="en-US" sz="2000" dirty="0">
                    <a:latin typeface="Times New Roman" pitchFamily="18" charset="0"/>
                  </a:rPr>
                  <a:t>3</a:t>
                </a:r>
              </a:p>
              <a:p>
                <a:pPr algn="ctr" eaLnBrk="1" hangingPunct="1">
                  <a:spcBef>
                    <a:spcPct val="50000"/>
                  </a:spcBef>
                </a:pPr>
                <a:r>
                  <a:rPr lang="en-US" sz="2000" dirty="0">
                    <a:latin typeface="Times New Roman" pitchFamily="18" charset="0"/>
                  </a:rPr>
                  <a:t>2</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6</a:t>
                </a:r>
              </a:p>
            </p:txBody>
          </p:sp>
          <p:sp>
            <p:nvSpPr>
              <p:cNvPr id="52243" name="Text Box 10"/>
              <p:cNvSpPr txBox="1">
                <a:spLocks noChangeArrowheads="1"/>
              </p:cNvSpPr>
              <p:nvPr/>
            </p:nvSpPr>
            <p:spPr bwMode="auto">
              <a:xfrm>
                <a:off x="4800"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126987" name="Text Box 11"/>
          <p:cNvSpPr txBox="1">
            <a:spLocks noChangeArrowheads="1"/>
          </p:cNvSpPr>
          <p:nvPr/>
        </p:nvSpPr>
        <p:spPr bwMode="auto">
          <a:xfrm>
            <a:off x="609600" y="4098925"/>
            <a:ext cx="8077200" cy="861774"/>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2"/>
            </a:pPr>
            <a:r>
              <a:rPr lang="en-US" sz="2000" dirty="0">
                <a:latin typeface="Times New Roman" pitchFamily="18" charset="0"/>
              </a:rPr>
              <a:t>Next a </a:t>
            </a:r>
            <a:r>
              <a:rPr lang="en-US" sz="2000" dirty="0">
                <a:solidFill>
                  <a:srgbClr val="FF00FF"/>
                </a:solidFill>
                <a:latin typeface="Times New Roman" pitchFamily="18" charset="0"/>
              </a:rPr>
              <a:t>+</a:t>
            </a:r>
            <a:r>
              <a:rPr lang="en-US" sz="2000" dirty="0">
                <a:latin typeface="Times New Roman" pitchFamily="18" charset="0"/>
              </a:rPr>
              <a:t> is read, so 3 and 2 are popped from the stack and </a:t>
            </a:r>
          </a:p>
          <a:p>
            <a:pPr marL="457200" indent="-457200" eaLnBrk="1" hangingPunct="1">
              <a:spcBef>
                <a:spcPct val="50000"/>
              </a:spcBef>
            </a:pPr>
            <a:r>
              <a:rPr lang="en-US" sz="2000" dirty="0">
                <a:latin typeface="Times New Roman" pitchFamily="18" charset="0"/>
              </a:rPr>
              <a:t>       their sum 5 is pushed</a:t>
            </a:r>
          </a:p>
        </p:txBody>
      </p:sp>
      <p:grpSp>
        <p:nvGrpSpPr>
          <p:cNvPr id="4" name="Group 12"/>
          <p:cNvGrpSpPr>
            <a:grpSpLocks/>
          </p:cNvGrpSpPr>
          <p:nvPr/>
        </p:nvGrpSpPr>
        <p:grpSpPr bwMode="auto">
          <a:xfrm>
            <a:off x="7239000" y="3886200"/>
            <a:ext cx="838200" cy="2438400"/>
            <a:chOff x="2016" y="2064"/>
            <a:chExt cx="528" cy="1536"/>
          </a:xfrm>
        </p:grpSpPr>
        <p:sp>
          <p:nvSpPr>
            <p:cNvPr id="52232" name="Line 13"/>
            <p:cNvSpPr>
              <a:spLocks noChangeShapeType="1"/>
            </p:cNvSpPr>
            <p:nvPr/>
          </p:nvSpPr>
          <p:spPr bwMode="auto">
            <a:xfrm>
              <a:off x="2064" y="3264"/>
              <a:ext cx="336" cy="0"/>
            </a:xfrm>
            <a:prstGeom prst="line">
              <a:avLst/>
            </a:prstGeom>
            <a:noFill/>
            <a:ln w="9525">
              <a:solidFill>
                <a:schemeClr val="tx1"/>
              </a:solidFill>
              <a:miter lim="800000"/>
              <a:headEnd/>
              <a:tailEnd/>
            </a:ln>
          </p:spPr>
          <p:txBody>
            <a:bodyPr wrap="none"/>
            <a:lstStyle/>
            <a:p>
              <a:endParaRPr lang="en-US"/>
            </a:p>
          </p:txBody>
        </p:sp>
        <p:grpSp>
          <p:nvGrpSpPr>
            <p:cNvPr id="5" name="Group 14"/>
            <p:cNvGrpSpPr>
              <a:grpSpLocks/>
            </p:cNvGrpSpPr>
            <p:nvPr/>
          </p:nvGrpSpPr>
          <p:grpSpPr bwMode="auto">
            <a:xfrm>
              <a:off x="2016" y="2064"/>
              <a:ext cx="528" cy="1536"/>
              <a:chOff x="2016" y="2064"/>
              <a:chExt cx="528" cy="1536"/>
            </a:xfrm>
          </p:grpSpPr>
          <p:sp>
            <p:nvSpPr>
              <p:cNvPr id="52234" name="Line 15"/>
              <p:cNvSpPr>
                <a:spLocks noChangeShapeType="1"/>
              </p:cNvSpPr>
              <p:nvPr/>
            </p:nvSpPr>
            <p:spPr bwMode="auto">
              <a:xfrm>
                <a:off x="2400" y="2064"/>
                <a:ext cx="0" cy="1200"/>
              </a:xfrm>
              <a:prstGeom prst="line">
                <a:avLst/>
              </a:prstGeom>
              <a:noFill/>
              <a:ln w="9525">
                <a:solidFill>
                  <a:schemeClr val="tx1"/>
                </a:solidFill>
                <a:miter lim="800000"/>
                <a:headEnd/>
                <a:tailEnd/>
              </a:ln>
            </p:spPr>
            <p:txBody>
              <a:bodyPr wrap="none"/>
              <a:lstStyle/>
              <a:p>
                <a:endParaRPr lang="en-US"/>
              </a:p>
            </p:txBody>
          </p:sp>
          <p:sp>
            <p:nvSpPr>
              <p:cNvPr id="52235" name="Line 16"/>
              <p:cNvSpPr>
                <a:spLocks noChangeShapeType="1"/>
              </p:cNvSpPr>
              <p:nvPr/>
            </p:nvSpPr>
            <p:spPr bwMode="auto">
              <a:xfrm flipV="1">
                <a:off x="2064" y="2064"/>
                <a:ext cx="0" cy="1200"/>
              </a:xfrm>
              <a:prstGeom prst="line">
                <a:avLst/>
              </a:prstGeom>
              <a:noFill/>
              <a:ln w="9525">
                <a:solidFill>
                  <a:schemeClr val="tx1"/>
                </a:solidFill>
                <a:miter lim="800000"/>
                <a:headEnd/>
                <a:tailEnd/>
              </a:ln>
            </p:spPr>
            <p:txBody>
              <a:bodyPr wrap="none"/>
              <a:lstStyle/>
              <a:p>
                <a:endParaRPr lang="en-US"/>
              </a:p>
            </p:txBody>
          </p:sp>
          <p:sp>
            <p:nvSpPr>
              <p:cNvPr id="52236" name="Text Box 17"/>
              <p:cNvSpPr txBox="1">
                <a:spLocks noChangeArrowheads="1"/>
              </p:cNvSpPr>
              <p:nvPr/>
            </p:nvSpPr>
            <p:spPr bwMode="auto">
              <a:xfrm>
                <a:off x="2112" y="2160"/>
                <a:ext cx="240" cy="1114"/>
              </a:xfrm>
              <a:prstGeom prst="rect">
                <a:avLst/>
              </a:prstGeom>
              <a:noFill/>
              <a:ln w="9525">
                <a:noFill/>
                <a:miter lim="800000"/>
                <a:headEnd/>
                <a:tailEnd/>
              </a:ln>
            </p:spPr>
            <p:txBody>
              <a:bodyPr>
                <a:spAutoFit/>
              </a:bodyPr>
              <a:lstStyle/>
              <a:p>
                <a:pPr algn="ctr" eaLnBrk="1" hangingPunct="1">
                  <a:spcBef>
                    <a:spcPct val="50000"/>
                  </a:spcBef>
                </a:pPr>
                <a:endParaRPr lang="en-US" sz="2000">
                  <a:latin typeface="Times New Roman" pitchFamily="18" charset="0"/>
                </a:endParaRPr>
              </a:p>
              <a:p>
                <a:pPr algn="ctr" eaLnBrk="1" hangingPunct="1">
                  <a:spcBef>
                    <a:spcPct val="50000"/>
                  </a:spcBef>
                </a:pPr>
                <a:r>
                  <a:rPr lang="en-US" sz="2000">
                    <a:latin typeface="Times New Roman" pitchFamily="18" charset="0"/>
                  </a:rPr>
                  <a:t>5</a:t>
                </a:r>
              </a:p>
              <a:p>
                <a:pPr algn="ctr" eaLnBrk="1" hangingPunct="1">
                  <a:spcBef>
                    <a:spcPct val="50000"/>
                  </a:spcBef>
                </a:pPr>
                <a:r>
                  <a:rPr lang="en-US" sz="2000">
                    <a:latin typeface="Times New Roman" pitchFamily="18" charset="0"/>
                  </a:rPr>
                  <a:t>5</a:t>
                </a:r>
              </a:p>
              <a:p>
                <a:pPr algn="ctr" eaLnBrk="1" hangingPunct="1">
                  <a:spcBef>
                    <a:spcPct val="50000"/>
                  </a:spcBef>
                </a:pPr>
                <a:r>
                  <a:rPr lang="en-US" sz="2000">
                    <a:latin typeface="Times New Roman" pitchFamily="18" charset="0"/>
                  </a:rPr>
                  <a:t>6</a:t>
                </a:r>
              </a:p>
            </p:txBody>
          </p:sp>
          <p:sp>
            <p:nvSpPr>
              <p:cNvPr id="52237" name="Text Box 18"/>
              <p:cNvSpPr txBox="1">
                <a:spLocks noChangeArrowheads="1"/>
              </p:cNvSpPr>
              <p:nvPr/>
            </p:nvSpPr>
            <p:spPr bwMode="auto">
              <a:xfrm>
                <a:off x="2016" y="331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20" name="Footer Placeholder 1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6987"/>
                                        </p:tgtEl>
                                        <p:attrNameLst>
                                          <p:attrName>style.visibility</p:attrName>
                                        </p:attrNameLst>
                                      </p:cBhvr>
                                      <p:to>
                                        <p:strVal val="visible"/>
                                      </p:to>
                                    </p:set>
                                    <p:animEffect transition="in" filter="box(in)">
                                      <p:cBhvr>
                                        <p:cTn id="7" dur="500"/>
                                        <p:tgtEl>
                                          <p:spTgt spid="12698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en-US"/>
              <a:t>Evaluating Postfix Expression</a:t>
            </a:r>
          </a:p>
        </p:txBody>
      </p:sp>
      <p:sp>
        <p:nvSpPr>
          <p:cNvPr id="53252" name="Rectangle 3"/>
          <p:cNvSpPr>
            <a:spLocks noGrp="1" noChangeArrowheads="1"/>
          </p:cNvSpPr>
          <p:nvPr>
            <p:ph type="body" idx="1"/>
          </p:nvPr>
        </p:nvSpPr>
        <p:spPr>
          <a:xfrm>
            <a:off x="457200" y="12192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grpSp>
        <p:nvGrpSpPr>
          <p:cNvPr id="2" name="Group 4"/>
          <p:cNvGrpSpPr>
            <a:grpSpLocks/>
          </p:cNvGrpSpPr>
          <p:nvPr/>
        </p:nvGrpSpPr>
        <p:grpSpPr bwMode="auto">
          <a:xfrm>
            <a:off x="5334000" y="1676400"/>
            <a:ext cx="838200" cy="2438400"/>
            <a:chOff x="2016" y="2064"/>
            <a:chExt cx="528" cy="1536"/>
          </a:xfrm>
        </p:grpSpPr>
        <p:sp>
          <p:nvSpPr>
            <p:cNvPr id="53262" name="Line 5"/>
            <p:cNvSpPr>
              <a:spLocks noChangeShapeType="1"/>
            </p:cNvSpPr>
            <p:nvPr/>
          </p:nvSpPr>
          <p:spPr bwMode="auto">
            <a:xfrm>
              <a:off x="2064" y="3264"/>
              <a:ext cx="336" cy="0"/>
            </a:xfrm>
            <a:prstGeom prst="line">
              <a:avLst/>
            </a:prstGeom>
            <a:noFill/>
            <a:ln w="9525">
              <a:solidFill>
                <a:schemeClr val="tx1"/>
              </a:solidFill>
              <a:miter lim="800000"/>
              <a:headEnd/>
              <a:tailEnd/>
            </a:ln>
          </p:spPr>
          <p:txBody>
            <a:bodyPr wrap="none"/>
            <a:lstStyle/>
            <a:p>
              <a:endParaRPr lang="en-US"/>
            </a:p>
          </p:txBody>
        </p:sp>
        <p:grpSp>
          <p:nvGrpSpPr>
            <p:cNvPr id="3" name="Group 6"/>
            <p:cNvGrpSpPr>
              <a:grpSpLocks/>
            </p:cNvGrpSpPr>
            <p:nvPr/>
          </p:nvGrpSpPr>
          <p:grpSpPr bwMode="auto">
            <a:xfrm>
              <a:off x="2016" y="2064"/>
              <a:ext cx="528" cy="1536"/>
              <a:chOff x="2016" y="2064"/>
              <a:chExt cx="528" cy="1536"/>
            </a:xfrm>
          </p:grpSpPr>
          <p:sp>
            <p:nvSpPr>
              <p:cNvPr id="53264" name="Line 7"/>
              <p:cNvSpPr>
                <a:spLocks noChangeShapeType="1"/>
              </p:cNvSpPr>
              <p:nvPr/>
            </p:nvSpPr>
            <p:spPr bwMode="auto">
              <a:xfrm>
                <a:off x="2400" y="2064"/>
                <a:ext cx="0" cy="1200"/>
              </a:xfrm>
              <a:prstGeom prst="line">
                <a:avLst/>
              </a:prstGeom>
              <a:noFill/>
              <a:ln w="9525">
                <a:solidFill>
                  <a:schemeClr val="tx1"/>
                </a:solidFill>
                <a:miter lim="800000"/>
                <a:headEnd/>
                <a:tailEnd/>
              </a:ln>
            </p:spPr>
            <p:txBody>
              <a:bodyPr wrap="none"/>
              <a:lstStyle/>
              <a:p>
                <a:endParaRPr lang="en-US"/>
              </a:p>
            </p:txBody>
          </p:sp>
          <p:sp>
            <p:nvSpPr>
              <p:cNvPr id="53265" name="Line 8"/>
              <p:cNvSpPr>
                <a:spLocks noChangeShapeType="1"/>
              </p:cNvSpPr>
              <p:nvPr/>
            </p:nvSpPr>
            <p:spPr bwMode="auto">
              <a:xfrm flipV="1">
                <a:off x="2064" y="2064"/>
                <a:ext cx="0" cy="1200"/>
              </a:xfrm>
              <a:prstGeom prst="line">
                <a:avLst/>
              </a:prstGeom>
              <a:noFill/>
              <a:ln w="9525">
                <a:solidFill>
                  <a:schemeClr val="tx1"/>
                </a:solidFill>
                <a:miter lim="800000"/>
                <a:headEnd/>
                <a:tailEnd/>
              </a:ln>
            </p:spPr>
            <p:txBody>
              <a:bodyPr wrap="none"/>
              <a:lstStyle/>
              <a:p>
                <a:endParaRPr lang="en-US"/>
              </a:p>
            </p:txBody>
          </p:sp>
          <p:sp>
            <p:nvSpPr>
              <p:cNvPr id="53266" name="Text Box 9"/>
              <p:cNvSpPr txBox="1">
                <a:spLocks noChangeArrowheads="1"/>
              </p:cNvSpPr>
              <p:nvPr/>
            </p:nvSpPr>
            <p:spPr bwMode="auto">
              <a:xfrm>
                <a:off x="2112" y="2160"/>
                <a:ext cx="240" cy="1114"/>
              </a:xfrm>
              <a:prstGeom prst="rect">
                <a:avLst/>
              </a:prstGeom>
              <a:noFill/>
              <a:ln w="9525">
                <a:noFill/>
                <a:miter lim="800000"/>
                <a:headEnd/>
                <a:tailEnd/>
              </a:ln>
            </p:spPr>
            <p:txBody>
              <a:bodyPr>
                <a:spAutoFit/>
              </a:bodyPr>
              <a:lstStyle/>
              <a:p>
                <a:pPr algn="ctr" eaLnBrk="1" hangingPunct="1">
                  <a:spcBef>
                    <a:spcPct val="50000"/>
                  </a:spcBef>
                </a:pPr>
                <a:endParaRPr lang="en-US" sz="2000" dirty="0">
                  <a:latin typeface="Times New Roman" pitchFamily="18" charset="0"/>
                </a:endParaRP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6</a:t>
                </a:r>
              </a:p>
            </p:txBody>
          </p:sp>
          <p:sp>
            <p:nvSpPr>
              <p:cNvPr id="53267" name="Text Box 10"/>
              <p:cNvSpPr txBox="1">
                <a:spLocks noChangeArrowheads="1"/>
              </p:cNvSpPr>
              <p:nvPr/>
            </p:nvSpPr>
            <p:spPr bwMode="auto">
              <a:xfrm>
                <a:off x="2016" y="331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128011" name="Text Box 11"/>
          <p:cNvSpPr txBox="1">
            <a:spLocks noChangeArrowheads="1"/>
          </p:cNvSpPr>
          <p:nvPr/>
        </p:nvSpPr>
        <p:spPr bwMode="auto">
          <a:xfrm>
            <a:off x="1066800" y="47244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3"/>
            </a:pPr>
            <a:r>
              <a:rPr lang="en-US" sz="2000">
                <a:latin typeface="Times New Roman" pitchFamily="18" charset="0"/>
              </a:rPr>
              <a:t>Next </a:t>
            </a:r>
            <a:r>
              <a:rPr lang="en-US" sz="2000">
                <a:solidFill>
                  <a:srgbClr val="FF00FF"/>
                </a:solidFill>
                <a:latin typeface="Times New Roman" pitchFamily="18" charset="0"/>
              </a:rPr>
              <a:t>8</a:t>
            </a:r>
            <a:r>
              <a:rPr lang="en-US" sz="2000">
                <a:latin typeface="Times New Roman" pitchFamily="18" charset="0"/>
              </a:rPr>
              <a:t> is read and pushed</a:t>
            </a:r>
          </a:p>
        </p:txBody>
      </p:sp>
      <p:grpSp>
        <p:nvGrpSpPr>
          <p:cNvPr id="4" name="Group 12"/>
          <p:cNvGrpSpPr>
            <a:grpSpLocks/>
          </p:cNvGrpSpPr>
          <p:nvPr/>
        </p:nvGrpSpPr>
        <p:grpSpPr bwMode="auto">
          <a:xfrm>
            <a:off x="6248400" y="3962400"/>
            <a:ext cx="838200" cy="2438400"/>
            <a:chOff x="3168" y="2784"/>
            <a:chExt cx="528" cy="1536"/>
          </a:xfrm>
        </p:grpSpPr>
        <p:sp>
          <p:nvSpPr>
            <p:cNvPr id="53256" name="Line 13"/>
            <p:cNvSpPr>
              <a:spLocks noChangeShapeType="1"/>
            </p:cNvSpPr>
            <p:nvPr/>
          </p:nvSpPr>
          <p:spPr bwMode="auto">
            <a:xfrm>
              <a:off x="3216" y="3984"/>
              <a:ext cx="336" cy="0"/>
            </a:xfrm>
            <a:prstGeom prst="line">
              <a:avLst/>
            </a:prstGeom>
            <a:noFill/>
            <a:ln w="9525">
              <a:solidFill>
                <a:schemeClr val="tx1"/>
              </a:solidFill>
              <a:miter lim="800000"/>
              <a:headEnd/>
              <a:tailEnd/>
            </a:ln>
          </p:spPr>
          <p:txBody>
            <a:bodyPr wrap="none"/>
            <a:lstStyle/>
            <a:p>
              <a:endParaRPr lang="en-US"/>
            </a:p>
          </p:txBody>
        </p:sp>
        <p:grpSp>
          <p:nvGrpSpPr>
            <p:cNvPr id="5" name="Group 14"/>
            <p:cNvGrpSpPr>
              <a:grpSpLocks/>
            </p:cNvGrpSpPr>
            <p:nvPr/>
          </p:nvGrpSpPr>
          <p:grpSpPr bwMode="auto">
            <a:xfrm>
              <a:off x="3168" y="2784"/>
              <a:ext cx="528" cy="1536"/>
              <a:chOff x="3168" y="2784"/>
              <a:chExt cx="528" cy="1536"/>
            </a:xfrm>
          </p:grpSpPr>
          <p:sp>
            <p:nvSpPr>
              <p:cNvPr id="53258" name="Line 15"/>
              <p:cNvSpPr>
                <a:spLocks noChangeShapeType="1"/>
              </p:cNvSpPr>
              <p:nvPr/>
            </p:nvSpPr>
            <p:spPr bwMode="auto">
              <a:xfrm>
                <a:off x="3552" y="2784"/>
                <a:ext cx="0" cy="1200"/>
              </a:xfrm>
              <a:prstGeom prst="line">
                <a:avLst/>
              </a:prstGeom>
              <a:noFill/>
              <a:ln w="9525">
                <a:solidFill>
                  <a:schemeClr val="tx1"/>
                </a:solidFill>
                <a:miter lim="800000"/>
                <a:headEnd/>
                <a:tailEnd/>
              </a:ln>
            </p:spPr>
            <p:txBody>
              <a:bodyPr wrap="none"/>
              <a:lstStyle/>
              <a:p>
                <a:endParaRPr lang="en-US"/>
              </a:p>
            </p:txBody>
          </p:sp>
          <p:sp>
            <p:nvSpPr>
              <p:cNvPr id="53259" name="Line 16"/>
              <p:cNvSpPr>
                <a:spLocks noChangeShapeType="1"/>
              </p:cNvSpPr>
              <p:nvPr/>
            </p:nvSpPr>
            <p:spPr bwMode="auto">
              <a:xfrm flipV="1">
                <a:off x="3216" y="2784"/>
                <a:ext cx="0" cy="1200"/>
              </a:xfrm>
              <a:prstGeom prst="line">
                <a:avLst/>
              </a:prstGeom>
              <a:noFill/>
              <a:ln w="9525">
                <a:solidFill>
                  <a:schemeClr val="tx1"/>
                </a:solidFill>
                <a:miter lim="800000"/>
                <a:headEnd/>
                <a:tailEnd/>
              </a:ln>
            </p:spPr>
            <p:txBody>
              <a:bodyPr wrap="none"/>
              <a:lstStyle/>
              <a:p>
                <a:endParaRPr lang="en-US"/>
              </a:p>
            </p:txBody>
          </p:sp>
          <p:sp>
            <p:nvSpPr>
              <p:cNvPr id="53260" name="Text Box 17"/>
              <p:cNvSpPr txBox="1">
                <a:spLocks noChangeArrowheads="1"/>
              </p:cNvSpPr>
              <p:nvPr/>
            </p:nvSpPr>
            <p:spPr bwMode="auto">
              <a:xfrm>
                <a:off x="3264" y="2880"/>
                <a:ext cx="240" cy="1114"/>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8</a:t>
                </a:r>
              </a:p>
              <a:p>
                <a:pPr algn="ctr" eaLnBrk="1" hangingPunct="1">
                  <a:spcBef>
                    <a:spcPct val="50000"/>
                  </a:spcBef>
                </a:pPr>
                <a:r>
                  <a:rPr lang="en-US" sz="2000">
                    <a:latin typeface="Times New Roman" pitchFamily="18" charset="0"/>
                  </a:rPr>
                  <a:t>5</a:t>
                </a:r>
              </a:p>
              <a:p>
                <a:pPr algn="ctr" eaLnBrk="1" hangingPunct="1">
                  <a:spcBef>
                    <a:spcPct val="50000"/>
                  </a:spcBef>
                </a:pPr>
                <a:r>
                  <a:rPr lang="en-US" sz="2000">
                    <a:latin typeface="Times New Roman" pitchFamily="18" charset="0"/>
                  </a:rPr>
                  <a:t>5</a:t>
                </a:r>
              </a:p>
              <a:p>
                <a:pPr algn="ctr" eaLnBrk="1" hangingPunct="1">
                  <a:spcBef>
                    <a:spcPct val="50000"/>
                  </a:spcBef>
                </a:pPr>
                <a:r>
                  <a:rPr lang="en-US" sz="2000">
                    <a:latin typeface="Times New Roman" pitchFamily="18" charset="0"/>
                  </a:rPr>
                  <a:t>6</a:t>
                </a:r>
              </a:p>
            </p:txBody>
          </p:sp>
          <p:sp>
            <p:nvSpPr>
              <p:cNvPr id="53261" name="Text Box 18"/>
              <p:cNvSpPr txBox="1">
                <a:spLocks noChangeArrowheads="1"/>
              </p:cNvSpPr>
              <p:nvPr/>
            </p:nvSpPr>
            <p:spPr bwMode="auto">
              <a:xfrm>
                <a:off x="3168"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20" name="Footer Placeholder 1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8011"/>
                                        </p:tgtEl>
                                        <p:attrNameLst>
                                          <p:attrName>style.visibility</p:attrName>
                                        </p:attrNameLst>
                                      </p:cBhvr>
                                      <p:to>
                                        <p:strVal val="visible"/>
                                      </p:to>
                                    </p:set>
                                    <p:animEffect transition="in" filter="box(in)">
                                      <p:cBhvr>
                                        <p:cTn id="7" dur="500"/>
                                        <p:tgtEl>
                                          <p:spTgt spid="1280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11"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a:t>Evaluating Postfix Expression</a:t>
            </a:r>
          </a:p>
        </p:txBody>
      </p:sp>
      <p:sp>
        <p:nvSpPr>
          <p:cNvPr id="54276" name="Rectangle 3"/>
          <p:cNvSpPr>
            <a:spLocks noGrp="1" noChangeArrowheads="1"/>
          </p:cNvSpPr>
          <p:nvPr>
            <p:ph type="body" idx="1"/>
          </p:nvPr>
        </p:nvSpPr>
        <p:spPr>
          <a:xfrm>
            <a:off x="381000" y="12192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sp>
        <p:nvSpPr>
          <p:cNvPr id="129028" name="Text Box 4"/>
          <p:cNvSpPr txBox="1">
            <a:spLocks noChangeArrowheads="1"/>
          </p:cNvSpPr>
          <p:nvPr/>
        </p:nvSpPr>
        <p:spPr bwMode="auto">
          <a:xfrm>
            <a:off x="1066800" y="46482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4"/>
            </a:pPr>
            <a:r>
              <a:rPr lang="en-US" sz="2000">
                <a:latin typeface="Times New Roman" pitchFamily="18" charset="0"/>
              </a:rPr>
              <a:t>Next a </a:t>
            </a:r>
            <a:r>
              <a:rPr lang="en-US" sz="2000">
                <a:solidFill>
                  <a:srgbClr val="FF00FF"/>
                </a:solidFill>
                <a:latin typeface="Times New Roman" pitchFamily="18" charset="0"/>
              </a:rPr>
              <a:t>*</a:t>
            </a:r>
            <a:r>
              <a:rPr lang="en-US" sz="2000">
                <a:latin typeface="Times New Roman" pitchFamily="18" charset="0"/>
              </a:rPr>
              <a:t> is seen so 8 and 5 are popped as 8 * 5 = 40 is pushed</a:t>
            </a:r>
          </a:p>
        </p:txBody>
      </p:sp>
      <p:grpSp>
        <p:nvGrpSpPr>
          <p:cNvPr id="2" name="Group 5"/>
          <p:cNvGrpSpPr>
            <a:grpSpLocks/>
          </p:cNvGrpSpPr>
          <p:nvPr/>
        </p:nvGrpSpPr>
        <p:grpSpPr bwMode="auto">
          <a:xfrm>
            <a:off x="7924800" y="3886200"/>
            <a:ext cx="838200" cy="2438400"/>
            <a:chOff x="4944" y="2784"/>
            <a:chExt cx="528" cy="1536"/>
          </a:xfrm>
        </p:grpSpPr>
        <p:sp>
          <p:nvSpPr>
            <p:cNvPr id="54286" name="Line 6"/>
            <p:cNvSpPr>
              <a:spLocks noChangeShapeType="1"/>
            </p:cNvSpPr>
            <p:nvPr/>
          </p:nvSpPr>
          <p:spPr bwMode="auto">
            <a:xfrm>
              <a:off x="4992" y="3984"/>
              <a:ext cx="336" cy="0"/>
            </a:xfrm>
            <a:prstGeom prst="line">
              <a:avLst/>
            </a:prstGeom>
            <a:noFill/>
            <a:ln w="9525">
              <a:solidFill>
                <a:schemeClr val="tx1"/>
              </a:solidFill>
              <a:miter lim="800000"/>
              <a:headEnd/>
              <a:tailEnd/>
            </a:ln>
          </p:spPr>
          <p:txBody>
            <a:bodyPr wrap="none"/>
            <a:lstStyle/>
            <a:p>
              <a:endParaRPr lang="en-US"/>
            </a:p>
          </p:txBody>
        </p:sp>
        <p:grpSp>
          <p:nvGrpSpPr>
            <p:cNvPr id="3" name="Group 7"/>
            <p:cNvGrpSpPr>
              <a:grpSpLocks/>
            </p:cNvGrpSpPr>
            <p:nvPr/>
          </p:nvGrpSpPr>
          <p:grpSpPr bwMode="auto">
            <a:xfrm>
              <a:off x="4944" y="2784"/>
              <a:ext cx="528" cy="1536"/>
              <a:chOff x="4944" y="2784"/>
              <a:chExt cx="528" cy="1536"/>
            </a:xfrm>
          </p:grpSpPr>
          <p:sp>
            <p:nvSpPr>
              <p:cNvPr id="54288" name="Line 8"/>
              <p:cNvSpPr>
                <a:spLocks noChangeShapeType="1"/>
              </p:cNvSpPr>
              <p:nvPr/>
            </p:nvSpPr>
            <p:spPr bwMode="auto">
              <a:xfrm>
                <a:off x="5328" y="2784"/>
                <a:ext cx="0" cy="1200"/>
              </a:xfrm>
              <a:prstGeom prst="line">
                <a:avLst/>
              </a:prstGeom>
              <a:noFill/>
              <a:ln w="9525">
                <a:solidFill>
                  <a:schemeClr val="tx1"/>
                </a:solidFill>
                <a:miter lim="800000"/>
                <a:headEnd/>
                <a:tailEnd/>
              </a:ln>
            </p:spPr>
            <p:txBody>
              <a:bodyPr wrap="none"/>
              <a:lstStyle/>
              <a:p>
                <a:endParaRPr lang="en-US"/>
              </a:p>
            </p:txBody>
          </p:sp>
          <p:sp>
            <p:nvSpPr>
              <p:cNvPr id="54289" name="Line 9"/>
              <p:cNvSpPr>
                <a:spLocks noChangeShapeType="1"/>
              </p:cNvSpPr>
              <p:nvPr/>
            </p:nvSpPr>
            <p:spPr bwMode="auto">
              <a:xfrm flipV="1">
                <a:off x="4992" y="2784"/>
                <a:ext cx="0" cy="1200"/>
              </a:xfrm>
              <a:prstGeom prst="line">
                <a:avLst/>
              </a:prstGeom>
              <a:noFill/>
              <a:ln w="9525">
                <a:solidFill>
                  <a:schemeClr val="tx1"/>
                </a:solidFill>
                <a:miter lim="800000"/>
                <a:headEnd/>
                <a:tailEnd/>
              </a:ln>
            </p:spPr>
            <p:txBody>
              <a:bodyPr wrap="none"/>
              <a:lstStyle/>
              <a:p>
                <a:endParaRPr lang="en-US"/>
              </a:p>
            </p:txBody>
          </p:sp>
          <p:sp>
            <p:nvSpPr>
              <p:cNvPr id="54290" name="Text Box 10"/>
              <p:cNvSpPr txBox="1">
                <a:spLocks noChangeArrowheads="1"/>
              </p:cNvSpPr>
              <p:nvPr/>
            </p:nvSpPr>
            <p:spPr bwMode="auto">
              <a:xfrm>
                <a:off x="4992" y="2880"/>
                <a:ext cx="336" cy="1114"/>
              </a:xfrm>
              <a:prstGeom prst="rect">
                <a:avLst/>
              </a:prstGeom>
              <a:noFill/>
              <a:ln w="9525">
                <a:noFill/>
                <a:miter lim="800000"/>
                <a:headEnd/>
                <a:tailEnd/>
              </a:ln>
            </p:spPr>
            <p:txBody>
              <a:bodyPr>
                <a:spAutoFit/>
              </a:bodyPr>
              <a:lstStyle/>
              <a:p>
                <a:pPr algn="ctr" eaLnBrk="1" hangingPunct="1">
                  <a:spcBef>
                    <a:spcPct val="50000"/>
                  </a:spcBef>
                </a:pPr>
                <a:endParaRPr lang="en-US" sz="2000" dirty="0">
                  <a:latin typeface="Times New Roman" pitchFamily="18" charset="0"/>
                </a:endParaRPr>
              </a:p>
              <a:p>
                <a:pPr algn="ctr" eaLnBrk="1" hangingPunct="1">
                  <a:spcBef>
                    <a:spcPct val="50000"/>
                  </a:spcBef>
                </a:pPr>
                <a:r>
                  <a:rPr lang="en-US" sz="2000" dirty="0">
                    <a:latin typeface="Times New Roman" pitchFamily="18" charset="0"/>
                  </a:rPr>
                  <a:t>40</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6</a:t>
                </a:r>
              </a:p>
            </p:txBody>
          </p:sp>
          <p:sp>
            <p:nvSpPr>
              <p:cNvPr id="54291" name="Text Box 11"/>
              <p:cNvSpPr txBox="1">
                <a:spLocks noChangeArrowheads="1"/>
              </p:cNvSpPr>
              <p:nvPr/>
            </p:nvSpPr>
            <p:spPr bwMode="auto">
              <a:xfrm>
                <a:off x="4944"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nvGrpSpPr>
          <p:cNvPr id="4" name="Group 12"/>
          <p:cNvGrpSpPr>
            <a:grpSpLocks/>
          </p:cNvGrpSpPr>
          <p:nvPr/>
        </p:nvGrpSpPr>
        <p:grpSpPr bwMode="auto">
          <a:xfrm>
            <a:off x="4724400" y="1828800"/>
            <a:ext cx="838200" cy="2438400"/>
            <a:chOff x="3168" y="2784"/>
            <a:chExt cx="528" cy="1536"/>
          </a:xfrm>
        </p:grpSpPr>
        <p:sp>
          <p:nvSpPr>
            <p:cNvPr id="54280" name="Line 13"/>
            <p:cNvSpPr>
              <a:spLocks noChangeShapeType="1"/>
            </p:cNvSpPr>
            <p:nvPr/>
          </p:nvSpPr>
          <p:spPr bwMode="auto">
            <a:xfrm>
              <a:off x="3216" y="3984"/>
              <a:ext cx="336" cy="0"/>
            </a:xfrm>
            <a:prstGeom prst="line">
              <a:avLst/>
            </a:prstGeom>
            <a:noFill/>
            <a:ln w="9525">
              <a:solidFill>
                <a:schemeClr val="tx1"/>
              </a:solidFill>
              <a:miter lim="800000"/>
              <a:headEnd/>
              <a:tailEnd/>
            </a:ln>
          </p:spPr>
          <p:txBody>
            <a:bodyPr wrap="none"/>
            <a:lstStyle/>
            <a:p>
              <a:endParaRPr lang="en-US"/>
            </a:p>
          </p:txBody>
        </p:sp>
        <p:grpSp>
          <p:nvGrpSpPr>
            <p:cNvPr id="5" name="Group 14"/>
            <p:cNvGrpSpPr>
              <a:grpSpLocks/>
            </p:cNvGrpSpPr>
            <p:nvPr/>
          </p:nvGrpSpPr>
          <p:grpSpPr bwMode="auto">
            <a:xfrm>
              <a:off x="3168" y="2784"/>
              <a:ext cx="528" cy="1536"/>
              <a:chOff x="3168" y="2784"/>
              <a:chExt cx="528" cy="1536"/>
            </a:xfrm>
          </p:grpSpPr>
          <p:sp>
            <p:nvSpPr>
              <p:cNvPr id="54282" name="Line 15"/>
              <p:cNvSpPr>
                <a:spLocks noChangeShapeType="1"/>
              </p:cNvSpPr>
              <p:nvPr/>
            </p:nvSpPr>
            <p:spPr bwMode="auto">
              <a:xfrm>
                <a:off x="3552" y="2784"/>
                <a:ext cx="0" cy="1200"/>
              </a:xfrm>
              <a:prstGeom prst="line">
                <a:avLst/>
              </a:prstGeom>
              <a:noFill/>
              <a:ln w="9525">
                <a:solidFill>
                  <a:schemeClr val="tx1"/>
                </a:solidFill>
                <a:miter lim="800000"/>
                <a:headEnd/>
                <a:tailEnd/>
              </a:ln>
            </p:spPr>
            <p:txBody>
              <a:bodyPr wrap="none"/>
              <a:lstStyle/>
              <a:p>
                <a:endParaRPr lang="en-US"/>
              </a:p>
            </p:txBody>
          </p:sp>
          <p:sp>
            <p:nvSpPr>
              <p:cNvPr id="54283" name="Line 16"/>
              <p:cNvSpPr>
                <a:spLocks noChangeShapeType="1"/>
              </p:cNvSpPr>
              <p:nvPr/>
            </p:nvSpPr>
            <p:spPr bwMode="auto">
              <a:xfrm flipV="1">
                <a:off x="3216" y="2784"/>
                <a:ext cx="0" cy="1200"/>
              </a:xfrm>
              <a:prstGeom prst="line">
                <a:avLst/>
              </a:prstGeom>
              <a:noFill/>
              <a:ln w="9525">
                <a:solidFill>
                  <a:schemeClr val="tx1"/>
                </a:solidFill>
                <a:miter lim="800000"/>
                <a:headEnd/>
                <a:tailEnd/>
              </a:ln>
            </p:spPr>
            <p:txBody>
              <a:bodyPr wrap="none"/>
              <a:lstStyle/>
              <a:p>
                <a:endParaRPr lang="en-US"/>
              </a:p>
            </p:txBody>
          </p:sp>
          <p:sp>
            <p:nvSpPr>
              <p:cNvPr id="54284" name="Text Box 17"/>
              <p:cNvSpPr txBox="1">
                <a:spLocks noChangeArrowheads="1"/>
              </p:cNvSpPr>
              <p:nvPr/>
            </p:nvSpPr>
            <p:spPr bwMode="auto">
              <a:xfrm>
                <a:off x="3264" y="2880"/>
                <a:ext cx="240" cy="1114"/>
              </a:xfrm>
              <a:prstGeom prst="rect">
                <a:avLst/>
              </a:prstGeom>
              <a:noFill/>
              <a:ln w="9525">
                <a:noFill/>
                <a:miter lim="800000"/>
                <a:headEnd/>
                <a:tailEnd/>
              </a:ln>
            </p:spPr>
            <p:txBody>
              <a:bodyPr>
                <a:spAutoFit/>
              </a:bodyPr>
              <a:lstStyle/>
              <a:p>
                <a:pPr algn="ctr" eaLnBrk="1" hangingPunct="1">
                  <a:spcBef>
                    <a:spcPct val="50000"/>
                  </a:spcBef>
                </a:pPr>
                <a:r>
                  <a:rPr lang="en-US" sz="2000" dirty="0">
                    <a:latin typeface="Times New Roman" pitchFamily="18" charset="0"/>
                  </a:rPr>
                  <a:t>8</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5</a:t>
                </a:r>
              </a:p>
              <a:p>
                <a:pPr algn="ctr" eaLnBrk="1" hangingPunct="1">
                  <a:spcBef>
                    <a:spcPct val="50000"/>
                  </a:spcBef>
                </a:pPr>
                <a:r>
                  <a:rPr lang="en-US" sz="2000" dirty="0">
                    <a:latin typeface="Times New Roman" pitchFamily="18" charset="0"/>
                  </a:rPr>
                  <a:t>6</a:t>
                </a:r>
              </a:p>
            </p:txBody>
          </p:sp>
          <p:sp>
            <p:nvSpPr>
              <p:cNvPr id="54285" name="Text Box 18"/>
              <p:cNvSpPr txBox="1">
                <a:spLocks noChangeArrowheads="1"/>
              </p:cNvSpPr>
              <p:nvPr/>
            </p:nvSpPr>
            <p:spPr bwMode="auto">
              <a:xfrm>
                <a:off x="3168"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20" name="Footer Placeholder 1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9028"/>
                                        </p:tgtEl>
                                        <p:attrNameLst>
                                          <p:attrName>style.visibility</p:attrName>
                                        </p:attrNameLst>
                                      </p:cBhvr>
                                      <p:to>
                                        <p:strVal val="visible"/>
                                      </p:to>
                                    </p:set>
                                    <p:animEffect transition="in" filter="box(in)">
                                      <p:cBhvr>
                                        <p:cTn id="7" dur="500"/>
                                        <p:tgtEl>
                                          <p:spTgt spid="12902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a:t>Evaluating Postfix Expression</a:t>
            </a:r>
          </a:p>
        </p:txBody>
      </p:sp>
      <p:sp>
        <p:nvSpPr>
          <p:cNvPr id="55300" name="Rectangle 3"/>
          <p:cNvSpPr>
            <a:spLocks noGrp="1" noChangeArrowheads="1"/>
          </p:cNvSpPr>
          <p:nvPr>
            <p:ph type="body" idx="1"/>
          </p:nvPr>
        </p:nvSpPr>
        <p:spPr>
          <a:xfrm>
            <a:off x="457200" y="12192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sp>
        <p:nvSpPr>
          <p:cNvPr id="130052" name="Text Box 4"/>
          <p:cNvSpPr txBox="1">
            <a:spLocks noChangeArrowheads="1"/>
          </p:cNvSpPr>
          <p:nvPr/>
        </p:nvSpPr>
        <p:spPr bwMode="auto">
          <a:xfrm>
            <a:off x="685800" y="43434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5"/>
            </a:pPr>
            <a:r>
              <a:rPr lang="en-US" sz="2000" dirty="0">
                <a:latin typeface="Times New Roman" pitchFamily="18" charset="0"/>
              </a:rPr>
              <a:t>Next a </a:t>
            </a:r>
            <a:r>
              <a:rPr lang="en-US" sz="2000" dirty="0">
                <a:solidFill>
                  <a:srgbClr val="FF00FF"/>
                </a:solidFill>
                <a:latin typeface="Times New Roman" pitchFamily="18" charset="0"/>
              </a:rPr>
              <a:t>+</a:t>
            </a:r>
            <a:r>
              <a:rPr lang="en-US" sz="2000" dirty="0">
                <a:latin typeface="Times New Roman" pitchFamily="18" charset="0"/>
              </a:rPr>
              <a:t> is read so 40 and 5 are popped and 40 +  5 = 45 is pushed</a:t>
            </a:r>
          </a:p>
        </p:txBody>
      </p:sp>
      <p:grpSp>
        <p:nvGrpSpPr>
          <p:cNvPr id="2" name="Group 5"/>
          <p:cNvGrpSpPr>
            <a:grpSpLocks/>
          </p:cNvGrpSpPr>
          <p:nvPr/>
        </p:nvGrpSpPr>
        <p:grpSpPr bwMode="auto">
          <a:xfrm>
            <a:off x="4343400" y="1828800"/>
            <a:ext cx="838200" cy="2438400"/>
            <a:chOff x="4944" y="2784"/>
            <a:chExt cx="528" cy="1536"/>
          </a:xfrm>
        </p:grpSpPr>
        <p:sp>
          <p:nvSpPr>
            <p:cNvPr id="55310" name="Line 6"/>
            <p:cNvSpPr>
              <a:spLocks noChangeShapeType="1"/>
            </p:cNvSpPr>
            <p:nvPr/>
          </p:nvSpPr>
          <p:spPr bwMode="auto">
            <a:xfrm>
              <a:off x="4992" y="3984"/>
              <a:ext cx="336" cy="0"/>
            </a:xfrm>
            <a:prstGeom prst="line">
              <a:avLst/>
            </a:prstGeom>
            <a:noFill/>
            <a:ln w="9525">
              <a:solidFill>
                <a:schemeClr val="tx1"/>
              </a:solidFill>
              <a:miter lim="800000"/>
              <a:headEnd/>
              <a:tailEnd/>
            </a:ln>
          </p:spPr>
          <p:txBody>
            <a:bodyPr wrap="none"/>
            <a:lstStyle/>
            <a:p>
              <a:endParaRPr lang="en-US"/>
            </a:p>
          </p:txBody>
        </p:sp>
        <p:grpSp>
          <p:nvGrpSpPr>
            <p:cNvPr id="3" name="Group 7"/>
            <p:cNvGrpSpPr>
              <a:grpSpLocks/>
            </p:cNvGrpSpPr>
            <p:nvPr/>
          </p:nvGrpSpPr>
          <p:grpSpPr bwMode="auto">
            <a:xfrm>
              <a:off x="4944" y="2784"/>
              <a:ext cx="528" cy="1536"/>
              <a:chOff x="4944" y="2784"/>
              <a:chExt cx="528" cy="1536"/>
            </a:xfrm>
          </p:grpSpPr>
          <p:sp>
            <p:nvSpPr>
              <p:cNvPr id="55312" name="Line 8"/>
              <p:cNvSpPr>
                <a:spLocks noChangeShapeType="1"/>
              </p:cNvSpPr>
              <p:nvPr/>
            </p:nvSpPr>
            <p:spPr bwMode="auto">
              <a:xfrm>
                <a:off x="5328" y="2784"/>
                <a:ext cx="0" cy="1200"/>
              </a:xfrm>
              <a:prstGeom prst="line">
                <a:avLst/>
              </a:prstGeom>
              <a:noFill/>
              <a:ln w="9525">
                <a:solidFill>
                  <a:schemeClr val="tx1"/>
                </a:solidFill>
                <a:miter lim="800000"/>
                <a:headEnd/>
                <a:tailEnd/>
              </a:ln>
            </p:spPr>
            <p:txBody>
              <a:bodyPr wrap="none"/>
              <a:lstStyle/>
              <a:p>
                <a:endParaRPr lang="en-US"/>
              </a:p>
            </p:txBody>
          </p:sp>
          <p:sp>
            <p:nvSpPr>
              <p:cNvPr id="55313" name="Line 9"/>
              <p:cNvSpPr>
                <a:spLocks noChangeShapeType="1"/>
              </p:cNvSpPr>
              <p:nvPr/>
            </p:nvSpPr>
            <p:spPr bwMode="auto">
              <a:xfrm flipV="1">
                <a:off x="4992" y="2784"/>
                <a:ext cx="0" cy="1200"/>
              </a:xfrm>
              <a:prstGeom prst="line">
                <a:avLst/>
              </a:prstGeom>
              <a:noFill/>
              <a:ln w="9525">
                <a:solidFill>
                  <a:schemeClr val="tx1"/>
                </a:solidFill>
                <a:miter lim="800000"/>
                <a:headEnd/>
                <a:tailEnd/>
              </a:ln>
            </p:spPr>
            <p:txBody>
              <a:bodyPr wrap="none"/>
              <a:lstStyle/>
              <a:p>
                <a:endParaRPr lang="en-US"/>
              </a:p>
            </p:txBody>
          </p:sp>
          <p:sp>
            <p:nvSpPr>
              <p:cNvPr id="55314" name="Text Box 10"/>
              <p:cNvSpPr txBox="1">
                <a:spLocks noChangeArrowheads="1"/>
              </p:cNvSpPr>
              <p:nvPr/>
            </p:nvSpPr>
            <p:spPr bwMode="auto">
              <a:xfrm>
                <a:off x="5040" y="2880"/>
                <a:ext cx="336" cy="1114"/>
              </a:xfrm>
              <a:prstGeom prst="rect">
                <a:avLst/>
              </a:prstGeom>
              <a:noFill/>
              <a:ln w="9525">
                <a:noFill/>
                <a:miter lim="800000"/>
                <a:headEnd/>
                <a:tailEnd/>
              </a:ln>
            </p:spPr>
            <p:txBody>
              <a:bodyPr>
                <a:spAutoFit/>
              </a:bodyPr>
              <a:lstStyle/>
              <a:p>
                <a:pPr algn="ctr" eaLnBrk="1" hangingPunct="1">
                  <a:spcBef>
                    <a:spcPct val="50000"/>
                  </a:spcBef>
                </a:pPr>
                <a:endParaRPr lang="en-US" sz="2000">
                  <a:latin typeface="Times New Roman" pitchFamily="18" charset="0"/>
                </a:endParaRPr>
              </a:p>
              <a:p>
                <a:pPr algn="ctr" eaLnBrk="1" hangingPunct="1">
                  <a:spcBef>
                    <a:spcPct val="50000"/>
                  </a:spcBef>
                </a:pPr>
                <a:r>
                  <a:rPr lang="en-US" sz="2000">
                    <a:latin typeface="Times New Roman" pitchFamily="18" charset="0"/>
                  </a:rPr>
                  <a:t>40</a:t>
                </a:r>
              </a:p>
              <a:p>
                <a:pPr algn="ctr" eaLnBrk="1" hangingPunct="1">
                  <a:spcBef>
                    <a:spcPct val="50000"/>
                  </a:spcBef>
                </a:pPr>
                <a:r>
                  <a:rPr lang="en-US" sz="2000">
                    <a:latin typeface="Times New Roman" pitchFamily="18" charset="0"/>
                  </a:rPr>
                  <a:t>5</a:t>
                </a:r>
              </a:p>
              <a:p>
                <a:pPr algn="ctr" eaLnBrk="1" hangingPunct="1">
                  <a:spcBef>
                    <a:spcPct val="50000"/>
                  </a:spcBef>
                </a:pPr>
                <a:r>
                  <a:rPr lang="en-US" sz="2000">
                    <a:latin typeface="Times New Roman" pitchFamily="18" charset="0"/>
                  </a:rPr>
                  <a:t>6</a:t>
                </a:r>
              </a:p>
            </p:txBody>
          </p:sp>
          <p:sp>
            <p:nvSpPr>
              <p:cNvPr id="55315" name="Text Box 11"/>
              <p:cNvSpPr txBox="1">
                <a:spLocks noChangeArrowheads="1"/>
              </p:cNvSpPr>
              <p:nvPr/>
            </p:nvSpPr>
            <p:spPr bwMode="auto">
              <a:xfrm>
                <a:off x="4944"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nvGrpSpPr>
          <p:cNvPr id="4" name="Group 12"/>
          <p:cNvGrpSpPr>
            <a:grpSpLocks/>
          </p:cNvGrpSpPr>
          <p:nvPr/>
        </p:nvGrpSpPr>
        <p:grpSpPr bwMode="auto">
          <a:xfrm>
            <a:off x="8001000" y="3886200"/>
            <a:ext cx="838200" cy="2438400"/>
            <a:chOff x="5232" y="2784"/>
            <a:chExt cx="528" cy="1536"/>
          </a:xfrm>
        </p:grpSpPr>
        <p:sp>
          <p:nvSpPr>
            <p:cNvPr id="55304" name="Line 13"/>
            <p:cNvSpPr>
              <a:spLocks noChangeShapeType="1"/>
            </p:cNvSpPr>
            <p:nvPr/>
          </p:nvSpPr>
          <p:spPr bwMode="auto">
            <a:xfrm>
              <a:off x="5280" y="3984"/>
              <a:ext cx="336" cy="0"/>
            </a:xfrm>
            <a:prstGeom prst="line">
              <a:avLst/>
            </a:prstGeom>
            <a:noFill/>
            <a:ln w="9525">
              <a:solidFill>
                <a:schemeClr val="tx1"/>
              </a:solidFill>
              <a:miter lim="800000"/>
              <a:headEnd/>
              <a:tailEnd/>
            </a:ln>
          </p:spPr>
          <p:txBody>
            <a:bodyPr wrap="none"/>
            <a:lstStyle/>
            <a:p>
              <a:endParaRPr lang="en-US"/>
            </a:p>
          </p:txBody>
        </p:sp>
        <p:grpSp>
          <p:nvGrpSpPr>
            <p:cNvPr id="5" name="Group 14"/>
            <p:cNvGrpSpPr>
              <a:grpSpLocks/>
            </p:cNvGrpSpPr>
            <p:nvPr/>
          </p:nvGrpSpPr>
          <p:grpSpPr bwMode="auto">
            <a:xfrm>
              <a:off x="5232" y="2784"/>
              <a:ext cx="528" cy="1536"/>
              <a:chOff x="5232" y="2784"/>
              <a:chExt cx="528" cy="1536"/>
            </a:xfrm>
          </p:grpSpPr>
          <p:sp>
            <p:nvSpPr>
              <p:cNvPr id="55306" name="Line 15"/>
              <p:cNvSpPr>
                <a:spLocks noChangeShapeType="1"/>
              </p:cNvSpPr>
              <p:nvPr/>
            </p:nvSpPr>
            <p:spPr bwMode="auto">
              <a:xfrm>
                <a:off x="5616" y="2784"/>
                <a:ext cx="0" cy="1200"/>
              </a:xfrm>
              <a:prstGeom prst="line">
                <a:avLst/>
              </a:prstGeom>
              <a:noFill/>
              <a:ln w="9525">
                <a:solidFill>
                  <a:schemeClr val="tx1"/>
                </a:solidFill>
                <a:miter lim="800000"/>
                <a:headEnd/>
                <a:tailEnd/>
              </a:ln>
            </p:spPr>
            <p:txBody>
              <a:bodyPr wrap="none"/>
              <a:lstStyle/>
              <a:p>
                <a:endParaRPr lang="en-US"/>
              </a:p>
            </p:txBody>
          </p:sp>
          <p:sp>
            <p:nvSpPr>
              <p:cNvPr id="55307" name="Line 16"/>
              <p:cNvSpPr>
                <a:spLocks noChangeShapeType="1"/>
              </p:cNvSpPr>
              <p:nvPr/>
            </p:nvSpPr>
            <p:spPr bwMode="auto">
              <a:xfrm flipV="1">
                <a:off x="5280" y="2784"/>
                <a:ext cx="0" cy="1200"/>
              </a:xfrm>
              <a:prstGeom prst="line">
                <a:avLst/>
              </a:prstGeom>
              <a:noFill/>
              <a:ln w="9525">
                <a:solidFill>
                  <a:schemeClr val="tx1"/>
                </a:solidFill>
                <a:miter lim="800000"/>
                <a:headEnd/>
                <a:tailEnd/>
              </a:ln>
            </p:spPr>
            <p:txBody>
              <a:bodyPr wrap="none"/>
              <a:lstStyle/>
              <a:p>
                <a:endParaRPr lang="en-US"/>
              </a:p>
            </p:txBody>
          </p:sp>
          <p:sp>
            <p:nvSpPr>
              <p:cNvPr id="55308" name="Text Box 17"/>
              <p:cNvSpPr txBox="1">
                <a:spLocks noChangeArrowheads="1"/>
              </p:cNvSpPr>
              <p:nvPr/>
            </p:nvSpPr>
            <p:spPr bwMode="auto">
              <a:xfrm>
                <a:off x="5280" y="3168"/>
                <a:ext cx="336" cy="826"/>
              </a:xfrm>
              <a:prstGeom prst="rect">
                <a:avLst/>
              </a:prstGeom>
              <a:noFill/>
              <a:ln w="9525">
                <a:noFill/>
                <a:miter lim="800000"/>
                <a:headEnd/>
                <a:tailEnd/>
              </a:ln>
            </p:spPr>
            <p:txBody>
              <a:bodyPr>
                <a:spAutoFit/>
              </a:bodyPr>
              <a:lstStyle/>
              <a:p>
                <a:pPr algn="ctr" eaLnBrk="1" hangingPunct="1">
                  <a:spcBef>
                    <a:spcPct val="50000"/>
                  </a:spcBef>
                </a:pPr>
                <a:endParaRPr lang="en-US" sz="2000">
                  <a:latin typeface="Times New Roman" pitchFamily="18" charset="0"/>
                </a:endParaRPr>
              </a:p>
              <a:p>
                <a:pPr algn="ctr" eaLnBrk="1" hangingPunct="1">
                  <a:spcBef>
                    <a:spcPct val="50000"/>
                  </a:spcBef>
                </a:pPr>
                <a:r>
                  <a:rPr lang="en-US" sz="2000">
                    <a:latin typeface="Times New Roman" pitchFamily="18" charset="0"/>
                  </a:rPr>
                  <a:t>45</a:t>
                </a:r>
              </a:p>
              <a:p>
                <a:pPr algn="ctr" eaLnBrk="1" hangingPunct="1">
                  <a:spcBef>
                    <a:spcPct val="50000"/>
                  </a:spcBef>
                </a:pPr>
                <a:r>
                  <a:rPr lang="en-US" sz="2000">
                    <a:latin typeface="Times New Roman" pitchFamily="18" charset="0"/>
                  </a:rPr>
                  <a:t>6</a:t>
                </a:r>
              </a:p>
            </p:txBody>
          </p:sp>
          <p:sp>
            <p:nvSpPr>
              <p:cNvPr id="55309" name="Text Box 18"/>
              <p:cNvSpPr txBox="1">
                <a:spLocks noChangeArrowheads="1"/>
              </p:cNvSpPr>
              <p:nvPr/>
            </p:nvSpPr>
            <p:spPr bwMode="auto">
              <a:xfrm>
                <a:off x="5232"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sp>
        <p:nvSpPr>
          <p:cNvPr id="20" name="Footer Placeholder 1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0052"/>
                                        </p:tgtEl>
                                        <p:attrNameLst>
                                          <p:attrName>style.visibility</p:attrName>
                                        </p:attrNameLst>
                                      </p:cBhvr>
                                      <p:to>
                                        <p:strVal val="visible"/>
                                      </p:to>
                                    </p:set>
                                    <p:animEffect transition="in" filter="box(in)">
                                      <p:cBhvr>
                                        <p:cTn id="7" dur="500"/>
                                        <p:tgtEl>
                                          <p:spTgt spid="13005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a:t>Evaluating Postfix Expression</a:t>
            </a:r>
          </a:p>
        </p:txBody>
      </p:sp>
      <p:sp>
        <p:nvSpPr>
          <p:cNvPr id="56324" name="Rectangle 3"/>
          <p:cNvSpPr>
            <a:spLocks noGrp="1" noChangeArrowheads="1"/>
          </p:cNvSpPr>
          <p:nvPr>
            <p:ph type="body" idx="1"/>
          </p:nvPr>
        </p:nvSpPr>
        <p:spPr>
          <a:xfrm>
            <a:off x="457200" y="12954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sp>
        <p:nvSpPr>
          <p:cNvPr id="131076" name="Text Box 4"/>
          <p:cNvSpPr txBox="1">
            <a:spLocks noChangeArrowheads="1"/>
          </p:cNvSpPr>
          <p:nvPr/>
        </p:nvSpPr>
        <p:spPr bwMode="auto">
          <a:xfrm>
            <a:off x="1066800" y="46482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6"/>
            </a:pPr>
            <a:r>
              <a:rPr lang="en-US" sz="2000">
                <a:latin typeface="Times New Roman" pitchFamily="18" charset="0"/>
              </a:rPr>
              <a:t>Now </a:t>
            </a:r>
            <a:r>
              <a:rPr lang="en-US" sz="2000">
                <a:solidFill>
                  <a:srgbClr val="FF00FF"/>
                </a:solidFill>
                <a:latin typeface="Times New Roman" pitchFamily="18" charset="0"/>
              </a:rPr>
              <a:t>3</a:t>
            </a:r>
            <a:r>
              <a:rPr lang="en-US" sz="2000">
                <a:latin typeface="Times New Roman" pitchFamily="18" charset="0"/>
              </a:rPr>
              <a:t> is pushed</a:t>
            </a:r>
          </a:p>
        </p:txBody>
      </p:sp>
      <p:grpSp>
        <p:nvGrpSpPr>
          <p:cNvPr id="2" name="Group 5"/>
          <p:cNvGrpSpPr>
            <a:grpSpLocks/>
          </p:cNvGrpSpPr>
          <p:nvPr/>
        </p:nvGrpSpPr>
        <p:grpSpPr bwMode="auto">
          <a:xfrm>
            <a:off x="5105400" y="1752600"/>
            <a:ext cx="838200" cy="2438400"/>
            <a:chOff x="5232" y="2784"/>
            <a:chExt cx="528" cy="1536"/>
          </a:xfrm>
        </p:grpSpPr>
        <p:sp>
          <p:nvSpPr>
            <p:cNvPr id="56333" name="Line 6"/>
            <p:cNvSpPr>
              <a:spLocks noChangeShapeType="1"/>
            </p:cNvSpPr>
            <p:nvPr/>
          </p:nvSpPr>
          <p:spPr bwMode="auto">
            <a:xfrm>
              <a:off x="5280" y="3984"/>
              <a:ext cx="336" cy="0"/>
            </a:xfrm>
            <a:prstGeom prst="line">
              <a:avLst/>
            </a:prstGeom>
            <a:noFill/>
            <a:ln w="9525">
              <a:solidFill>
                <a:schemeClr val="tx1"/>
              </a:solidFill>
              <a:miter lim="800000"/>
              <a:headEnd/>
              <a:tailEnd/>
            </a:ln>
          </p:spPr>
          <p:txBody>
            <a:bodyPr wrap="none"/>
            <a:lstStyle/>
            <a:p>
              <a:endParaRPr lang="en-US"/>
            </a:p>
          </p:txBody>
        </p:sp>
        <p:grpSp>
          <p:nvGrpSpPr>
            <p:cNvPr id="3" name="Group 7"/>
            <p:cNvGrpSpPr>
              <a:grpSpLocks/>
            </p:cNvGrpSpPr>
            <p:nvPr/>
          </p:nvGrpSpPr>
          <p:grpSpPr bwMode="auto">
            <a:xfrm>
              <a:off x="5232" y="2784"/>
              <a:ext cx="528" cy="1536"/>
              <a:chOff x="5232" y="2784"/>
              <a:chExt cx="528" cy="1536"/>
            </a:xfrm>
          </p:grpSpPr>
          <p:sp>
            <p:nvSpPr>
              <p:cNvPr id="56335" name="Line 8"/>
              <p:cNvSpPr>
                <a:spLocks noChangeShapeType="1"/>
              </p:cNvSpPr>
              <p:nvPr/>
            </p:nvSpPr>
            <p:spPr bwMode="auto">
              <a:xfrm>
                <a:off x="5616" y="2784"/>
                <a:ext cx="0" cy="1200"/>
              </a:xfrm>
              <a:prstGeom prst="line">
                <a:avLst/>
              </a:prstGeom>
              <a:noFill/>
              <a:ln w="9525">
                <a:solidFill>
                  <a:schemeClr val="tx1"/>
                </a:solidFill>
                <a:miter lim="800000"/>
                <a:headEnd/>
                <a:tailEnd/>
              </a:ln>
            </p:spPr>
            <p:txBody>
              <a:bodyPr wrap="none"/>
              <a:lstStyle/>
              <a:p>
                <a:endParaRPr lang="en-US"/>
              </a:p>
            </p:txBody>
          </p:sp>
          <p:sp>
            <p:nvSpPr>
              <p:cNvPr id="56336" name="Line 9"/>
              <p:cNvSpPr>
                <a:spLocks noChangeShapeType="1"/>
              </p:cNvSpPr>
              <p:nvPr/>
            </p:nvSpPr>
            <p:spPr bwMode="auto">
              <a:xfrm flipV="1">
                <a:off x="5280" y="2784"/>
                <a:ext cx="0" cy="1200"/>
              </a:xfrm>
              <a:prstGeom prst="line">
                <a:avLst/>
              </a:prstGeom>
              <a:noFill/>
              <a:ln w="9525">
                <a:solidFill>
                  <a:schemeClr val="tx1"/>
                </a:solidFill>
                <a:miter lim="800000"/>
                <a:headEnd/>
                <a:tailEnd/>
              </a:ln>
            </p:spPr>
            <p:txBody>
              <a:bodyPr wrap="none"/>
              <a:lstStyle/>
              <a:p>
                <a:endParaRPr lang="en-US"/>
              </a:p>
            </p:txBody>
          </p:sp>
          <p:sp>
            <p:nvSpPr>
              <p:cNvPr id="56337" name="Text Box 10"/>
              <p:cNvSpPr txBox="1">
                <a:spLocks noChangeArrowheads="1"/>
              </p:cNvSpPr>
              <p:nvPr/>
            </p:nvSpPr>
            <p:spPr bwMode="auto">
              <a:xfrm>
                <a:off x="5280" y="3168"/>
                <a:ext cx="336" cy="826"/>
              </a:xfrm>
              <a:prstGeom prst="rect">
                <a:avLst/>
              </a:prstGeom>
              <a:noFill/>
              <a:ln w="9525">
                <a:noFill/>
                <a:miter lim="800000"/>
                <a:headEnd/>
                <a:tailEnd/>
              </a:ln>
            </p:spPr>
            <p:txBody>
              <a:bodyPr>
                <a:spAutoFit/>
              </a:bodyPr>
              <a:lstStyle/>
              <a:p>
                <a:pPr algn="ctr" eaLnBrk="1" hangingPunct="1">
                  <a:spcBef>
                    <a:spcPct val="50000"/>
                  </a:spcBef>
                </a:pPr>
                <a:endParaRPr lang="en-US" sz="2000">
                  <a:latin typeface="Times New Roman" pitchFamily="18" charset="0"/>
                </a:endParaRPr>
              </a:p>
              <a:p>
                <a:pPr algn="ctr" eaLnBrk="1" hangingPunct="1">
                  <a:spcBef>
                    <a:spcPct val="50000"/>
                  </a:spcBef>
                </a:pPr>
                <a:r>
                  <a:rPr lang="en-US" sz="2000">
                    <a:latin typeface="Times New Roman" pitchFamily="18" charset="0"/>
                  </a:rPr>
                  <a:t>45</a:t>
                </a:r>
              </a:p>
              <a:p>
                <a:pPr algn="ctr" eaLnBrk="1" hangingPunct="1">
                  <a:spcBef>
                    <a:spcPct val="50000"/>
                  </a:spcBef>
                </a:pPr>
                <a:r>
                  <a:rPr lang="en-US" sz="2000">
                    <a:latin typeface="Times New Roman" pitchFamily="18" charset="0"/>
                  </a:rPr>
                  <a:t>6</a:t>
                </a:r>
              </a:p>
            </p:txBody>
          </p:sp>
          <p:sp>
            <p:nvSpPr>
              <p:cNvPr id="56338" name="Text Box 11"/>
              <p:cNvSpPr txBox="1">
                <a:spLocks noChangeArrowheads="1"/>
              </p:cNvSpPr>
              <p:nvPr/>
            </p:nvSpPr>
            <p:spPr bwMode="auto">
              <a:xfrm>
                <a:off x="5232"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grpSp>
        <p:nvGrpSpPr>
          <p:cNvPr id="4" name="Group 12"/>
          <p:cNvGrpSpPr>
            <a:grpSpLocks/>
          </p:cNvGrpSpPr>
          <p:nvPr/>
        </p:nvGrpSpPr>
        <p:grpSpPr bwMode="auto">
          <a:xfrm>
            <a:off x="6172200" y="3886200"/>
            <a:ext cx="838200" cy="2438400"/>
            <a:chOff x="4032" y="2784"/>
            <a:chExt cx="528" cy="1536"/>
          </a:xfrm>
        </p:grpSpPr>
        <p:sp>
          <p:nvSpPr>
            <p:cNvPr id="56328" name="Line 13"/>
            <p:cNvSpPr>
              <a:spLocks noChangeShapeType="1"/>
            </p:cNvSpPr>
            <p:nvPr/>
          </p:nvSpPr>
          <p:spPr bwMode="auto">
            <a:xfrm>
              <a:off x="4080" y="3984"/>
              <a:ext cx="336" cy="0"/>
            </a:xfrm>
            <a:prstGeom prst="line">
              <a:avLst/>
            </a:prstGeom>
            <a:noFill/>
            <a:ln w="9525">
              <a:solidFill>
                <a:schemeClr val="tx1"/>
              </a:solidFill>
              <a:miter lim="800000"/>
              <a:headEnd/>
              <a:tailEnd/>
            </a:ln>
          </p:spPr>
          <p:txBody>
            <a:bodyPr wrap="none"/>
            <a:lstStyle/>
            <a:p>
              <a:endParaRPr lang="en-US"/>
            </a:p>
          </p:txBody>
        </p:sp>
        <p:sp>
          <p:nvSpPr>
            <p:cNvPr id="56329" name="Line 14"/>
            <p:cNvSpPr>
              <a:spLocks noChangeShapeType="1"/>
            </p:cNvSpPr>
            <p:nvPr/>
          </p:nvSpPr>
          <p:spPr bwMode="auto">
            <a:xfrm>
              <a:off x="4416" y="2784"/>
              <a:ext cx="0" cy="1200"/>
            </a:xfrm>
            <a:prstGeom prst="line">
              <a:avLst/>
            </a:prstGeom>
            <a:noFill/>
            <a:ln w="9525">
              <a:solidFill>
                <a:schemeClr val="tx1"/>
              </a:solidFill>
              <a:miter lim="800000"/>
              <a:headEnd/>
              <a:tailEnd/>
            </a:ln>
          </p:spPr>
          <p:txBody>
            <a:bodyPr wrap="none"/>
            <a:lstStyle/>
            <a:p>
              <a:endParaRPr lang="en-US"/>
            </a:p>
          </p:txBody>
        </p:sp>
        <p:sp>
          <p:nvSpPr>
            <p:cNvPr id="56330" name="Line 15"/>
            <p:cNvSpPr>
              <a:spLocks noChangeShapeType="1"/>
            </p:cNvSpPr>
            <p:nvPr/>
          </p:nvSpPr>
          <p:spPr bwMode="auto">
            <a:xfrm flipV="1">
              <a:off x="4080" y="2784"/>
              <a:ext cx="0" cy="1200"/>
            </a:xfrm>
            <a:prstGeom prst="line">
              <a:avLst/>
            </a:prstGeom>
            <a:noFill/>
            <a:ln w="9525">
              <a:solidFill>
                <a:schemeClr val="tx1"/>
              </a:solidFill>
              <a:miter lim="800000"/>
              <a:headEnd/>
              <a:tailEnd/>
            </a:ln>
          </p:spPr>
          <p:txBody>
            <a:bodyPr wrap="none"/>
            <a:lstStyle/>
            <a:p>
              <a:endParaRPr lang="en-US"/>
            </a:p>
          </p:txBody>
        </p:sp>
        <p:sp>
          <p:nvSpPr>
            <p:cNvPr id="56331" name="Text Box 16"/>
            <p:cNvSpPr txBox="1">
              <a:spLocks noChangeArrowheads="1"/>
            </p:cNvSpPr>
            <p:nvPr/>
          </p:nvSpPr>
          <p:spPr bwMode="auto">
            <a:xfrm>
              <a:off x="4080" y="3168"/>
              <a:ext cx="336" cy="826"/>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3</a:t>
              </a:r>
            </a:p>
            <a:p>
              <a:pPr algn="ctr" eaLnBrk="1" hangingPunct="1">
                <a:spcBef>
                  <a:spcPct val="50000"/>
                </a:spcBef>
              </a:pPr>
              <a:r>
                <a:rPr lang="en-US" sz="2000">
                  <a:latin typeface="Times New Roman" pitchFamily="18" charset="0"/>
                </a:rPr>
                <a:t>45</a:t>
              </a:r>
            </a:p>
            <a:p>
              <a:pPr algn="ctr" eaLnBrk="1" hangingPunct="1">
                <a:spcBef>
                  <a:spcPct val="50000"/>
                </a:spcBef>
              </a:pPr>
              <a:r>
                <a:rPr lang="en-US" sz="2000">
                  <a:latin typeface="Times New Roman" pitchFamily="18" charset="0"/>
                </a:rPr>
                <a:t>6</a:t>
              </a:r>
            </a:p>
          </p:txBody>
        </p:sp>
        <p:sp>
          <p:nvSpPr>
            <p:cNvPr id="56332" name="Text Box 17"/>
            <p:cNvSpPr txBox="1">
              <a:spLocks noChangeArrowheads="1"/>
            </p:cNvSpPr>
            <p:nvPr/>
          </p:nvSpPr>
          <p:spPr bwMode="auto">
            <a:xfrm>
              <a:off x="4032"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9" name="Footer Placeholder 18"/>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76"/>
                                        </p:tgtEl>
                                        <p:attrNameLst>
                                          <p:attrName>style.visibility</p:attrName>
                                        </p:attrNameLst>
                                      </p:cBhvr>
                                      <p:to>
                                        <p:strVal val="visible"/>
                                      </p:to>
                                    </p:set>
                                    <p:animEffect transition="in" filter="box(in)">
                                      <p:cBhvr>
                                        <p:cTn id="7" dur="500"/>
                                        <p:tgtEl>
                                          <p:spTgt spid="13107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Evaluating Postfix Expression</a:t>
            </a:r>
          </a:p>
        </p:txBody>
      </p:sp>
      <p:sp>
        <p:nvSpPr>
          <p:cNvPr id="57348" name="Rectangle 3"/>
          <p:cNvSpPr>
            <a:spLocks noGrp="1" noChangeArrowheads="1"/>
          </p:cNvSpPr>
          <p:nvPr>
            <p:ph type="body" idx="1"/>
          </p:nvPr>
        </p:nvSpPr>
        <p:spPr>
          <a:xfrm>
            <a:off x="457200" y="12192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sp>
        <p:nvSpPr>
          <p:cNvPr id="132100" name="Text Box 4"/>
          <p:cNvSpPr txBox="1">
            <a:spLocks noChangeArrowheads="1"/>
          </p:cNvSpPr>
          <p:nvPr/>
        </p:nvSpPr>
        <p:spPr bwMode="auto">
          <a:xfrm>
            <a:off x="762000" y="4343400"/>
            <a:ext cx="8077200" cy="861774"/>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7"/>
            </a:pPr>
            <a:r>
              <a:rPr lang="en-US" sz="2000" dirty="0">
                <a:latin typeface="Times New Roman" pitchFamily="18" charset="0"/>
              </a:rPr>
              <a:t>Next symbol is </a:t>
            </a:r>
            <a:r>
              <a:rPr lang="en-US" sz="2000" dirty="0">
                <a:solidFill>
                  <a:srgbClr val="FF00FF"/>
                </a:solidFill>
                <a:latin typeface="Times New Roman" pitchFamily="18" charset="0"/>
              </a:rPr>
              <a:t>+</a:t>
            </a:r>
            <a:r>
              <a:rPr lang="en-US" sz="2000" dirty="0">
                <a:latin typeface="Times New Roman" pitchFamily="18" charset="0"/>
              </a:rPr>
              <a:t> so pops 3 and 45 and pushes 45 + 3 = 48, </a:t>
            </a:r>
          </a:p>
          <a:p>
            <a:pPr marL="457200" indent="-457200" eaLnBrk="1" hangingPunct="1">
              <a:spcBef>
                <a:spcPct val="50000"/>
              </a:spcBef>
            </a:pPr>
            <a:r>
              <a:rPr lang="en-US" sz="2000" dirty="0">
                <a:latin typeface="Times New Roman" pitchFamily="18" charset="0"/>
              </a:rPr>
              <a:t>	so push 48 in stack</a:t>
            </a:r>
          </a:p>
        </p:txBody>
      </p:sp>
      <p:grpSp>
        <p:nvGrpSpPr>
          <p:cNvPr id="2" name="Group 5"/>
          <p:cNvGrpSpPr>
            <a:grpSpLocks/>
          </p:cNvGrpSpPr>
          <p:nvPr/>
        </p:nvGrpSpPr>
        <p:grpSpPr bwMode="auto">
          <a:xfrm>
            <a:off x="4724400" y="1905000"/>
            <a:ext cx="838200" cy="2438400"/>
            <a:chOff x="4032" y="2784"/>
            <a:chExt cx="528" cy="1536"/>
          </a:xfrm>
        </p:grpSpPr>
        <p:sp>
          <p:nvSpPr>
            <p:cNvPr id="57357" name="Line 6"/>
            <p:cNvSpPr>
              <a:spLocks noChangeShapeType="1"/>
            </p:cNvSpPr>
            <p:nvPr/>
          </p:nvSpPr>
          <p:spPr bwMode="auto">
            <a:xfrm>
              <a:off x="4080" y="3984"/>
              <a:ext cx="336" cy="0"/>
            </a:xfrm>
            <a:prstGeom prst="line">
              <a:avLst/>
            </a:prstGeom>
            <a:noFill/>
            <a:ln w="9525">
              <a:solidFill>
                <a:schemeClr val="tx1"/>
              </a:solidFill>
              <a:miter lim="800000"/>
              <a:headEnd/>
              <a:tailEnd/>
            </a:ln>
          </p:spPr>
          <p:txBody>
            <a:bodyPr wrap="none"/>
            <a:lstStyle/>
            <a:p>
              <a:endParaRPr lang="en-US"/>
            </a:p>
          </p:txBody>
        </p:sp>
        <p:sp>
          <p:nvSpPr>
            <p:cNvPr id="57358" name="Line 7"/>
            <p:cNvSpPr>
              <a:spLocks noChangeShapeType="1"/>
            </p:cNvSpPr>
            <p:nvPr/>
          </p:nvSpPr>
          <p:spPr bwMode="auto">
            <a:xfrm>
              <a:off x="4416" y="2784"/>
              <a:ext cx="0" cy="1200"/>
            </a:xfrm>
            <a:prstGeom prst="line">
              <a:avLst/>
            </a:prstGeom>
            <a:noFill/>
            <a:ln w="9525">
              <a:solidFill>
                <a:schemeClr val="tx1"/>
              </a:solidFill>
              <a:miter lim="800000"/>
              <a:headEnd/>
              <a:tailEnd/>
            </a:ln>
          </p:spPr>
          <p:txBody>
            <a:bodyPr wrap="none"/>
            <a:lstStyle/>
            <a:p>
              <a:endParaRPr lang="en-US"/>
            </a:p>
          </p:txBody>
        </p:sp>
        <p:sp>
          <p:nvSpPr>
            <p:cNvPr id="57359" name="Line 8"/>
            <p:cNvSpPr>
              <a:spLocks noChangeShapeType="1"/>
            </p:cNvSpPr>
            <p:nvPr/>
          </p:nvSpPr>
          <p:spPr bwMode="auto">
            <a:xfrm flipV="1">
              <a:off x="4080" y="2784"/>
              <a:ext cx="0" cy="1200"/>
            </a:xfrm>
            <a:prstGeom prst="line">
              <a:avLst/>
            </a:prstGeom>
            <a:noFill/>
            <a:ln w="9525">
              <a:solidFill>
                <a:schemeClr val="tx1"/>
              </a:solidFill>
              <a:miter lim="800000"/>
              <a:headEnd/>
              <a:tailEnd/>
            </a:ln>
          </p:spPr>
          <p:txBody>
            <a:bodyPr wrap="none"/>
            <a:lstStyle/>
            <a:p>
              <a:endParaRPr lang="en-US"/>
            </a:p>
          </p:txBody>
        </p:sp>
        <p:sp>
          <p:nvSpPr>
            <p:cNvPr id="57360" name="Text Box 9"/>
            <p:cNvSpPr txBox="1">
              <a:spLocks noChangeArrowheads="1"/>
            </p:cNvSpPr>
            <p:nvPr/>
          </p:nvSpPr>
          <p:spPr bwMode="auto">
            <a:xfrm>
              <a:off x="4080" y="3168"/>
              <a:ext cx="336" cy="826"/>
            </a:xfrm>
            <a:prstGeom prst="rect">
              <a:avLst/>
            </a:prstGeom>
            <a:noFill/>
            <a:ln w="9525">
              <a:noFill/>
              <a:miter lim="800000"/>
              <a:headEnd/>
              <a:tailEnd/>
            </a:ln>
          </p:spPr>
          <p:txBody>
            <a:bodyPr>
              <a:spAutoFit/>
            </a:bodyPr>
            <a:lstStyle/>
            <a:p>
              <a:pPr algn="ctr" eaLnBrk="1" hangingPunct="1">
                <a:spcBef>
                  <a:spcPct val="50000"/>
                </a:spcBef>
              </a:pPr>
              <a:r>
                <a:rPr lang="en-US" sz="2000">
                  <a:latin typeface="Times New Roman" pitchFamily="18" charset="0"/>
                </a:rPr>
                <a:t>3</a:t>
              </a:r>
            </a:p>
            <a:p>
              <a:pPr algn="ctr" eaLnBrk="1" hangingPunct="1">
                <a:spcBef>
                  <a:spcPct val="50000"/>
                </a:spcBef>
              </a:pPr>
              <a:r>
                <a:rPr lang="en-US" sz="2000">
                  <a:latin typeface="Times New Roman" pitchFamily="18" charset="0"/>
                </a:rPr>
                <a:t>45</a:t>
              </a:r>
            </a:p>
            <a:p>
              <a:pPr algn="ctr" eaLnBrk="1" hangingPunct="1">
                <a:spcBef>
                  <a:spcPct val="50000"/>
                </a:spcBef>
              </a:pPr>
              <a:r>
                <a:rPr lang="en-US" sz="2000">
                  <a:latin typeface="Times New Roman" pitchFamily="18" charset="0"/>
                </a:rPr>
                <a:t>6</a:t>
              </a:r>
            </a:p>
          </p:txBody>
        </p:sp>
        <p:sp>
          <p:nvSpPr>
            <p:cNvPr id="57361" name="Text Box 10"/>
            <p:cNvSpPr txBox="1">
              <a:spLocks noChangeArrowheads="1"/>
            </p:cNvSpPr>
            <p:nvPr/>
          </p:nvSpPr>
          <p:spPr bwMode="auto">
            <a:xfrm>
              <a:off x="4032"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nvGrpSpPr>
          <p:cNvPr id="3" name="Group 11"/>
          <p:cNvGrpSpPr>
            <a:grpSpLocks/>
          </p:cNvGrpSpPr>
          <p:nvPr/>
        </p:nvGrpSpPr>
        <p:grpSpPr bwMode="auto">
          <a:xfrm>
            <a:off x="7543800" y="4495800"/>
            <a:ext cx="838200" cy="1828800"/>
            <a:chOff x="4944" y="3168"/>
            <a:chExt cx="528" cy="1152"/>
          </a:xfrm>
        </p:grpSpPr>
        <p:sp>
          <p:nvSpPr>
            <p:cNvPr id="57352" name="Line 12"/>
            <p:cNvSpPr>
              <a:spLocks noChangeShapeType="1"/>
            </p:cNvSpPr>
            <p:nvPr/>
          </p:nvSpPr>
          <p:spPr bwMode="auto">
            <a:xfrm>
              <a:off x="4992" y="3984"/>
              <a:ext cx="336" cy="0"/>
            </a:xfrm>
            <a:prstGeom prst="line">
              <a:avLst/>
            </a:prstGeom>
            <a:noFill/>
            <a:ln w="9525">
              <a:solidFill>
                <a:schemeClr val="tx1"/>
              </a:solidFill>
              <a:miter lim="800000"/>
              <a:headEnd/>
              <a:tailEnd/>
            </a:ln>
          </p:spPr>
          <p:txBody>
            <a:bodyPr wrap="none"/>
            <a:lstStyle/>
            <a:p>
              <a:endParaRPr lang="en-US"/>
            </a:p>
          </p:txBody>
        </p:sp>
        <p:sp>
          <p:nvSpPr>
            <p:cNvPr id="57353" name="Line 13"/>
            <p:cNvSpPr>
              <a:spLocks noChangeShapeType="1"/>
            </p:cNvSpPr>
            <p:nvPr/>
          </p:nvSpPr>
          <p:spPr bwMode="auto">
            <a:xfrm>
              <a:off x="5328" y="3168"/>
              <a:ext cx="0" cy="816"/>
            </a:xfrm>
            <a:prstGeom prst="line">
              <a:avLst/>
            </a:prstGeom>
            <a:noFill/>
            <a:ln w="9525">
              <a:solidFill>
                <a:schemeClr val="tx1"/>
              </a:solidFill>
              <a:miter lim="800000"/>
              <a:headEnd/>
              <a:tailEnd/>
            </a:ln>
          </p:spPr>
          <p:txBody>
            <a:bodyPr wrap="none"/>
            <a:lstStyle/>
            <a:p>
              <a:endParaRPr lang="en-US"/>
            </a:p>
          </p:txBody>
        </p:sp>
        <p:sp>
          <p:nvSpPr>
            <p:cNvPr id="57354" name="Line 14"/>
            <p:cNvSpPr>
              <a:spLocks noChangeShapeType="1"/>
            </p:cNvSpPr>
            <p:nvPr/>
          </p:nvSpPr>
          <p:spPr bwMode="auto">
            <a:xfrm flipV="1">
              <a:off x="4992" y="3168"/>
              <a:ext cx="0" cy="864"/>
            </a:xfrm>
            <a:prstGeom prst="line">
              <a:avLst/>
            </a:prstGeom>
            <a:noFill/>
            <a:ln w="9525">
              <a:solidFill>
                <a:schemeClr val="tx1"/>
              </a:solidFill>
              <a:miter lim="800000"/>
              <a:headEnd/>
              <a:tailEnd/>
            </a:ln>
          </p:spPr>
          <p:txBody>
            <a:bodyPr wrap="none"/>
            <a:lstStyle/>
            <a:p>
              <a:endParaRPr lang="en-US"/>
            </a:p>
          </p:txBody>
        </p:sp>
        <p:sp>
          <p:nvSpPr>
            <p:cNvPr id="57355" name="Text Box 15"/>
            <p:cNvSpPr txBox="1">
              <a:spLocks noChangeArrowheads="1"/>
            </p:cNvSpPr>
            <p:nvPr/>
          </p:nvSpPr>
          <p:spPr bwMode="auto">
            <a:xfrm>
              <a:off x="4992" y="3168"/>
              <a:ext cx="336" cy="834"/>
            </a:xfrm>
            <a:prstGeom prst="rect">
              <a:avLst/>
            </a:prstGeom>
            <a:noFill/>
            <a:ln w="9525">
              <a:noFill/>
              <a:miter lim="800000"/>
              <a:headEnd/>
              <a:tailEnd/>
            </a:ln>
          </p:spPr>
          <p:txBody>
            <a:bodyPr wrap="square">
              <a:spAutoFit/>
            </a:bodyPr>
            <a:lstStyle/>
            <a:p>
              <a:pPr algn="ctr" eaLnBrk="1" hangingPunct="1">
                <a:spcBef>
                  <a:spcPct val="50000"/>
                </a:spcBef>
              </a:pPr>
              <a:endParaRPr lang="en-US" sz="2000" dirty="0">
                <a:latin typeface="Times New Roman" pitchFamily="18" charset="0"/>
              </a:endParaRPr>
            </a:p>
            <a:p>
              <a:pPr algn="ctr" eaLnBrk="1" hangingPunct="1">
                <a:spcBef>
                  <a:spcPct val="50000"/>
                </a:spcBef>
              </a:pPr>
              <a:r>
                <a:rPr lang="en-US" sz="2000" dirty="0">
                  <a:latin typeface="Times New Roman" pitchFamily="18" charset="0"/>
                </a:rPr>
                <a:t>48</a:t>
              </a:r>
            </a:p>
            <a:p>
              <a:pPr algn="ctr" eaLnBrk="1" hangingPunct="1">
                <a:spcBef>
                  <a:spcPct val="50000"/>
                </a:spcBef>
              </a:pPr>
              <a:r>
                <a:rPr lang="en-US" sz="2000" dirty="0">
                  <a:latin typeface="Times New Roman" pitchFamily="18" charset="0"/>
                </a:rPr>
                <a:t>6</a:t>
              </a:r>
            </a:p>
          </p:txBody>
        </p:sp>
        <p:sp>
          <p:nvSpPr>
            <p:cNvPr id="57356" name="Text Box 16"/>
            <p:cNvSpPr txBox="1">
              <a:spLocks noChangeArrowheads="1"/>
            </p:cNvSpPr>
            <p:nvPr/>
          </p:nvSpPr>
          <p:spPr bwMode="auto">
            <a:xfrm>
              <a:off x="4944"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sp>
        <p:nvSpPr>
          <p:cNvPr id="18" name="Footer Placeholder 17"/>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box(in)">
                                      <p:cBhvr>
                                        <p:cTn id="7" dur="500"/>
                                        <p:tgtEl>
                                          <p:spTgt spid="13210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pPr eaLnBrk="1" hangingPunct="1"/>
            <a:r>
              <a:rPr lang="en-US"/>
              <a:t>Evaluating Postfix Expression</a:t>
            </a:r>
          </a:p>
        </p:txBody>
      </p:sp>
      <p:sp>
        <p:nvSpPr>
          <p:cNvPr id="58372" name="Rectangle 3"/>
          <p:cNvSpPr>
            <a:spLocks noGrp="1" noChangeArrowheads="1"/>
          </p:cNvSpPr>
          <p:nvPr>
            <p:ph type="body" idx="1"/>
          </p:nvPr>
        </p:nvSpPr>
        <p:spPr>
          <a:xfrm>
            <a:off x="381000" y="1295400"/>
            <a:ext cx="7467600" cy="1219200"/>
          </a:xfrm>
        </p:spPr>
        <p:txBody>
          <a:bodyPr>
            <a:normAutofit/>
          </a:bodyPr>
          <a:lstStyle/>
          <a:p>
            <a:pPr marL="609600" indent="-609600" eaLnBrk="1" hangingPunct="1"/>
            <a:r>
              <a:rPr lang="en-US" sz="2800" dirty="0"/>
              <a:t>evaluating the following postfix expression.</a:t>
            </a:r>
          </a:p>
          <a:p>
            <a:pPr marL="609600" indent="-609600" eaLnBrk="1" hangingPunct="1">
              <a:buFontTx/>
              <a:buNone/>
            </a:pPr>
            <a:r>
              <a:rPr lang="en-US" sz="2800" dirty="0"/>
              <a:t>	6 5 2 3 + 8 * + 3 + *</a:t>
            </a:r>
          </a:p>
          <a:p>
            <a:pPr marL="990600" lvl="1" indent="-533400" eaLnBrk="1" hangingPunct="1">
              <a:buFontTx/>
              <a:buNone/>
            </a:pPr>
            <a:endParaRPr lang="en-US" sz="2400" dirty="0"/>
          </a:p>
          <a:p>
            <a:pPr marL="609600" indent="-609600" eaLnBrk="1" hangingPunct="1">
              <a:buFontTx/>
              <a:buNone/>
            </a:pPr>
            <a:endParaRPr lang="en-US" sz="2800" dirty="0"/>
          </a:p>
          <a:p>
            <a:pPr marL="609600" indent="-609600" eaLnBrk="1" hangingPunct="1">
              <a:lnSpc>
                <a:spcPct val="40000"/>
              </a:lnSpc>
              <a:buFontTx/>
              <a:buNone/>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a:p>
            <a:pPr marL="609600" indent="-609600" eaLnBrk="1" hangingPunct="1">
              <a:buFontTx/>
              <a:buAutoNum type="arabicPeriod"/>
            </a:pPr>
            <a:endParaRPr lang="en-US" sz="2400" dirty="0"/>
          </a:p>
        </p:txBody>
      </p:sp>
      <p:sp>
        <p:nvSpPr>
          <p:cNvPr id="133124" name="Text Box 4"/>
          <p:cNvSpPr txBox="1">
            <a:spLocks noChangeArrowheads="1"/>
          </p:cNvSpPr>
          <p:nvPr/>
        </p:nvSpPr>
        <p:spPr bwMode="auto">
          <a:xfrm>
            <a:off x="533400" y="3810000"/>
            <a:ext cx="8077200" cy="7016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7"/>
            </a:pPr>
            <a:r>
              <a:rPr lang="en-US" sz="2000" dirty="0">
                <a:latin typeface="Times New Roman" pitchFamily="18" charset="0"/>
              </a:rPr>
              <a:t>Finally a </a:t>
            </a:r>
            <a:r>
              <a:rPr lang="en-US" sz="2000" dirty="0">
                <a:solidFill>
                  <a:srgbClr val="FF00FF"/>
                </a:solidFill>
                <a:latin typeface="Times New Roman" pitchFamily="18" charset="0"/>
              </a:rPr>
              <a:t>*</a:t>
            </a:r>
            <a:r>
              <a:rPr lang="en-US" sz="2000" dirty="0">
                <a:latin typeface="Times New Roman" pitchFamily="18" charset="0"/>
              </a:rPr>
              <a:t> is seen and 48 and 6 are popped, the result 6 * 48 = 288 is pushed</a:t>
            </a:r>
          </a:p>
        </p:txBody>
      </p:sp>
      <p:grpSp>
        <p:nvGrpSpPr>
          <p:cNvPr id="2" name="Group 5"/>
          <p:cNvGrpSpPr>
            <a:grpSpLocks/>
          </p:cNvGrpSpPr>
          <p:nvPr/>
        </p:nvGrpSpPr>
        <p:grpSpPr bwMode="auto">
          <a:xfrm>
            <a:off x="7543800" y="4419600"/>
            <a:ext cx="838200" cy="1828800"/>
            <a:chOff x="4944" y="3168"/>
            <a:chExt cx="528" cy="1152"/>
          </a:xfrm>
        </p:grpSpPr>
        <p:sp>
          <p:nvSpPr>
            <p:cNvPr id="58383" name="Line 6"/>
            <p:cNvSpPr>
              <a:spLocks noChangeShapeType="1"/>
            </p:cNvSpPr>
            <p:nvPr/>
          </p:nvSpPr>
          <p:spPr bwMode="auto">
            <a:xfrm>
              <a:off x="4992" y="3984"/>
              <a:ext cx="336" cy="0"/>
            </a:xfrm>
            <a:prstGeom prst="line">
              <a:avLst/>
            </a:prstGeom>
            <a:noFill/>
            <a:ln w="9525">
              <a:solidFill>
                <a:schemeClr val="tx1"/>
              </a:solidFill>
              <a:miter lim="800000"/>
              <a:headEnd/>
              <a:tailEnd/>
            </a:ln>
          </p:spPr>
          <p:txBody>
            <a:bodyPr wrap="none"/>
            <a:lstStyle/>
            <a:p>
              <a:endParaRPr lang="en-US"/>
            </a:p>
          </p:txBody>
        </p:sp>
        <p:sp>
          <p:nvSpPr>
            <p:cNvPr id="58384" name="Line 7"/>
            <p:cNvSpPr>
              <a:spLocks noChangeShapeType="1"/>
            </p:cNvSpPr>
            <p:nvPr/>
          </p:nvSpPr>
          <p:spPr bwMode="auto">
            <a:xfrm>
              <a:off x="5328" y="3168"/>
              <a:ext cx="0" cy="816"/>
            </a:xfrm>
            <a:prstGeom prst="line">
              <a:avLst/>
            </a:prstGeom>
            <a:noFill/>
            <a:ln w="9525">
              <a:solidFill>
                <a:schemeClr val="tx1"/>
              </a:solidFill>
              <a:miter lim="800000"/>
              <a:headEnd/>
              <a:tailEnd/>
            </a:ln>
          </p:spPr>
          <p:txBody>
            <a:bodyPr wrap="none"/>
            <a:lstStyle/>
            <a:p>
              <a:endParaRPr lang="en-US"/>
            </a:p>
          </p:txBody>
        </p:sp>
        <p:sp>
          <p:nvSpPr>
            <p:cNvPr id="58385" name="Line 8"/>
            <p:cNvSpPr>
              <a:spLocks noChangeShapeType="1"/>
            </p:cNvSpPr>
            <p:nvPr/>
          </p:nvSpPr>
          <p:spPr bwMode="auto">
            <a:xfrm flipV="1">
              <a:off x="4992" y="3168"/>
              <a:ext cx="0" cy="864"/>
            </a:xfrm>
            <a:prstGeom prst="line">
              <a:avLst/>
            </a:prstGeom>
            <a:noFill/>
            <a:ln w="9525">
              <a:solidFill>
                <a:schemeClr val="tx1"/>
              </a:solidFill>
              <a:miter lim="800000"/>
              <a:headEnd/>
              <a:tailEnd/>
            </a:ln>
          </p:spPr>
          <p:txBody>
            <a:bodyPr wrap="none"/>
            <a:lstStyle/>
            <a:p>
              <a:endParaRPr lang="en-US"/>
            </a:p>
          </p:txBody>
        </p:sp>
        <p:sp>
          <p:nvSpPr>
            <p:cNvPr id="58386" name="Text Box 9"/>
            <p:cNvSpPr txBox="1">
              <a:spLocks noChangeArrowheads="1"/>
            </p:cNvSpPr>
            <p:nvPr/>
          </p:nvSpPr>
          <p:spPr bwMode="auto">
            <a:xfrm>
              <a:off x="4944" y="3456"/>
              <a:ext cx="432" cy="538"/>
            </a:xfrm>
            <a:prstGeom prst="rect">
              <a:avLst/>
            </a:prstGeom>
            <a:noFill/>
            <a:ln w="9525">
              <a:noFill/>
              <a:miter lim="800000"/>
              <a:headEnd/>
              <a:tailEnd/>
            </a:ln>
          </p:spPr>
          <p:txBody>
            <a:bodyPr>
              <a:spAutoFit/>
            </a:bodyPr>
            <a:lstStyle/>
            <a:p>
              <a:pPr algn="ctr" eaLnBrk="1" hangingPunct="1">
                <a:spcBef>
                  <a:spcPct val="50000"/>
                </a:spcBef>
              </a:pPr>
              <a:endParaRPr lang="en-US" sz="2000" dirty="0">
                <a:latin typeface="Times New Roman" pitchFamily="18" charset="0"/>
              </a:endParaRPr>
            </a:p>
            <a:p>
              <a:pPr algn="ctr" eaLnBrk="1" hangingPunct="1">
                <a:spcBef>
                  <a:spcPct val="50000"/>
                </a:spcBef>
              </a:pPr>
              <a:r>
                <a:rPr lang="en-US" sz="2000" dirty="0">
                  <a:latin typeface="Times New Roman" pitchFamily="18" charset="0"/>
                </a:rPr>
                <a:t>288</a:t>
              </a:r>
            </a:p>
          </p:txBody>
        </p:sp>
        <p:sp>
          <p:nvSpPr>
            <p:cNvPr id="58387" name="Text Box 10"/>
            <p:cNvSpPr txBox="1">
              <a:spLocks noChangeArrowheads="1"/>
            </p:cNvSpPr>
            <p:nvPr/>
          </p:nvSpPr>
          <p:spPr bwMode="auto">
            <a:xfrm>
              <a:off x="4944" y="4032"/>
              <a:ext cx="528" cy="288"/>
            </a:xfrm>
            <a:prstGeom prst="rect">
              <a:avLst/>
            </a:prstGeom>
            <a:noFill/>
            <a:ln w="9525">
              <a:noFill/>
              <a:miter lim="800000"/>
              <a:headEnd/>
              <a:tailEnd/>
            </a:ln>
          </p:spPr>
          <p:txBody>
            <a:bodyPr>
              <a:spAutoFit/>
            </a:bodyPr>
            <a:lstStyle/>
            <a:p>
              <a:pPr eaLnBrk="1" hangingPunct="1">
                <a:spcBef>
                  <a:spcPct val="50000"/>
                </a:spcBef>
              </a:pPr>
              <a:r>
                <a:rPr lang="en-US" sz="2400">
                  <a:latin typeface="Times New Roman" pitchFamily="18" charset="0"/>
                </a:rPr>
                <a:t>stack</a:t>
              </a:r>
            </a:p>
          </p:txBody>
        </p:sp>
      </p:grpSp>
      <p:grpSp>
        <p:nvGrpSpPr>
          <p:cNvPr id="3" name="Group 11"/>
          <p:cNvGrpSpPr>
            <a:grpSpLocks/>
          </p:cNvGrpSpPr>
          <p:nvPr/>
        </p:nvGrpSpPr>
        <p:grpSpPr bwMode="auto">
          <a:xfrm>
            <a:off x="4876800" y="1905000"/>
            <a:ext cx="838200" cy="1828800"/>
            <a:chOff x="4944" y="3168"/>
            <a:chExt cx="528" cy="1152"/>
          </a:xfrm>
        </p:grpSpPr>
        <p:sp>
          <p:nvSpPr>
            <p:cNvPr id="58378" name="Line 12"/>
            <p:cNvSpPr>
              <a:spLocks noChangeShapeType="1"/>
            </p:cNvSpPr>
            <p:nvPr/>
          </p:nvSpPr>
          <p:spPr bwMode="auto">
            <a:xfrm>
              <a:off x="4992" y="3984"/>
              <a:ext cx="336" cy="0"/>
            </a:xfrm>
            <a:prstGeom prst="line">
              <a:avLst/>
            </a:prstGeom>
            <a:noFill/>
            <a:ln w="9525">
              <a:solidFill>
                <a:schemeClr val="tx1"/>
              </a:solidFill>
              <a:miter lim="800000"/>
              <a:headEnd/>
              <a:tailEnd/>
            </a:ln>
          </p:spPr>
          <p:txBody>
            <a:bodyPr wrap="none"/>
            <a:lstStyle/>
            <a:p>
              <a:endParaRPr lang="en-US"/>
            </a:p>
          </p:txBody>
        </p:sp>
        <p:sp>
          <p:nvSpPr>
            <p:cNvPr id="58379" name="Line 13"/>
            <p:cNvSpPr>
              <a:spLocks noChangeShapeType="1"/>
            </p:cNvSpPr>
            <p:nvPr/>
          </p:nvSpPr>
          <p:spPr bwMode="auto">
            <a:xfrm>
              <a:off x="5328" y="3168"/>
              <a:ext cx="0" cy="816"/>
            </a:xfrm>
            <a:prstGeom prst="line">
              <a:avLst/>
            </a:prstGeom>
            <a:noFill/>
            <a:ln w="9525">
              <a:solidFill>
                <a:schemeClr val="tx1"/>
              </a:solidFill>
              <a:miter lim="800000"/>
              <a:headEnd/>
              <a:tailEnd/>
            </a:ln>
          </p:spPr>
          <p:txBody>
            <a:bodyPr wrap="none"/>
            <a:lstStyle/>
            <a:p>
              <a:endParaRPr lang="en-US"/>
            </a:p>
          </p:txBody>
        </p:sp>
        <p:sp>
          <p:nvSpPr>
            <p:cNvPr id="58380" name="Line 14"/>
            <p:cNvSpPr>
              <a:spLocks noChangeShapeType="1"/>
            </p:cNvSpPr>
            <p:nvPr/>
          </p:nvSpPr>
          <p:spPr bwMode="auto">
            <a:xfrm flipV="1">
              <a:off x="4992" y="3168"/>
              <a:ext cx="0" cy="864"/>
            </a:xfrm>
            <a:prstGeom prst="line">
              <a:avLst/>
            </a:prstGeom>
            <a:noFill/>
            <a:ln w="9525">
              <a:solidFill>
                <a:schemeClr val="tx1"/>
              </a:solidFill>
              <a:miter lim="800000"/>
              <a:headEnd/>
              <a:tailEnd/>
            </a:ln>
          </p:spPr>
          <p:txBody>
            <a:bodyPr wrap="none"/>
            <a:lstStyle/>
            <a:p>
              <a:endParaRPr lang="en-US"/>
            </a:p>
          </p:txBody>
        </p:sp>
        <p:sp>
          <p:nvSpPr>
            <p:cNvPr id="58381" name="Text Box 15"/>
            <p:cNvSpPr txBox="1">
              <a:spLocks noChangeArrowheads="1"/>
            </p:cNvSpPr>
            <p:nvPr/>
          </p:nvSpPr>
          <p:spPr bwMode="auto">
            <a:xfrm>
              <a:off x="4992" y="3168"/>
              <a:ext cx="336" cy="826"/>
            </a:xfrm>
            <a:prstGeom prst="rect">
              <a:avLst/>
            </a:prstGeom>
            <a:noFill/>
            <a:ln w="9525">
              <a:noFill/>
              <a:miter lim="800000"/>
              <a:headEnd/>
              <a:tailEnd/>
            </a:ln>
          </p:spPr>
          <p:txBody>
            <a:bodyPr>
              <a:spAutoFit/>
            </a:bodyPr>
            <a:lstStyle/>
            <a:p>
              <a:pPr algn="ctr" eaLnBrk="1" hangingPunct="1">
                <a:spcBef>
                  <a:spcPct val="50000"/>
                </a:spcBef>
              </a:pPr>
              <a:endParaRPr lang="en-US" sz="2000" dirty="0">
                <a:latin typeface="Times New Roman" pitchFamily="18" charset="0"/>
              </a:endParaRPr>
            </a:p>
            <a:p>
              <a:pPr algn="ctr" eaLnBrk="1" hangingPunct="1">
                <a:spcBef>
                  <a:spcPct val="50000"/>
                </a:spcBef>
              </a:pPr>
              <a:r>
                <a:rPr lang="en-US" sz="2000" dirty="0">
                  <a:latin typeface="Times New Roman" pitchFamily="18" charset="0"/>
                </a:rPr>
                <a:t>48</a:t>
              </a:r>
            </a:p>
            <a:p>
              <a:pPr algn="ctr" eaLnBrk="1" hangingPunct="1">
                <a:spcBef>
                  <a:spcPct val="50000"/>
                </a:spcBef>
              </a:pPr>
              <a:r>
                <a:rPr lang="en-US" sz="2000" dirty="0">
                  <a:latin typeface="Times New Roman" pitchFamily="18" charset="0"/>
                </a:rPr>
                <a:t>6</a:t>
              </a:r>
            </a:p>
          </p:txBody>
        </p:sp>
        <p:sp>
          <p:nvSpPr>
            <p:cNvPr id="58382" name="Text Box 16"/>
            <p:cNvSpPr txBox="1">
              <a:spLocks noChangeArrowheads="1"/>
            </p:cNvSpPr>
            <p:nvPr/>
          </p:nvSpPr>
          <p:spPr bwMode="auto">
            <a:xfrm>
              <a:off x="4944" y="4032"/>
              <a:ext cx="528" cy="288"/>
            </a:xfrm>
            <a:prstGeom prst="rect">
              <a:avLst/>
            </a:prstGeom>
            <a:noFill/>
            <a:ln w="9525">
              <a:noFill/>
              <a:miter lim="800000"/>
              <a:headEnd/>
              <a:tailEnd/>
            </a:ln>
          </p:spPr>
          <p:txBody>
            <a:bodyPr>
              <a:spAutoFit/>
            </a:bodyPr>
            <a:lstStyle/>
            <a:p>
              <a:pPr eaLnBrk="1" hangingPunct="1">
                <a:spcBef>
                  <a:spcPct val="50000"/>
                </a:spcBef>
              </a:pPr>
              <a:r>
                <a:rPr lang="en-US" sz="2400" dirty="0">
                  <a:latin typeface="Times New Roman" pitchFamily="18" charset="0"/>
                </a:rPr>
                <a:t>stack</a:t>
              </a:r>
            </a:p>
          </p:txBody>
        </p:sp>
      </p:grpSp>
      <p:sp>
        <p:nvSpPr>
          <p:cNvPr id="133137" name="Text Box 17"/>
          <p:cNvSpPr txBox="1">
            <a:spLocks noChangeArrowheads="1"/>
          </p:cNvSpPr>
          <p:nvPr/>
        </p:nvSpPr>
        <p:spPr bwMode="auto">
          <a:xfrm>
            <a:off x="533400" y="4648200"/>
            <a:ext cx="8077200" cy="396875"/>
          </a:xfrm>
          <a:prstGeom prst="rect">
            <a:avLst/>
          </a:prstGeom>
          <a:noFill/>
          <a:ln w="9525">
            <a:noFill/>
            <a:miter lim="800000"/>
            <a:headEnd/>
            <a:tailEnd/>
          </a:ln>
        </p:spPr>
        <p:txBody>
          <a:bodyPr>
            <a:spAutoFit/>
          </a:bodyPr>
          <a:lstStyle/>
          <a:p>
            <a:pPr marL="457200" indent="-457200" eaLnBrk="1" hangingPunct="1">
              <a:spcBef>
                <a:spcPct val="50000"/>
              </a:spcBef>
              <a:buFontTx/>
              <a:buAutoNum type="arabicPeriod" startAt="8"/>
            </a:pPr>
            <a:r>
              <a:rPr lang="en-US" sz="2000" dirty="0">
                <a:latin typeface="Times New Roman" pitchFamily="18" charset="0"/>
              </a:rPr>
              <a:t>As there is no input, so pop the stack and we get the result</a:t>
            </a:r>
          </a:p>
        </p:txBody>
      </p:sp>
      <p:sp>
        <p:nvSpPr>
          <p:cNvPr id="58377" name="Text Box 18"/>
          <p:cNvSpPr txBox="1">
            <a:spLocks noChangeArrowheads="1"/>
          </p:cNvSpPr>
          <p:nvPr/>
        </p:nvSpPr>
        <p:spPr bwMode="auto">
          <a:xfrm>
            <a:off x="1066800" y="4800600"/>
            <a:ext cx="8077200" cy="396875"/>
          </a:xfrm>
          <a:prstGeom prst="rect">
            <a:avLst/>
          </a:prstGeom>
          <a:noFill/>
          <a:ln w="9525">
            <a:noFill/>
            <a:miter lim="800000"/>
            <a:headEnd/>
            <a:tailEnd/>
          </a:ln>
        </p:spPr>
        <p:txBody>
          <a:bodyPr>
            <a:spAutoFit/>
          </a:bodyPr>
          <a:lstStyle/>
          <a:p>
            <a:pPr marL="457200" indent="-457200" eaLnBrk="1" hangingPunct="1">
              <a:spcBef>
                <a:spcPct val="50000"/>
              </a:spcBef>
            </a:pPr>
            <a:endParaRPr lang="en-US" sz="2000">
              <a:latin typeface="Arial Narrow" pitchFamily="34" charset="0"/>
            </a:endParaRPr>
          </a:p>
        </p:txBody>
      </p:sp>
      <p:sp>
        <p:nvSpPr>
          <p:cNvPr id="20" name="Footer Placeholder 19"/>
          <p:cNvSpPr>
            <a:spLocks noGrp="1"/>
          </p:cNvSpPr>
          <p:nvPr>
            <p:ph type="ftr" sz="quarter" idx="11"/>
          </p:nvPr>
        </p:nvSpPr>
        <p:spPr/>
        <p:txBody>
          <a:bodyPr/>
          <a:lstStyle/>
          <a:p>
            <a:r>
              <a:rPr lang="en-US"/>
              <a:t>Algorithm and Data Structure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24"/>
                                        </p:tgtEl>
                                        <p:attrNameLst>
                                          <p:attrName>style.visibility</p:attrName>
                                        </p:attrNameLst>
                                      </p:cBhvr>
                                      <p:to>
                                        <p:strVal val="visible"/>
                                      </p:to>
                                    </p:set>
                                    <p:animEffect transition="in" filter="box(in)">
                                      <p:cBhvr>
                                        <p:cTn id="7" dur="500"/>
                                        <p:tgtEl>
                                          <p:spTgt spid="1331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3137"/>
                                        </p:tgtEl>
                                        <p:attrNameLst>
                                          <p:attrName>style.visibility</p:attrName>
                                        </p:attrNameLst>
                                      </p:cBhvr>
                                      <p:to>
                                        <p:strVal val="visible"/>
                                      </p:to>
                                    </p:set>
                                    <p:animEffect transition="in" filter="box(in)">
                                      <p:cBhvr>
                                        <p:cTn id="17" dur="500"/>
                                        <p:tgtEl>
                                          <p:spTgt spid="133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utoUpdateAnimBg="0"/>
      <p:bldP spid="133137"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C3E89-5E32-05F3-2571-ECDF4A2F2464}"/>
              </a:ext>
            </a:extLst>
          </p:cNvPr>
          <p:cNvSpPr>
            <a:spLocks noGrp="1"/>
          </p:cNvSpPr>
          <p:nvPr>
            <p:ph type="title"/>
          </p:nvPr>
        </p:nvSpPr>
        <p:spPr/>
        <p:txBody>
          <a:bodyPr>
            <a:normAutofit fontScale="90000"/>
          </a:bodyPr>
          <a:lstStyle/>
          <a:p>
            <a:r>
              <a:rPr lang="en-US" dirty="0"/>
              <a:t>Algorithm to Evaluate Postfix Expression</a:t>
            </a:r>
          </a:p>
        </p:txBody>
      </p:sp>
      <p:sp>
        <p:nvSpPr>
          <p:cNvPr id="3" name="Footer Placeholder 2">
            <a:extLst>
              <a:ext uri="{FF2B5EF4-FFF2-40B4-BE49-F238E27FC236}">
                <a16:creationId xmlns:a16="http://schemas.microsoft.com/office/drawing/2014/main" id="{DC368AD9-4F23-8556-04C4-C030428AAFA1}"/>
              </a:ext>
            </a:extLst>
          </p:cNvPr>
          <p:cNvSpPr>
            <a:spLocks noGrp="1"/>
          </p:cNvSpPr>
          <p:nvPr>
            <p:ph type="ftr" sz="quarter" idx="11"/>
          </p:nvPr>
        </p:nvSpPr>
        <p:spPr/>
        <p:txBody>
          <a:bodyPr/>
          <a:lstStyle/>
          <a:p>
            <a:r>
              <a:rPr lang="en-US"/>
              <a:t>Algorithm and Data Structure </a:t>
            </a:r>
            <a:endParaRPr lang="en-US" dirty="0"/>
          </a:p>
        </p:txBody>
      </p:sp>
      <p:sp>
        <p:nvSpPr>
          <p:cNvPr id="6" name="Rectangle 2">
            <a:extLst>
              <a:ext uri="{FF2B5EF4-FFF2-40B4-BE49-F238E27FC236}">
                <a16:creationId xmlns:a16="http://schemas.microsoft.com/office/drawing/2014/main" id="{D53FA221-EAD6-D01D-291C-D9127367D360}"/>
              </a:ext>
            </a:extLst>
          </p:cNvPr>
          <p:cNvSpPr>
            <a:spLocks noGrp="1" noChangeArrowheads="1"/>
          </p:cNvSpPr>
          <p:nvPr>
            <p:ph sz="quarter" idx="1"/>
          </p:nvPr>
        </p:nvSpPr>
        <p:spPr bwMode="auto">
          <a:xfrm>
            <a:off x="457200" y="1228665"/>
            <a:ext cx="691407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Input:</a:t>
            </a:r>
            <a:r>
              <a:rPr kumimoji="0" lang="en-US" altLang="en-US" sz="2000" b="0" i="0" u="none" strike="noStrike" cap="none" normalizeH="0" baseline="0" dirty="0">
                <a:ln>
                  <a:noFill/>
                </a:ln>
                <a:solidFill>
                  <a:schemeClr val="tx1"/>
                </a:solidFill>
                <a:effectLst/>
                <a:latin typeface="Arial" panose="020B0604020202020204" pitchFamily="34" charset="0"/>
              </a:rPr>
              <a:t> A postfix expression</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Output:</a:t>
            </a:r>
            <a:r>
              <a:rPr kumimoji="0" lang="en-US" altLang="en-US" sz="2000" b="0" i="0" u="none" strike="noStrike" cap="none" normalizeH="0" baseline="0" dirty="0">
                <a:ln>
                  <a:noFill/>
                </a:ln>
                <a:solidFill>
                  <a:schemeClr val="tx1"/>
                </a:solidFill>
                <a:effectLst/>
                <a:latin typeface="Arial" panose="020B0604020202020204" pitchFamily="34" charset="0"/>
              </a:rPr>
              <a:t> The evaluated result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Create</a:t>
            </a:r>
            <a:r>
              <a:rPr kumimoji="0" lang="en-US" altLang="en-US" sz="2000" b="0" i="0" u="none" strike="noStrike" cap="none" normalizeH="0" baseline="0" dirty="0">
                <a:ln>
                  <a:noFill/>
                </a:ln>
                <a:solidFill>
                  <a:schemeClr val="tx1"/>
                </a:solidFill>
                <a:effectLst/>
                <a:latin typeface="Arial" panose="020B0604020202020204" pitchFamily="34" charset="0"/>
              </a:rPr>
              <a:t> an empty stack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For each</a:t>
            </a:r>
            <a:r>
              <a:rPr kumimoji="0" lang="en-US" altLang="en-US" sz="2000" b="0" i="0" u="none" strike="noStrike" cap="none" normalizeH="0" baseline="0" dirty="0">
                <a:ln>
                  <a:noFill/>
                </a:ln>
                <a:solidFill>
                  <a:schemeClr val="tx1"/>
                </a:solidFill>
                <a:effectLst/>
                <a:latin typeface="Arial" panose="020B0604020202020204" pitchFamily="34" charset="0"/>
              </a:rPr>
              <a:t> character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in </a:t>
            </a:r>
            <a:r>
              <a:rPr kumimoji="0" lang="en-US" altLang="en-US" sz="2000" b="0" i="0" u="none" strike="noStrike" cap="none" normalizeH="0" baseline="0" dirty="0">
                <a:ln>
                  <a:noFill/>
                </a:ln>
                <a:solidFill>
                  <a:schemeClr val="tx1"/>
                </a:solidFill>
                <a:effectLst/>
                <a:latin typeface="Arial Unicode MS"/>
              </a:rPr>
              <a:t>expression</a:t>
            </a:r>
            <a:r>
              <a:rPr kumimoji="0" lang="en-US" altLang="en-US" sz="2000" b="0" i="0" u="none" strike="noStrike" cap="none" normalizeH="0" baseline="0" dirty="0">
                <a:ln>
                  <a:noFill/>
                </a:ln>
                <a:solidFill>
                  <a:schemeClr val="tx1"/>
                </a:solidFill>
                <a:effectLst/>
              </a:rPr>
              <a:t>, do: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 digit: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Convert </a:t>
            </a:r>
            <a:r>
              <a:rPr kumimoji="0" lang="en-US" altLang="en-US" b="0" i="0" u="none" strike="noStrike" cap="none" normalizeH="0" baseline="0" dirty="0">
                <a:ln>
                  <a:noFill/>
                </a:ln>
                <a:solidFill>
                  <a:schemeClr val="tx1"/>
                </a:solidFill>
                <a:effectLst/>
                <a:latin typeface="Arial Unicode MS"/>
              </a:rPr>
              <a:t>char</a:t>
            </a:r>
            <a:r>
              <a:rPr kumimoji="0" lang="en-US" altLang="en-US" b="0" i="0" u="none" strike="noStrike" cap="none" normalizeH="0" baseline="0" dirty="0">
                <a:ln>
                  <a:noFill/>
                </a:ln>
                <a:solidFill>
                  <a:schemeClr val="tx1"/>
                </a:solidFill>
                <a:effectLst/>
              </a:rPr>
              <a:t> to an integer and push it onto the stack</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Else 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an operator: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Pop </a:t>
            </a:r>
            <a:r>
              <a:rPr kumimoji="0" lang="en-US" altLang="en-US" b="0" i="0" u="none" strike="noStrike" cap="none" normalizeH="0" baseline="0" dirty="0">
                <a:ln>
                  <a:noFill/>
                </a:ln>
                <a:solidFill>
                  <a:schemeClr val="tx1"/>
                </a:solidFill>
                <a:effectLst/>
                <a:latin typeface="Arial Unicode MS"/>
              </a:rPr>
              <a:t>operand2</a:t>
            </a:r>
            <a:r>
              <a:rPr kumimoji="0" lang="en-US" altLang="en-US" b="0" i="0" u="none" strike="noStrike" cap="none" normalizeH="0" baseline="0" dirty="0">
                <a:ln>
                  <a:noFill/>
                </a:ln>
                <a:solidFill>
                  <a:schemeClr val="tx1"/>
                </a:solidFill>
                <a:effectLst/>
              </a:rPr>
              <a:t> from the stack</a:t>
            </a:r>
            <a:r>
              <a:rPr kumimoji="0" lang="en-US" altLang="en-US" b="0" i="0" u="none" strike="noStrike" cap="none" normalizeH="0" baseline="0" dirty="0">
                <a:ln>
                  <a:noFill/>
                </a:ln>
                <a:solidFill>
                  <a:schemeClr val="tx1"/>
                </a:solidFill>
                <a:effectLst/>
                <a:latin typeface="Arial" panose="020B0604020202020204" pitchFamily="34" charset="0"/>
              </a:rPr>
              <a:t> </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Arial" panose="020B0604020202020204" pitchFamily="34" charset="0"/>
              </a:rPr>
              <a:t>Pop </a:t>
            </a:r>
            <a:r>
              <a:rPr kumimoji="0" lang="en-US" altLang="en-US" b="0" i="0" u="none" strike="noStrike" cap="none" normalizeH="0" baseline="0" dirty="0">
                <a:ln>
                  <a:noFill/>
                </a:ln>
                <a:solidFill>
                  <a:schemeClr val="tx1"/>
                </a:solidFill>
                <a:effectLst/>
                <a:latin typeface="Arial Unicode MS"/>
              </a:rPr>
              <a:t>operand1</a:t>
            </a:r>
            <a:r>
              <a:rPr kumimoji="0" lang="en-US" altLang="en-US" b="0" i="0" u="none" strike="noStrike" cap="none" normalizeH="0" baseline="0" dirty="0">
                <a:ln>
                  <a:noFill/>
                </a:ln>
                <a:solidFill>
                  <a:schemeClr val="tx1"/>
                </a:solidFill>
                <a:effectLst/>
              </a:rPr>
              <a:t> from the stack</a:t>
            </a:r>
            <a:r>
              <a:rPr kumimoji="0" lang="en-US" altLang="en-US" b="0" i="0" u="none" strike="noStrike" cap="none" normalizeH="0" baseline="0" dirty="0">
                <a:ln>
                  <a:noFill/>
                </a:ln>
                <a:solidFill>
                  <a:schemeClr val="tx1"/>
                </a:solidFill>
                <a:effectLst/>
                <a:latin typeface="Arial" panose="020B0604020202020204" pitchFamily="34" charset="0"/>
              </a:rPr>
              <a:t> </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Perform the operation</a:t>
            </a:r>
            <a:r>
              <a:rPr kumimoji="0" lang="en-US" altLang="en-US" b="0" i="0" u="none" strike="noStrike" cap="none" normalizeH="0" baseline="0" dirty="0">
                <a:ln>
                  <a:noFill/>
                </a:ln>
                <a:solidFill>
                  <a:schemeClr val="tx1"/>
                </a:solidFill>
                <a:effectLst/>
                <a:latin typeface="Arial" panose="020B0604020202020204" pitchFamily="34" charset="0"/>
              </a:rPr>
              <a:t> based on </a:t>
            </a:r>
            <a:r>
              <a:rPr kumimoji="0" lang="en-US" altLang="en-US" b="0" i="0" u="none" strike="noStrike" cap="none" normalizeH="0" baseline="0" dirty="0">
                <a:ln>
                  <a:noFill/>
                </a:ln>
                <a:solidFill>
                  <a:schemeClr val="tx1"/>
                </a:solidFill>
                <a:effectLst/>
                <a:latin typeface="Arial Unicode MS"/>
              </a:rPr>
              <a:t>char</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result = operand1 + operand2</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result = operand1 - operand2</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result = operand1 * operand2</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char</a:t>
            </a:r>
            <a:r>
              <a:rPr kumimoji="0" lang="en-US" altLang="en-US" sz="2000" b="0" i="0" u="none" strike="noStrike" cap="none" normalizeH="0" baseline="0" dirty="0">
                <a:ln>
                  <a:noFill/>
                </a:ln>
                <a:solidFill>
                  <a:schemeClr val="tx1"/>
                </a:solidFill>
                <a:effectLst/>
              </a:rPr>
              <a:t> is </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result = operand1 / operand2</a:t>
            </a:r>
            <a:r>
              <a:rPr kumimoji="0" lang="en-US" altLang="en-US" sz="2000" b="0" i="0" u="none" strike="noStrike" cap="none" normalizeH="0" baseline="0" dirty="0">
                <a:ln>
                  <a:noFill/>
                </a:ln>
                <a:solidFill>
                  <a:schemeClr val="tx1"/>
                </a:solidFill>
                <a:effectLst/>
              </a:rPr>
              <a:t> </a:t>
            </a:r>
          </a:p>
          <a:p>
            <a:pPr marL="914400" marR="0" lvl="2"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a:ln>
                  <a:noFill/>
                </a:ln>
                <a:solidFill>
                  <a:schemeClr val="tx1"/>
                </a:solidFill>
                <a:effectLst/>
                <a:latin typeface="Arial" panose="020B0604020202020204" pitchFamily="34" charset="0"/>
              </a:rPr>
              <a:t>Push </a:t>
            </a:r>
            <a:r>
              <a:rPr kumimoji="0" lang="en-US" altLang="en-US" b="0" i="0" u="none" strike="noStrike" cap="none" normalizeH="0" baseline="0" dirty="0">
                <a:ln>
                  <a:noFill/>
                </a:ln>
                <a:solidFill>
                  <a:schemeClr val="tx1"/>
                </a:solidFill>
                <a:effectLst/>
                <a:latin typeface="Arial Unicode MS"/>
              </a:rPr>
              <a:t>result</a:t>
            </a:r>
            <a:r>
              <a:rPr kumimoji="0" lang="en-US" altLang="en-US" b="0" i="0" u="none" strike="noStrike" cap="none" normalizeH="0" baseline="0" dirty="0">
                <a:ln>
                  <a:noFill/>
                </a:ln>
                <a:solidFill>
                  <a:schemeClr val="tx1"/>
                </a:solidFill>
                <a:effectLst/>
              </a:rPr>
              <a:t> back onto the stack</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Arial" panose="020B0604020202020204" pitchFamily="34" charset="0"/>
              </a:rPr>
              <a:t>Return</a:t>
            </a:r>
            <a:r>
              <a:rPr kumimoji="0" lang="en-US" altLang="en-US" sz="2000" b="0" i="0" u="none" strike="noStrike" cap="none" normalizeH="0" baseline="0" dirty="0">
                <a:ln>
                  <a:noFill/>
                </a:ln>
                <a:solidFill>
                  <a:schemeClr val="tx1"/>
                </a:solidFill>
                <a:effectLst/>
                <a:latin typeface="Arial" panose="020B0604020202020204" pitchFamily="34" charset="0"/>
              </a:rPr>
              <a:t> the top value from the stack (final result)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38847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24D0B-9EBE-FF66-ECC8-8CD8A46D9C3D}"/>
              </a:ext>
            </a:extLst>
          </p:cNvPr>
          <p:cNvSpPr>
            <a:spLocks noGrp="1"/>
          </p:cNvSpPr>
          <p:nvPr>
            <p:ph type="title"/>
          </p:nvPr>
        </p:nvSpPr>
        <p:spPr/>
        <p:txBody>
          <a:bodyPr/>
          <a:lstStyle/>
          <a:p>
            <a:r>
              <a:rPr lang="en-US" dirty="0"/>
              <a:t>Implementation in C++</a:t>
            </a:r>
          </a:p>
        </p:txBody>
      </p:sp>
      <p:sp>
        <p:nvSpPr>
          <p:cNvPr id="3" name="Footer Placeholder 2">
            <a:extLst>
              <a:ext uri="{FF2B5EF4-FFF2-40B4-BE49-F238E27FC236}">
                <a16:creationId xmlns:a16="http://schemas.microsoft.com/office/drawing/2014/main" id="{A1A0F6CC-B641-299C-9FE5-2EDA03DEEA68}"/>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FDA307B4-578D-5699-7188-D8C2B892AD8E}"/>
              </a:ext>
            </a:extLst>
          </p:cNvPr>
          <p:cNvSpPr>
            <a:spLocks noGrp="1"/>
          </p:cNvSpPr>
          <p:nvPr>
            <p:ph sz="quarter" idx="1"/>
          </p:nvPr>
        </p:nvSpPr>
        <p:spPr/>
        <p:txBody>
          <a:bodyPr>
            <a:normAutofit fontScale="47500" lnSpcReduction="20000"/>
          </a:bodyPr>
          <a:lstStyle/>
          <a:p>
            <a:pPr marL="0" indent="0">
              <a:buNone/>
            </a:pPr>
            <a:r>
              <a:rPr lang="en-US" dirty="0"/>
              <a:t>#include &lt;iostream&gt;</a:t>
            </a:r>
          </a:p>
          <a:p>
            <a:pPr marL="0" indent="0">
              <a:buNone/>
            </a:pPr>
            <a:r>
              <a:rPr lang="en-US" dirty="0"/>
              <a:t>#include &lt;stack&gt;</a:t>
            </a:r>
          </a:p>
          <a:p>
            <a:pPr marL="0" indent="0">
              <a:buNone/>
            </a:pPr>
            <a:r>
              <a:rPr lang="en-US" dirty="0"/>
              <a:t>using namespace std;</a:t>
            </a:r>
          </a:p>
          <a:p>
            <a:pPr marL="0" indent="0">
              <a:buNone/>
            </a:pPr>
            <a:endParaRPr lang="en-US" dirty="0"/>
          </a:p>
          <a:p>
            <a:pPr marL="0" indent="0">
              <a:buNone/>
            </a:pPr>
            <a:r>
              <a:rPr lang="en-US" dirty="0"/>
              <a:t>int evaluate(string str) {</a:t>
            </a:r>
          </a:p>
          <a:p>
            <a:pPr marL="0" indent="0">
              <a:buNone/>
            </a:pPr>
            <a:r>
              <a:rPr lang="en-US" dirty="0"/>
              <a:t>    stack&lt;int&gt; s;  // Stack to store operands</a:t>
            </a:r>
          </a:p>
          <a:p>
            <a:pPr marL="0" indent="0">
              <a:buNone/>
            </a:pPr>
            <a:endParaRPr lang="en-US" dirty="0"/>
          </a:p>
          <a:p>
            <a:pPr marL="0" indent="0">
              <a:buNone/>
            </a:pPr>
            <a:r>
              <a:rPr lang="en-US" dirty="0"/>
              <a:t>    for (int </a:t>
            </a:r>
            <a:r>
              <a:rPr lang="en-US" dirty="0" err="1"/>
              <a:t>i</a:t>
            </a:r>
            <a:r>
              <a:rPr lang="en-US" dirty="0"/>
              <a:t> = 0; </a:t>
            </a:r>
            <a:r>
              <a:rPr lang="en-US" dirty="0" err="1"/>
              <a:t>i</a:t>
            </a:r>
            <a:r>
              <a:rPr lang="en-US" dirty="0"/>
              <a:t> &lt; </a:t>
            </a:r>
            <a:r>
              <a:rPr lang="en-US" dirty="0" err="1"/>
              <a:t>str.size</a:t>
            </a:r>
            <a:r>
              <a:rPr lang="en-US" dirty="0"/>
              <a:t>(); </a:t>
            </a:r>
            <a:r>
              <a:rPr lang="en-US" dirty="0" err="1"/>
              <a:t>i</a:t>
            </a:r>
            <a:r>
              <a:rPr lang="en-US" dirty="0"/>
              <a:t>++) {</a:t>
            </a:r>
          </a:p>
          <a:p>
            <a:pPr marL="0" indent="0">
              <a:buNone/>
            </a:pPr>
            <a:r>
              <a:rPr lang="en-US" dirty="0"/>
              <a:t>        char </a:t>
            </a:r>
            <a:r>
              <a:rPr lang="en-US" dirty="0" err="1"/>
              <a:t>ch</a:t>
            </a:r>
            <a:r>
              <a:rPr lang="en-US" dirty="0"/>
              <a:t> = str[</a:t>
            </a:r>
            <a:r>
              <a:rPr lang="en-US" dirty="0" err="1"/>
              <a:t>i</a:t>
            </a:r>
            <a:r>
              <a:rPr lang="en-US" dirty="0"/>
              <a:t>];</a:t>
            </a:r>
          </a:p>
          <a:p>
            <a:pPr marL="0" indent="0">
              <a:buNone/>
            </a:pPr>
            <a:endParaRPr lang="en-US" dirty="0"/>
          </a:p>
          <a:p>
            <a:pPr marL="0" indent="0">
              <a:buNone/>
            </a:pPr>
            <a:r>
              <a:rPr lang="en-US" dirty="0"/>
              <a:t>        // If the character is a digit, push its integer value onto the stack</a:t>
            </a:r>
          </a:p>
          <a:p>
            <a:pPr marL="0" indent="0">
              <a:buNone/>
            </a:pPr>
            <a:r>
              <a:rPr lang="en-US" dirty="0"/>
              <a:t>        if (</a:t>
            </a:r>
            <a:r>
              <a:rPr lang="en-US" dirty="0" err="1"/>
              <a:t>ch</a:t>
            </a:r>
            <a:r>
              <a:rPr lang="en-US" dirty="0"/>
              <a:t> &gt;= '0' &amp;&amp; </a:t>
            </a:r>
            <a:r>
              <a:rPr lang="en-US" dirty="0" err="1"/>
              <a:t>ch</a:t>
            </a:r>
            <a:r>
              <a:rPr lang="en-US" dirty="0"/>
              <a:t> &lt;= '9') {</a:t>
            </a:r>
          </a:p>
          <a:p>
            <a:pPr marL="0" indent="0">
              <a:buNone/>
            </a:pPr>
            <a:r>
              <a:rPr lang="en-US" dirty="0"/>
              <a:t>            </a:t>
            </a:r>
            <a:r>
              <a:rPr lang="en-US" dirty="0" err="1"/>
              <a:t>s.push</a:t>
            </a:r>
            <a:r>
              <a:rPr lang="en-US" dirty="0"/>
              <a:t>(</a:t>
            </a:r>
            <a:r>
              <a:rPr lang="en-US" dirty="0" err="1"/>
              <a:t>ch</a:t>
            </a:r>
            <a:r>
              <a:rPr lang="en-US" dirty="0"/>
              <a:t> - '0');  // Convert char to integer</a:t>
            </a:r>
          </a:p>
          <a:p>
            <a:pPr marL="0" indent="0">
              <a:buNone/>
            </a:pPr>
            <a:r>
              <a:rPr lang="en-US" dirty="0"/>
              <a:t>        }</a:t>
            </a:r>
          </a:p>
          <a:p>
            <a:pPr marL="0" indent="0">
              <a:buNone/>
            </a:pPr>
            <a:r>
              <a:rPr lang="en-US" dirty="0"/>
              <a:t>        // If the character is an operator, pop two operands and perform the operation</a:t>
            </a:r>
          </a:p>
          <a:p>
            <a:pPr marL="0" indent="0">
              <a:buNone/>
            </a:pPr>
            <a:r>
              <a:rPr lang="en-US" dirty="0"/>
              <a:t>        else if (</a:t>
            </a:r>
            <a:r>
              <a:rPr lang="en-US" dirty="0" err="1"/>
              <a:t>ch</a:t>
            </a:r>
            <a:r>
              <a:rPr lang="en-US" dirty="0"/>
              <a:t> == '+' || </a:t>
            </a:r>
            <a:r>
              <a:rPr lang="en-US" dirty="0" err="1"/>
              <a:t>ch</a:t>
            </a:r>
            <a:r>
              <a:rPr lang="en-US" dirty="0"/>
              <a:t> == '-' || </a:t>
            </a:r>
            <a:r>
              <a:rPr lang="en-US" dirty="0" err="1"/>
              <a:t>ch</a:t>
            </a:r>
            <a:r>
              <a:rPr lang="en-US" dirty="0"/>
              <a:t> == '*' || </a:t>
            </a:r>
            <a:r>
              <a:rPr lang="en-US" dirty="0" err="1"/>
              <a:t>ch</a:t>
            </a:r>
            <a:r>
              <a:rPr lang="en-US" dirty="0"/>
              <a:t> == '/') {</a:t>
            </a:r>
          </a:p>
          <a:p>
            <a:pPr marL="0" indent="0">
              <a:buNone/>
            </a:pPr>
            <a:r>
              <a:rPr lang="en-US" dirty="0"/>
              <a:t>            int first = </a:t>
            </a:r>
            <a:r>
              <a:rPr lang="en-US" dirty="0" err="1"/>
              <a:t>s.top</a:t>
            </a:r>
            <a:r>
              <a:rPr lang="en-US" dirty="0"/>
              <a:t>();</a:t>
            </a:r>
          </a:p>
          <a:p>
            <a:pPr marL="0" indent="0">
              <a:buNone/>
            </a:pPr>
            <a:r>
              <a:rPr lang="en-US" dirty="0"/>
              <a:t>            </a:t>
            </a:r>
            <a:r>
              <a:rPr lang="en-US" dirty="0" err="1"/>
              <a:t>s.pop</a:t>
            </a:r>
            <a:r>
              <a:rPr lang="en-US" dirty="0"/>
              <a:t>();</a:t>
            </a:r>
          </a:p>
          <a:p>
            <a:pPr marL="0" indent="0">
              <a:buNone/>
            </a:pPr>
            <a:r>
              <a:rPr lang="en-US" dirty="0"/>
              <a:t>            int second = </a:t>
            </a:r>
            <a:r>
              <a:rPr lang="en-US" dirty="0" err="1"/>
              <a:t>s.top</a:t>
            </a:r>
            <a:r>
              <a:rPr lang="en-US" dirty="0"/>
              <a:t>();</a:t>
            </a:r>
          </a:p>
          <a:p>
            <a:pPr marL="0" indent="0">
              <a:buNone/>
            </a:pPr>
            <a:r>
              <a:rPr lang="en-US" dirty="0"/>
              <a:t>            </a:t>
            </a:r>
            <a:r>
              <a:rPr lang="en-US" dirty="0" err="1"/>
              <a:t>s.pop</a:t>
            </a:r>
            <a:r>
              <a:rPr lang="en-US" dirty="0"/>
              <a:t>();</a:t>
            </a:r>
          </a:p>
          <a:p>
            <a:endParaRPr lang="en-US" dirty="0"/>
          </a:p>
        </p:txBody>
      </p:sp>
      <p:sp>
        <p:nvSpPr>
          <p:cNvPr id="5" name="Content Placeholder 4">
            <a:extLst>
              <a:ext uri="{FF2B5EF4-FFF2-40B4-BE49-F238E27FC236}">
                <a16:creationId xmlns:a16="http://schemas.microsoft.com/office/drawing/2014/main" id="{C21FCD03-DAE3-334E-BABE-2DA518165C15}"/>
              </a:ext>
            </a:extLst>
          </p:cNvPr>
          <p:cNvSpPr>
            <a:spLocks noGrp="1"/>
          </p:cNvSpPr>
          <p:nvPr>
            <p:ph sz="quarter" idx="2"/>
          </p:nvPr>
        </p:nvSpPr>
        <p:spPr/>
        <p:txBody>
          <a:bodyPr>
            <a:normAutofit fontScale="47500" lnSpcReduction="20000"/>
          </a:bodyPr>
          <a:lstStyle/>
          <a:p>
            <a:pPr marL="0" indent="0">
              <a:buNone/>
            </a:pPr>
            <a:r>
              <a:rPr lang="en-US" dirty="0"/>
              <a:t> switch (</a:t>
            </a:r>
            <a:r>
              <a:rPr lang="en-US" dirty="0" err="1"/>
              <a:t>ch</a:t>
            </a:r>
            <a:r>
              <a:rPr lang="en-US" dirty="0"/>
              <a:t>) {</a:t>
            </a:r>
          </a:p>
          <a:p>
            <a:pPr marL="0" indent="0">
              <a:buNone/>
            </a:pPr>
            <a:r>
              <a:rPr lang="en-US" dirty="0"/>
              <a:t>                case '+': </a:t>
            </a:r>
            <a:r>
              <a:rPr lang="en-US" dirty="0" err="1"/>
              <a:t>s.push</a:t>
            </a:r>
            <a:r>
              <a:rPr lang="en-US" dirty="0"/>
              <a:t>(second + first); break;</a:t>
            </a:r>
          </a:p>
          <a:p>
            <a:pPr marL="0" indent="0">
              <a:buNone/>
            </a:pPr>
            <a:r>
              <a:rPr lang="en-US" dirty="0"/>
              <a:t>                case '-': </a:t>
            </a:r>
            <a:r>
              <a:rPr lang="en-US" dirty="0" err="1"/>
              <a:t>s.push</a:t>
            </a:r>
            <a:r>
              <a:rPr lang="en-US" dirty="0"/>
              <a:t>(second - first); break;</a:t>
            </a:r>
          </a:p>
          <a:p>
            <a:pPr marL="0" indent="0">
              <a:buNone/>
            </a:pPr>
            <a:r>
              <a:rPr lang="en-US" dirty="0"/>
              <a:t>                case '*': </a:t>
            </a:r>
            <a:r>
              <a:rPr lang="en-US" dirty="0" err="1"/>
              <a:t>s.push</a:t>
            </a:r>
            <a:r>
              <a:rPr lang="en-US" dirty="0"/>
              <a:t>(second * first); break;</a:t>
            </a:r>
          </a:p>
          <a:p>
            <a:pPr marL="0" indent="0">
              <a:buNone/>
            </a:pPr>
            <a:r>
              <a:rPr lang="en-US" dirty="0"/>
              <a:t>                case '/': </a:t>
            </a:r>
            <a:r>
              <a:rPr lang="en-US" dirty="0" err="1"/>
              <a:t>s.push</a:t>
            </a:r>
            <a:r>
              <a:rPr lang="en-US" dirty="0"/>
              <a:t>(second / first); break;</a:t>
            </a:r>
          </a:p>
          <a:p>
            <a:pPr marL="0" indent="0">
              <a:buNone/>
            </a:pPr>
            <a:r>
              <a:rPr lang="en-US" dirty="0"/>
              <a:t>                default: break;</a:t>
            </a:r>
          </a:p>
          <a:p>
            <a:pPr marL="0" indent="0">
              <a:buNone/>
            </a:pPr>
            <a:r>
              <a:rPr lang="en-US" dirty="0"/>
              <a:t>            }</a:t>
            </a:r>
          </a:p>
          <a:p>
            <a:pPr marL="0" indent="0">
              <a:buNone/>
            </a:pPr>
            <a:r>
              <a:rPr lang="en-US" dirty="0"/>
              <a:t>        }</a:t>
            </a:r>
          </a:p>
          <a:p>
            <a:pPr marL="0" indent="0">
              <a:buNone/>
            </a:pPr>
            <a:r>
              <a:rPr lang="en-US" dirty="0"/>
              <a:t>    }</a:t>
            </a:r>
          </a:p>
          <a:p>
            <a:pPr marL="0" indent="0">
              <a:buNone/>
            </a:pPr>
            <a:endParaRPr lang="en-US" dirty="0"/>
          </a:p>
          <a:p>
            <a:pPr marL="0" indent="0">
              <a:buNone/>
            </a:pPr>
            <a:r>
              <a:rPr lang="en-US" dirty="0"/>
              <a:t>    return </a:t>
            </a:r>
            <a:r>
              <a:rPr lang="en-US" dirty="0" err="1"/>
              <a:t>s.top</a:t>
            </a:r>
            <a:r>
              <a:rPr lang="en-US" dirty="0"/>
              <a:t>();  // The final result is on top of the stack</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string expression = "562*+";  // Example postfix expression</a:t>
            </a:r>
          </a:p>
          <a:p>
            <a:pPr marL="0" indent="0">
              <a:buNone/>
            </a:pPr>
            <a:r>
              <a:rPr lang="en-US" dirty="0"/>
              <a:t>    </a:t>
            </a:r>
            <a:r>
              <a:rPr lang="en-US" dirty="0" err="1"/>
              <a:t>cout</a:t>
            </a:r>
            <a:r>
              <a:rPr lang="en-US" dirty="0"/>
              <a:t> &lt;&lt; "Result: " &lt;&lt; evaluate(expression) &lt;&lt; </a:t>
            </a:r>
            <a:r>
              <a:rPr lang="en-US" dirty="0" err="1"/>
              <a:t>endl</a:t>
            </a:r>
            <a:r>
              <a:rPr lang="en-US" dirty="0"/>
              <a:t>;</a:t>
            </a:r>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5226009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18B1B-D1EA-5579-E4B1-77B447247380}"/>
              </a:ext>
            </a:extLst>
          </p:cNvPr>
          <p:cNvSpPr>
            <a:spLocks noGrp="1"/>
          </p:cNvSpPr>
          <p:nvPr>
            <p:ph type="title"/>
          </p:nvPr>
        </p:nvSpPr>
        <p:spPr/>
        <p:txBody>
          <a:bodyPr/>
          <a:lstStyle/>
          <a:p>
            <a:r>
              <a:rPr lang="en-US" dirty="0"/>
              <a:t>Why Do We Need </a:t>
            </a:r>
            <a:r>
              <a:rPr lang="en-US" dirty="0" err="1"/>
              <a:t>ch</a:t>
            </a:r>
            <a:r>
              <a:rPr lang="en-US" dirty="0"/>
              <a:t> - '0'?</a:t>
            </a:r>
          </a:p>
        </p:txBody>
      </p:sp>
      <p:sp>
        <p:nvSpPr>
          <p:cNvPr id="3" name="Footer Placeholder 2">
            <a:extLst>
              <a:ext uri="{FF2B5EF4-FFF2-40B4-BE49-F238E27FC236}">
                <a16:creationId xmlns:a16="http://schemas.microsoft.com/office/drawing/2014/main" id="{BBE76FF9-13B7-B9C1-20B1-0D798FE02385}"/>
              </a:ext>
            </a:extLst>
          </p:cNvPr>
          <p:cNvSpPr>
            <a:spLocks noGrp="1"/>
          </p:cNvSpPr>
          <p:nvPr>
            <p:ph type="ftr" sz="quarter" idx="11"/>
          </p:nvPr>
        </p:nvSpPr>
        <p:spPr/>
        <p:txBody>
          <a:bodyPr/>
          <a:lstStyle/>
          <a:p>
            <a:r>
              <a:rPr lang="en-US"/>
              <a:t>Algorithm and Data Structure </a:t>
            </a:r>
            <a:endParaRPr lang="en-US" dirty="0"/>
          </a:p>
        </p:txBody>
      </p:sp>
      <p:sp>
        <p:nvSpPr>
          <p:cNvPr id="4" name="Content Placeholder 3">
            <a:extLst>
              <a:ext uri="{FF2B5EF4-FFF2-40B4-BE49-F238E27FC236}">
                <a16:creationId xmlns:a16="http://schemas.microsoft.com/office/drawing/2014/main" id="{722270FF-E6F5-3228-AAEC-0A74DD409E44}"/>
              </a:ext>
            </a:extLst>
          </p:cNvPr>
          <p:cNvSpPr>
            <a:spLocks noGrp="1"/>
          </p:cNvSpPr>
          <p:nvPr>
            <p:ph sz="quarter" idx="1"/>
          </p:nvPr>
        </p:nvSpPr>
        <p:spPr/>
        <p:txBody>
          <a:bodyPr>
            <a:normAutofit fontScale="92500"/>
          </a:bodyPr>
          <a:lstStyle/>
          <a:p>
            <a:r>
              <a:rPr lang="en-US" dirty="0"/>
              <a:t>In C++ (and many other languages), when we read characters from a string, they are treated as characters (not numbers). </a:t>
            </a:r>
          </a:p>
          <a:p>
            <a:r>
              <a:rPr lang="en-US" dirty="0"/>
              <a:t>Even though str[</a:t>
            </a:r>
            <a:r>
              <a:rPr lang="en-US" dirty="0" err="1"/>
              <a:t>i</a:t>
            </a:r>
            <a:r>
              <a:rPr lang="en-US" dirty="0"/>
              <a:t>] might visually look like a digit ('5', '6', etc.), it is stored as a character in memory.</a:t>
            </a:r>
          </a:p>
          <a:p>
            <a:r>
              <a:rPr lang="en-US" dirty="0"/>
              <a:t>Characters are stored using ASCII values:</a:t>
            </a:r>
          </a:p>
          <a:p>
            <a:pPr lvl="1"/>
            <a:r>
              <a:rPr lang="en-US" dirty="0"/>
              <a:t>'0' in ASCII = 48</a:t>
            </a:r>
          </a:p>
          <a:p>
            <a:pPr lvl="1"/>
            <a:r>
              <a:rPr lang="en-US" dirty="0"/>
              <a:t>'1' in ASCII = 49</a:t>
            </a:r>
          </a:p>
          <a:p>
            <a:pPr lvl="1"/>
            <a:r>
              <a:rPr lang="en-US" dirty="0"/>
              <a:t>'2' in ASCII = 50...</a:t>
            </a:r>
          </a:p>
          <a:p>
            <a:pPr lvl="1"/>
            <a:r>
              <a:rPr lang="en-US" dirty="0"/>
              <a:t>'9' in ASCII = 57</a:t>
            </a:r>
          </a:p>
          <a:p>
            <a:r>
              <a:rPr lang="en-US" dirty="0"/>
              <a:t>So, if you directly push </a:t>
            </a:r>
            <a:r>
              <a:rPr lang="en-US" dirty="0" err="1"/>
              <a:t>ch</a:t>
            </a:r>
            <a:r>
              <a:rPr lang="en-US" dirty="0"/>
              <a:t> into the stack without converting, you are pushing ASCII values instead of numbers.</a:t>
            </a:r>
          </a:p>
        </p:txBody>
      </p:sp>
    </p:spTree>
    <p:extLst>
      <p:ext uri="{BB962C8B-B14F-4D97-AF65-F5344CB8AC3E}">
        <p14:creationId xmlns:p14="http://schemas.microsoft.com/office/powerpoint/2010/main" val="15739795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49200-9FE2-6B1C-BF00-F958ECE91C16}"/>
              </a:ext>
            </a:extLst>
          </p:cNvPr>
          <p:cNvSpPr>
            <a:spLocks noGrp="1"/>
          </p:cNvSpPr>
          <p:nvPr>
            <p:ph type="title"/>
          </p:nvPr>
        </p:nvSpPr>
        <p:spPr/>
        <p:txBody>
          <a:bodyPr>
            <a:normAutofit/>
          </a:bodyPr>
          <a:lstStyle/>
          <a:p>
            <a:r>
              <a:rPr kumimoji="0" lang="en-US" altLang="en-US" sz="3200" b="1" i="0" u="none" strike="noStrike" cap="none" normalizeH="0" baseline="0" dirty="0">
                <a:ln>
                  <a:noFill/>
                </a:ln>
                <a:solidFill>
                  <a:schemeClr val="tx1"/>
                </a:solidFill>
                <a:effectLst/>
                <a:latin typeface="Arial" panose="020B0604020202020204" pitchFamily="34" charset="0"/>
              </a:rPr>
              <a:t>Example With </a:t>
            </a:r>
            <a:r>
              <a:rPr kumimoji="0" lang="en-US" altLang="en-US" sz="3200" b="1" i="0" u="none" strike="noStrike" cap="none" normalizeH="0" baseline="0" dirty="0" err="1">
                <a:ln>
                  <a:noFill/>
                </a:ln>
                <a:solidFill>
                  <a:schemeClr val="tx1"/>
                </a:solidFill>
                <a:effectLst/>
                <a:latin typeface="Arial Unicode MS"/>
              </a:rPr>
              <a:t>ch</a:t>
            </a:r>
            <a:r>
              <a:rPr kumimoji="0" lang="en-US" altLang="en-US" sz="3200" b="1" i="0" u="none" strike="noStrike" cap="none" normalizeH="0" baseline="0" dirty="0">
                <a:ln>
                  <a:noFill/>
                </a:ln>
                <a:solidFill>
                  <a:schemeClr val="tx1"/>
                </a:solidFill>
                <a:effectLst/>
                <a:latin typeface="Arial Unicode MS"/>
              </a:rPr>
              <a:t> - '0'</a:t>
            </a:r>
            <a:endParaRPr lang="en-US" dirty="0"/>
          </a:p>
        </p:txBody>
      </p:sp>
      <p:sp>
        <p:nvSpPr>
          <p:cNvPr id="3" name="Footer Placeholder 2">
            <a:extLst>
              <a:ext uri="{FF2B5EF4-FFF2-40B4-BE49-F238E27FC236}">
                <a16:creationId xmlns:a16="http://schemas.microsoft.com/office/drawing/2014/main" id="{28A318F0-B7B8-6D63-CB6D-8E4DECC6B50D}"/>
              </a:ext>
            </a:extLst>
          </p:cNvPr>
          <p:cNvSpPr>
            <a:spLocks noGrp="1"/>
          </p:cNvSpPr>
          <p:nvPr>
            <p:ph type="ftr" sz="quarter" idx="11"/>
          </p:nvPr>
        </p:nvSpPr>
        <p:spPr/>
        <p:txBody>
          <a:bodyPr/>
          <a:lstStyle/>
          <a:p>
            <a:r>
              <a:rPr lang="en-US"/>
              <a:t>Algorithm and Data Structure </a:t>
            </a:r>
            <a:endParaRPr lang="en-US" dirty="0"/>
          </a:p>
        </p:txBody>
      </p:sp>
      <p:graphicFrame>
        <p:nvGraphicFramePr>
          <p:cNvPr id="5" name="Content Placeholder 4">
            <a:extLst>
              <a:ext uri="{FF2B5EF4-FFF2-40B4-BE49-F238E27FC236}">
                <a16:creationId xmlns:a16="http://schemas.microsoft.com/office/drawing/2014/main" id="{665C114F-C0E5-B22A-6256-8468D3B79B96}"/>
              </a:ext>
            </a:extLst>
          </p:cNvPr>
          <p:cNvGraphicFramePr>
            <a:graphicFrameLocks noGrp="1"/>
          </p:cNvGraphicFramePr>
          <p:nvPr>
            <p:ph sz="quarter" idx="1"/>
            <p:extLst>
              <p:ext uri="{D42A27DB-BD31-4B8C-83A1-F6EECF244321}">
                <p14:modId xmlns:p14="http://schemas.microsoft.com/office/powerpoint/2010/main" val="3801727681"/>
              </p:ext>
            </p:extLst>
          </p:nvPr>
        </p:nvGraphicFramePr>
        <p:xfrm>
          <a:off x="457200" y="1661160"/>
          <a:ext cx="7696200" cy="1463040"/>
        </p:xfrm>
        <a:graphic>
          <a:graphicData uri="http://schemas.openxmlformats.org/drawingml/2006/table">
            <a:tbl>
              <a:tblPr>
                <a:tableStyleId>{616DA210-FB5B-4158-B5E0-FEB733F419BA}</a:tableStyleId>
              </a:tblPr>
              <a:tblGrid>
                <a:gridCol w="1539240">
                  <a:extLst>
                    <a:ext uri="{9D8B030D-6E8A-4147-A177-3AD203B41FA5}">
                      <a16:colId xmlns:a16="http://schemas.microsoft.com/office/drawing/2014/main" val="2394149657"/>
                    </a:ext>
                  </a:extLst>
                </a:gridCol>
                <a:gridCol w="1539240">
                  <a:extLst>
                    <a:ext uri="{9D8B030D-6E8A-4147-A177-3AD203B41FA5}">
                      <a16:colId xmlns:a16="http://schemas.microsoft.com/office/drawing/2014/main" val="1816705688"/>
                    </a:ext>
                  </a:extLst>
                </a:gridCol>
                <a:gridCol w="1539240">
                  <a:extLst>
                    <a:ext uri="{9D8B030D-6E8A-4147-A177-3AD203B41FA5}">
                      <a16:colId xmlns:a16="http://schemas.microsoft.com/office/drawing/2014/main" val="1794989718"/>
                    </a:ext>
                  </a:extLst>
                </a:gridCol>
                <a:gridCol w="1539240">
                  <a:extLst>
                    <a:ext uri="{9D8B030D-6E8A-4147-A177-3AD203B41FA5}">
                      <a16:colId xmlns:a16="http://schemas.microsoft.com/office/drawing/2014/main" val="556323318"/>
                    </a:ext>
                  </a:extLst>
                </a:gridCol>
                <a:gridCol w="1539240">
                  <a:extLst>
                    <a:ext uri="{9D8B030D-6E8A-4147-A177-3AD203B41FA5}">
                      <a16:colId xmlns:a16="http://schemas.microsoft.com/office/drawing/2014/main" val="2875860309"/>
                    </a:ext>
                  </a:extLst>
                </a:gridCol>
              </a:tblGrid>
              <a:tr h="0">
                <a:tc>
                  <a:txBody>
                    <a:bodyPr/>
                    <a:lstStyle/>
                    <a:p>
                      <a:pPr algn="ctr"/>
                      <a:r>
                        <a:rPr lang="en-US"/>
                        <a:t>Step</a:t>
                      </a:r>
                    </a:p>
                  </a:txBody>
                  <a:tcPr anchor="ctr"/>
                </a:tc>
                <a:tc>
                  <a:txBody>
                    <a:bodyPr/>
                    <a:lstStyle/>
                    <a:p>
                      <a:pPr algn="ctr"/>
                      <a:r>
                        <a:rPr lang="en-US"/>
                        <a:t>Character</a:t>
                      </a:r>
                    </a:p>
                  </a:txBody>
                  <a:tcPr anchor="ctr"/>
                </a:tc>
                <a:tc>
                  <a:txBody>
                    <a:bodyPr/>
                    <a:lstStyle/>
                    <a:p>
                      <a:pPr algn="ctr"/>
                      <a:r>
                        <a:rPr lang="en-US" dirty="0"/>
                        <a:t>ASCII</a:t>
                      </a:r>
                    </a:p>
                  </a:txBody>
                  <a:tcPr anchor="ctr"/>
                </a:tc>
                <a:tc>
                  <a:txBody>
                    <a:bodyPr/>
                    <a:lstStyle/>
                    <a:p>
                      <a:pPr algn="ctr"/>
                      <a:r>
                        <a:rPr lang="en-US" dirty="0" err="1"/>
                        <a:t>ch</a:t>
                      </a:r>
                      <a:r>
                        <a:rPr lang="en-US" dirty="0"/>
                        <a:t> - '0'</a:t>
                      </a:r>
                    </a:p>
                  </a:txBody>
                  <a:tcPr anchor="ctr"/>
                </a:tc>
                <a:tc>
                  <a:txBody>
                    <a:bodyPr/>
                    <a:lstStyle/>
                    <a:p>
                      <a:pPr algn="ctr"/>
                      <a:r>
                        <a:rPr lang="en-US"/>
                        <a:t>Stack</a:t>
                      </a:r>
                    </a:p>
                  </a:txBody>
                  <a:tcPr anchor="ctr"/>
                </a:tc>
                <a:extLst>
                  <a:ext uri="{0D108BD9-81ED-4DB2-BD59-A6C34878D82A}">
                    <a16:rowId xmlns:a16="http://schemas.microsoft.com/office/drawing/2014/main" val="3798207489"/>
                  </a:ext>
                </a:extLst>
              </a:tr>
              <a:tr h="0">
                <a:tc>
                  <a:txBody>
                    <a:bodyPr/>
                    <a:lstStyle/>
                    <a:p>
                      <a:pPr algn="ctr"/>
                      <a:r>
                        <a:rPr lang="en-US" dirty="0"/>
                        <a:t>Push '5'</a:t>
                      </a:r>
                    </a:p>
                  </a:txBody>
                  <a:tcPr anchor="ctr"/>
                </a:tc>
                <a:tc>
                  <a:txBody>
                    <a:bodyPr/>
                    <a:lstStyle/>
                    <a:p>
                      <a:pPr algn="ctr"/>
                      <a:r>
                        <a:rPr lang="en-US"/>
                        <a:t>53</a:t>
                      </a:r>
                    </a:p>
                  </a:txBody>
                  <a:tcPr anchor="ctr"/>
                </a:tc>
                <a:tc>
                  <a:txBody>
                    <a:bodyPr/>
                    <a:lstStyle/>
                    <a:p>
                      <a:pPr algn="ctr"/>
                      <a:r>
                        <a:rPr lang="en-US" dirty="0"/>
                        <a:t>'5' - '0'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kern="1200" dirty="0">
                          <a:solidFill>
                            <a:schemeClr val="tx1"/>
                          </a:solidFill>
                          <a:latin typeface="+mn-lt"/>
                          <a:ea typeface="+mn-ea"/>
                          <a:cs typeface="+mn-cs"/>
                        </a:rPr>
                        <a:t>53 – 48 = 5 </a:t>
                      </a:r>
                    </a:p>
                  </a:txBody>
                  <a:tcPr anchor="ctr"/>
                </a:tc>
                <a:tc>
                  <a:txBody>
                    <a:bodyPr/>
                    <a:lstStyle/>
                    <a:p>
                      <a:pPr algn="ctr"/>
                      <a:r>
                        <a:rPr lang="en-US" dirty="0"/>
                        <a:t>5</a:t>
                      </a:r>
                    </a:p>
                  </a:txBody>
                  <a:tcPr anchor="ctr"/>
                </a:tc>
                <a:extLst>
                  <a:ext uri="{0D108BD9-81ED-4DB2-BD59-A6C34878D82A}">
                    <a16:rowId xmlns:a16="http://schemas.microsoft.com/office/drawing/2014/main" val="3930213301"/>
                  </a:ext>
                </a:extLst>
              </a:tr>
              <a:tr h="0">
                <a:tc>
                  <a:txBody>
                    <a:bodyPr/>
                    <a:lstStyle/>
                    <a:p>
                      <a:pPr algn="ctr"/>
                      <a:r>
                        <a:rPr lang="en-US" dirty="0"/>
                        <a:t>Push '6'</a:t>
                      </a:r>
                    </a:p>
                  </a:txBody>
                  <a:tcPr anchor="ctr"/>
                </a:tc>
                <a:tc>
                  <a:txBody>
                    <a:bodyPr/>
                    <a:lstStyle/>
                    <a:p>
                      <a:pPr algn="ctr"/>
                      <a:r>
                        <a:rPr lang="en-US"/>
                        <a:t>54</a:t>
                      </a:r>
                    </a:p>
                  </a:txBody>
                  <a:tcPr anchor="ctr"/>
                </a:tc>
                <a:tc>
                  <a:txBody>
                    <a:bodyPr/>
                    <a:lstStyle/>
                    <a:p>
                      <a:pPr algn="ctr"/>
                      <a:r>
                        <a:rPr lang="en-US" dirty="0"/>
                        <a:t>'6' - '0' = 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kern="1200" dirty="0">
                          <a:solidFill>
                            <a:schemeClr val="tx1"/>
                          </a:solidFill>
                          <a:latin typeface="+mn-lt"/>
                          <a:ea typeface="+mn-ea"/>
                          <a:cs typeface="+mn-cs"/>
                        </a:rPr>
                        <a:t>54 – 48 = 6   </a:t>
                      </a:r>
                    </a:p>
                  </a:txBody>
                  <a:tcPr anchor="ctr"/>
                </a:tc>
                <a:tc>
                  <a:txBody>
                    <a:bodyPr/>
                    <a:lstStyle/>
                    <a:p>
                      <a:pPr algn="ctr"/>
                      <a:r>
                        <a:rPr lang="en-US" dirty="0"/>
                        <a:t>5 6</a:t>
                      </a:r>
                    </a:p>
                  </a:txBody>
                  <a:tcPr anchor="ctr"/>
                </a:tc>
                <a:extLst>
                  <a:ext uri="{0D108BD9-81ED-4DB2-BD59-A6C34878D82A}">
                    <a16:rowId xmlns:a16="http://schemas.microsoft.com/office/drawing/2014/main" val="3612812601"/>
                  </a:ext>
                </a:extLst>
              </a:tr>
              <a:tr h="0">
                <a:tc>
                  <a:txBody>
                    <a:bodyPr/>
                    <a:lstStyle/>
                    <a:p>
                      <a:pPr algn="ctr"/>
                      <a:r>
                        <a:rPr lang="en-US" dirty="0"/>
                        <a:t>Push '2'</a:t>
                      </a:r>
                    </a:p>
                  </a:txBody>
                  <a:tcPr anchor="ctr"/>
                </a:tc>
                <a:tc>
                  <a:txBody>
                    <a:bodyPr/>
                    <a:lstStyle/>
                    <a:p>
                      <a:pPr algn="ctr"/>
                      <a:r>
                        <a:rPr lang="en-US" dirty="0"/>
                        <a:t>50</a:t>
                      </a:r>
                    </a:p>
                  </a:txBody>
                  <a:tcPr anchor="ctr"/>
                </a:tc>
                <a:tc>
                  <a:txBody>
                    <a:bodyPr/>
                    <a:lstStyle/>
                    <a:p>
                      <a:pPr algn="ctr"/>
                      <a:r>
                        <a:rPr lang="en-US" dirty="0"/>
                        <a:t>'2' - '0'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kern="1200" dirty="0">
                          <a:solidFill>
                            <a:schemeClr val="tx1"/>
                          </a:solidFill>
                          <a:latin typeface="+mn-lt"/>
                          <a:ea typeface="+mn-ea"/>
                          <a:cs typeface="+mn-cs"/>
                        </a:rPr>
                        <a:t>50 – 48 = 2   </a:t>
                      </a:r>
                    </a:p>
                  </a:txBody>
                  <a:tcPr anchor="ctr"/>
                </a:tc>
                <a:tc>
                  <a:txBody>
                    <a:bodyPr/>
                    <a:lstStyle/>
                    <a:p>
                      <a:pPr algn="ctr"/>
                      <a:r>
                        <a:rPr lang="en-US" dirty="0"/>
                        <a:t>5 6 2</a:t>
                      </a:r>
                    </a:p>
                  </a:txBody>
                  <a:tcPr anchor="ctr"/>
                </a:tc>
                <a:extLst>
                  <a:ext uri="{0D108BD9-81ED-4DB2-BD59-A6C34878D82A}">
                    <a16:rowId xmlns:a16="http://schemas.microsoft.com/office/drawing/2014/main" val="4174497936"/>
                  </a:ext>
                </a:extLst>
              </a:tr>
            </a:tbl>
          </a:graphicData>
        </a:graphic>
      </p:graphicFrame>
      <p:sp>
        <p:nvSpPr>
          <p:cNvPr id="6" name="Rectangle 1">
            <a:extLst>
              <a:ext uri="{FF2B5EF4-FFF2-40B4-BE49-F238E27FC236}">
                <a16:creationId xmlns:a16="http://schemas.microsoft.com/office/drawing/2014/main" id="{75943DFA-4224-CD03-18CC-345D0DCE6CDA}"/>
              </a:ext>
            </a:extLst>
          </p:cNvPr>
          <p:cNvSpPr>
            <a:spLocks noChangeArrowheads="1"/>
          </p:cNvSpPr>
          <p:nvPr/>
        </p:nvSpPr>
        <p:spPr bwMode="auto">
          <a:xfrm>
            <a:off x="423123" y="1219200"/>
            <a:ext cx="25587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Now, let's apply </a:t>
            </a:r>
            <a:r>
              <a:rPr kumimoji="0" lang="en-US" altLang="en-US" b="0" i="0" u="none" strike="noStrike" cap="none" normalizeH="0" baseline="0" dirty="0" err="1">
                <a:ln>
                  <a:noFill/>
                </a:ln>
                <a:solidFill>
                  <a:schemeClr val="tx1"/>
                </a:solidFill>
                <a:effectLst/>
                <a:latin typeface="Arial Unicode MS"/>
              </a:rPr>
              <a:t>ch</a:t>
            </a:r>
            <a:r>
              <a:rPr kumimoji="0" lang="en-US" altLang="en-US" b="0" i="0" u="none" strike="noStrike" cap="none" normalizeH="0" baseline="0" dirty="0">
                <a:ln>
                  <a:noFill/>
                </a:ln>
                <a:solidFill>
                  <a:schemeClr val="tx1"/>
                </a:solidFill>
                <a:effectLst/>
                <a:latin typeface="Arial Unicode MS"/>
              </a:rPr>
              <a:t> - '0'</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E1E621F1-E5B4-F96C-1B2F-412F48B66BDF}"/>
              </a:ext>
            </a:extLst>
          </p:cNvPr>
          <p:cNvSpPr txBox="1"/>
          <p:nvPr/>
        </p:nvSpPr>
        <p:spPr>
          <a:xfrm>
            <a:off x="457200" y="3505200"/>
            <a:ext cx="50292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Now, if we pop and perform multiplication: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Unicode MS"/>
              </a:rPr>
              <a:t>first = 2</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Unicode MS"/>
              </a:rPr>
              <a:t>second = 6</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Unicode MS"/>
              </a:rPr>
              <a:t>second * first = 6 * 2 = 12</a:t>
            </a:r>
            <a:r>
              <a:rPr kumimoji="0" lang="en-US" altLang="en-US" b="0" i="0" u="none" strike="noStrike" cap="none" normalizeH="0" baseline="0" dirty="0">
                <a:ln>
                  <a:noFill/>
                </a:ln>
                <a:solidFill>
                  <a:schemeClr val="tx1"/>
                </a:solidFill>
                <a:effectLst/>
              </a:rPr>
              <a:t> ✅ (Correct!)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65197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EB374D-3312-4F23-B385-1B14705F8465}"/>
</file>

<file path=customXml/itemProps2.xml><?xml version="1.0" encoding="utf-8"?>
<ds:datastoreItem xmlns:ds="http://schemas.openxmlformats.org/officeDocument/2006/customXml" ds:itemID="{7C233841-7CC1-4D61-8FDC-93C91770E3BE}">
  <ds:schemaRefs>
    <ds:schemaRef ds:uri="http://schemas.microsoft.com/sharepoint/v3/contenttype/forms"/>
  </ds:schemaRefs>
</ds:datastoreItem>
</file>

<file path=customXml/itemProps3.xml><?xml version="1.0" encoding="utf-8"?>
<ds:datastoreItem xmlns:ds="http://schemas.openxmlformats.org/officeDocument/2006/customXml" ds:itemID="{EBB09AF5-1765-4E0B-8B21-9D3B3B9C30A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Origin</Template>
  <TotalTime>1151</TotalTime>
  <Words>4866</Words>
  <Application>Microsoft Office PowerPoint</Application>
  <PresentationFormat>On-screen Show (4:3)</PresentationFormat>
  <Paragraphs>850</Paragraphs>
  <Slides>68</Slides>
  <Notes>0</Notes>
  <HiddenSlides>20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68</vt:i4>
      </vt:variant>
    </vt:vector>
  </HeadingPairs>
  <TitlesOfParts>
    <vt:vector size="81" baseType="lpstr">
      <vt:lpstr>Arial</vt:lpstr>
      <vt:lpstr>Arial Narrow</vt:lpstr>
      <vt:lpstr>Arial Unicode MS</vt:lpstr>
      <vt:lpstr>Bookman Old Style</vt:lpstr>
      <vt:lpstr>Calibri</vt:lpstr>
      <vt:lpstr>Courier New</vt:lpstr>
      <vt:lpstr>Gill Sans MT</vt:lpstr>
      <vt:lpstr>Times New Roman</vt:lpstr>
      <vt:lpstr>Wingdings</vt:lpstr>
      <vt:lpstr>Wingdings 3</vt:lpstr>
      <vt:lpstr>Origin</vt:lpstr>
      <vt:lpstr>2_Origin</vt:lpstr>
      <vt:lpstr>1_Origin</vt:lpstr>
      <vt:lpstr>Stack using array</vt:lpstr>
      <vt:lpstr>Definition of a Stack:</vt:lpstr>
      <vt:lpstr>Insertion and Deletion in a Stack</vt:lpstr>
      <vt:lpstr>Last-In-First-Out (LIFO) Principle</vt:lpstr>
      <vt:lpstr>Accessibility of Elements</vt:lpstr>
      <vt:lpstr>The operation of the stack</vt:lpstr>
      <vt:lpstr>The operation of the stack…..cont</vt:lpstr>
      <vt:lpstr>OPERATIONS PERFORMED ON STACK</vt:lpstr>
      <vt:lpstr>OPERATIONS PERFORMED ON STACK</vt:lpstr>
      <vt:lpstr>STACK IMPLEMENTATION</vt:lpstr>
      <vt:lpstr>STACK USING ARRAYS</vt:lpstr>
      <vt:lpstr>Implementation in C++</vt:lpstr>
      <vt:lpstr>STACK USING ARRAYS</vt:lpstr>
      <vt:lpstr>Implementation in C++</vt:lpstr>
      <vt:lpstr>The function to print all the existing elements in the stack</vt:lpstr>
      <vt:lpstr>Implementation of Stack Using Linked List</vt:lpstr>
      <vt:lpstr>Implementation issues of the stack (Last In First Out - LIFO) using linked list</vt:lpstr>
      <vt:lpstr>ALGORITHM FOR PUSH OPERATION</vt:lpstr>
      <vt:lpstr>LINKED STACK IMPLEMENTATION</vt:lpstr>
      <vt:lpstr>Function to perform the push operation</vt:lpstr>
      <vt:lpstr>ALGORITHM FOR POP OPERATION </vt:lpstr>
      <vt:lpstr>Function to implement the pop operation</vt:lpstr>
      <vt:lpstr>Function to display all the element in the stack</vt:lpstr>
      <vt:lpstr>APPLICATIONS OF STACKS</vt:lpstr>
      <vt:lpstr>RECURSION</vt:lpstr>
      <vt:lpstr>Flowchart model for a recursive algorithm</vt:lpstr>
      <vt:lpstr>RECURSION</vt:lpstr>
      <vt:lpstr>PowerPoint Presentation</vt:lpstr>
      <vt:lpstr>String Reversing</vt:lpstr>
      <vt:lpstr>Checking for Balanced Braces</vt:lpstr>
      <vt:lpstr>PowerPoint Presentation</vt:lpstr>
      <vt:lpstr>2. Checking for Balanced Braces</vt:lpstr>
      <vt:lpstr>Palindrome</vt:lpstr>
      <vt:lpstr>   A Legend: The Towers of Hanoi  </vt:lpstr>
      <vt:lpstr>The Towers of Hanoi A Stack-based Application</vt:lpstr>
      <vt:lpstr>Towers of Hanoi</vt:lpstr>
      <vt:lpstr>Towers of Hanoi</vt:lpstr>
      <vt:lpstr>Towers of Hanoi</vt:lpstr>
      <vt:lpstr>Towers of Hanoi</vt:lpstr>
      <vt:lpstr>Towers of Hanoi</vt:lpstr>
      <vt:lpstr>Towers of Hanoi</vt:lpstr>
      <vt:lpstr>Towers of Hanoi</vt:lpstr>
      <vt:lpstr>Towers of Hanoi</vt:lpstr>
      <vt:lpstr>PowerPoint Presentation</vt:lpstr>
      <vt:lpstr>Consider the same problems</vt:lpstr>
      <vt:lpstr>EXPRESSION</vt:lpstr>
      <vt:lpstr>EXPRESSION….cont</vt:lpstr>
      <vt:lpstr>Converting Infix expression to postfix</vt:lpstr>
      <vt:lpstr>Converting Infix expression to postfix</vt:lpstr>
      <vt:lpstr>Converting Infix expression to postfix</vt:lpstr>
      <vt:lpstr>Converting Infix expression to postfix</vt:lpstr>
      <vt:lpstr>Converting Infix expression to postfix</vt:lpstr>
      <vt:lpstr>Converting Infix expression to postfix</vt:lpstr>
      <vt:lpstr>Converting Infix expression to postfix</vt:lpstr>
      <vt:lpstr>Converting Infix expression to postfix</vt:lpstr>
      <vt:lpstr>Consider the same problems</vt:lpstr>
      <vt:lpstr>Evaluating Postfix Expression</vt:lpstr>
      <vt:lpstr>Evaluating Postfix Expression</vt:lpstr>
      <vt:lpstr>Evaluating Postfix Expression</vt:lpstr>
      <vt:lpstr>Evaluating Postfix Expression</vt:lpstr>
      <vt:lpstr>Evaluating Postfix Expression</vt:lpstr>
      <vt:lpstr>Evaluating Postfix Expression</vt:lpstr>
      <vt:lpstr>Evaluating Postfix Expression</vt:lpstr>
      <vt:lpstr>Evaluating Postfix Expression</vt:lpstr>
      <vt:lpstr>Algorithm to Evaluate Postfix Expression</vt:lpstr>
      <vt:lpstr>Implementation in C++</vt:lpstr>
      <vt:lpstr>Why Do We Need ch - '0'?</vt:lpstr>
      <vt:lpstr>Example With ch - '0'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48</cp:revision>
  <dcterms:created xsi:type="dcterms:W3CDTF">2012-09-05T05:27:50Z</dcterms:created>
  <dcterms:modified xsi:type="dcterms:W3CDTF">2025-03-12T08:45:53Z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